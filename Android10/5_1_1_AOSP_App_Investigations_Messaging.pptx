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17.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notesSlides/notesSlide18.xml" ContentType="application/vnd.openxmlformats-officedocument.presentationml.notesSlide+xml"/>
  <Override PartName="/ppt/ink/ink33.xml" ContentType="application/inkml+xml"/>
  <Override PartName="/ppt/ink/ink34.xml" ContentType="application/inkml+xml"/>
  <Override PartName="/ppt/ink/ink35.xml" ContentType="application/inkml+xml"/>
  <Override PartName="/ppt/ink/ink36.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298" r:id="rId3"/>
    <p:sldId id="434" r:id="rId4"/>
    <p:sldId id="257" r:id="rId5"/>
    <p:sldId id="346" r:id="rId6"/>
    <p:sldId id="375" r:id="rId7"/>
    <p:sldId id="422" r:id="rId8"/>
    <p:sldId id="424" r:id="rId9"/>
    <p:sldId id="426" r:id="rId10"/>
    <p:sldId id="427" r:id="rId11"/>
    <p:sldId id="425" r:id="rId12"/>
    <p:sldId id="462" r:id="rId13"/>
    <p:sldId id="414" r:id="rId14"/>
    <p:sldId id="428" r:id="rId15"/>
    <p:sldId id="380" r:id="rId16"/>
    <p:sldId id="496" r:id="rId17"/>
    <p:sldId id="377" r:id="rId18"/>
    <p:sldId id="463" r:id="rId19"/>
    <p:sldId id="378" r:id="rId20"/>
    <p:sldId id="379" r:id="rId21"/>
    <p:sldId id="488" r:id="rId22"/>
    <p:sldId id="497" r:id="rId23"/>
    <p:sldId id="465" r:id="rId24"/>
    <p:sldId id="469" r:id="rId25"/>
    <p:sldId id="470" r:id="rId26"/>
    <p:sldId id="473" r:id="rId27"/>
    <p:sldId id="471" r:id="rId28"/>
    <p:sldId id="472" r:id="rId29"/>
    <p:sldId id="474" r:id="rId30"/>
    <p:sldId id="475" r:id="rId31"/>
    <p:sldId id="498" r:id="rId32"/>
    <p:sldId id="491" r:id="rId33"/>
    <p:sldId id="381" r:id="rId34"/>
    <p:sldId id="429" r:id="rId35"/>
    <p:sldId id="431" r:id="rId36"/>
    <p:sldId id="459" r:id="rId37"/>
    <p:sldId id="384" r:id="rId38"/>
    <p:sldId id="481" r:id="rId39"/>
    <p:sldId id="476" r:id="rId40"/>
    <p:sldId id="492" r:id="rId41"/>
    <p:sldId id="477" r:id="rId42"/>
    <p:sldId id="480" r:id="rId43"/>
    <p:sldId id="482" r:id="rId44"/>
    <p:sldId id="495" r:id="rId45"/>
    <p:sldId id="460" r:id="rId46"/>
    <p:sldId id="436" r:id="rId47"/>
    <p:sldId id="483" r:id="rId48"/>
    <p:sldId id="499" r:id="rId49"/>
    <p:sldId id="484" r:id="rId50"/>
    <p:sldId id="485" r:id="rId51"/>
    <p:sldId id="486" r:id="rId52"/>
    <p:sldId id="493" r:id="rId53"/>
    <p:sldId id="487" r:id="rId54"/>
    <p:sldId id="500" r:id="rId55"/>
    <p:sldId id="386" r:id="rId56"/>
    <p:sldId id="501" r:id="rId57"/>
    <p:sldId id="494"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eifeng Xu" initials="WX" lastIdx="3" clrIdx="0">
    <p:extLst>
      <p:ext uri="{19B8F6BF-5375-455C-9EA6-DF929625EA0E}">
        <p15:presenceInfo xmlns:p15="http://schemas.microsoft.com/office/powerpoint/2012/main" userId="Weifeng X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AEAE"/>
    <a:srgbClr val="AB51D6"/>
    <a:srgbClr val="FF9A00"/>
    <a:srgbClr val="D81E00"/>
    <a:srgbClr val="00AAD6"/>
    <a:srgbClr val="318EFD"/>
    <a:srgbClr val="007DB5"/>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DE1434-4AA0-49E9-96ED-625DCE52BD91}" v="8" dt="2026-03-09T15:30:41.37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416" autoAdjust="0"/>
  </p:normalViewPr>
  <p:slideViewPr>
    <p:cSldViewPr snapToGrid="0">
      <p:cViewPr varScale="1">
        <p:scale>
          <a:sx n="97" d="100"/>
          <a:sy n="97" d="100"/>
        </p:scale>
        <p:origin x="96" y="3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65"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ifeng Xu" userId="e7aed605-a3dd-4d5a-a692-a87037af107b" providerId="ADAL" clId="{F99F8FFF-BA20-43EA-924B-4DF5D2A785F3}"/>
    <pc:docChg chg="undo custSel addSld modSld">
      <pc:chgData name="Weifeng Xu" userId="e7aed605-a3dd-4d5a-a692-a87037af107b" providerId="ADAL" clId="{F99F8FFF-BA20-43EA-924B-4DF5D2A785F3}" dt="2026-03-09T15:30:41.375" v="133"/>
      <pc:docMkLst>
        <pc:docMk/>
      </pc:docMkLst>
      <pc:sldChg chg="modSp mod">
        <pc:chgData name="Weifeng Xu" userId="e7aed605-a3dd-4d5a-a692-a87037af107b" providerId="ADAL" clId="{F99F8FFF-BA20-43EA-924B-4DF5D2A785F3}" dt="2026-02-27T16:41:11.637" v="49" actId="20577"/>
        <pc:sldMkLst>
          <pc:docMk/>
          <pc:sldMk cId="1323245308" sldId="256"/>
        </pc:sldMkLst>
        <pc:spChg chg="mod">
          <ac:chgData name="Weifeng Xu" userId="e7aed605-a3dd-4d5a-a692-a87037af107b" providerId="ADAL" clId="{F99F8FFF-BA20-43EA-924B-4DF5D2A785F3}" dt="2026-02-27T16:41:11.637" v="49" actId="20577"/>
          <ac:spMkLst>
            <pc:docMk/>
            <pc:sldMk cId="1323245308" sldId="256"/>
            <ac:spMk id="3" creationId="{58CD3106-2EE0-40F4-8C0B-042135FF9FB4}"/>
          </ac:spMkLst>
        </pc:spChg>
      </pc:sldChg>
      <pc:sldChg chg="addSp modSp mod">
        <pc:chgData name="Weifeng Xu" userId="e7aed605-a3dd-4d5a-a692-a87037af107b" providerId="ADAL" clId="{F99F8FFF-BA20-43EA-924B-4DF5D2A785F3}" dt="2026-02-27T17:34:03.007" v="74" actId="1076"/>
        <pc:sldMkLst>
          <pc:docMk/>
          <pc:sldMk cId="1681695341" sldId="257"/>
        </pc:sldMkLst>
        <pc:spChg chg="mod">
          <ac:chgData name="Weifeng Xu" userId="e7aed605-a3dd-4d5a-a692-a87037af107b" providerId="ADAL" clId="{F99F8FFF-BA20-43EA-924B-4DF5D2A785F3}" dt="2026-02-27T17:34:02.011" v="73" actId="14100"/>
          <ac:spMkLst>
            <pc:docMk/>
            <pc:sldMk cId="1681695341" sldId="257"/>
            <ac:spMk id="3" creationId="{3247E548-7ACA-4A55-B57F-8F9ECF1ED979}"/>
          </ac:spMkLst>
        </pc:spChg>
        <pc:spChg chg="add">
          <ac:chgData name="Weifeng Xu" userId="e7aed605-a3dd-4d5a-a692-a87037af107b" providerId="ADAL" clId="{F99F8FFF-BA20-43EA-924B-4DF5D2A785F3}" dt="2026-02-27T17:33:22.137" v="62"/>
          <ac:spMkLst>
            <pc:docMk/>
            <pc:sldMk cId="1681695341" sldId="257"/>
            <ac:spMk id="4" creationId="{08FEAFEC-A6BE-E12B-9AEA-F90F22F5F5B3}"/>
          </ac:spMkLst>
        </pc:spChg>
        <pc:picChg chg="add mod modCrop">
          <ac:chgData name="Weifeng Xu" userId="e7aed605-a3dd-4d5a-a692-a87037af107b" providerId="ADAL" clId="{F99F8FFF-BA20-43EA-924B-4DF5D2A785F3}" dt="2026-02-27T17:34:03.007" v="74" actId="1076"/>
          <ac:picMkLst>
            <pc:docMk/>
            <pc:sldMk cId="1681695341" sldId="257"/>
            <ac:picMk id="5" creationId="{35E4EC6A-F1A6-95F7-4530-E7B1F8D8F90E}"/>
          </ac:picMkLst>
        </pc:picChg>
      </pc:sldChg>
      <pc:sldChg chg="addSp delSp modSp add mod modClrScheme chgLayout">
        <pc:chgData name="Weifeng Xu" userId="e7aed605-a3dd-4d5a-a692-a87037af107b" providerId="ADAL" clId="{F99F8FFF-BA20-43EA-924B-4DF5D2A785F3}" dt="2026-02-24T21:04:51.853" v="41" actId="1076"/>
        <pc:sldMkLst>
          <pc:docMk/>
          <pc:sldMk cId="2170298086" sldId="298"/>
        </pc:sldMkLst>
        <pc:spChg chg="mod ord">
          <ac:chgData name="Weifeng Xu" userId="e7aed605-a3dd-4d5a-a692-a87037af107b" providerId="ADAL" clId="{F99F8FFF-BA20-43EA-924B-4DF5D2A785F3}" dt="2026-02-24T21:04:35.584" v="39" actId="700"/>
          <ac:spMkLst>
            <pc:docMk/>
            <pc:sldMk cId="2170298086" sldId="298"/>
            <ac:spMk id="4" creationId="{78D1AA9B-6B98-430E-B4E0-474EEF791748}"/>
          </ac:spMkLst>
        </pc:spChg>
        <pc:picChg chg="mod">
          <ac:chgData name="Weifeng Xu" userId="e7aed605-a3dd-4d5a-a692-a87037af107b" providerId="ADAL" clId="{F99F8FFF-BA20-43EA-924B-4DF5D2A785F3}" dt="2026-02-24T21:04:40.745" v="40" actId="1076"/>
          <ac:picMkLst>
            <pc:docMk/>
            <pc:sldMk cId="2170298086" sldId="298"/>
            <ac:picMk id="7" creationId="{FF652EB5-0BC5-45ED-82EA-E8E7EF28FA52}"/>
          </ac:picMkLst>
        </pc:picChg>
        <pc:picChg chg="mod">
          <ac:chgData name="Weifeng Xu" userId="e7aed605-a3dd-4d5a-a692-a87037af107b" providerId="ADAL" clId="{F99F8FFF-BA20-43EA-924B-4DF5D2A785F3}" dt="2026-02-24T21:04:51.853" v="41" actId="1076"/>
          <ac:picMkLst>
            <pc:docMk/>
            <pc:sldMk cId="2170298086" sldId="298"/>
            <ac:picMk id="9" creationId="{A718F3C1-CC73-4BA8-BA5A-21262479BD99}"/>
          </ac:picMkLst>
        </pc:picChg>
      </pc:sldChg>
      <pc:sldChg chg="delSp mod">
        <pc:chgData name="Weifeng Xu" userId="e7aed605-a3dd-4d5a-a692-a87037af107b" providerId="ADAL" clId="{F99F8FFF-BA20-43EA-924B-4DF5D2A785F3}" dt="2026-02-27T16:52:17.686" v="51" actId="478"/>
        <pc:sldMkLst>
          <pc:docMk/>
          <pc:sldMk cId="1408481161" sldId="346"/>
        </pc:sldMkLst>
      </pc:sldChg>
      <pc:sldChg chg="modSp mod">
        <pc:chgData name="Weifeng Xu" userId="e7aed605-a3dd-4d5a-a692-a87037af107b" providerId="ADAL" clId="{F99F8FFF-BA20-43EA-924B-4DF5D2A785F3}" dt="2026-03-09T15:10:28.385" v="130" actId="113"/>
        <pc:sldMkLst>
          <pc:docMk/>
          <pc:sldMk cId="2780548155" sldId="436"/>
        </pc:sldMkLst>
        <pc:spChg chg="mod">
          <ac:chgData name="Weifeng Xu" userId="e7aed605-a3dd-4d5a-a692-a87037af107b" providerId="ADAL" clId="{F99F8FFF-BA20-43EA-924B-4DF5D2A785F3}" dt="2026-03-09T15:10:28.385" v="130" actId="113"/>
          <ac:spMkLst>
            <pc:docMk/>
            <pc:sldMk cId="2780548155" sldId="436"/>
            <ac:spMk id="9" creationId="{42411764-9368-4AC4-A59F-2FE58310C0C8}"/>
          </ac:spMkLst>
        </pc:spChg>
      </pc:sldChg>
      <pc:sldChg chg="addSp delSp modSp mod modClrScheme chgLayout">
        <pc:chgData name="Weifeng Xu" userId="e7aed605-a3dd-4d5a-a692-a87037af107b" providerId="ADAL" clId="{F99F8FFF-BA20-43EA-924B-4DF5D2A785F3}" dt="2026-03-09T15:30:41.375" v="133"/>
        <pc:sldMkLst>
          <pc:docMk/>
          <pc:sldMk cId="2650941744" sldId="460"/>
        </pc:sldMkLst>
        <pc:spChg chg="del mod">
          <ac:chgData name="Weifeng Xu" userId="e7aed605-a3dd-4d5a-a692-a87037af107b" providerId="ADAL" clId="{F99F8FFF-BA20-43EA-924B-4DF5D2A785F3}" dt="2026-03-09T15:04:49.448" v="106" actId="700"/>
          <ac:spMkLst>
            <pc:docMk/>
            <pc:sldMk cId="2650941744" sldId="460"/>
            <ac:spMk id="2" creationId="{C280624D-210E-39EB-3899-E035404E474D}"/>
          </ac:spMkLst>
        </pc:spChg>
        <pc:spChg chg="add">
          <ac:chgData name="Weifeng Xu" userId="e7aed605-a3dd-4d5a-a692-a87037af107b" providerId="ADAL" clId="{F99F8FFF-BA20-43EA-924B-4DF5D2A785F3}" dt="2026-03-09T15:30:39.554" v="132"/>
          <ac:spMkLst>
            <pc:docMk/>
            <pc:sldMk cId="2650941744" sldId="460"/>
            <ac:spMk id="6" creationId="{6F5A7B29-626D-B93B-7A86-7832A2CED4A9}"/>
          </ac:spMkLst>
        </pc:spChg>
        <pc:picChg chg="del">
          <ac:chgData name="Weifeng Xu" userId="e7aed605-a3dd-4d5a-a692-a87037af107b" providerId="ADAL" clId="{F99F8FFF-BA20-43EA-924B-4DF5D2A785F3}" dt="2026-03-09T15:01:24.264" v="88" actId="478"/>
          <ac:picMkLst>
            <pc:docMk/>
            <pc:sldMk cId="2650941744" sldId="460"/>
            <ac:picMk id="4" creationId="{F01D739E-3A09-7009-DBB2-3E8D6BFD731B}"/>
          </ac:picMkLst>
        </pc:picChg>
        <pc:picChg chg="add del mod">
          <ac:chgData name="Weifeng Xu" userId="e7aed605-a3dd-4d5a-a692-a87037af107b" providerId="ADAL" clId="{F99F8FFF-BA20-43EA-924B-4DF5D2A785F3}" dt="2026-03-09T15:30:38.698" v="131" actId="478"/>
          <ac:picMkLst>
            <pc:docMk/>
            <pc:sldMk cId="2650941744" sldId="460"/>
            <ac:picMk id="5" creationId="{D8DCF557-8E8C-137B-4229-ECD986034FC3}"/>
          </ac:picMkLst>
        </pc:picChg>
        <pc:picChg chg="add">
          <ac:chgData name="Weifeng Xu" userId="e7aed605-a3dd-4d5a-a692-a87037af107b" providerId="ADAL" clId="{F99F8FFF-BA20-43EA-924B-4DF5D2A785F3}" dt="2026-03-09T15:30:41.375" v="133"/>
          <ac:picMkLst>
            <pc:docMk/>
            <pc:sldMk cId="2650941744" sldId="460"/>
            <ac:picMk id="7" creationId="{F030DC72-770E-9A72-2BD5-497839DD77FD}"/>
          </ac:picMkLst>
        </pc:picChg>
      </pc:sldChg>
      <pc:sldChg chg="modSp mod">
        <pc:chgData name="Weifeng Xu" userId="e7aed605-a3dd-4d5a-a692-a87037af107b" providerId="ADAL" clId="{F99F8FFF-BA20-43EA-924B-4DF5D2A785F3}" dt="2026-03-09T14:38:40.157" v="87" actId="20577"/>
        <pc:sldMkLst>
          <pc:docMk/>
          <pc:sldMk cId="17325086" sldId="472"/>
        </pc:sldMkLst>
        <pc:spChg chg="mod">
          <ac:chgData name="Weifeng Xu" userId="e7aed605-a3dd-4d5a-a692-a87037af107b" providerId="ADAL" clId="{F99F8FFF-BA20-43EA-924B-4DF5D2A785F3}" dt="2026-03-09T14:38:40.157" v="87" actId="20577"/>
          <ac:spMkLst>
            <pc:docMk/>
            <pc:sldMk cId="17325086" sldId="472"/>
            <ac:spMk id="3" creationId="{5B68DD0F-9C69-E216-DBE7-3E9B201A771E}"/>
          </ac:spMkLst>
        </pc:spChg>
      </pc:sldChg>
      <pc:sldChg chg="addSp delSp modSp new mod modClrScheme chgLayout">
        <pc:chgData name="Weifeng Xu" userId="e7aed605-a3dd-4d5a-a692-a87037af107b" providerId="ADAL" clId="{F99F8FFF-BA20-43EA-924B-4DF5D2A785F3}" dt="2026-03-09T15:03:14.464" v="104" actId="20577"/>
        <pc:sldMkLst>
          <pc:docMk/>
          <pc:sldMk cId="3937331667" sldId="495"/>
        </pc:sldMkLst>
        <pc:spChg chg="del mod ord">
          <ac:chgData name="Weifeng Xu" userId="e7aed605-a3dd-4d5a-a692-a87037af107b" providerId="ADAL" clId="{F99F8FFF-BA20-43EA-924B-4DF5D2A785F3}" dt="2026-03-09T15:02:32.270" v="93" actId="700"/>
          <ac:spMkLst>
            <pc:docMk/>
            <pc:sldMk cId="3937331667" sldId="495"/>
            <ac:spMk id="2" creationId="{3C61C359-AD23-C303-16C2-689D15088B83}"/>
          </ac:spMkLst>
        </pc:spChg>
        <pc:spChg chg="del">
          <ac:chgData name="Weifeng Xu" userId="e7aed605-a3dd-4d5a-a692-a87037af107b" providerId="ADAL" clId="{F99F8FFF-BA20-43EA-924B-4DF5D2A785F3}" dt="2026-03-09T15:02:32.270" v="93" actId="700"/>
          <ac:spMkLst>
            <pc:docMk/>
            <pc:sldMk cId="3937331667" sldId="495"/>
            <ac:spMk id="3" creationId="{B47F887B-21D7-A089-879F-F7450D5F4F2C}"/>
          </ac:spMkLst>
        </pc:spChg>
        <pc:spChg chg="add mod ord">
          <ac:chgData name="Weifeng Xu" userId="e7aed605-a3dd-4d5a-a692-a87037af107b" providerId="ADAL" clId="{F99F8FFF-BA20-43EA-924B-4DF5D2A785F3}" dt="2026-03-09T15:02:48.014" v="95" actId="700"/>
          <ac:spMkLst>
            <pc:docMk/>
            <pc:sldMk cId="3937331667" sldId="495"/>
            <ac:spMk id="4" creationId="{E5896F1F-140A-9A45-44BE-410B6AE5E59D}"/>
          </ac:spMkLst>
        </pc:spChg>
        <pc:spChg chg="add mod ord">
          <ac:chgData name="Weifeng Xu" userId="e7aed605-a3dd-4d5a-a692-a87037af107b" providerId="ADAL" clId="{F99F8FFF-BA20-43EA-924B-4DF5D2A785F3}" dt="2026-03-09T15:03:14.464" v="104" actId="20577"/>
          <ac:spMkLst>
            <pc:docMk/>
            <pc:sldMk cId="3937331667" sldId="495"/>
            <ac:spMk id="5" creationId="{6443703E-6C1F-ADB5-8DA0-D574BD37F3CD}"/>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4:14:19.402"/>
    </inkml:context>
    <inkml:brush xml:id="br0">
      <inkml:brushProperty name="width" value="0.035" units="cm"/>
      <inkml:brushProperty name="height" value="0.035" units="cm"/>
      <inkml:brushProperty name="color" value="#FF0066"/>
    </inkml:brush>
  </inkml:definitions>
  <inkml:trace contextRef="#ctx0" brushRef="#br0">110 1 24575,'-3'-1'0,"0"1"0,-1 1 0,1-1 0,0 0 0,0 1 0,0-1 0,0 1 0,0 0 0,0 0 0,0 0 0,0 1 0,0-1 0,0 1 0,0 0 0,1-1 0,-1 1 0,1 0 0,-1 0 0,1 1 0,0-1 0,0 0 0,0 1 0,-2 3 0,0 2 0,0 0 0,1 1 0,0-1 0,0 1 0,1 0 0,0 0 0,0 11 0,-2 24 0,-6 29 0,9-68 0,-1 0 0,2 0 0,-1 0 0,0 0 0,1 0 0,0 0 0,0 0 0,1 0 0,-1 1 0,1-1 0,0 0 0,2 5 0,-1-6 0,0-1 0,0 1 0,0-1 0,1 0 0,-1 0 0,1 0 0,0 0 0,0 0 0,0 0 0,0-1 0,0 0 0,1 1 0,-1-1 0,1 0 0,7 2 0,0 2 0,0 0 0,0 1 0,0 1 0,12 11 0,-15-12 0,1 0 0,-1-1 0,1 0 0,0 0 0,1-1 0,17 8 0,-11-8 0,0 0 0,0-2 0,1 0 0,-1 0 0,31-1 0,-25 0 0,1 0 0,-1 1 0,39 12 0,-49-11 0,0 2 0,0-1 0,0 1 0,15 12 0,-20-13 0,0 0 0,0 0 0,0-1 0,1 1 0,0-2 0,0 1 0,0-1 0,0-1 0,1 1 0,-1-1 0,1-1 0,8 1 0,-15-2 0,1 0 0,-1-1 0,1 1 0,-1-1 0,1 0 0,-1 0 0,0 0 0,1 0 0,-1 0 0,0-1 0,0 1 0,0-1 0,0 1 0,0-1 0,0 0 0,-1 0 0,1 0 0,0 0 0,-1 0 0,0 0 0,1 0 0,-1 0 0,0-1 0,1-3 0,3-7 0,-1 0 0,0 0 0,2-20 0,-2 13 0,-2 10 0,0-1 0,0 0 0,-1 0 0,-1 0 0,-1-14 0,1 20 0,-1 0 0,0 1 0,0-1 0,0 0 0,-1 0 0,0 0 0,0 1 0,0-1 0,0 1 0,-1-1 0,0 1 0,0 0 0,-5-6 0,-17-25 0,22 29 0,-1 0 0,0 1 0,0-1 0,-1 1 0,-6-7 0,3 6 0,0 0 0,0 1 0,-1 0 0,0 0 0,0 1 0,0 0 0,0 1 0,-1 0 0,1 0 0,-1 1 0,-19-2 0,-10 1 0,-69 5 0,38 0 0,52-2-1365,2 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4:14:21.442"/>
    </inkml:context>
    <inkml:brush xml:id="br0">
      <inkml:brushProperty name="width" value="0.035" units="cm"/>
      <inkml:brushProperty name="height" value="0.035" units="cm"/>
      <inkml:brushProperty name="color" value="#FF0066"/>
    </inkml:brush>
  </inkml:definitions>
  <inkml:trace contextRef="#ctx0" brushRef="#br0">114 120 24575,'0'-1'0,"0"1"0,-1-1 0,1 0 0,0 1 0,0-1 0,0 0 0,-1 1 0,1-1 0,0 0 0,0 1 0,-1-1 0,1 1 0,-1-1 0,1 0 0,-1 1 0,1-1 0,-1 1 0,1 0 0,-1-1 0,1 1 0,-1-1 0,1 1 0,-1 0 0,0-1 0,1 1 0,-1 0 0,1 0 0,-1-1 0,0 1 0,1 0 0,-1 0 0,0 0 0,0 0 0,1 0 0,-1 0 0,0 0 0,1 0 0,-1 0 0,0 0 0,1 0 0,-1 1 0,0-1 0,1 0 0,-2 1 0,-1 0 0,0-1 0,0 1 0,0 0 0,0 1 0,0-1 0,0 0 0,0 1 0,-3 2 0,1 2 0,0 0 0,0 0 0,0 0 0,1 1 0,0 0 0,0 0 0,0 0 0,1 0 0,0 1 0,-3 12 0,3-4 0,-1 1 0,2-1 0,0 1 0,1 16 0,3 99 0,-2-130 0,1 0 0,-1 0 0,1 1 0,-1-1 0,1 0 0,0 0 0,0 0 0,0 0 0,0 0 0,0 0 0,1 0 0,-1-1 0,0 1 0,1 0 0,-1-1 0,1 1 0,0-1 0,-1 1 0,1-1 0,0 0 0,0 0 0,0 0 0,3 1 0,5 2 0,0-1 0,0 0 0,19 3 0,1 0 0,2 2 0,-1-1 0,1-1 0,0-2 0,55 0 0,-73-3 0,-1 0 0,0 1 0,15 3 0,35 5 0,-40-9 0,178-3 0,-197 1 0,0 1 0,0-1 0,0 0 0,-1-1 0,1 1 0,0-1 0,0 0 0,-1 0 0,0 0 0,1 0 0,-1 0 0,0-1 0,0 0 0,0 0 0,0 1 0,0-1 0,-1-1 0,0 1 0,1 0 0,-1-1 0,0 1 0,-1-1 0,1 0 0,0 1 0,1-8 0,1-6 0,0 1 0,-1-1 0,-1 0 0,1-32 0,-3 25 0,-1-83 0,-1 102 0,1 1 0,-1-1 0,0 0 0,0 0 0,0 1 0,0-1 0,-1 1 0,0 0 0,0 0 0,-6-7 0,-10-15 0,16 22 0,-1 0 0,1 0 0,-1 0 0,0 1 0,0-1 0,-1 1 0,1 0 0,-1 0 0,1 1 0,-1-1 0,0 1 0,-8-3 0,-5-1 0,-1 1 0,-22-4 0,16 5 0,10 2 0,0 0 0,0-2 0,-28-9 0,19 4 54,-39-8-1,42 12-544,-1 0 1,-29-14-1,40 14-6335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4:14:23.892"/>
    </inkml:context>
    <inkml:brush xml:id="br0">
      <inkml:brushProperty name="width" value="0.035" units="cm"/>
      <inkml:brushProperty name="height" value="0.035" units="cm"/>
      <inkml:brushProperty name="color" value="#FF0066"/>
    </inkml:brush>
  </inkml:definitions>
  <inkml:trace contextRef="#ctx0" brushRef="#br0">207 105 24575,'-3'-1'0,"-1"1"0,1 0 0,0 1 0,0-1 0,0 0 0,0 1 0,-1 0 0,1-1 0,0 1 0,0 1 0,0-1 0,1 0 0,-1 1 0,0-1 0,0 1 0,-4 4 0,4-3 0,1 1 0,-1-1 0,1 1 0,0 0 0,1 0 0,-1 0 0,0 0 0,1 0 0,0 0 0,0 0 0,-1 9 0,-2 5 0,0 1 0,-2-1 0,-8 19 0,-4 12 0,15-35 0,0 0 0,-2 21 0,4-22 0,-1-1 0,0 0 0,-1 0 0,-5 16 0,0-4 0,1 1 0,1-1 0,1 1 0,1 0 0,0 46 0,0-21 0,-4 7 0,4-39 0,2-1 0,-2 22 0,5 485 0,-1-518 0,1 0 0,0 0 0,0 0 0,0 0 0,1 0 0,0 0 0,0 0 0,1-1 0,-1 1 0,1-1 0,0 1 0,1-1 0,-1 0 0,1 0 0,0-1 0,0 1 0,1-1 0,-1 0 0,1 0 0,0 0 0,7 3 0,11 7 0,2 0 0,0-2 0,39 13 0,-22-9 0,-30-11 0,0 0 0,0-1 0,0-1 0,0 0 0,1-1 0,-1 0 0,1-1 0,13 0 0,37 7 0,-54-6 0,1 0 0,-1-1 0,0 0 0,1 0 0,-1-1 0,1 0 0,-1-1 0,15-2 0,-4-3 0,0 0 0,0-1 0,0-1 0,-1-1 0,0-1 0,-1-1 0,0 0 0,-1-1 0,20-18 0,-33 25 0,0 0 0,0-1 0,0 1 0,-1-1 0,0 0 0,0 0 0,3-10 0,12-49 0,-14 51 0,5-49 0,-8 52 0,0-1 0,1 0 0,0 1 0,1 0 0,1-1 0,5-12 0,-6 13 0,1 0 0,-1 0 0,-1 0 0,1 0 0,-2 0 0,1-12 0,5-31 0,11-70 0,-12 75 0,-2-1 0,-5-92 0,-1 47 0,2 77 0,1 5 0,-1-1 0,0 0 0,-1 1 0,-1-1 0,0 1 0,0 0 0,-2-1 0,-8-21 0,1 9 0,6 14 0,0 2 0,0-1 0,-1 1 0,0-1 0,-10-10 0,13 17 0,0-1 0,0 0 0,1 0 0,-1 0 0,1 0 0,-3-10 0,-12-24 0,-20-6 0,27 34 0,0-1 0,1 0 0,-10-17 0,12 18 0,-1 0 0,0 1 0,-1-1 0,0 2 0,-13-11 0,-23-26 0,37 36-1365,0 2-5461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4:14:28.113"/>
    </inkml:context>
    <inkml:brush xml:id="br0">
      <inkml:brushProperty name="width" value="0.035" units="cm"/>
      <inkml:brushProperty name="height" value="0.035" units="cm"/>
      <inkml:brushProperty name="color" value="#FF0066"/>
    </inkml:brush>
  </inkml:definitions>
  <inkml:trace contextRef="#ctx0" brushRef="#br0">697 281 24575,'-41'0'0,"10"-1"0,0 1 0,-1 2 0,-54 8 0,20 1 0,48-9 0,0 1 0,0 1 0,1 0 0,-1 0 0,-30 14 0,40-15 0,-2 1 0,0 0 0,1 1 0,-1 0 0,0 1 0,1 0 0,0 0 0,1 1 0,0 0 0,1 0 0,-14 15 0,-31 43 0,15-18 0,31-42 0,0 1 0,2 0 0,-2 1 0,2-1 0,0 1 0,0-1 0,0 1 0,-3 11 0,2 0 0,-1 1 0,3 0 0,-1 0 0,3 0 0,0 36 0,2-48 0,0-1 0,0 1 0,2 0 0,-2-1 0,1 1 0,1-1 0,1 0 0,-2 1 0,3-1 0,-2-1 0,2 1 0,-1 0 0,1-1 0,-1 0 0,2 0 0,0 0 0,-1 0 0,1-1 0,13 7 0,-8-3 0,1-1 0,-2 1 0,12 11 0,-13-10 0,1-1 0,0-1 0,0 1 0,12 5 0,-5-5 0,-1-2 0,1 1 0,27 5 0,-27-7 0,101 40 0,-59-23 0,-43-14 0,-1-2 0,2 0 0,-1-1 0,1-1 0,1 0 0,-1-1 0,33 3 0,-17-4 0,1 1 0,61 14 0,21 3 0,38-10-4573,81-8 8784,-182-2-3849,73 10-362,-84-5 0,45-1 0,-55-4 0,11 0 0,0 0 0,71 11 0,-60-5 0,0-2 0,0-2 0,59-5 0,-7 1 0,317 2 0,-399 1 0,-2 1 0,27 5 0,-25-3 0,50 2 0,37-7 0,93 2 0,-127 7 0,80 3 0,-141-10 0,0 0 0,27 6 0,30 2 0,5-9 0,-35 0 0,0 0 0,70 11 0,77 8 0,51-1 0,-69-6 0,-49-5 0,130 2 0,0 1 0,149-2 0,-259-9 0,-117 0 0,-1-2 0,1-1 0,-1 0 0,26-9 0,20-3 0,297-61 0,-344 72 0,-1 1 0,24-1 0,-26 4 0,-1-1 0,-1-1 0,38-11 0,8-6 0,93-36 0,-116 44 0,-37 11 0,-2 1 0,1-1 0,-1 1 0,1-1 0,0 0 0,-1 0 0,1-1 0,-1 1 0,0-1 0,0 1 0,0-1 0,1 0 0,-2 0 0,1 0 0,0 0 0,0-1 0,-1 1 0,1-1 0,-1 1 0,0-1 0,-1 0 0,4-3 0,11-37 0,15-80 0,-22 85 0,-3 2 0,-1-1 0,-3 0 0,-4-54 0,-1 12 0,1 62 0,0 0 0,0-1 0,-3 1 0,-7-22 0,-7-22 0,17 53 0,-1-1 0,-1 1 0,0 0 0,-1 1 0,1-1 0,-1 1 0,0-1 0,-1 2 0,-1-1 0,-10-9 0,-1 0 0,-1 0 0,-39-22 0,-26-8 0,69 36 0,1 2 0,-2 0 0,1 0 0,-2 1 0,1 1 0,-1 0 0,0 1 0,0 1 0,0 0 0,-26-2 0,21 3 0,-38-12 0,-6-1 0,19 8 0,-341-54 0,198 46-950,-301 7-1,325 9 386,81 4 399,-128 20 0,33-3 173,163-19 175,-389 37-1894,3 27 659,379-62 1058,1-1 0,-1-1 0,-37-1 0,38-1-6,0 0 1,1 1 0,-43 8-1,34 0 1905,-49 20 0,49-17-1130,-47 13 0,70-23-892,5-1 5,-1-1-1,1 1 1,1 0 0,-2 0-1,1 0 1,-1 0 0,2 1-1,-1-1 1,-1 1-1,-1 2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4:14:30.859"/>
    </inkml:context>
    <inkml:brush xml:id="br0">
      <inkml:brushProperty name="width" value="0.035" units="cm"/>
      <inkml:brushProperty name="height" value="0.035" units="cm"/>
      <inkml:brushProperty name="color" value="#FF0066"/>
    </inkml:brush>
  </inkml:definitions>
  <inkml:trace contextRef="#ctx0" brushRef="#br0">1 263 24575,'17'-1'0,"-1"0"0,1-2 0,-1 0 0,29-9 0,36-5 0,-47 10 0,0 0 0,46-17 0,-39 12 0,-3 1 0,1 2 0,1 1 0,-1 2 0,1 1 0,0 2 0,42 1 0,-43 3 0,-1-3 0,55-7 0,77-14 0,-90 17 0,-61 6 0,0-1 0,2-1 0,-2 0 0,34-9 0,-19 3 0,0 1 0,0 2 0,36-3 0,-9 2 0,42-5 0,142-1 0,-192 13 0,50 0 0,133-13 0,-130 4 0,171 6 0,-129 4 0,1008-2-1390,-980 10 848,4 0 161,-122-9 365,0 3 0,99 18-1,-104-16 18,-1-2-1,1-1 1,63-5-1,-54 0-11,105 9-1,-73 4-267,276 28 1494,-145-20-2319,-188-15 1104,41 9 0,-43-6 0,52 4 0,145 19 83,-67-6-34,-36-3 1116,4 0 89,-124-19-1254,0 0 0,2 1 0,-2 0 0,0 0 0,-1 0 0,13 8 0,22 7 0,-4-5 0,0-2 0,75 12 0,-64-14 0,89 26 0,81 32 0,-195-60 25,1-1-1,42 5 0,-37-7-632,41 11 0,150 40 358,113 34 271,-115-30 1427,-37-13-1524,0 21 76,-114-49 0,-51-14 0,0 0 0,-1 1 0,30 13 0,141 60 0,-64-29 0,-116-45 0,-1 0 0,1 0 0,-1 1 0,9 7 0,-11-8 0,0 1 0,2-1 0,-2-1 0,1 1 0,1-1 0,-1 0 0,7 3 0,9 2 0,-2 1 0,0 0 0,33 21 0,-35-19 0,0-1 0,0-1 0,1 0 0,27 9 0,-35-14 0,0 0 0,-1 1 0,1 0 0,-1 0 0,11 10 0,-8-8 0,-1 1 0,23 10 0,-4-4 0,-3 0 0,1 2 0,32 24 0,-27-17 0,51 26 0,46 26 0,-97-54 0,14 0 0,-41-19 0,0 0 0,-1 1 0,1 0 0,0 0 0,-1 1 0,1 0 0,7 6 0,12 10 0,49 29 0,-18-13 0,63 51 0,-16 2 0,-65-64 0,-32-21 0,1 1 0,-1-1 0,0 1 0,10 9 0,5 5 0,-1-1 0,3-1 0,43 24 0,-34-21 0,42 31 0,9 6 0,-4-2 0,-41-28 0,61 34 0,-35-23 0,13 15 0,-40-28 0,58 32 0,-78-46 0,1 1 0,27 21 0,9 7 0,-7-10 0,200 137 0,-103-60 0,-42-45 0,2 0 0,-88-51 0,0-1 0,1-1 0,21 9 0,40 20 0,-9 3 0,-35-22 0,-2 1 0,0 2 0,34 28 0,-62-46 0,1 0 0,0 0 0,-1 0 0,1-1 0,0 0 0,8 3 0,-8-4 0,0 0 0,-1 1 0,1-1 0,-1 1 0,-1 0 0,2 0 0,-2 1 0,1 0 0,5 5 0,-3-2 0,0-1 0,-1-1 0,1 1 0,1-1 0,-1 0 0,1-1 0,16 7 0,-13-5 0,0-1 0,0 2 0,16 11 0,83 62 0,-73-52 0,-16-12 0,-1 0 0,3-2 0,-2 0 0,3-2 0,33 15 0,-49-23 0,1 0 0,-1 1 0,-2 0 0,2 0 0,-1 0 0,10 10 0,-9-9 0,0 1 0,0-1 0,0 0 0,1 0 0,9 4 0,38 15 0,86 53 0,-134-73 0,1-1 0,0 0 0,1-1 0,17 6 0,-20-8 0,-1 1 0,1 0 0,0 0 0,0 1 0,-2 0 0,2 0 0,-1 0 0,0 1 0,-1-1 0,1 1 0,5 5 0,-3-2 0,0 0 0,0-1 0,1 0 0,0 0 0,0-1 0,1 0 0,-1 0 0,2-1 0,14 5 0,23 11 0,-39-15 0,0 0 0,1 0 0,-3 1 0,12 9 0,-11-9 0,-1 1 0,1-1 0,1 0 0,12 5 0,-2-1 0,0 1 0,1 1 0,-3 0 0,19 16 0,-17-15 0,1 0 0,1-1 0,31 13 0,-27-13 0,-1 1 0,27 17 0,-41-25 0,0 1 0,1-1 0,0 0 0,-1-1 0,1 0 0,1 0 0,13 1 0,-13-2 0,1 0 0,-1 1 0,-1 1 0,2-1 0,16 11 0,39 23 0,3-2 0,95 36 0,-14-20 0,-25-9 0,-103-36 0,0-1 0,26 5 0,13 3 0,-7-3 0,-44-10 0,-1 1 0,2 0 0,-2 1 0,0 0 0,16 7 0,-21-8 0,1 1 0,1-1 0,-1 0 0,1-1 0,-1 1 0,10-1 0,31 9 0,-42-8 0,0 1 0,-1 0 0,1 1 0,0-1 0,-2 1 0,9 7 0,23 15 0,-22-18 0,-2 0 0,1 1 0,-2 0 0,0 1 0,1 0 0,10 13 0,2 2 0,-16-19 0,0 1 0,1-2 0,-1 1 0,11 4 0,-2 0 0,-46-24 0,22 12 0,1 0 0,1-1 0,-1 0 0,0 0 0,1 0 0,-1-1 0,0 0 0,2 0 0,-1 0 0,-7-8 0,-35-41-1365,39 44-5461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4:14:32.211"/>
    </inkml:context>
    <inkml:brush xml:id="br0">
      <inkml:brushProperty name="width" value="0.035" units="cm"/>
      <inkml:brushProperty name="height" value="0.035" units="cm"/>
      <inkml:brushProperty name="color" value="#FF0066"/>
    </inkml:brush>
  </inkml:definitions>
  <inkml:trace contextRef="#ctx0" brushRef="#br0">28 1 24575,'1'0'0,"0"0"0,1 1 0,-1-1 0,0 1 0,0-1 0,0 1 0,0 0 0,0-1 0,1 1 0,-1 0 0,0 0 0,0 0 0,-1 0 0,1 0 0,0 0 0,-1-1 0,1 2 0,0 0 0,15 26 0,-9-17 0,41 58 0,-26-38 0,36 66 0,-53-90 0,-1-1 0,1 0 0,-1 0 0,2-1 0,6 7 0,24 26 0,-35-36 0,0-1 0,0 1 0,0 0 0,0 0 0,0 0 0,1 0 0,-2 0 0,1 0 0,-1 0 0,0 0 0,1 0 0,-1 0 0,0 0 0,0 0 0,0 1 0,0-1 0,-2 4 0,0-4 0,1 0 0,0 0 0,0 0 0,0 0 0,-1 0 0,0-1 0,0 1 0,0 0 0,1-1 0,-1 1 0,-1-1 0,1 1 0,0-1 0,-1 0 0,1 0 0,0 0 0,0 0 0,-1 0 0,0-1 0,-3 2 0,-57 7 0,49-8 0,5 1-25,0-1 0,1 2 1,-1-1-1,1 1 0,-1 0 0,1 0 0,0 1 0,0 0 0,2 0 0,-2 0 0,1 1 0,0 0 1,0 1-1,-5 5 0,-10 7-967,12-11-5834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11:55.208"/>
    </inkml:context>
    <inkml:brush xml:id="br0">
      <inkml:brushProperty name="width" value="0.035" units="cm"/>
      <inkml:brushProperty name="height" value="0.035" units="cm"/>
      <inkml:brushProperty name="color" value="#FF0066"/>
    </inkml:brush>
  </inkml:definitions>
  <inkml:trace contextRef="#ctx0" brushRef="#br0">109 21 24575,'-7'0'0,"0"0"0,0 0 0,0 1 0,0 0 0,0 0 0,-12 4 0,17-4 0,0 0 0,0 0 0,0 0 0,0 1 0,0-1 0,0 0 0,0 1 0,1 0 0,-1-1 0,0 1 0,1 0 0,0 0 0,-1 0 0,1 0 0,0 0 0,0 0 0,0 0 0,0 0 0,0 1 0,1-1 0,-1 0 0,1 0 0,-1 5 0,-3 53 0,4-43 0,-1 0 0,-5 29 0,5-41 0,0 0 0,0 0 0,1 0 0,0 0 0,0 0 0,0 0 0,0 0 0,1 0 0,0 1 0,0-1 0,0-1 0,0 1 0,1 0 0,3 6 0,-1-4 0,-1-1 0,2-1 0,-1 1 0,1-1 0,0 1 0,0-1 0,0 0 0,1-1 0,11 8 0,54 29 0,-63-37 0,1 0 0,0-1 0,1 0 0,-1-1 0,0 0 0,12 1 0,8 2 0,-10-1 0,0-1 0,1-1 0,-1-1 0,0 0 0,1-2 0,-1 0 0,23-5 0,-36 3 0,0 1 0,1-2 0,-2 1 0,1-1 0,0 0 0,-1 0 0,0 0 0,0-1 0,0 0 0,-1 0 0,9-11 0,22-23 0,-29 33 0,0 0 0,0 0 0,-1-1 0,0 0 0,0 0 0,-1-1 0,0 1 0,0-1 0,-1 0 0,0 0 0,-1 0 0,1 0 0,-1-1 0,-1 1 0,0-1 0,1-14 0,-1 8 20,0-1 0,-1 1 0,0-1 0,-1 1 0,-4-19 0,4 30-75,0 0 0,0 0 0,0 1 0,-1-1 0,1 0 0,-1 1 0,0-1 0,0 1 0,0 0 0,0 0 0,0 0 0,-1 0 0,0 0 0,0 0 0,1 1 0,-1-1 0,-1 1 0,1 0 0,0 0 0,0 0 0,-1 0 0,0 1 0,1-1 0,-1 1 0,0 0 0,-3-1 0,-7 0-6771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11:57.016"/>
    </inkml:context>
    <inkml:brush xml:id="br0">
      <inkml:brushProperty name="width" value="0.035" units="cm"/>
      <inkml:brushProperty name="height" value="0.035" units="cm"/>
      <inkml:brushProperty name="color" value="#FF0066"/>
    </inkml:brush>
  </inkml:definitions>
  <inkml:trace contextRef="#ctx0" brushRef="#br0">79 16 24575,'0'-1'0,"-1"0"0,1 1 0,0-1 0,-1 0 0,1 0 0,0 1 0,-1-1 0,1 0 0,-1 0 0,1 1 0,-1-1 0,1 1 0,-1-1 0,1 0 0,-1 1 0,0-1 0,1 1 0,-1 0 0,0-1 0,1 1 0,-1-1 0,0 1 0,0 0 0,1 0 0,-1-1 0,0 1 0,0 0 0,0 0 0,1 0 0,-1 0 0,0 0 0,0 0 0,0 0 0,0 0 0,1 0 0,-1 0 0,-1 1 0,-1-1 0,0 1 0,0-1 0,0 1 0,0-1 0,0 1 0,0 0 0,0 0 0,1 1 0,-5 1 0,5-1 0,0 1 0,0-1 0,0 1 0,0 0 0,1 0 0,-1-1 0,1 1 0,0 0 0,-1 0 0,1 0 0,1 0 0,-1 1 0,0-1 0,1 0 0,-1 4 0,2 56 0,0-41 0,-1-9 0,1 1 0,0 0 0,1-1 0,1 0 0,0 1 0,6 16 0,-6-24 0,-1-1 0,1 1 0,0-1 0,1 0 0,-1 0 0,1-1 0,0 1 0,0-1 0,0 0 0,1 0 0,-1 0 0,1 0 0,0-1 0,0 0 0,1 0 0,9 4 0,-4-3 0,0 0 0,0-1 0,0 0 0,0-1 0,0 0 0,1 0 0,-1-2 0,1 1 0,16-3 0,-23 2 0,1-1 0,0 0 0,0-1 0,-1 1 0,1-1 0,-1 0 0,1 0 0,-1-1 0,0 1 0,0-1 0,0-1 0,0 1 0,0-1 0,-1 1 0,0-1 0,1-1 0,-1 1 0,-1 0 0,7-11 0,6-12 60,11-31 0,-24 51-184,0 1 0,-1-1 1,0 0-1,0 0 0,0 0 0,-1 0 1,0 0-1,-1 0 0,1 0 0,-1-1 1,-1-6-1,-3 2-6702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12:02.060"/>
    </inkml:context>
    <inkml:brush xml:id="br0">
      <inkml:brushProperty name="width" value="0.035" units="cm"/>
      <inkml:brushProperty name="height" value="0.035" units="cm"/>
      <inkml:brushProperty name="color" value="#FF0066"/>
    </inkml:brush>
  </inkml:definitions>
  <inkml:trace contextRef="#ctx0" brushRef="#br0">133 1 24575,'-2'0'0,"-1"1"0,1 0 0,0-1 0,0 1 0,-1 0 0,1 0 0,0 1 0,0-1 0,0 0 0,0 1 0,0-1 0,1 1 0,-1 0 0,0 0 0,1 0 0,-1-1 0,0 4 0,-24 34 0,20-25 0,1-1 0,0 0 0,1 1 0,0 0 0,1 0 0,0 1 0,1-1 0,1 0 0,0 1 0,3 23 0,-3 10 0,-12 91 0,5-88 0,2-19 0,2 1 0,-1 37 0,3 44 0,5 109 0,16-111 0,-17-104 0,0 0 0,0 0 0,1 0 0,0 0 0,0 0 0,1 0 0,0-1 0,1 0 0,-1 0 0,2 0 0,-1 0 0,0-1 0,1 0 0,0 0 0,1 0 0,-1-1 0,12 7 0,-1-1 0,1-1 0,1 0 0,0-1 0,0-2 0,41 12 0,-31-11 0,1-2 0,1 0 0,-1-3 0,1 0 0,60-4 0,-89 1 0,1 0 0,-1-1 0,0 1 0,0-1 0,0 0 0,1 1 0,-1-1 0,0 0 0,0 0 0,0-1 0,0 1 0,0 0 0,-1-1 0,1 1 0,0-1 0,-1 1 0,1-1 0,-1 0 0,1 0 0,-1 0 0,0 0 0,2-3 0,1-5 0,-1 1 0,0-1 0,-1 0 0,2-11 0,8-26 0,56-131 0,-60 151 0,-1 0 0,-2 0 0,-1-1 0,1-52 0,-6-275 0,1 350 0,0 0 0,0 0 0,0 0 0,-1 0 0,0 0 0,0 0 0,0 0 0,-1 0 0,0 1 0,0-1 0,0 0 0,0 1 0,-1-1 0,1 1 0,-1 0 0,0 0 0,-1 0 0,1 0 0,-1 1 0,1-1 0,-1 1 0,0 0 0,-7-4 0,2 2 0,1-1 0,0 0 0,0 0 0,0 0 0,1-1 0,0 0 0,-8-11 0,9 10 0,-1 1 0,0-1 0,-1 1 0,0 0 0,0 1 0,0 0 0,-11-6 0,-56-25-1365,64 32-5461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12:24.482"/>
    </inkml:context>
    <inkml:brush xml:id="br0">
      <inkml:brushProperty name="width" value="0.035" units="cm"/>
      <inkml:brushProperty name="height" value="0.035" units="cm"/>
      <inkml:brushProperty name="color" value="#FFC114"/>
    </inkml:brush>
  </inkml:definitions>
  <inkml:trace contextRef="#ctx0" brushRef="#br0">0 20 24575,'55'-17'0,"-21"15"0,1 2 0,-1 1 0,48 8 0,-22-2 0,134 6 0,-20-6 0,-116-7 0,71 8 0,-11 3-25,186-8-1,-156-6-1216,-136 3 1206,460 20-187,-82 20-3151,-69-4 2496,145 21-364,298 49 1242,-698-98 0,409 42 0,77 11 0,-486-53 0,182 29 0,271 28 0,-308-44 0,438 26 21,-370-30 191,377 26 822,-334-5-997,-9 0 27,-182-26-291,151 35 1,504 93 327,-241-36 1549,-376-73-1910,-29-7 3519,-63-7-1970,156 41-1197,-207-51-92,37 4 0,22 6 0,22 8 0,37 12 0,-87-16 0,-27-9 0,0-1 0,1-2 0,33 6 0,-41-10 0,0 1 0,-1 0 0,37 18 0,20 6 0,-33-14 0,-30-10 0,0 0 0,-1-1 0,23 3 0,-12-3 0,-1 1 0,1 2 0,-1 0 0,-1 2 0,33 17 0,-22-10 0,-27-14 0,1 0 0,-1-1 0,1 0 0,0 0 0,11 1 0,-12-3 0,0 1 0,0 1 0,0 0 0,0 0 0,0 0 0,14 8 0,-10-5 0,-1-1 0,1 0 0,0 0 0,0-1 0,13 1 0,27 8 0,-23-3 0,0-1 0,1-2 0,0-1 0,1-1 0,40 0 0,-46-3 0,1 1 0,34 7 0,-52-8 0,16 2 0,-1-1 0,29-2 0,-61-1-124,-1 0 0,1 0 0,-1-1 0,1-1 0,-1 0 0,1 0-1,0 0 1,0-1 0,1-1 0,-12-6 0,8 2-6702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12:25.302"/>
    </inkml:context>
    <inkml:brush xml:id="br0">
      <inkml:brushProperty name="width" value="0.035" units="cm"/>
      <inkml:brushProperty name="height" value="0.035" units="cm"/>
      <inkml:brushProperty name="color" value="#FFC114"/>
    </inkml:brush>
  </inkml:definitions>
  <inkml:trace contextRef="#ctx0" brushRef="#br0">1118 1 24575,'10'0'0,"0"1"0,0 0 0,-1 1 0,1 0 0,0 0 0,-1 1 0,0 1 0,0-1 0,0 1 0,0 1 0,11 8 0,78 25 0,-72-26 0,-21-11 0,0 1 0,0 0 0,0 0 0,0 0 0,-1 1 0,1 0 0,6 5 0,-10-6 0,0-1 0,0 0 0,0 1 0,0-1 0,-1 0 0,1 1 0,0-1 0,-1 1 0,1-1 0,-1 1 0,0-1 0,0 1 0,1 0 0,-1-1 0,0 1 0,0-1 0,0 1 0,-1 0 0,1-1 0,0 1 0,-1-1 0,1 1 0,-1-1 0,1 1 0,-1-1 0,0 1 0,1-1 0,-1 0 0,0 1 0,0-1 0,-2 2 0,0 2 0,0-1 0,0 0 0,-1 0 0,1 0 0,-1 0 0,0-1 0,0 1 0,0-1 0,-1 0 0,1-1 0,-1 1 0,0-1 0,0 1 0,0-1 0,0-1 0,-5 2 0,-8 1 0,0-2 0,0 0 0,-26-1 0,24 0 0,1 0 0,-22 3 0,1 3 39,-63 0 0,-6 2-909,-18-1 696,83-7 182,-53 8-1,-20 1-5,3-1 947,46-2-955,1-4 0,-79-4 0,39-1-1341,91 2-5479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12:27.259"/>
    </inkml:context>
    <inkml:brush xml:id="br0">
      <inkml:brushProperty name="width" value="0.035" units="cm"/>
      <inkml:brushProperty name="height" value="0.035" units="cm"/>
      <inkml:brushProperty name="color" value="#FFC114"/>
    </inkml:brush>
  </inkml:definitions>
  <inkml:trace contextRef="#ctx0" brushRef="#br0">1 1 24575,'26'1'0,"0"3"0,0 0 0,0 1 0,0 2 0,-1 0 0,36 17 0,22 5 0,-5-12 0,3 1 0,125 38 0,-60-19 0,-120-30 0,1-2 0,36 3 0,44 6 0,532 87-6160,-274-46 3629,259 32 2531,323 48-3147,-483-66 4091,87 15 269,-38-16-1213,-33-5 0,-360-42 0,66 7 0,150 27 0,78 14 3912,334 45-2541,-516-67-1371,177 31 0,-296-61 263,150 45 1,-57-11 2577,-65-18-2784,70 21-57,-3-12 0,-34-8 0,-7 12-11,38 8 184,28 6 638,-91-10-811,-88-33 0,-35-12 0,-1 0 0,1 2 0,-1 0 0,-1 1 0,28 17 0,14 11 0,-42-26 0,0 0 0,-1 0 0,0 2 0,24 22 0,51 48 0,-37-36 0,10 0 0,-18-15 0,96 64 0,-76-50 0,-42-30 0,0 2 0,-1 0 0,25 25 0,-5-4 0,-31-28 0,0 0 0,20 23 0,-27-26 0,1 0 0,0 0 0,0-1 0,0 0 0,0 0 0,1-1 0,0 0 0,0 0 0,1-1 0,9 5 0,-8-4 0,0 1 0,-1 0 0,1 0 0,-1 0 0,0 1 0,11 13 0,17 15 0,-36-35 0,52 43 0,1-3 0,62 36 0,-112-73 0,0-1 0,0 0 0,0 1 0,0-1 0,-1 1 0,1 0 0,-1 0 0,1 0 0,2 5 0,-3-4 0,0-1 0,1 1 0,0 0 0,0-1 0,0 0 0,7 6 0,16 9 0,0 2 0,-2 1 0,0 1 0,-1 1 0,-2 0 0,32 45 0,-25-30 0,2-1 0,1-2 0,59 52 0,-67-63 0,-19-19 0,0 0 0,1-1 0,-1 1 0,1-1 0,0 0 0,9 5 0,5-1-16,-29-21 117,-5-8-1551,9 9-5376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12:30.482"/>
    </inkml:context>
    <inkml:brush xml:id="br0">
      <inkml:brushProperty name="width" value="0.035" units="cm"/>
      <inkml:brushProperty name="height" value="0.035" units="cm"/>
      <inkml:brushProperty name="color" value="#FFC114"/>
    </inkml:brush>
  </inkml:definitions>
  <inkml:trace contextRef="#ctx0" brushRef="#br0">1 1 24575,'38'2'0,"0"2"0,0 2 0,74 20 0,-70-15 0,102 21 0,-123-27 0,37 5 0,12 3 0,91 20 0,-45-11 0,176 50-2924,-57-13 2363,298 38-3292,-212-45 2076,816 113-2160,-846-128 3417,123 14 618,792 59-2596,-318-18 6409,-340-30-3911,-359-35 3024,187 54 1,-294-64-3162,-43-10 128,40 13 0,286 90 1112,-158-49-197,56 13-906,311 87 0,-420-124 0,67 18 0,32 30 537,-171-53-883,-47-18 728,0-2 0,57 14 0,-61-18-236,0 1 1,-1 2-1,0 1 0,33 19 1,35 13-177,-58-28 64,78 35 2016,-105-43-2038,-1 0 1,21 19-1,7 5-14,26 12 2,-28-21 0,-1 3 0,-1 0 0,48 48 0,-58-49 0,2-1 0,0-2 0,56 34 0,-45-31 0,-33-21 0,0 1 0,-1 0 0,0 0 0,9 11 0,-10-10 0,1-1 0,-1 0 0,1 0 0,0-1 0,0 1 0,8 4 0,0 0 0,-1 0 0,0 1 0,-1 1 0,0-1 0,15 21 0,18 17 0,-31-34 0,-1 0 0,-1 1 0,0 0 0,9 18 0,3 4 0,41 75 0,-23-38 0,-33-60 0,0 0 0,-2 1 0,1 0 0,-2 0 0,0 1 0,-1 0 0,0 0 0,1 27 0,-3-34 0,0 0 0,1 0 0,0 0 0,0 0 0,8 14 0,9 23 0,-10-16 0,21 39 0,-2-4 0,56 113 0,-79-164 0,-2-1 0,1 1 0,-2 0 0,0 1 0,2 20 0,-1-7 0,1 0 0,2-1 0,1 0 0,16 39 0,30 47 0,-45-79 0,-8-28 0,1 0 0,-1-1 0,1 1 0,0-1 0,0 1 0,0-1 0,5 7 0,17 21 0,-17-24 0,1 1 0,-2 0 0,1 0 0,-1 1 0,8 21 0,-9-19 0,0 0 0,1-1 0,1 0 0,0 0 0,15 20 0,-13-20 0,21 43 0,-23-42 0,0 0 0,0 0 0,10 12 0,14 18 0,-2 2 0,40 81 0,-26-45 0,-32-62-1365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09:13.490"/>
    </inkml:context>
    <inkml:brush xml:id="br0">
      <inkml:brushProperty name="width" value="0.035" units="cm"/>
      <inkml:brushProperty name="height" value="0.035" units="cm"/>
      <inkml:brushProperty name="color" value="#FF0066"/>
    </inkml:brush>
  </inkml:definitions>
  <inkml:trace contextRef="#ctx0" brushRef="#br0">773 2 24575,'-98'-2'0,"-104"4"0,184 2 0,1 0 0,0 1 0,0 1 0,0 0 0,0 1 0,1 1 0,0 1 0,-18 13 0,20-14 0,5-3 0,0-1 0,0 0 0,-18 4 0,-19 9 0,2 3 0,24-11 0,0 0 0,1 2 0,0 0 0,-22 17 0,38-25 0,0 1 0,1 0 0,-1 0 0,1 0 0,-1 0 0,2 1 0,-1-1 0,0 1 0,1-1 0,0 1 0,0-1 0,0 1 0,0 0 0,1-1 0,0 9 0,0-3 0,0-1 0,0 0 0,1 0 0,1 0 0,0 0 0,0 0 0,4 11 0,5 3 0,2 0 0,0 0 0,1-2 0,20 24 0,31 9 0,-46-36 0,1 0 0,1-2 0,1 0 0,1-1 0,26 13 0,37 24 0,-45-26 0,66 29 0,-33-17 0,-38-22 0,40 15 0,15 5 0,12 3 0,-30-14 0,-5 11 0,-17-8 0,135 67 0,-114-57 0,-61-33 0,1-1 0,0 0 0,0-1 0,0 0 0,13 1 0,31 8 0,-21-4 0,0-2 0,1-2 0,0-1 0,-1-2 0,54-4 0,-1 0 0,453 3 0,-519-1 0,0-1 0,27-6 0,-12 1 0,-19 3 0,-1 0 0,0-1 0,-1-1 0,1-1 0,-1 0 0,-1-1 0,1-1 0,25-19 0,-25 19 0,0 0 0,31-11 0,-31 14 0,1-2 0,-1 1 0,22-16 0,-8 3 0,-13 10 0,-1-2 0,25-22 0,-34 26 0,0-1 0,-1 0 0,10-18 0,-11 17 0,1 0 0,0 1 0,14-17 0,-3 9 0,-1-1 0,-1-1 0,-1 0 0,0-1 0,-1-1 0,-2 0 0,0-1 0,9-26 0,-16 28 0,-1 1 0,-1-1 0,-1 0 0,-1 0 0,0 1 0,-4-24 0,3 40 0,1 0 0,-1 1 0,0-1 0,1 0 0,-1 1 0,-1-1 0,1 1 0,0-1 0,-1 1 0,1 0 0,-1 0 0,1-1 0,-1 1 0,0 0 0,0 0 0,0 1 0,0-1 0,-1 0 0,1 1 0,0-1 0,-5-1 0,-5-3 0,-1 2 0,0-1 0,-18-3 0,-4-1 0,5-2 0,9 3 0,0 1 0,-1 0 0,0 2 0,-1 0 0,-32-2 0,-76-11 0,76 9 133,15 2-1631,25 5-5328</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09:17.144"/>
    </inkml:context>
    <inkml:brush xml:id="br0">
      <inkml:brushProperty name="width" value="0.035" units="cm"/>
      <inkml:brushProperty name="height" value="0.035" units="cm"/>
      <inkml:brushProperty name="color" value="#FF0066"/>
    </inkml:brush>
  </inkml:definitions>
  <inkml:trace contextRef="#ctx0" brushRef="#br0">0 21 24575,'0'0'0,"1"-1"0,-1 0 0,0 0 0,1 0 0,-1 1 0,1-1 0,-1 0 0,1 0 0,-1 1 0,1-1 0,0 0 0,-1 1 0,1-1 0,0 1 0,-1-1 0,1 1 0,0-1 0,0 1 0,-1-1 0,1 1 0,0 0 0,0 0 0,0-1 0,0 1 0,0 0 0,-1 0 0,3 0 0,28-4 0,-28 4 0,338-2 0,-174 4 0,182-4 561,372 4-8495,-624 2 4166,52 3 4760,56 2 138,-7 1-4049,98 14 2918,159 9-2270,751 29 2727,-917-47-280,170 12-259,424-11 1514,-566-19-1989,316 8 1357,-213 6-3058,74-7 3316,121 7 2163,456 42-4862,-255 7 1642,-594-29 935,-37-5-796,171 13-2442,510 66 3992,-343-54-2342,45 8 619,268 43-279,-822-101 317,541 37-1518,-1 27 361,230 15 3689,-116-19-587,-543-45-2119,575 90-2264,60 11 2627,-364-42-193,-245-42 0,419 61 1227,-334-58-905,-100-14-2452,186 33 4998,-158-21-2132,-74-13 68,107 11-1,-181-30-224,0 1-1,0 1 1,-1 1-1,0 0 1,24 12-1,-22-9 240,1-1-1,0 0 1,33 6-1,5 4 664,-45-12-1508,1-1-1,0-1 1,17 3-1,-8-2 28,-1 0 0,24 9 0,31 7 0,-51-15 0,42 15 0,-9-2 0,-19-7 0,76 10 0,-97-19 0,1 2 0,28 9 0,21 5 0,-22-9 0,78 26 0,152 76 0,-247-99 0,31 9 0,-44-16 0,0 0 0,0 1 0,0 0 0,0 2 0,19 12 0,-14-8 0,0 0 0,0-2 0,1 0 0,1-1 0,33 8 0,30 13 0,-33-10 0,63 14 0,-68-22 0,-1 2 0,49 23 0,-50-19 0,1-2 0,0-2 0,50 9 0,-42-11 0,96 34 0,-13 1 0,-131-45 0,0 1 0,1-1 0,-2 2 0,1-1 0,10 8 0,19 11 0,59 28 0,-50-25 0,21 14 0,-39-22 0,2-1 0,0-2 0,55 21 0,-67-29 0,0 0 0,0 2 0,17 10 0,-19-10 0,-1-1 0,1 0 0,0-1 0,26 8 0,-21-8 0,0 1 0,0 0 0,0 1 0,27 18 0,-25-14 0,0-1 0,39 15 0,-7-12 0,-39-12 0,0 2 0,0 0 0,0 1 0,0 0 0,18 11 0,16 10 0,58 22 0,-24-11 0,-27-14 0,66 17 0,-24-8 0,-16 3 0,-65-26 0,0-1 0,1-1 0,0-1 0,0 0 0,0-1 0,1-1 0,26 3 0,-23-4 0,0 0 0,1 2 0,-1 0 0,-1 1 0,1 1 0,-1 1 0,37 21 0,13 4 0,-17-18 0,-44-14 0,-1 1 0,1 1 0,0-1 0,-1 1 0,12 6 0,15 6 0,1 0 0,1-3 0,0-1 0,64 11 0,-63-14 0,-3-2 0,-20-4 0,0 2 0,0-1 0,0 2 0,16 6 0,-2 2 0,-4-3 0,34 21 0,-25-18 113,-13-7-1591,-9-1-5348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09:18.505"/>
    </inkml:context>
    <inkml:brush xml:id="br0">
      <inkml:brushProperty name="width" value="0.035" units="cm"/>
      <inkml:brushProperty name="height" value="0.035" units="cm"/>
      <inkml:brushProperty name="color" value="#FF0066"/>
    </inkml:brush>
  </inkml:definitions>
  <inkml:trace contextRef="#ctx0" brushRef="#br0">1 1 24575,'5'3'0,"0"1"0,0 0 0,-1 0 0,1 1 0,5 7 0,-7-9 0,2 4 0,0 1 0,-1 0 0,1 0 0,-1 0 0,-1 1 0,0-1 0,0 1 0,-1 0 0,1 0 0,-2 0 0,0 0 0,0 0 0,0 12 0,-1-7 0,2-1 0,0 1 0,0 0 0,1-1 0,5 13 0,-1-4 0,-1 0 0,-1 0 0,-1 1 0,2 24 0,-2-13 0,-4-31 0,2 6 0,-1 1 0,0-1 0,0 1 0,-1 0 0,0-1 0,-1 1 0,-2 9 0,3-19 2,0 0-1,0 1 0,0-1 1,0 0-1,0 0 0,0 1 1,0-1-1,0 0 0,0 0 1,0 1-1,0-1 0,0 0 1,0 0-1,0 1 0,0-1 1,0 0-1,-1 0 0,1 1 1,0-1-1,0 0 0,0 0 1,0 0-1,-1 1 0,1-1 1,0 0-1,0 0 0,0 0 1,-1 0-1,1 1 0,0-1 1,0 0-1,0 0 0,-1 0 1,1 0-1,0 0 0,0 0 1,-1 0-1,1 0 1,0 0-1,0 0 0,-1 0 1,1 0-1,0 0 0,0 0 1,-1 0-1,1 0 0,0 0 1,-1 0-1,-6-11-500,5 7-433,-4-5-5894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09:19.482"/>
    </inkml:context>
    <inkml:brush xml:id="br0">
      <inkml:brushProperty name="width" value="0.035" units="cm"/>
      <inkml:brushProperty name="height" value="0.035" units="cm"/>
      <inkml:brushProperty name="color" value="#FF0066"/>
    </inkml:brush>
  </inkml:definitions>
  <inkml:trace contextRef="#ctx0" brushRef="#br0">1 4 24362,'1681'0'0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09:23.859"/>
    </inkml:context>
    <inkml:brush xml:id="br0">
      <inkml:brushProperty name="width" value="0.035" units="cm"/>
      <inkml:brushProperty name="height" value="0.035" units="cm"/>
      <inkml:brushProperty name="color" value="#FF0066"/>
    </inkml:brush>
  </inkml:definitions>
  <inkml:trace contextRef="#ctx0" brushRef="#br0">1709 0 24575,'2'91'0,"-4"99"0,1-188 0,1 1 0,-1-1 0,0 0 0,0 1 0,0-1 0,0 0 0,0 0 0,0 0 0,-1 0 0,1 0 0,-1 0 0,1 0 0,-1-1 0,0 1 0,0 0 0,0-1 0,0 0 0,0 1 0,0-1 0,0 0 0,0 0 0,0 0 0,-4 1 0,-8 3 0,-1-1 0,-25 5 0,12-2 0,1 0 0,-3 2 0,0 0 0,-1-3 0,0 0 0,-56 1 0,70-6 0,-1 1 0,-23 5 0,23-4 0,0 0 0,-19 0 0,-524-4 0,543 2 0,1 1 0,-23 5 0,23-4 0,-1 0 0,-21 0 0,8-2 0,-5-2 0,1 2 0,-51 9 0,46-5-20,0-1-1,-80-4 1,52-2-1284,48 2-5522</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29:18.875"/>
    </inkml:context>
    <inkml:brush xml:id="br0">
      <inkml:brushProperty name="width" value="0.035" units="cm"/>
      <inkml:brushProperty name="height" value="0.035" units="cm"/>
      <inkml:brushProperty name="color" value="#FF0066"/>
    </inkml:brush>
  </inkml:definitions>
  <inkml:trace contextRef="#ctx0" brushRef="#br0">911 1 24575,'-11'0'0,"-27"0"0,-40 4 0,65-2 0,0 0 0,-1 1 0,1 0 0,0 1 0,0 0 0,-19 10 0,20-10 0,0 1 0,-1-1 0,0 0 0,0-2 0,-20 4 0,19-4 0,-1 0 0,1 1 0,0 0 0,-21 9 0,-74 28 0,41-16 0,15-6 0,30-11 0,1 1 0,-1 2 0,-34 18 0,51-24 0,0 2 0,1-1 0,-1 0 0,1 1 0,0 0 0,1-1 0,-1 2 0,1-1 0,1 1 0,-6 13 0,4-10 0,1-1 0,-1-1 0,-1 1 0,-10 13 0,12-18 0,0 2 0,0 0 0,1-1 0,-1 2 0,1-2 0,1 1 0,-1 0 0,1 1 0,1-1 0,-1 0 0,0 12 0,1 8 0,3 44 0,1-19 0,-4-27 0,1-11 0,0 0 0,1 1 0,3 15 0,-3-24 0,1 0 0,-1 0 0,1-1 0,0 1 0,1 0 0,0-1 0,-1 1 0,1-1 0,1 0 0,-1 0 0,1 0 0,4 4 0,24 15 0,1-1 0,0-1 0,2-1 0,57 23 0,-83-39 0,1 0 0,-1-2 0,1 0 0,0 0 0,17 1 0,-15-2 0,0 1 0,0 1 0,12 3 0,-5-1 0,0 0 0,1-2 0,-1 1 0,34 0 0,-30-1 0,0 2 0,-1-1 0,30 10 0,-33-7 0,0-2 0,0-1 0,1 0 0,38 3 0,-48-7 0,13 0 0,0 1 0,0 1 0,25 4 0,121 20 0,-147-22 0,38 8 0,-42-7 0,1-1 0,-1 0 0,23 1 0,30 4 0,-50-6 0,1 0 0,21 0 0,85-5 0,102 4 0,-163 7 0,-46-6 0,1 0 0,22 0 0,-35-2 0,144-6 0,-136 2 0,1 1 0,0-1 0,-1-1 0,0-1 0,0 0 0,25-12 0,-22 6 0,-1-1 0,0 0 0,-1-1 0,0-2 0,17-17 0,-21 16 0,0 0 0,-2-1 0,19-32 0,10-15 0,-34 52 0,0 1 0,-2 0 0,0-1 0,0 0 0,-1 1 0,0-1 0,-1 0 0,-1-1 0,0 2 0,-1-2 0,-1 1 0,0-1 0,-1 1 0,-2-15 0,2 23 0,0 0 0,0-1 0,-1 1 0,1 0 0,-1 0 0,0-1 0,0 2 0,-1-1 0,1 0 0,-1 0 0,0 0 0,0 2 0,0-2 0,-1 1 0,1 0 0,-1 0 0,0 1 0,0-1 0,-6-2 0,0-1 0,0 2 0,-1-1 0,1 1 0,-1 0 0,0 2 0,0-1 0,-14-2 0,14 4 0,0-3 0,0 1 0,0 0 0,1-2 0,0 1 0,-19-11 0,16 8 0,0-1 0,0 3 0,-17-7 0,9 7 0,0 0 0,-1 1 0,-29-2 0,-62-13 0,29 4 0,68 11 44,0 1 1,-19-7-1,-20-5-1542,41 12-5328</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29:20.199"/>
    </inkml:context>
    <inkml:brush xml:id="br0">
      <inkml:brushProperty name="width" value="0.035" units="cm"/>
      <inkml:brushProperty name="height" value="0.035" units="cm"/>
      <inkml:brushProperty name="color" value="#FF0066"/>
    </inkml:brush>
  </inkml:definitions>
  <inkml:trace contextRef="#ctx0" brushRef="#br0">159 4420 24575,'1'-21'0,"-1"1"0,-2-1 0,0 1 0,-1 0 0,-1-1 0,-13-33 0,0 8 0,-18-83 0,26 91 0,-13-30 0,15 51 0,1 1 0,1-1 0,1 0 0,-2-23 0,-4-19 0,7 42 0,-4-32 0,6-494 0,3 262 0,-1 267 0,1 1 0,0 0 0,1-1 0,10-23 0,6-29 0,-13 32 0,2 2 0,1 0 0,1 1 0,20-38 0,0 13 0,-16 31 0,-1 0 0,14-41 0,-21 49 0,1 1 0,1 0 0,0 0 0,2 1 0,21-28 0,-10 16 0,19-33 0,78-83 0,-103 127 0,0 2 0,29-25 0,63-49 0,143-104 0,-228 176 0,37-21 0,-38 25 0,-1 0 0,32-27 0,61-44 0,-103 76 0,53-33 0,-35 23 0,0-1 0,-2-2 0,36-30 0,-56 43 0,1 2 0,0 0 0,1-1 0,0 2 0,0-1 0,16-6 0,-16 8 0,1-1 0,-1 0 0,-1 0 0,1-1 0,-1 0 0,13-10 0,-6 1 0,2 2 0,0 0 0,26-15 0,22-16 0,30-22 0,-7 5 0,-23 21 0,-7 4 0,48-28 0,-2 2 0,-85 49 0,31-14 0,9-6 0,50-27 0,-43 26 0,-16-1 0,-41 27 0,1 1 0,0 0 0,1-1 0,19-8 0,-8 5 0,0-1 0,39-27 0,-42 25 0,1 1 0,1 1 0,29-13 0,-32 16 0,-1-1 0,0 1 0,21-17 0,-21 14 0,1 0 0,28-13 0,89-47 0,-57 29 0,100-45 0,-139 73 0,-32 13 0,0-1 0,0 0 0,-1-1 0,1 2 0,-1-2 0,1 0 0,-1 0 0,9-6 0,5-8 0,2 2 0,0-1 0,43-20 0,-29 16 0,-25 13-1365,-1-1-5461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29:21.489"/>
    </inkml:context>
    <inkml:brush xml:id="br0">
      <inkml:brushProperty name="width" value="0.035" units="cm"/>
      <inkml:brushProperty name="height" value="0.035" units="cm"/>
      <inkml:brushProperty name="color" value="#FF0066"/>
    </inkml:brush>
  </inkml:definitions>
  <inkml:trace contextRef="#ctx0" brushRef="#br0">0 142 24575,'42'-13'0,"63"-3"0,33-1 0,-55 6 0,-16 4 0,-12-3 0,0 3 0,71-1 0,-108 7 0,-1 0 0,30-7 0,-11 1 0,23-9 0,0-1 0,-55 16 0,0 0 0,1 1 0,-1-1 0,0 1 0,0 0 0,1 0 0,-1 0 0,0 1 0,0 0 0,0-1 0,5 2 0,-7-1 0,0 0 0,0 0 0,-1 1 0,1-1 0,0 1 0,0-1 0,-1 0 0,1 0 0,-1 1 0,0 0 0,1 0 0,-1-1 0,0 1 0,0 0 0,0 0 0,0-1 0,-1 1 0,1 1 0,-1-1 0,1 0 0,-1-1 0,1 1 0,-1 3 0,1 9 0,-1-1 0,-2 20 0,0-16 0,2 3 0,0-6 0,-1 1 0,0-2 0,-6 24 0,5-33 0,1 0 0,-1 1 0,0-2 0,0 2 0,-1-1 0,1 0 0,-1 0 0,0-1 0,0 1 0,0-1 0,-1 0 0,1 1 0,-1-2 0,0 1 0,-6 4 0,4-3 0,1 0 0,0 1 0,0-1 0,0 0 0,1 2 0,0-2 0,0 2 0,0-1 0,0 0 0,1 2 0,-4 8 0,4-7 0,-2 0 0,1 0 0,-1 0 0,0-1 0,-11 12 0,10-13 0,1 0 0,0 2 0,1-2 0,0 1 0,-5 10 0,-4 8 0,9-20-170,1 2-1,1-1 0,-1 0 1,1 0-1,1 1 0,-1-1 1,0 12-1,1-4-6655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29:37.257"/>
    </inkml:context>
    <inkml:brush xml:id="br0">
      <inkml:brushProperty name="width" value="0.035" units="cm"/>
      <inkml:brushProperty name="height" value="0.035" units="cm"/>
      <inkml:brushProperty name="color" value="#FF0066"/>
    </inkml:brush>
  </inkml:definitions>
  <inkml:trace contextRef="#ctx0" brushRef="#br0">728 90 24575,'-1'-1'0,"1"1"0,0-1 0,0 1 0,-1-1 0,1 0 0,-1 0 0,1 1 0,0-1 0,-1 0 0,1 1 0,-1-1 0,0 1 0,1-1 0,-1 0 0,1 1 0,-1 0 0,0 0 0,1 0 0,-1-1 0,0 1 0,0 0 0,1-1 0,-1 1 0,0 0 0,0 0 0,0-1 0,-1 1 0,-28-4 0,21 3 0,-8-1 0,-31-4 0,-88-3 0,120 9 0,-17 0 0,-40 5 0,61-3 0,-1 0 0,2 0 0,-1 2 0,0-1 0,1 1 0,-19 9 0,21-9 0,1-1 0,-1 0 0,1-1 0,-1 1 0,0-2 0,0 0 0,-14 2 0,14-3 0,-1 2 0,1-1 0,0 0 0,0 1 0,0 1 0,0 0 0,-10 4 0,13-5 0,0 2 0,0 0 0,0-1 0,1 1 0,-1 0 0,1 1 0,0-1 0,0 1 0,1 0 0,-6 8 0,7-9 0,1-1 0,0 1 0,1 1 0,-1-2 0,1 2 0,0-2 0,0 2 0,0-1 0,0 0 0,1 0 0,0 1 0,0-1 0,0 0 0,1 0 0,-1 1 0,3 5 0,9 52 0,-11-52 0,0-1 0,0 0 0,1 0 0,0 1 0,1-1 0,0 0 0,1 0 0,0 0 0,1 0 0,6 8 0,18 19 0,-1-2 0,34 34 0,-52-58 0,1 0 0,0-1 0,1-1 0,0 0 0,0 0 0,1-1 0,21 8 0,83 40 0,-96-48 0,0 0 0,0-1 0,29 5 0,25 8 0,-6 1 0,1-4 0,0 0 0,1-5 0,1-2 0,107 2 0,-152-10 0,50 8 0,-25-2 0,28 9 0,-60-11 0,1 0 0,31 2 0,284-4 0,-177-5 0,-139 1 0,1-1 0,0-1 0,35-9 0,-36 8 0,0-1 0,1 1 0,37-1 0,-37 4 0,1-1 0,-1-1 0,1-2 0,-1 1 0,-1-1 0,1-3 0,-1 1 0,28-13 0,-25 7 0,-1 0 0,30-24 0,-43 28 0,0 0 0,0 0 0,-1 0 0,-1-1 0,12-21 0,6-5 0,-10 15 0,-6 11 0,-1 0 0,0-1 0,-1-1 0,0 1 0,-1-1 0,7-22 0,4-18 0,-12 36 0,1 0 0,-2 0 0,-1 0 0,3-28 0,-6 37 0,1 1 0,-1 0 0,0-1 0,-1 0 0,0 1 0,0 0 0,-1-1 0,1 1 0,-1 0 0,-1 0 0,0 0 0,0 0 0,0 1 0,0-2 0,-1 2 0,0 0 0,-1 0 0,-4-5 0,8 10 0,-12-15 0,-1 2 0,-1 0 0,0 1 0,-1 1 0,-25-15 0,-2 3 0,-69-32 0,94 48 0,0 0 0,0 1 0,-1 2 0,-32-7 0,-52 2-1365,77 8-5461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29:39.838"/>
    </inkml:context>
    <inkml:brush xml:id="br0">
      <inkml:brushProperty name="width" value="0.035" units="cm"/>
      <inkml:brushProperty name="height" value="0.035" units="cm"/>
      <inkml:brushProperty name="color" value="#FF0066"/>
    </inkml:brush>
  </inkml:definitions>
  <inkml:trace contextRef="#ctx0" brushRef="#br0">0 5693 24575,'23'2'0,"0"1"0,0 1 0,-1 0 0,0 2 0,0 0 0,0 1 0,21 10 0,18 4 0,-11 0 0,-37-16 0,-1 1 0,1-2 0,1 1 0,-1-2 0,18 3 0,36 7 0,-1 1 0,0 3 0,78 30 0,63 19 0,8-21 0,188 41-2417,-44-19 1517,589 110 900,-494-99-1532,-222-40-894,262 16 1978,2-36 96,-446-17 192,372 5-2865,210-6 3051,-172-2-108,-58-20 82,-270 13 0,172-32 21,-148 17-1095,38-2 925,381-55 1092,60 1 2915,-10 0-2721,-529 67-1155,142-28-417,130-38-2047,59-15 3606,-223 46-1019,365-101 1141,-408 99-1427,124-40-254,-194 58 495,292-107 80,-301 105 1638,-2 2-1746,124-67 1,27-25 921,8-5 56,35-19-1223,-263 142 212,25-15 1,59-44 0,-60 39 0,59-34 0,-60 42 7,260-146-285,-211 112-941,212-140 742,-240 153 706,-6 5 319,47-44 1,2-6-78,-39 33 151,63-67 1,-120 116-623,34-38 0,40-58 0,-57 70 465,-2 0-1,-1 0 1,-1-1 0,-2 0-1,12-40 1,-16 40-465,2 2 0,2 0 0,17-30 0,-13 27 0,-2 0 0,13-38 0,34-81 0,-50 123 0,47-111 0,16-32 0,-43 100 0,65-117 0,-43 89 0,-20 31 0,-21 39 0,18-27 0,-20 34 0,-1-1 0,-1 1 0,-1-1 0,-1 0 0,7-35 0,9-30 0,-11 49 0,15-38 0,-15 47 0,-2 1 0,-1 0 0,-1-1 0,4-40 0,-11 57 0,-1 1 0,1 0 0,0 0 0,1 0 0,0 0 0,0 1 0,1 0 0,1 0 0,0 0 0,0 0 0,7-10 0,2-1 0,-2-1 0,0 0 0,-2-1 0,9-29 0,-14 41 0,1 1 0,0-1 0,1 0 0,0 1 0,1 0 0,0 0 0,0 1 0,11-10 0,-7 7 0,-1 1 0,-1-2 0,16-23 0,-8 8 0,1-1 0,42-46 0,-53 66 0,-3 1 0,1 2 0,-1-2 0,-1 1 0,5-12 0,13-21 0,-3 16 0,-1 0 0,-1-1 0,-2 0 0,14-33 0,-22 46 0,0-2 0,1 2 0,0 0 0,1-1 0,15-13 0,-12 13 0,-1-1 0,-1 0 0,12-21 0,-14 22 0,1 2 0,0-2 0,0 1 0,2 2 0,-1-2 0,1 1 0,1 1 0,18-12 0,-6 3 0,169-131 0,-183 141 0,0 0 0,0 0 0,-1 0 0,8-11 0,14-15 0,-14 18 0,-12 10 0,1 1 0,0 0 0,1 1 0,-1 0 0,1-1 0,11-6 0,-7 6 0,-1-1 0,-1 0 0,1-1 0,8-8 0,21-16 0,4-6 0,-5 4 0,-17 15 0,-18 16 0,0 0 0,0-1 0,0 1 0,0 1 0,1-1 0,-1 0 0,1 0 0,-1 0 0,1 1 0,0 0 0,0-1 0,0 1 0,0 0 0,0 0 0,0 0 0,4 0 0,48-7 0,82-23 0,-127 28 0,-1-2 0,0 2 0,0-3 0,-1 2 0,9-8 0,23-12 0,55-23 0,-2 6-1365,-81 37-5461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29:41.322"/>
    </inkml:context>
    <inkml:brush xml:id="br0">
      <inkml:brushProperty name="width" value="0.035" units="cm"/>
      <inkml:brushProperty name="height" value="0.035" units="cm"/>
      <inkml:brushProperty name="color" value="#FF0066"/>
    </inkml:brush>
  </inkml:definitions>
  <inkml:trace contextRef="#ctx0" brushRef="#br0">0 65 24575,'77'2'0,"83"-4"0,-107-7 0,-38 7 0,0-1 0,20-1 0,-15 4 0,-1-3 0,21-4 0,0 0 0,84-21 0,-122 27 0,-1 1 0,0 0 0,0 0 0,0 0 0,0 0 0,0 0 0,0 0 0,0 0 0,0 0 0,0 1 0,0-1 0,0 0 0,0 1 0,0-1 0,0 0 0,0 1 0,0-1 0,0 1 0,0-1 0,0 0 0,0 1 0,-1 0 0,1-1 0,1 3 0,-1-1 0,1 0 0,-1-1 0,0 1 0,-1 0 0,1 1 0,0-2 0,-1 1 0,1 1 0,-1-1 0,1 4 0,-1 2 0,-1 0 0,1 0 0,-2-1 0,1 1 0,-4 9 0,-64 203 0,62-197 0,2-10 0,2 2 0,0-2 0,-3 29 0,5-28 0,-1 0 0,0-1 0,-2 1 0,-6 18 0,5-19 0,0 1 0,2 0 0,0 0 0,-2 19 0,5-16-1365,0-2-5461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29:47.955"/>
    </inkml:context>
    <inkml:brush xml:id="br0">
      <inkml:brushProperty name="width" value="0.035" units="cm"/>
      <inkml:brushProperty name="height" value="0.035" units="cm"/>
      <inkml:brushProperty name="color" value="#FF0066"/>
    </inkml:brush>
  </inkml:definitions>
  <inkml:trace contextRef="#ctx0" brushRef="#br0">0 1 24575,'0'0'-8191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41:05.738"/>
    </inkml:context>
    <inkml:brush xml:id="br0">
      <inkml:brushProperty name="width" value="0.035" units="cm"/>
      <inkml:brushProperty name="height" value="0.035" units="cm"/>
      <inkml:brushProperty name="color" value="#FFC114"/>
    </inkml:brush>
  </inkml:definitions>
  <inkml:trace contextRef="#ctx0" brushRef="#br0">369 1 24575,'0'27'0,"-1"-1"0,-5 34 0,4-50 0,0 0 0,-1-1 0,0 1 0,-1-1 0,0 0 0,0 0 0,-1 0 0,0-1 0,-9 12 0,-22 24 0,-75 105 0,106-140 0,1 1 0,0 0 0,0 0 0,1 0 0,1 1 0,-1-1 0,0 17 0,1-12 0,0-1 0,-1 1 0,-7 16 0,-17 44 0,16-42 0,-1-1 0,-1-1 0,-24 38 0,34-61 0,-1-1 0,1 1 0,0 0 0,0 0 0,1 0 0,0 0 0,1 0 0,0 0 0,-1 11 0,5 83 0,0-46 0,-4-18 0,0-24 0,0-1 0,2 0 0,-1 1 0,4 12 0,-3-22 0,0 0 0,0 0 0,1 0 0,-1 0 0,1 0 0,0-1 0,0 1 0,0-1 0,0 1 0,1-1 0,0 0 0,-1 0 0,1 0 0,0-1 0,0 1 0,1 0 0,4 2 0,182 110 0,-180-110 0,0-1 0,0-1 0,1 0 0,-1 0 0,1-1 0,-1 0 0,1-1 0,0 0 0,20-2 0,44 7 0,-47 0 0,0-1 0,1-2 0,-1 0 0,1-2 0,0-1 0,0-1 0,34-7 0,-56 6 0,1 0 0,-1-1 0,0 0 0,-1 0 0,1-1 0,-1 1 0,1-2 0,-1 1 0,0-1 0,0 0 0,-1 0 0,0 0 0,0-1 0,0 0 0,0 0 0,5-9 0,-3 1 0,0 0 0,-1 0 0,-1-1 0,0 1 0,-1-1 0,5-30 0,-7 34 0,1 0 0,0 0 0,0 1 0,9-15 0,-8 16 0,0 0 0,-1-1 0,1 1 0,-2 0 0,1-1 0,1-13 0,-1-2 0,1 1 0,1 0 0,10-27 0,4-21 0,-10 36 0,-5 26 0,-1-1 0,-1-1 0,0 1 0,0 0 0,-1 0 0,0-1 0,-1 1 0,-1-1 0,0 1 0,0-1 0,-3-10 0,-1 5 0,-1 1 0,0 0 0,-1 0 0,-14-22 0,15 26 0,0 0 0,1-1 0,1 0 0,-4-16 0,-12-31 0,15 50 0,-1 0 0,-1 1 0,1 0 0,-2 0 0,1 1 0,-1 0 0,0 0 0,-1 0 0,0 1 0,0 1 0,0 0 0,-16-8 0,-1 1 0,-1 0 0,0 2 0,-47-12 0,39 14 0,0-1 0,1-2 0,-38-18 0,63 26 0,-1 0 0,0 1 0,1 0 0,-1 1 0,-15-2 0,20 3 38,10 1-1441,4 0-5423</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41:09.873"/>
    </inkml:context>
    <inkml:brush xml:id="br0">
      <inkml:brushProperty name="width" value="0.035" units="cm"/>
      <inkml:brushProperty name="height" value="0.035" units="cm"/>
      <inkml:brushProperty name="color" value="#FFC114"/>
    </inkml:brush>
  </inkml:definitions>
  <inkml:trace contextRef="#ctx0" brushRef="#br0">0 4672 24575,'1'0'0,"0"-1"0,0 1 0,0 0 0,0-1 0,0 1 0,-1-1 0,1 1 0,0-1 0,0 0 0,-1 1 0,1-1 0,0 0 0,-1 1 0,1-1 0,-1 0 0,1 0 0,-1 1 0,1-1 0,-1 0 0,0 0 0,1 0 0,-1 0 0,0 0 0,0 0 0,1 0 0,-1 1 0,0-3 0,3-29 0,-2 28 0,0-39 0,0 20 0,0 1 0,8-39 0,0 25 0,1 0 0,2 1 0,28-58 0,-36 83 0,0 1 0,-1-1 0,0 0 0,2-18 0,-4 21 0,1-1 0,-1 0 0,1 1 0,1-1 0,-1 1 0,1-1 0,0 1 0,1 0 0,6-10 0,13-14 0,13-17 0,-31 43 0,-1 0 0,0-1 0,-1 1 0,1-1 0,3-10 0,-5 12 0,0-1 0,1 0 0,-1 0 0,1 1 0,0 0 0,0-1 0,1 1 0,-1 0 0,1 1 0,4-5 0,-3 4 0,0 0 0,0-1 0,-1 1 0,0-1 0,0 0 0,0-1 0,0 1 0,-1-1 0,0 1 0,4-10 0,9-15 0,-13 25 0,1 0 0,1 0 0,-1 0 0,1 0 0,0 1 0,0 0 0,0 0 0,0 0 0,9-4 0,-8 5 0,0 0 0,-1-1 0,1 0 0,-1 0 0,0-1 0,0 1 0,8-11 0,-2 1 0,0 1 0,2 0 0,-1 0 0,2 2 0,15-12 0,15-12 0,25-17 0,-48 38 0,-1-1 0,26-25 0,-38 33 0,0 1 0,0 0 0,1 0 0,18-9 0,20-13 0,35-45 0,-56 48 0,43-33 0,-57 50 0,1 1 0,27-11 0,-25 12 0,-1-1 0,19-11 0,191-104-926,-22 13 136,-189 102 790,0 1 0,0 0 0,22-6 0,-21 7 0,1 0 0,25-14 0,-13 3 66,7-6 346,1 2 1,1 2 0,68-25-1,-89 37-412,0 0 0,0-2 0,-1 0 0,0 0 0,16-14 0,19-11 0,-29 23 0,0 1 0,37-13 0,-34 15 0,0-2 0,22-11 0,-24 9 0,0 2 0,0 1 0,1 0 0,24-4 0,-3-1 0,60-27 0,-72 26 0,1 2 0,0 1 0,66-14 0,-63 18 0,-1-2 0,0-1 0,0-2 0,42-22 0,27-9 0,-21 14 0,-10 5 0,116-58 0,-175 76 0,0 1 0,0 0 0,0 1 0,19-4 0,-19 5 0,0 0 0,0 0 0,-1-2 0,0 1 0,14-8 0,3-6 0,-15 9 0,0 0 0,0 1 0,0 1 0,1 0 0,0 1 0,0 0 0,0 1 0,31-4 0,-23 5-29,0-1 0,0-1-1,0 0 1,-1-2 0,31-15-1,-24 10-91,2 1-1,32-8 0,38-9 122,23-6 0,-24 22-3378,-16 2-1371,-23-1 5124,352-99-2189,-116 28-154,-98 34 5011,-47 15-2795,94-23 128,73-19 5983,165-11-6400,-469 84-37,321-35 338,-122 16-2834,-82 7 1824,571-85 686,-411 64-1536,-188 26 3609,190-41-1,-259 43-849,62-5 1,-60 10-1178,51-12-1,-62 9 210,1 2 1,45-1-1,-22 2-168,10-6-23,-41 5 0,-1 1 0,23 0 0,21 3 0,-21 1 0,1-1 0,70-12 0,-67 5 0,52 0 0,-13 1 0,235-38 0,-284 40 0,4 0 0,69-17 0,-65 11 0,0 1 0,1 2 0,0 3 0,80 1 0,-103 2 0,-1-1 0,32-7 0,-11 1 0,6 0 0,-27 4 0,0 1 0,33-2 0,78-5 0,5 0 0,20-3 0,-98 7 0,105-23 0,-119 19 0,1 2 0,90-5 0,-15 4 0,-4-1 0,-88 8 0,1-1 0,49-12 0,-50 9 0,0 0 0,56-2 0,-53 8 0,0-2 0,44-7 0,-38 4 0,39-1 0,20-3 0,-54 5 0,43 0 0,-47 3 0,62-9 0,56-13 0,-106 15 0,0 1 0,87-3 0,825 11-1016,-526-2 2032,-410-1-1016,0-1 0,-1-1 0,1-1 0,40-15 0,22-4 0,-59 17 0,0 2 0,0 1 0,39-1 0,-31 6 0,-1-3 0,50-8 0,-43 5 0,65-1 0,-66 5 0,77-11 0,-73 3 0,0 2 0,69-1 0,-82 5 0,0 0 0,1-2 0,46-14 0,15-2 0,38-7 0,-118 25 0,0-1 0,23-9 0,-24 8 0,1 0 0,23-4 0,-3 3 0,-6 0 0,0 2 0,36 0 0,-50 3 0,-1-1 0,1-1 0,0 0 0,-1-1 0,0 0 0,18-9 0,14-3 0,11-7 0,-46 18 0,0 0 0,0 1 0,0 0 0,1 1 0,0 0 0,-1 1 0,22-2 0,-22 4 0,11 0 0,0-1 0,0-1 0,28-5 0,87-13 0,-59-5 0,-37 11 0,-21 8 0,-7 2 0,0 0 0,-1-1 0,16-9 0,-19 11 0,1-1 0,-1 1 0,1 1 0,-1-1 0,1 2 0,0-1 0,-1 1 0,15 1 0,25-4 0,150-44 0,-145 34 0,-18 4 0,106-25 0,-99 31 0,-1 1 0,76 5 0,-30 0 0,-12-3 0,84 3 0,-61 16-1365,-83-17-5461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41:12.578"/>
    </inkml:context>
    <inkml:brush xml:id="br0">
      <inkml:brushProperty name="width" value="0.035" units="cm"/>
      <inkml:brushProperty name="height" value="0.035" units="cm"/>
      <inkml:brushProperty name="color" value="#FFC114"/>
    </inkml:brush>
  </inkml:definitions>
  <inkml:trace contextRef="#ctx0" brushRef="#br0">25 2 24575,'0'24'0,"-1"-1"0,-1 0 0,-7 33 0,4-23 0,1 1 0,2-1 0,1 1 0,6 61 0,-5-92 0,0 0 0,1 0 0,-1-1 0,1 1 0,0 0 0,0-1 0,0 1 0,0 0 0,0-1 0,1 0 0,-1 1 0,1-1 0,-1 0 0,1 1 0,0-1 0,0 0 0,3 3 0,1-1 0,1-1 0,-1 1 0,0-1 0,1 0 0,8 2 0,-7-2 0,0 0 0,0 0 0,0 1 0,11 8 0,-12-8 0,0 0 0,1-1 0,-1 0 0,1 0 0,0 0 0,0-1 0,0 0 0,0 0 0,0-1 0,0-1 0,10 1 0,16-1 0,42-5 0,-66 3 0,1-1 0,0 1 0,-1-2 0,18-7 0,21-6 0,-37 12 0,-1 0 0,1 0 0,-1-1 0,-1 0 0,1-1 0,15-13 0,-9 7 0,84-65 0,-94 70 0,0 0 0,0 0 0,0-1 0,-1 0 0,-1 0 0,9-19 0,1-1 0,-12 23 0,-1 0 0,0 0 0,0-1 0,0 1 0,-1 0 0,0-1 0,0 1 0,-1-1 0,0 0 0,0 1 0,0-1 0,-1 1 0,0-1 0,0 1 0,-1 0 0,0-1 0,0 1 0,0 0 0,-1 0 0,-4-7 0,5 10 0,-1 0 0,0 0 0,0 0 0,0 0 0,0 0 0,0 1 0,-1-1 0,1 1 0,-1 0 0,0 0 0,1 1 0,-1-1 0,0 1 0,0-1 0,0 1 0,-9-1 0,-5 0 0,0 0 0,-27 2 0,38 0 0,-10 1 0,0 1 0,-28 8 0,4-2 0,-38 10-1365,63-17-5461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18T15:41:17.159"/>
    </inkml:context>
    <inkml:brush xml:id="br0">
      <inkml:brushProperty name="width" value="0.035" units="cm"/>
      <inkml:brushProperty name="height" value="0.035" units="cm"/>
      <inkml:brushProperty name="color" value="#FFC114"/>
    </inkml:brush>
  </inkml:definitions>
  <inkml:trace contextRef="#ctx0" brushRef="#br0">279 1 24575,'-5'0'0,"-1"1"0,0 0 0,1 0 0,-1 1 0,1-1 0,-1 1 0,1 1 0,-1-1 0,1 1 0,0-1 0,0 1 0,-6 6 0,-8 7 0,-29 29 0,25-22 0,10-10 0,0 0 0,0 1 0,2 1 0,-19 29 0,25-34 0,0 0 0,1 0 0,0 0 0,1 0 0,0 0 0,0 1 0,1-1 0,1 1 0,-1 19 0,2-21 0,0-1 0,1 0 0,0 1 0,0-1 0,1 0 0,0 0 0,4 12 0,-4-16 0,0 1 0,1-1 0,-1 0 0,1-1 0,0 1 0,0 0 0,0-1 0,0 1 0,1-1 0,-1 0 0,1 0 0,0-1 0,0 1 0,8 3 0,-6-2 0,0 0 0,1 0 0,-1 1 0,0-1 0,9 12 0,-11-12 0,0 1 0,0-1 0,0-1 0,1 1 0,-1-1 0,1 1 0,0-1 0,0 0 0,0-1 0,0 0 0,0 1 0,9 1 0,19 0 0,-1-1 0,1-2 0,45-4 0,0 0 0,-29 5 0,-33-1 0,1 0 0,0-1 0,-1 0 0,1-2 0,0 0 0,-1-1 0,23-6 0,-34 6 0,-1 1 0,0-1 0,0 0 0,0 0 0,0-1 0,-1 1 0,1-1 0,-1 1 0,0-1 0,4-7 0,-3 6 0,0 0 0,0 0 0,1 0 0,-1 0 0,9-6 0,-7 7 0,-1-1 0,1 0 0,-1 0 0,0 0 0,0 0 0,0-1 0,-1 0 0,0 0 0,0 0 0,-1-1 0,1 1 0,-2-1 0,1 0 0,-1 0 0,0 0 0,0 0 0,0 0 0,-1 0 0,0-1 0,-1 1 0,0-9 0,1-14 0,1 7 0,-1-1 0,-2 1 0,0 0 0,-5-28 0,5 48 0,0 0 1,0 0-1,-1 0 0,1 1 0,-1-1 0,1 0 0,-1 1 1,0-1-1,0 1 0,0 0 0,0-1 0,0 1 0,0 0 1,-1 0-1,1 0 0,-1 1 0,1-1 0,-1 1 0,0-1 1,0 1-1,0 0 0,-5-2 0,-8 0 5,1 0 1,-1 1-1,-24-1 0,27 3-352,0-1-1,0-1 1,-14-3-1,14 1-6478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7T02:49:35.381"/>
    </inkml:context>
    <inkml:brush xml:id="br0">
      <inkml:brushProperty name="width" value="0.05" units="cm"/>
      <inkml:brushProperty name="height" value="0.05" units="cm"/>
      <inkml:brushProperty name="color" value="#FFC114"/>
    </inkml:brush>
  </inkml:definitions>
  <inkml:trace contextRef="#ctx0" brushRef="#br0">386 3 24575,'-50'-1'0,"23"-1"0,1 2 0,-45 6 0,62-5 0,1 1 0,0 0 0,0 1 0,0-1 0,0 1 0,1 1 0,-1 0 0,1 0 0,0 0 0,0 1 0,1 0 0,-12 11 0,8-7 0,1 2 0,0-1 0,0 1 0,1 1 0,1 0 0,0 0 0,0 0 0,1 1 0,1 0 0,0 0 0,1 0 0,0 1 0,1-1 0,1 1 0,0 0 0,1 0 0,0 14 0,0 25 0,-1-31 0,2 1 0,0-1 0,2 1 0,4 22 0,-5-42 0,0-1 0,0 1 0,0-1 0,0 1 0,0-1 0,0 1 0,1-1 0,-1 0 0,1 0 0,0 0 0,0 0 0,-1 0 0,1 0 0,1 0 0,-1-1 0,0 1 0,0-1 0,0 1 0,1-1 0,-1 0 0,1 0 0,-1 0 0,1 0 0,-1-1 0,5 2 0,-2-1 0,1 1 0,-1 0 0,0 0 0,0 0 0,9 7 0,-4-1 0,1-1 0,0 0 0,0 0 0,1-1 0,0 0 0,0-1 0,0-1 0,1 0 0,-1 0 0,1-1 0,0-1 0,0 0 0,0-1 0,20-1 0,-31 0 0,18 0 0,39-5 0,-52 4 0,0-1 0,0 0 0,-1 0 0,1 0 0,-1-1 0,0 0 0,0 0 0,0-1 0,9-6 0,9-8 0,-18 14 0,1 0 0,-1-1 0,-1 0 0,1 0 0,-1 0 0,0 0 0,0-1 0,0 0 0,-1 0 0,5-9 0,-3 5 0,-1-1 0,0 0 0,-1 0 0,-1-1 0,1 1 0,-2-1 0,0 1 0,1-13 0,6-33 0,-6 46 0,-1 1 0,-1-1 0,1 0 0,-2 1 0,1-1 0,-2-13 0,0 21 0,0 0 0,0 0 0,0 0 0,0 0 0,0 0 0,-1 0 0,1 0 0,-1 0 0,0 0 0,0 1 0,0-1 0,0 1 0,0-1 0,-1 1 0,1 0 0,-1 0 0,1 0 0,-1 0 0,0 1 0,0-1 0,0 1 0,0-1 0,0 1 0,0 0 0,-4-1 0,-10-2 0,-37-6 0,10 3 0,26 4-1365,3 1-5461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7T02:49:43.008"/>
    </inkml:context>
    <inkml:brush xml:id="br0">
      <inkml:brushProperty name="width" value="0.05" units="cm"/>
      <inkml:brushProperty name="height" value="0.05" units="cm"/>
      <inkml:brushProperty name="color" value="#FFC114"/>
    </inkml:brush>
  </inkml:definitions>
  <inkml:trace contextRef="#ctx0" brushRef="#br0">90 1 24575,'-1'0'0,"0"0"0,0 1 0,1-1 0,-1 1 0,0-1 0,0 1 0,0-1 0,0 1 0,1 0 0,-1-1 0,0 1 0,0 0 0,1 0 0,-1-1 0,1 1 0,-1 0 0,1 0 0,-1 0 0,1 0 0,-1 0 0,1 0 0,0 0 0,-1 0 0,1 0 0,0 0 0,0 0 0,0 1 0,-4 33 0,4-31 0,-2 27 0,1-7 0,-1 0 0,-7 36 0,-13 45 0,18-80 0,0-1 0,2 1 0,2 38 0,1-38 0,-2 0 0,0 0 0,-8 39 0,3-28 0,2 0 0,1 0 0,2 0 0,4 40 0,-1 5 0,-3-3 0,3 85 0,3-127 0,12 49 0,3 19 0,-14-75 0,1 0 0,1-1 0,1 0 0,24 48 0,-18-41 0,-1 0 0,11 42 0,-15-45 0,1 0 0,1-1 0,2 0 0,1-1 0,1-1 0,22 31 0,-19-23 0,6 7 0,62 79 0,-63-75 0,-6-11 0,-12-29 0,0 0 0,0 0 0,11 10 0,-11-12 0,0 0 0,-1 0 0,0 1 0,0 0 0,5 8 0,3 7 0,0 0 0,19 20 0,16 29 0,-40-61 0,0 0 0,0-1 0,1 1 0,0-2 0,0 1 0,15 9 0,22 21 0,-21-16 0,40 28 0,8 7 0,-65-52 0,1 0 0,-1 0 0,14 6 0,24 18 0,-31-18 0,0 0 0,0-2 0,2 1 0,-1-2 0,1 0 0,0-1 0,1-1 0,20 6 0,3 2 0,60 33 0,-16-7 0,-67-35 0,0 0 0,1-1 0,34 4 0,-4-1 0,-21-1 0,49 20 0,6 2 0,88 13 0,-155-39 0,1 0 0,0-1 0,0-1 0,23-2 0,-23 0 0,-1 1 0,0 1 0,1 0 0,26 6 0,21 13 0,-40-12 0,0 0 0,1-2 0,1-1 0,30 3 0,23 3 0,-56-7 0,45 3 0,-45-8 0,1 2 0,0 1 0,41 8 0,-57-8 24,0 0 0,1 0 0,-1-1 0,10 0 0,-16-1-83,0 0-1,0 0 1,0 0-1,0-1 1,0 1 0,-1 0-1,1-1 1,0 0-1,0 1 1,0-1 0,-1 0-1,1 0 1,0 0-1,-1 0 1,1 0 0,-1 0-1,1 0 1,-1-1-1,0 1 1,1 0 0,-1-1-1,0 1 1,0-1-1,1-2 1,4-9-6767</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7T02:49:45.027"/>
    </inkml:context>
    <inkml:brush xml:id="br0">
      <inkml:brushProperty name="width" value="0.05" units="cm"/>
      <inkml:brushProperty name="height" value="0.05" units="cm"/>
      <inkml:brushProperty name="color" value="#FFC114"/>
    </inkml:brush>
  </inkml:definitions>
  <inkml:trace contextRef="#ctx0" brushRef="#br0">0 1 24575,'0'5'0,"0"1"0,1 0 0,-1 0 0,1-1 0,1 1 0,-1 0 0,1-1 0,-1 1 0,2-1 0,-1 0 0,0 0 0,5 6 0,0-2 0,1 1 0,1-1 0,-1 0 0,16 11 0,60 66 0,-78-81 0,40 36 0,-44-38 0,1 0 0,0 0 0,-1 0 0,1 0 0,-1 0 0,0 1 0,0-1 0,0 1 0,-1-1 0,1 1 0,-1 0 0,1 4 0,-2-7 0,0 0 0,0 0 0,0 0 0,0 0 0,0-1 0,-1 1 0,1 0 0,0 0 0,0 0 0,-1 0 0,1 0 0,-1-1 0,1 1 0,-1 0 0,1 0 0,-1-1 0,1 1 0,-1 0 0,0-1 0,1 1 0,-1-1 0,0 1 0,-1 0 0,-24 11 0,5-3 0,-92 69 0,104-70-46,7-7-85,0 1-1,0-1 0,0 1 0,0-1 0,0 0 0,-1 1 0,1-1 0,0 0 0,-3 0 0,-4 0-6694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03:04:37.871"/>
    </inkml:context>
    <inkml:brush xml:id="br0">
      <inkml:brushProperty name="width" value="0.05" units="cm"/>
      <inkml:brushProperty name="height" value="0.05" units="cm"/>
      <inkml:brushProperty name="color" value="#FF0066"/>
    </inkml:brush>
  </inkml:definitions>
  <inkml:trace contextRef="#ctx0" brushRef="#br0">434 3 24575,'-15'0'0,"-2"1"0,2 1 0,-1 0 0,1 0 0,-22 8 0,27-7 0,0 1 0,1 1 0,-1 0 0,1 0 0,0 1 0,0 0 0,1 0 0,-16 15 0,-6 2 0,25-20 0,0 1 0,0-1 0,1 1 0,-2 1 0,2-1 0,-4 5 0,-58 69 0,57-67 0,0 0 0,1 0 0,0 1 0,1 1 0,0-1 0,-5 15 0,6-11 0,1-1 0,1 1 0,1-1 0,-1 0 0,2 2 0,0-1 0,1 19 0,1-21 0,0 0 0,1-1 0,5 23 0,-5-30 0,0-1 0,2 0 0,-1 0 0,0 0 0,1 0 0,0 0 0,0 0 0,0 0 0,1-1 0,0 0 0,6 7 0,24 24 0,9 9 0,-22-26 0,55 41 0,-52-45 0,52 22 0,-62-30 0,51 15 0,-52-17 0,2 0 0,-1 1 0,-1 0 0,17 9 0,105 52 0,-119-59 0,0-1 0,0 0 0,0-1 0,2-1 0,-1-1 0,26 3 0,82 11 0,-75-11 0,0-2 0,88-5 0,-47-1 0,-58 0 0,0-2 0,0-1 0,40-11 0,-19 3 0,-48 12 0,0 0 0,-1-1 0,0 0 0,0 0 0,0-1 0,-1 0 0,2 1 0,-2-2 0,1 1 0,4-5 0,2-2 0,0-2 0,10-15 0,-12 15 0,0 1 0,1 1 0,11-11 0,-16 17 0,-2 0 0,1-1 0,0 0 0,-1 0 0,1 1 0,-2-1 0,1 0 0,-1-1 0,3-5 0,14-27 0,46-62 0,-59 88 0,0 0 0,0 0 0,-1 0 0,-1-1 0,5-17 0,8-67 0,-14 55 0,0 1 0,-2 0 0,-6-42 0,5 79 0,-1-1 0,1 1 0,-1 0 0,-1 0 0,0-1 0,1 1 0,-1 0 0,0-1 0,0 2 0,0-1 0,-1 0 0,1 1 0,-1-1 0,0 1 0,0-1 0,0 1 0,-1 0 0,1 1 0,-6-5 0,-5-1 0,-1 1 0,0 0 0,0 1 0,-17-5 0,-34-14 0,37 12 0,-1 2 0,-1 1 0,-36-8 0,53 15 0,-8-1 0,1 2 0,-1-1 0,0 2 0,-25 3 0,24-1 0,1-1 0,-2-1 0,-34-6 0,8 0 0,1 1 0,-2 3 0,-75 5 0,33-1 0,10-1-1365,66 0-5461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03:04:41.928"/>
    </inkml:context>
    <inkml:brush xml:id="br0">
      <inkml:brushProperty name="width" value="0.05" units="cm"/>
      <inkml:brushProperty name="height" value="0.05" units="cm"/>
      <inkml:brushProperty name="color" value="#FF0066"/>
    </inkml:brush>
  </inkml:definitions>
  <inkml:trace contextRef="#ctx0" brushRef="#br0">238 1 24575,'-12'0'0,"0"0"0,1 0 0,-1 0 0,-16 4 0,23-3 0,1 1 0,0-1 0,0 1 0,-1 0 0,1 0 0,0 0 0,0 1 0,1 0 0,-1-1 0,1 1 0,-1 0 0,-2 4 0,-9 11 0,1 1 0,-20 36 0,28-45 0,0 3 0,0 1 0,1 0 0,0 0 0,-3 25 0,4-23 0,2-9 0,1 0 0,0 1 0,0-1 0,1 0 0,-1 1 0,2-1 0,-1 1 0,1-1 0,0 0 0,1 1 0,-1-1 0,5 9 0,-5-12 0,1-1 0,0 1 0,0-1 0,1 1 0,-1-1 0,1 0 0,0 0 0,0 0 0,0 0 0,0 0 0,0-1 0,0 1 0,1-1 0,-1 0 0,1 0 0,0 0 0,0-1 0,-1 1 0,1-1 0,0 0 0,0 0 0,0 0 0,7 0 0,41 1 0,73-4 0,-27-1 0,-24 5 0,82-4 0,-143 0 0,0-1 0,0 0 0,0-1 0,21-10 0,24-6 0,-52 18 0,-1 0 0,0 0 0,0 0 0,0 0 0,0-1 0,0 0 0,0 0 0,-1 0 0,1 0 0,4-6 0,35-45 0,-22 25 0,-12 14-66,0-1 0,-2 0-1,1 0 1,-2-1 0,0 0-1,-2-1 1,1 1 0,2-23-1,-2 16-701,-1 4-6058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03:04:45.920"/>
    </inkml:context>
    <inkml:brush xml:id="br0">
      <inkml:brushProperty name="width" value="0.05" units="cm"/>
      <inkml:brushProperty name="height" value="0.05" units="cm"/>
      <inkml:brushProperty name="color" value="#FF0066"/>
    </inkml:brush>
  </inkml:definitions>
  <inkml:trace contextRef="#ctx0" brushRef="#br0">12116 1 24575,'-53'7'0,"-175"15"0,75-12 0,94-5 0,39-3 0,1-1 0,-35 1 0,-406-2 0,440 1 0,0-1 0,-32 4 0,31-2 0,1-1 0,-26 1 0,17-1 0,0-1 0,-51 5 0,48-3 0,2-1 0,-2 0 0,-64-1 0,-35 0 0,62 4 0,50-2 0,0 0 0,-28 0 0,-121-3 0,-71 2 0,111 8 0,-75 10 0,147-15 0,0-1 0,-1 0 0,-58-2 0,44-2 0,-111 2 0,114 4 0,48-4 0,1 1 0,-27 0 0,-33-2 0,-154 5 0,206-3 0,-106 7 0,69-4 0,40-4 0,1 1 0,-41 5 0,12 0 0,-70 5 0,66-7 0,4 0 0,30-4 0,2 1 0,0 0 0,-28 4 0,32-2 0,0-1 0,0 1 0,-20 7 0,24-7 0,-1-1 0,2 0 0,-3 0 0,1 0 0,-1 0 0,-15 2 0,19-3 0,-1 0 0,2 0 0,-2 0 0,1 1 0,1-1 0,-15 6 0,-26 7 0,-103 25 0,147-39 0,-1 1 0,2 0 0,-2 0 0,2 0 0,-8 4 0,9-5 0,0 1 0,0 0 0,-1 0 0,0 0 0,0-1 0,-1 1 0,1-1 0,-10 3 0,0-2 0,0 0 0,1 1 0,0-1 0,0 1 0,0 0 0,1 0 0,-18 7 0,18-6 0,0-1 0,-1 1 0,-1-1 0,-21 4 0,18-3 0,-56 7 0,56-9 0,1 0 0,-34 7 0,-4 1 0,41-8 0,0 1 0,0 0 0,-17 4 0,14-3 0,-1 1 0,1-1 0,-2-1 0,-1 0 0,-25 4 0,32-5 0,-1 0 0,1 1 0,0 0 0,2 0 0,-14 4 0,-1 0 0,2 0 0,18-5 0,-1-1 0,1 1 0,0 0 0,-1-1 0,0 1 0,-1-1 0,1 0 0,1 0 0,-2 1 0,-13-1 0,-10 2 0,0-1 0,0 1 0,1 1 0,1 0 0,-40 8 0,47-8 0,-156 25 0,126-20 0,34-6 0,1 0 0,0 0 0,1 1 0,-29 8 0,33-9 0,-1 0 0,0 0 0,-1 0 0,0-1 0,-1 0 0,1 0 0,-1 0 0,-15 1 0,-54 7 0,-45 11 0,91-14 0,32-5 0,-2-1 0,1 1 0,1-1 0,-2 0 0,1 0 0,-2 0 0,-9 1 0,-19-1 0,0 2 0,0 0 0,0 0 0,-61 10 0,65-8 0,-41 5 0,-29 3 0,88-12 0,0 1 0,1 0 0,-1-1 0,-17 0 0,21-1 0,1 1 0,0 0 0,-1-1 0,2 1 0,-1 0 0,-1 0 0,2 1 0,-1-1 0,1 1 0,-17 4 0,9-1 0,-2 0 0,0-1 0,-1 0 0,0-1 0,-36 5 0,-1 1 0,33-6 0,-1 0 0,-34 2 0,-16 2 0,27-1 0,22-2 0,-2-1 0,-30 2 0,49-4 0,-1 0 0,2 0 0,-2 0 0,2 1 0,-10 1 0,9-1 0,2 0 0,-2-1 0,-1 0 0,2 0 0,-14 1 0,-42 3 0,43-3 0,0 0 0,-25 1 0,19-3 0,-1 2 0,1 0 0,0 0 0,-51 8 0,-145 26 0,209-35 0,0 1 0,-1-1 0,0 0 0,0-1 0,-23 0 0,18 1 0,1-1 0,-29 3 0,40-2 0,-1 0 0,1 0 0,-1 0 0,-7 2 0,9-1 0,0-1 0,0 1 0,0-1 0,-1 0 0,-14 1 0,-186 12 0,-41 2 0,223-13 0,2-1 0,-34 5 0,-11 0 0,-60 9 0,21-3 0,76-10 0,0 0 0,-1-1 0,1 0 0,-43 0 0,58-2 0,0 1 0,0 0 0,0 0 0,0 1 0,1-1 0,-24 5 0,21-4 0,-80 9 0,65-8 0,1 1 0,-37 6 0,40-6 0,0 0 0,0-1 0,-1 0 0,-40 1 0,0 1 0,-236 22 0,242-22 0,53-4 0,-2 0 0,0 0 0,1 0 0,0 1 0,0-1 0,-16 5 0,16-4 0,0-1 0,0 1 0,1 0 0,-1-1 0,-1 0 0,-19 0 0,-22 3 0,4 1 0,35-3 0,1 0 0,-1 0 0,-30 0 0,34-1 0,2-1 0,-2 2 0,1-2 0,1 2 0,-1-1 0,0 1 0,-11 2 0,-13 2 0,-5 3 0,36-8 0,0 1 0,-2-1 0,2 0 0,0 0 0,-1 1 0,-1-2 0,2 1 0,-1 0 0,-11 1 0,-24 1 0,2 1 0,0 1 0,0 0 0,-52 11 0,87-15-57,1 0 0,-1-1 1,0 0-1,1 1 0,-1-1 0,1 1 0,-1-1 0,-1 0 0,2 0 0,-1 0 0,0 1 1,1-1-1,-1 0 0,-1 0 0,2-1 0,-1 1 0,0 0 0,1 0 0,-2 0 1,1 0-1,1-1 0,-1 1 0,-3-1 0,-4-4-6769</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03:04:47.017"/>
    </inkml:context>
    <inkml:brush xml:id="br0">
      <inkml:brushProperty name="width" value="0.05" units="cm"/>
      <inkml:brushProperty name="height" value="0.05" units="cm"/>
      <inkml:brushProperty name="color" value="#FF0066"/>
    </inkml:brush>
  </inkml:definitions>
  <inkml:trace contextRef="#ctx0" brushRef="#br0">308 1 24575,'-13'13'0,"4"-6"0,1 3 0,0 0 0,0-1 0,-2 1 0,0-1 0,-22 13 0,24-18 0,2-1 0,-3 0 0,-12 5 0,15-7 0,1 1 0,0-1 0,0 1 0,1 0 0,-1 0 0,1 0 0,0 0 0,0 0 0,0 0 0,1 0 0,0 1 0,0-1 0,-3 4 0,1 2 0,-1-2 0,-2 1 0,-17 12 0,-2 2 0,21-15 0,-1-1 0,2 1 0,0 0 0,-4 8 0,8-12 0,1-1 0,-1 1 0,1-1 0,0 1 0,0-1 0,0 1 0,1-1 0,0 1 0,-1-1 0,1 1 0,0-1 0,0 1 0,1-1 0,0 0 0,0 1 0,0-1 0,0 1 0,0-1 0,0 0 0,0 0 0,1 0 0,0 0 0,4 2 0,1-1 0,-2 1 0,0-1 0,1 1 0,-2-1 0,10 7 0,-12-6 0,1-1 0,1 0 0,-1 1 0,0-1 0,1 0 0,1 0 0,-1 0 0,0 0 0,2-1 0,9 4 0,9-1 0,1 0 0,53 4 0,20 4 0,-88-10-227,2-1-1,-1 0 1,0 1-1,0-2 1,15 1-1,-6 0-6598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1F6E3-57F9-402E-BDBA-5B2DE11C8530}" type="datetimeFigureOut">
              <a:rPr lang="en-US" smtClean="0"/>
              <a:t>10/27/2026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BF98C7-164A-4723-84F0-B1E4B080DDEC}" type="slidenum">
              <a:rPr lang="en-US" smtClean="0"/>
              <a:t>‹#›</a:t>
            </a:fld>
            <a:endParaRPr lang="en-US"/>
          </a:p>
        </p:txBody>
      </p:sp>
    </p:spTree>
    <p:extLst>
      <p:ext uri="{BB962C8B-B14F-4D97-AF65-F5344CB8AC3E}">
        <p14:creationId xmlns:p14="http://schemas.microsoft.com/office/powerpoint/2010/main" val="3424527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https://digitalcorpora.s3.amazonaws.com/corpora/mobile/android_10/Non-Cellebrite%20Extraction/Pixel%203.zip</a:t>
            </a:r>
          </a:p>
        </p:txBody>
      </p:sp>
      <p:sp>
        <p:nvSpPr>
          <p:cNvPr id="4" name="Slide Number Placeholder 3"/>
          <p:cNvSpPr>
            <a:spLocks noGrp="1"/>
          </p:cNvSpPr>
          <p:nvPr>
            <p:ph type="sldNum" sz="quarter" idx="5"/>
          </p:nvPr>
        </p:nvSpPr>
        <p:spPr/>
        <p:txBody>
          <a:bodyPr/>
          <a:lstStyle/>
          <a:p>
            <a:fld id="{DDBF98C7-164A-4723-84F0-B1E4B080DDEC}" type="slidenum">
              <a:rPr lang="en-US" smtClean="0"/>
              <a:t>1</a:t>
            </a:fld>
            <a:endParaRPr lang="en-US"/>
          </a:p>
        </p:txBody>
      </p:sp>
    </p:spTree>
    <p:extLst>
      <p:ext uri="{BB962C8B-B14F-4D97-AF65-F5344CB8AC3E}">
        <p14:creationId xmlns:p14="http://schemas.microsoft.com/office/powerpoint/2010/main" val="1054455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https://www.cbsnews.com/news/new-jersey-woman-faces-10-years-in-prison-for-deadly-texting-while-driving-case-2019-11-26/</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solidFill>
                  <a:srgbClr val="000000"/>
                </a:solidFill>
                <a:effectLst/>
                <a:latin typeface="Spectral"/>
              </a:rPr>
              <a:t>https://www.courant.com/news/connecticut/hc-news-dabate-murder-pretrial-motions-20200127-upcgiy2lvraibm3induiiystbu-story.html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2</a:t>
            </a:fld>
            <a:endParaRPr lang="en-US"/>
          </a:p>
        </p:txBody>
      </p:sp>
    </p:spTree>
    <p:extLst>
      <p:ext uri="{BB962C8B-B14F-4D97-AF65-F5344CB8AC3E}">
        <p14:creationId xmlns:p14="http://schemas.microsoft.com/office/powerpoint/2010/main" val="4255782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https://android-developers.googleblog.com/2019/03/aosp-application-updates.html</a:t>
            </a:r>
          </a:p>
        </p:txBody>
      </p:sp>
      <p:sp>
        <p:nvSpPr>
          <p:cNvPr id="4" name="Slide Number Placeholder 3"/>
          <p:cNvSpPr>
            <a:spLocks noGrp="1"/>
          </p:cNvSpPr>
          <p:nvPr>
            <p:ph type="sldNum" sz="quarter" idx="5"/>
          </p:nvPr>
        </p:nvSpPr>
        <p:spPr/>
        <p:txBody>
          <a:bodyPr/>
          <a:lstStyle/>
          <a:p>
            <a:fld id="{DDBF98C7-164A-4723-84F0-B1E4B080DDEC}" type="slidenum">
              <a:rPr lang="en-US" smtClean="0"/>
              <a:t>4</a:t>
            </a:fld>
            <a:endParaRPr lang="en-US"/>
          </a:p>
        </p:txBody>
      </p:sp>
    </p:spTree>
    <p:extLst>
      <p:ext uri="{BB962C8B-B14F-4D97-AF65-F5344CB8AC3E}">
        <p14:creationId xmlns:p14="http://schemas.microsoft.com/office/powerpoint/2010/main" val="2905588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ls 'Pixel 3/data/data/' | grep -</a:t>
            </a:r>
            <a:r>
              <a:rPr lang="en-US" err="1"/>
              <a:t>i</a:t>
            </a:r>
            <a:r>
              <a:rPr lang="en-US"/>
              <a:t> </a:t>
            </a:r>
            <a:r>
              <a:rPr lang="en-US" err="1"/>
              <a:t>com.android</a:t>
            </a:r>
            <a:r>
              <a:rPr lang="en-US"/>
              <a:t> </a:t>
            </a:r>
          </a:p>
          <a:p>
            <a:r>
              <a:rPr lang="en-US"/>
              <a:t>https://developer.android.com/reference/android/provider/UserDictionary</a:t>
            </a:r>
          </a:p>
          <a:p>
            <a:r>
              <a:rPr lang="en-US"/>
              <a:t>https://developer.android.com/reference/android/mtp/package-summary</a:t>
            </a:r>
          </a:p>
          <a:p>
            <a:r>
              <a:rPr lang="en-US"/>
              <a:t>https://developer.android.com/topic/performance/tracing</a:t>
            </a:r>
          </a:p>
          <a:p>
            <a:endParaRPr lang="en-US"/>
          </a:p>
          <a:p>
            <a:r>
              <a:rPr lang="en-US" err="1"/>
              <a:t>com.android.chrome</a:t>
            </a:r>
            <a:endParaRPr lang="en-US"/>
          </a:p>
          <a:p>
            <a:r>
              <a:rPr lang="en-US" err="1"/>
              <a:t>com.android.hotwordenrollment.okgoogle</a:t>
            </a:r>
            <a:endParaRPr lang="en-US"/>
          </a:p>
          <a:p>
            <a:r>
              <a:rPr lang="en-US" err="1"/>
              <a:t>com.android.hotwordenrollment.xgoogle</a:t>
            </a:r>
            <a:endParaRPr lang="en-US"/>
          </a:p>
          <a:p>
            <a:r>
              <a:rPr lang="en-US" err="1"/>
              <a:t>com.android.keychain</a:t>
            </a:r>
            <a:endParaRPr lang="en-US"/>
          </a:p>
          <a:p>
            <a:r>
              <a:rPr lang="en-US" err="1"/>
              <a:t>com.android.mtp</a:t>
            </a:r>
            <a:endParaRPr lang="en-US"/>
          </a:p>
          <a:p>
            <a:r>
              <a:rPr lang="en-US" err="1"/>
              <a:t>com.android.nfc</a:t>
            </a:r>
            <a:endParaRPr lang="en-US"/>
          </a:p>
          <a:p>
            <a:r>
              <a:rPr lang="en-US" err="1"/>
              <a:t>com.android.providers.calendar</a:t>
            </a:r>
            <a:endParaRPr lang="en-US"/>
          </a:p>
          <a:p>
            <a:r>
              <a:rPr lang="en-US" err="1"/>
              <a:t>com.android.providers.contacts</a:t>
            </a:r>
            <a:endParaRPr lang="en-US"/>
          </a:p>
          <a:p>
            <a:r>
              <a:rPr lang="en-US" err="1"/>
              <a:t>com.android.providers.downloads</a:t>
            </a:r>
            <a:endParaRPr lang="en-US"/>
          </a:p>
          <a:p>
            <a:r>
              <a:rPr lang="en-US" err="1"/>
              <a:t>com.android.providers.media</a:t>
            </a:r>
            <a:endParaRPr lang="en-US"/>
          </a:p>
          <a:p>
            <a:r>
              <a:rPr lang="en-US" err="1"/>
              <a:t>com.android.providers.telephony</a:t>
            </a:r>
            <a:endParaRPr lang="en-US"/>
          </a:p>
          <a:p>
            <a:r>
              <a:rPr lang="en-US" err="1"/>
              <a:t>com.android.providers.userdictionary</a:t>
            </a:r>
            <a:endParaRPr lang="en-US"/>
          </a:p>
          <a:p>
            <a:r>
              <a:rPr lang="en-US" err="1"/>
              <a:t>com.android.service.ims.presence</a:t>
            </a:r>
            <a:endParaRPr lang="en-US"/>
          </a:p>
          <a:p>
            <a:r>
              <a:rPr lang="en-US" err="1"/>
              <a:t>com.android.traceur</a:t>
            </a:r>
            <a:endParaRPr lang="en-US"/>
          </a:p>
          <a:p>
            <a:r>
              <a:rPr lang="en-US" err="1"/>
              <a:t>com.android.vending</a:t>
            </a:r>
            <a:endParaRPr lang="en-US"/>
          </a:p>
          <a:p>
            <a:endParaRPr lang="en-US"/>
          </a:p>
        </p:txBody>
      </p:sp>
      <p:sp>
        <p:nvSpPr>
          <p:cNvPr id="4" name="Slide Number Placeholder 3"/>
          <p:cNvSpPr>
            <a:spLocks noGrp="1"/>
          </p:cNvSpPr>
          <p:nvPr>
            <p:ph type="sldNum" sz="quarter" idx="5"/>
          </p:nvPr>
        </p:nvSpPr>
        <p:spPr/>
        <p:txBody>
          <a:bodyPr/>
          <a:lstStyle/>
          <a:p>
            <a:fld id="{DDBF98C7-164A-4723-84F0-B1E4B080DDEC}" type="slidenum">
              <a:rPr lang="en-US" smtClean="0"/>
              <a:t>5</a:t>
            </a:fld>
            <a:endParaRPr lang="en-US"/>
          </a:p>
        </p:txBody>
      </p:sp>
    </p:spTree>
    <p:extLst>
      <p:ext uri="{BB962C8B-B14F-4D97-AF65-F5344CB8AC3E}">
        <p14:creationId xmlns:p14="http://schemas.microsoft.com/office/powerpoint/2010/main" val="241490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https://developer.android.com/reference/android/provider/Telephony</a:t>
            </a:r>
          </a:p>
          <a:p>
            <a:r>
              <a:rPr lang="en-US"/>
              <a:t>https://android.googlesource.com/platform/frameworks/base/+/refs/heads/master/core/java/android/provider/Telephony.java</a:t>
            </a:r>
          </a:p>
        </p:txBody>
      </p:sp>
      <p:sp>
        <p:nvSpPr>
          <p:cNvPr id="4" name="Slide Number Placeholder 3"/>
          <p:cNvSpPr>
            <a:spLocks noGrp="1"/>
          </p:cNvSpPr>
          <p:nvPr>
            <p:ph type="sldNum" sz="quarter" idx="5"/>
          </p:nvPr>
        </p:nvSpPr>
        <p:spPr/>
        <p:txBody>
          <a:bodyPr/>
          <a:lstStyle/>
          <a:p>
            <a:fld id="{DDBF98C7-164A-4723-84F0-B1E4B080DDEC}" type="slidenum">
              <a:rPr lang="en-US" smtClean="0"/>
              <a:t>9</a:t>
            </a:fld>
            <a:endParaRPr lang="en-US"/>
          </a:p>
        </p:txBody>
      </p:sp>
    </p:spTree>
    <p:extLst>
      <p:ext uri="{BB962C8B-B14F-4D97-AF65-F5344CB8AC3E}">
        <p14:creationId xmlns:p14="http://schemas.microsoft.com/office/powerpoint/2010/main" val="4193225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cs typeface="Calibri"/>
              </a:rPr>
              <a:t>Cmd</a:t>
            </a:r>
            <a:r>
              <a:rPr lang="en-US">
                <a:cs typeface="Calibri"/>
              </a:rPr>
              <a:t>: tree 'Pixel 3/data/data/</a:t>
            </a:r>
            <a:r>
              <a:rPr lang="en-US" err="1">
                <a:cs typeface="Calibri"/>
              </a:rPr>
              <a:t>com.android.providers.telephony</a:t>
            </a:r>
            <a:r>
              <a:rPr lang="en-US">
                <a:cs typeface="Calibri"/>
              </a:rPr>
              <a:t>' -L 1 </a:t>
            </a:r>
          </a:p>
        </p:txBody>
      </p:sp>
      <p:sp>
        <p:nvSpPr>
          <p:cNvPr id="4" name="Slide Number Placeholder 3"/>
          <p:cNvSpPr>
            <a:spLocks noGrp="1"/>
          </p:cNvSpPr>
          <p:nvPr>
            <p:ph type="sldNum" sz="quarter" idx="5"/>
          </p:nvPr>
        </p:nvSpPr>
        <p:spPr/>
        <p:txBody>
          <a:bodyPr/>
          <a:lstStyle/>
          <a:p>
            <a:fld id="{DDBF98C7-164A-4723-84F0-B1E4B080DDEC}" type="slidenum">
              <a:rPr lang="en-US" smtClean="0"/>
              <a:t>17</a:t>
            </a:fld>
            <a:endParaRPr lang="en-US"/>
          </a:p>
        </p:txBody>
      </p:sp>
    </p:spTree>
    <p:extLst>
      <p:ext uri="{BB962C8B-B14F-4D97-AF65-F5344CB8AC3E}">
        <p14:creationId xmlns:p14="http://schemas.microsoft.com/office/powerpoint/2010/main" val="682435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Cmd: tree 'Pixel 3/data/data/com.android.providers.telephony/databases'</a:t>
            </a:r>
          </a:p>
        </p:txBody>
      </p:sp>
      <p:sp>
        <p:nvSpPr>
          <p:cNvPr id="4" name="Slide Number Placeholder 3"/>
          <p:cNvSpPr>
            <a:spLocks noGrp="1"/>
          </p:cNvSpPr>
          <p:nvPr>
            <p:ph type="sldNum" sz="quarter" idx="5"/>
          </p:nvPr>
        </p:nvSpPr>
        <p:spPr/>
        <p:txBody>
          <a:bodyPr/>
          <a:lstStyle/>
          <a:p>
            <a:fld id="{DDBF98C7-164A-4723-84F0-B1E4B080DDEC}" type="slidenum">
              <a:rPr lang="en-US" smtClean="0"/>
              <a:t>19</a:t>
            </a:fld>
            <a:endParaRPr lang="en-US"/>
          </a:p>
        </p:txBody>
      </p:sp>
    </p:spTree>
    <p:extLst>
      <p:ext uri="{BB962C8B-B14F-4D97-AF65-F5344CB8AC3E}">
        <p14:creationId xmlns:p14="http://schemas.microsoft.com/office/powerpoint/2010/main" val="1392693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cs typeface="Calibri"/>
              </a:rPr>
              <a:t>Cmd</a:t>
            </a:r>
            <a:r>
              <a:rPr lang="en-US">
                <a:cs typeface="Calibri"/>
              </a:rPr>
              <a:t>: </a:t>
            </a:r>
            <a:r>
              <a:rPr lang="en-US" err="1">
                <a:cs typeface="Calibri"/>
              </a:rPr>
              <a:t>sqlitebrowser</a:t>
            </a:r>
            <a:r>
              <a:rPr lang="en-US">
                <a:cs typeface="Calibri"/>
              </a:rPr>
              <a:t> 'Pixel 3/data/data/</a:t>
            </a:r>
            <a:r>
              <a:rPr lang="en-US" err="1">
                <a:cs typeface="Calibri"/>
              </a:rPr>
              <a:t>com.android.providers.telephony</a:t>
            </a:r>
            <a:r>
              <a:rPr lang="en-US">
                <a:cs typeface="Calibri"/>
              </a:rPr>
              <a:t>/databases/</a:t>
            </a:r>
            <a:r>
              <a:rPr lang="en-US" err="1">
                <a:cs typeface="Calibri"/>
              </a:rPr>
              <a:t>mmssms.db</a:t>
            </a:r>
            <a:r>
              <a:rPr lang="en-US">
                <a:cs typeface="Calibri"/>
              </a:rPr>
              <a:t>’</a:t>
            </a:r>
          </a:p>
          <a:p>
            <a:r>
              <a:rPr lang="en-US">
                <a:cs typeface="Calibri"/>
              </a:rPr>
              <a:t>https://android.googlesource.com/platform/packages/providers/TelephonyProvider/+/refs/heads/master/src/com/android/providers/telephony/SmsProvider.java</a:t>
            </a:r>
          </a:p>
          <a:p>
            <a:r>
              <a:rPr lang="en-US">
                <a:cs typeface="Calibri"/>
              </a:rPr>
              <a:t>https://titanwolf.org/Network/Articles/Article?AID=297a97cf-1b71-4167-a5b3-5f3616e170db#gsc.tab=0</a:t>
            </a:r>
          </a:p>
        </p:txBody>
      </p:sp>
      <p:sp>
        <p:nvSpPr>
          <p:cNvPr id="4" name="Slide Number Placeholder 3"/>
          <p:cNvSpPr>
            <a:spLocks noGrp="1"/>
          </p:cNvSpPr>
          <p:nvPr>
            <p:ph type="sldNum" sz="quarter" idx="5"/>
          </p:nvPr>
        </p:nvSpPr>
        <p:spPr/>
        <p:txBody>
          <a:bodyPr/>
          <a:lstStyle/>
          <a:p>
            <a:fld id="{DDBF98C7-164A-4723-84F0-B1E4B080DDEC}" type="slidenum">
              <a:rPr lang="en-US" smtClean="0"/>
              <a:t>20</a:t>
            </a:fld>
            <a:endParaRPr lang="en-US"/>
          </a:p>
        </p:txBody>
      </p:sp>
    </p:spTree>
    <p:extLst>
      <p:ext uri="{BB962C8B-B14F-4D97-AF65-F5344CB8AC3E}">
        <p14:creationId xmlns:p14="http://schemas.microsoft.com/office/powerpoint/2010/main" val="3433431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dirty="0" err="1"/>
              <a:t>mmssms.db</a:t>
            </a:r>
            <a:r>
              <a:rPr lang="en-GB" dirty="0"/>
              <a:t>` database contains several tables, but not all are equally valuable depending on the use case. Since this database is primarily used to store SMS and MMS data on an Android device, the "most valuable" tables are those that directly contain or link to message content, conversation details, and associated metadata. These are often the focus in scenarios like digital forensics, data recovery, or app development. Below is a list of the most valuable tables from the schema you provided, along with why they are significant:</a:t>
            </a:r>
          </a:p>
          <a:p>
            <a:endParaRPr lang="en-GB" dirty="0"/>
          </a:p>
          <a:p>
            <a:r>
              <a:rPr lang="en-GB" dirty="0"/>
              <a:t>---</a:t>
            </a:r>
          </a:p>
          <a:p>
            <a:endParaRPr lang="en-GB" dirty="0"/>
          </a:p>
          <a:p>
            <a:r>
              <a:rPr lang="en-GB" dirty="0"/>
              <a:t>### Most Valuable Tables in `</a:t>
            </a:r>
            <a:r>
              <a:rPr lang="en-GB" dirty="0" err="1"/>
              <a:t>mmssms.db</a:t>
            </a:r>
            <a:r>
              <a:rPr lang="en-GB" dirty="0"/>
              <a:t>`</a:t>
            </a:r>
          </a:p>
          <a:p>
            <a:endParaRPr lang="en-GB" dirty="0"/>
          </a:p>
          <a:p>
            <a:r>
              <a:rPr lang="en-GB" dirty="0"/>
              <a:t>1. **</a:t>
            </a:r>
            <a:r>
              <a:rPr lang="en-GB" dirty="0" err="1"/>
              <a:t>sms</a:t>
            </a:r>
            <a:r>
              <a:rPr lang="en-GB" dirty="0"/>
              <a:t>**  </a:t>
            </a:r>
          </a:p>
          <a:p>
            <a:r>
              <a:rPr lang="en-GB" dirty="0"/>
              <a:t>   - **Why It’s Valuable**: This table is the core storage for SMS messages. It contains the actual text messages, including the message body, sender/receiver phone numbers, timestamps, message type (sent, received, draft), and status (read, unread).  </a:t>
            </a:r>
          </a:p>
          <a:p>
            <a:r>
              <a:rPr lang="en-GB" dirty="0"/>
              <a:t>   - **Use Case**: Essential for recovering or </a:t>
            </a:r>
            <a:r>
              <a:rPr lang="en-GB" dirty="0" err="1"/>
              <a:t>analyzing</a:t>
            </a:r>
            <a:r>
              <a:rPr lang="en-GB" dirty="0"/>
              <a:t> SMS communication history, such as in forensic investigations or for apps that need to display a user’s text messages.</a:t>
            </a:r>
          </a:p>
          <a:p>
            <a:endParaRPr lang="en-GB" dirty="0"/>
          </a:p>
          <a:p>
            <a:r>
              <a:rPr lang="en-GB" dirty="0"/>
              <a:t>2. **</a:t>
            </a:r>
            <a:r>
              <a:rPr lang="en-GB" dirty="0" err="1"/>
              <a:t>pdu</a:t>
            </a:r>
            <a:r>
              <a:rPr lang="en-GB" dirty="0"/>
              <a:t>**  </a:t>
            </a:r>
          </a:p>
          <a:p>
            <a:r>
              <a:rPr lang="en-GB" dirty="0"/>
              <a:t>   - **Why It’s Valuable**: The `</a:t>
            </a:r>
            <a:r>
              <a:rPr lang="en-GB" dirty="0" err="1"/>
              <a:t>pdu</a:t>
            </a:r>
            <a:r>
              <a:rPr lang="en-GB" dirty="0"/>
              <a:t>` table stores the raw Protocol Data Unit (PDU) data for both SMS and MMS messages. PDUs are the encoded format of messages as they are sent over the network, so this table holds the full, unparsed message data. For MMS, it’s a starting point before the message is broken into parts.  </a:t>
            </a:r>
          </a:p>
          <a:p>
            <a:r>
              <a:rPr lang="en-GB" dirty="0"/>
              <a:t>   - **Use Case**: Critical for reconstructing MMS messages or </a:t>
            </a:r>
            <a:r>
              <a:rPr lang="en-GB" dirty="0" err="1"/>
              <a:t>analyzing</a:t>
            </a:r>
            <a:r>
              <a:rPr lang="en-GB" dirty="0"/>
              <a:t> low-level message data, especially in forensics or when debugging messaging issues.</a:t>
            </a:r>
          </a:p>
          <a:p>
            <a:endParaRPr lang="en-GB" dirty="0"/>
          </a:p>
          <a:p>
            <a:r>
              <a:rPr lang="en-GB" dirty="0"/>
              <a:t>3. **part**  </a:t>
            </a:r>
          </a:p>
          <a:p>
            <a:r>
              <a:rPr lang="en-GB" dirty="0"/>
              <a:t>   - **Why It’s Valuable**: This table stores individual parts of MMS messages, such as text, images, videos, or audio. Each MMS message is multipart, and this table includes details like the content type (e.g., image/jpeg), file path, and the actual data or reference to the attachment.  </a:t>
            </a:r>
          </a:p>
          <a:p>
            <a:r>
              <a:rPr lang="en-GB" dirty="0"/>
              <a:t>   - **Use Case**: Key for accessing MMS content, such as retrieving multimedia attachments in forensics or displaying MMS messages in an app.</a:t>
            </a:r>
          </a:p>
          <a:p>
            <a:endParaRPr lang="en-GB" dirty="0"/>
          </a:p>
          <a:p>
            <a:r>
              <a:rPr lang="en-GB" dirty="0"/>
              <a:t>4. **threads**  </a:t>
            </a:r>
          </a:p>
          <a:p>
            <a:r>
              <a:rPr lang="en-GB" dirty="0"/>
              <a:t>   - **Why It’s Valuable**: The `threads` table groups messages into conversations. It links SMS and MMS messages to a specific thread (conversation) with a contact or group of contacts. It includes metadata like the thread ID, recipient IDs, and the timestamp of the last message in the thread.  </a:t>
            </a:r>
          </a:p>
          <a:p>
            <a:r>
              <a:rPr lang="en-GB" dirty="0"/>
              <a:t>   - **Use Case**: Essential for organizing messages into conversations, which is how most messaging apps display data. It’s also useful for </a:t>
            </a:r>
            <a:r>
              <a:rPr lang="en-GB" dirty="0" err="1"/>
              <a:t>analyzing</a:t>
            </a:r>
            <a:r>
              <a:rPr lang="en-GB" dirty="0"/>
              <a:t> communication patterns with specific contacts.</a:t>
            </a:r>
          </a:p>
          <a:p>
            <a:endParaRPr lang="en-GB" dirty="0"/>
          </a:p>
          <a:p>
            <a:r>
              <a:rPr lang="en-GB" dirty="0"/>
              <a:t>5. **</a:t>
            </a:r>
            <a:r>
              <a:rPr lang="en-GB" dirty="0" err="1"/>
              <a:t>canonical_addresses</a:t>
            </a:r>
            <a:r>
              <a:rPr lang="en-GB" dirty="0"/>
              <a:t>**  </a:t>
            </a:r>
          </a:p>
          <a:p>
            <a:r>
              <a:rPr lang="en-GB" dirty="0"/>
              <a:t>   - **Why It’s Valuable**: This table maps phone numbers to unique IDs, normalizing them (e.g., removing country codes or formatting differences). Other tables like `</a:t>
            </a:r>
            <a:r>
              <a:rPr lang="en-GB" dirty="0" err="1"/>
              <a:t>sms</a:t>
            </a:r>
            <a:r>
              <a:rPr lang="en-GB" dirty="0"/>
              <a:t>` and `threads` reference these IDs instead of raw phone numbers, ensuring consistency.  </a:t>
            </a:r>
          </a:p>
          <a:p>
            <a:r>
              <a:rPr lang="en-GB" dirty="0"/>
              <a:t>   - **Use Case**: Crucial for linking messages to contacts accurately, especially when phone numbers might be stored in different formats. It’s often used in forensics to identify who a message was sent to or received from.</a:t>
            </a:r>
          </a:p>
          <a:p>
            <a:endParaRPr lang="en-GB" dirty="0"/>
          </a:p>
          <a:p>
            <a:r>
              <a:rPr lang="en-GB" dirty="0"/>
              <a:t>6. **attachments**  </a:t>
            </a:r>
          </a:p>
          <a:p>
            <a:r>
              <a:rPr lang="en-GB" dirty="0"/>
              <a:t>   - **Why It’s Valuable**: This table stores metadata about MMS attachments, such as file paths, MIME types, and sizes of media files (e.g., images, videos). It complements the `part` table by providing additional details about multimedia content.  </a:t>
            </a:r>
          </a:p>
          <a:p>
            <a:r>
              <a:rPr lang="en-GB" dirty="0"/>
              <a:t>   - **Use Case**: Important for retrieving or </a:t>
            </a:r>
            <a:r>
              <a:rPr lang="en-GB" dirty="0" err="1"/>
              <a:t>analyzing</a:t>
            </a:r>
            <a:r>
              <a:rPr lang="en-GB" dirty="0"/>
              <a:t> MMS attachments, such as in data recovery or forensic analysis of multimedia messages.</a:t>
            </a:r>
          </a:p>
          <a:p>
            <a:endParaRPr lang="en-GB" dirty="0"/>
          </a:p>
          <a:p>
            <a:r>
              <a:rPr lang="en-GB" dirty="0"/>
              <a:t>7. **</a:t>
            </a:r>
            <a:r>
              <a:rPr lang="en-GB" dirty="0" err="1"/>
              <a:t>pending_msgs</a:t>
            </a:r>
            <a:r>
              <a:rPr lang="en-GB" dirty="0"/>
              <a:t>**  </a:t>
            </a:r>
          </a:p>
          <a:p>
            <a:r>
              <a:rPr lang="en-GB" dirty="0"/>
              <a:t>   - **Why It’s Valuable**: This table stores messages that are queued for sending but not yet delivered (e.g., due to lack of network connectivity). It includes details like the message content, recipient, and status.  </a:t>
            </a:r>
          </a:p>
          <a:p>
            <a:r>
              <a:rPr lang="en-GB" dirty="0"/>
              <a:t>   - **Use Case**: Useful for troubleshooting failed message deliveries or recovering messages that were never sent, especially in forensics or app development.</a:t>
            </a:r>
          </a:p>
          <a:p>
            <a:endParaRPr lang="en-GB" dirty="0"/>
          </a:p>
          <a:p>
            <a:r>
              <a:rPr lang="en-GB" dirty="0"/>
              <a:t>---</a:t>
            </a:r>
          </a:p>
          <a:p>
            <a:endParaRPr lang="en-GB" dirty="0"/>
          </a:p>
          <a:p>
            <a:r>
              <a:rPr lang="en-GB" dirty="0"/>
              <a:t>### Why Other Tables Are Less Valuable</a:t>
            </a:r>
          </a:p>
          <a:p>
            <a:r>
              <a:rPr lang="en-GB" dirty="0"/>
              <a:t>While the above tables are the most directly tied to message content and conversations, the remaining tables in the schema serve more specialized or supporting roles:</a:t>
            </a:r>
          </a:p>
          <a:p>
            <a:endParaRPr lang="en-GB" dirty="0"/>
          </a:p>
          <a:p>
            <a:r>
              <a:rPr lang="en-GB" dirty="0"/>
              <a:t>- **</a:t>
            </a:r>
            <a:r>
              <a:rPr lang="en-GB" dirty="0" err="1"/>
              <a:t>addr</a:t>
            </a:r>
            <a:r>
              <a:rPr lang="en-GB" dirty="0"/>
              <a:t>**: Useful for MMS address details, but less critical than `</a:t>
            </a:r>
            <a:r>
              <a:rPr lang="en-GB" dirty="0" err="1"/>
              <a:t>canonical_addresses</a:t>
            </a:r>
            <a:r>
              <a:rPr lang="en-GB" dirty="0"/>
              <a:t>` for general use.</a:t>
            </a:r>
          </a:p>
          <a:p>
            <a:r>
              <a:rPr lang="en-GB" dirty="0"/>
              <a:t>- **</a:t>
            </a:r>
            <a:r>
              <a:rPr lang="en-GB" dirty="0" err="1"/>
              <a:t>android_metadata</a:t>
            </a:r>
            <a:r>
              <a:rPr lang="en-GB" dirty="0"/>
              <a:t>**: Contains device metadata (e.g., locale), which is not directly related to messages.</a:t>
            </a:r>
          </a:p>
          <a:p>
            <a:r>
              <a:rPr lang="en-GB" dirty="0"/>
              <a:t>- **</a:t>
            </a:r>
            <a:r>
              <a:rPr lang="en-GB" dirty="0" err="1"/>
              <a:t>drm</a:t>
            </a:r>
            <a:r>
              <a:rPr lang="en-GB" dirty="0"/>
              <a:t>**: Relevant only for DRM-protected media, which is rare in modern messaging.</a:t>
            </a:r>
          </a:p>
          <a:p>
            <a:r>
              <a:rPr lang="en-GB" dirty="0"/>
              <a:t>- **rate**: Likely used for tracking message sending rates, which is more of a carrier or system concern.</a:t>
            </a:r>
          </a:p>
          <a:p>
            <a:r>
              <a:rPr lang="en-GB" dirty="0"/>
              <a:t>- **raw**: Stores unprocessed MMS data, but `</a:t>
            </a:r>
            <a:r>
              <a:rPr lang="en-GB" dirty="0" err="1"/>
              <a:t>pdu</a:t>
            </a:r>
            <a:r>
              <a:rPr lang="en-GB" dirty="0"/>
              <a:t>` and `part` are more useful for accessing parsed content.</a:t>
            </a:r>
          </a:p>
          <a:p>
            <a:r>
              <a:rPr lang="en-GB" dirty="0"/>
              <a:t>- **</a:t>
            </a:r>
            <a:r>
              <a:rPr lang="en-GB" dirty="0" err="1"/>
              <a:t>sqlite_sequence</a:t>
            </a:r>
            <a:r>
              <a:rPr lang="en-GB" dirty="0"/>
              <a:t>**: A system table for managing auto-incremented IDs, not directly related to message data.</a:t>
            </a:r>
          </a:p>
          <a:p>
            <a:r>
              <a:rPr lang="en-GB" dirty="0"/>
              <a:t>- **</a:t>
            </a:r>
            <a:r>
              <a:rPr lang="en-GB" dirty="0" err="1"/>
              <a:t>sr_pending</a:t>
            </a:r>
            <a:r>
              <a:rPr lang="en-GB" dirty="0"/>
              <a:t>**: Similar to `</a:t>
            </a:r>
            <a:r>
              <a:rPr lang="en-GB" dirty="0" err="1"/>
              <a:t>pending_msgs</a:t>
            </a:r>
            <a:r>
              <a:rPr lang="en-GB" dirty="0"/>
              <a:t>`, but likely more niche (e.g., for specific send-receive operations).</a:t>
            </a:r>
          </a:p>
          <a:p>
            <a:r>
              <a:rPr lang="en-GB" dirty="0"/>
              <a:t>- **words**, **</a:t>
            </a:r>
            <a:r>
              <a:rPr lang="en-GB" dirty="0" err="1"/>
              <a:t>words_content</a:t>
            </a:r>
            <a:r>
              <a:rPr lang="en-GB" dirty="0"/>
              <a:t>**, **</a:t>
            </a:r>
            <a:r>
              <a:rPr lang="en-GB" dirty="0" err="1"/>
              <a:t>words_segdir</a:t>
            </a:r>
            <a:r>
              <a:rPr lang="en-GB" dirty="0"/>
              <a:t>**, **</a:t>
            </a:r>
            <a:r>
              <a:rPr lang="en-GB" dirty="0" err="1"/>
              <a:t>words_segments</a:t>
            </a:r>
            <a:r>
              <a:rPr lang="en-GB" dirty="0"/>
              <a:t>**: These are part of the full-text search (FTS) system for messages. They’re valuable for search functionality but not for directly accessing message content.</a:t>
            </a:r>
          </a:p>
          <a:p>
            <a:endParaRPr lang="en-GB" dirty="0"/>
          </a:p>
          <a:p>
            <a:r>
              <a:rPr lang="en-GB" dirty="0"/>
              <a:t>---</a:t>
            </a:r>
          </a:p>
          <a:p>
            <a:endParaRPr lang="en-GB" dirty="0"/>
          </a:p>
          <a:p>
            <a:r>
              <a:rPr lang="en-GB" dirty="0"/>
              <a:t>### Summary of Most Valuable Tables</a:t>
            </a:r>
          </a:p>
          <a:p>
            <a:r>
              <a:rPr lang="en-GB" dirty="0"/>
              <a:t>The most valuable tables in `</a:t>
            </a:r>
            <a:r>
              <a:rPr lang="en-GB" dirty="0" err="1"/>
              <a:t>mmssms.db</a:t>
            </a:r>
            <a:r>
              <a:rPr lang="en-GB" dirty="0"/>
              <a:t>` for accessing and </a:t>
            </a:r>
            <a:r>
              <a:rPr lang="en-GB" dirty="0" err="1"/>
              <a:t>analyzing</a:t>
            </a:r>
            <a:r>
              <a:rPr lang="en-GB" dirty="0"/>
              <a:t> SMS and MMS data are:</a:t>
            </a:r>
          </a:p>
          <a:p>
            <a:r>
              <a:rPr lang="en-GB" dirty="0"/>
              <a:t>- `</a:t>
            </a:r>
            <a:r>
              <a:rPr lang="en-GB" dirty="0" err="1"/>
              <a:t>sms</a:t>
            </a:r>
            <a:r>
              <a:rPr lang="en-GB" dirty="0"/>
              <a:t>`: Core SMS message data.</a:t>
            </a:r>
          </a:p>
          <a:p>
            <a:r>
              <a:rPr lang="en-GB" dirty="0"/>
              <a:t>- `</a:t>
            </a:r>
            <a:r>
              <a:rPr lang="en-GB" dirty="0" err="1"/>
              <a:t>pdu</a:t>
            </a:r>
            <a:r>
              <a:rPr lang="en-GB" dirty="0"/>
              <a:t>`: Raw SMS/MMS message data.</a:t>
            </a:r>
          </a:p>
          <a:p>
            <a:r>
              <a:rPr lang="en-GB" dirty="0"/>
              <a:t>- `part`: MMS message parts (e.g., text, media).</a:t>
            </a:r>
          </a:p>
          <a:p>
            <a:r>
              <a:rPr lang="en-GB" dirty="0"/>
              <a:t>- `threads`: Conversation grouping.</a:t>
            </a:r>
          </a:p>
          <a:p>
            <a:r>
              <a:rPr lang="en-GB" dirty="0"/>
              <a:t>- `</a:t>
            </a:r>
            <a:r>
              <a:rPr lang="en-GB" dirty="0" err="1"/>
              <a:t>canonical_addresses</a:t>
            </a:r>
            <a:r>
              <a:rPr lang="en-GB" dirty="0"/>
              <a:t>`: Phone number normalization.</a:t>
            </a:r>
          </a:p>
          <a:p>
            <a:r>
              <a:rPr lang="en-GB" dirty="0"/>
              <a:t>- `attachments`: MMS attachment metadata.</a:t>
            </a:r>
          </a:p>
          <a:p>
            <a:r>
              <a:rPr lang="en-GB" dirty="0"/>
              <a:t>- `</a:t>
            </a:r>
            <a:r>
              <a:rPr lang="en-GB" dirty="0" err="1"/>
              <a:t>pending_msgs</a:t>
            </a:r>
            <a:r>
              <a:rPr lang="en-GB" dirty="0"/>
              <a:t>`: Queued messages.</a:t>
            </a:r>
          </a:p>
          <a:p>
            <a:endParaRPr lang="en-GB" dirty="0"/>
          </a:p>
          <a:p>
            <a:r>
              <a:rPr lang="en-GB" dirty="0"/>
              <a:t>These tables provide the most direct access to message content, conversation structure, and associated metadata, making them the most useful for most practical purposes. If you have a specific use case in mind (e.g., forensics, app development).</a:t>
            </a:r>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23</a:t>
            </a:fld>
            <a:endParaRPr lang="en-US"/>
          </a:p>
        </p:txBody>
      </p:sp>
    </p:spTree>
    <p:extLst>
      <p:ext uri="{BB962C8B-B14F-4D97-AF65-F5344CB8AC3E}">
        <p14:creationId xmlns:p14="http://schemas.microsoft.com/office/powerpoint/2010/main" val="34559425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A466-A8FA-D893-D792-33AB56B6C4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F24549-32D2-CC1C-9859-C5A36B858D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87356A-75F4-E2F1-751D-FFA14407378F}"/>
              </a:ext>
            </a:extLst>
          </p:cNvPr>
          <p:cNvSpPr>
            <a:spLocks noGrp="1"/>
          </p:cNvSpPr>
          <p:nvPr>
            <p:ph type="body" idx="1"/>
          </p:nvPr>
        </p:nvSpPr>
        <p:spPr/>
        <p:txBody>
          <a:bodyPr/>
          <a:lstStyle/>
          <a:p>
            <a:r>
              <a:rPr lang="en-GB" dirty="0"/>
              <a:t>The `</a:t>
            </a:r>
            <a:r>
              <a:rPr lang="en-GB" dirty="0" err="1"/>
              <a:t>mmssms.db</a:t>
            </a:r>
            <a:r>
              <a:rPr lang="en-GB" dirty="0"/>
              <a:t>` database contains several tables, but not all are equally valuable depending on the use case. Since this database is primarily used to store SMS and MMS data on an Android device, the "most valuable" tables are those that directly contain or link to message content, conversation details, and associated metadata. These are often the focus in scenarios like digital forensics, data recovery, or app development. Below is a list of the most valuable tables from the schema you provided, along with why they are significant:</a:t>
            </a:r>
          </a:p>
          <a:p>
            <a:endParaRPr lang="en-GB" dirty="0"/>
          </a:p>
          <a:p>
            <a:r>
              <a:rPr lang="en-GB" dirty="0"/>
              <a:t>---</a:t>
            </a:r>
          </a:p>
          <a:p>
            <a:endParaRPr lang="en-GB" dirty="0"/>
          </a:p>
          <a:p>
            <a:r>
              <a:rPr lang="en-GB" dirty="0"/>
              <a:t>### Most Valuable Tables in `</a:t>
            </a:r>
            <a:r>
              <a:rPr lang="en-GB" dirty="0" err="1"/>
              <a:t>mmssms.db</a:t>
            </a:r>
            <a:r>
              <a:rPr lang="en-GB" dirty="0"/>
              <a:t>`</a:t>
            </a:r>
          </a:p>
          <a:p>
            <a:endParaRPr lang="en-GB" dirty="0"/>
          </a:p>
          <a:p>
            <a:r>
              <a:rPr lang="en-GB" dirty="0"/>
              <a:t>1. **</a:t>
            </a:r>
            <a:r>
              <a:rPr lang="en-GB" dirty="0" err="1"/>
              <a:t>sms</a:t>
            </a:r>
            <a:r>
              <a:rPr lang="en-GB" dirty="0"/>
              <a:t>**  </a:t>
            </a:r>
          </a:p>
          <a:p>
            <a:r>
              <a:rPr lang="en-GB" dirty="0"/>
              <a:t>   - **Why It’s Valuable**: This table is the core storage for SMS messages. It contains the actual text messages, including the message body, sender/receiver phone numbers, timestamps, message type (sent, received, draft), and status (read, unread).  </a:t>
            </a:r>
          </a:p>
          <a:p>
            <a:r>
              <a:rPr lang="en-GB" dirty="0"/>
              <a:t>   - **Use Case**: Essential for recovering or </a:t>
            </a:r>
            <a:r>
              <a:rPr lang="en-GB" dirty="0" err="1"/>
              <a:t>analyzing</a:t>
            </a:r>
            <a:r>
              <a:rPr lang="en-GB" dirty="0"/>
              <a:t> SMS communication history, such as in forensic investigations or for apps that need to display a user’s text messages.</a:t>
            </a:r>
          </a:p>
          <a:p>
            <a:endParaRPr lang="en-GB" dirty="0"/>
          </a:p>
          <a:p>
            <a:r>
              <a:rPr lang="en-GB" dirty="0"/>
              <a:t>2. **</a:t>
            </a:r>
            <a:r>
              <a:rPr lang="en-GB" dirty="0" err="1"/>
              <a:t>pdu</a:t>
            </a:r>
            <a:r>
              <a:rPr lang="en-GB" dirty="0"/>
              <a:t>**  </a:t>
            </a:r>
          </a:p>
          <a:p>
            <a:r>
              <a:rPr lang="en-GB" dirty="0"/>
              <a:t>   - **Why It’s Valuable**: The `</a:t>
            </a:r>
            <a:r>
              <a:rPr lang="en-GB" dirty="0" err="1"/>
              <a:t>pdu</a:t>
            </a:r>
            <a:r>
              <a:rPr lang="en-GB" dirty="0"/>
              <a:t>` table stores the raw Protocol Data Unit (PDU) data for both SMS and MMS messages. PDUs are the encoded format of messages as they are sent over the network, so this table holds the full, unparsed message data. For MMS, it’s a starting point before the message is broken into parts.  </a:t>
            </a:r>
          </a:p>
          <a:p>
            <a:r>
              <a:rPr lang="en-GB" dirty="0"/>
              <a:t>   - **Use Case**: Critical for reconstructing MMS messages or </a:t>
            </a:r>
            <a:r>
              <a:rPr lang="en-GB" dirty="0" err="1"/>
              <a:t>analyzing</a:t>
            </a:r>
            <a:r>
              <a:rPr lang="en-GB" dirty="0"/>
              <a:t> low-level message data, especially in forensics or when debugging messaging issues.</a:t>
            </a:r>
          </a:p>
          <a:p>
            <a:endParaRPr lang="en-GB" dirty="0"/>
          </a:p>
          <a:p>
            <a:r>
              <a:rPr lang="en-GB" dirty="0"/>
              <a:t>3. **part**  </a:t>
            </a:r>
          </a:p>
          <a:p>
            <a:r>
              <a:rPr lang="en-GB" dirty="0"/>
              <a:t>   - **Why It’s Valuable**: This table stores individual parts of MMS messages, such as text, images, videos, or audio. Each MMS message is multipart, and this table includes details like the content type (e.g., image/jpeg), file path, and the actual data or reference to the attachment.  </a:t>
            </a:r>
          </a:p>
          <a:p>
            <a:r>
              <a:rPr lang="en-GB" dirty="0"/>
              <a:t>   - **Use Case**: Key for accessing MMS content, such as retrieving multimedia attachments in forensics or displaying MMS messages in an app.</a:t>
            </a:r>
          </a:p>
          <a:p>
            <a:endParaRPr lang="en-GB" dirty="0"/>
          </a:p>
          <a:p>
            <a:r>
              <a:rPr lang="en-GB" dirty="0"/>
              <a:t>4. **threads**  </a:t>
            </a:r>
          </a:p>
          <a:p>
            <a:r>
              <a:rPr lang="en-GB" dirty="0"/>
              <a:t>   - **Why It’s Valuable**: The `threads` table groups messages into conversations. It links SMS and MMS messages to a specific thread (conversation) with a contact or group of contacts. It includes metadata like the thread ID, recipient IDs, and the timestamp of the last message in the thread.  </a:t>
            </a:r>
          </a:p>
          <a:p>
            <a:r>
              <a:rPr lang="en-GB" dirty="0"/>
              <a:t>   - **Use Case**: Essential for organizing messages into conversations, which is how most messaging apps display data. It’s also useful for </a:t>
            </a:r>
            <a:r>
              <a:rPr lang="en-GB" dirty="0" err="1"/>
              <a:t>analyzing</a:t>
            </a:r>
            <a:r>
              <a:rPr lang="en-GB" dirty="0"/>
              <a:t> communication patterns with specific contacts.</a:t>
            </a:r>
          </a:p>
          <a:p>
            <a:endParaRPr lang="en-GB" dirty="0"/>
          </a:p>
          <a:p>
            <a:r>
              <a:rPr lang="en-GB" dirty="0"/>
              <a:t>5. **</a:t>
            </a:r>
            <a:r>
              <a:rPr lang="en-GB" dirty="0" err="1"/>
              <a:t>canonical_addresses</a:t>
            </a:r>
            <a:r>
              <a:rPr lang="en-GB" dirty="0"/>
              <a:t>**  </a:t>
            </a:r>
          </a:p>
          <a:p>
            <a:r>
              <a:rPr lang="en-GB" dirty="0"/>
              <a:t>   - **Why It’s Valuable**: This table maps phone numbers to unique IDs, normalizing them (e.g., removing country codes or formatting differences). Other tables like `</a:t>
            </a:r>
            <a:r>
              <a:rPr lang="en-GB" dirty="0" err="1"/>
              <a:t>sms</a:t>
            </a:r>
            <a:r>
              <a:rPr lang="en-GB" dirty="0"/>
              <a:t>` and `threads` reference these IDs instead of raw phone numbers, ensuring consistency.  </a:t>
            </a:r>
          </a:p>
          <a:p>
            <a:r>
              <a:rPr lang="en-GB" dirty="0"/>
              <a:t>   - **Use Case**: Crucial for linking messages to contacts accurately, especially when phone numbers might be stored in different formats. It’s often used in forensics to identify who a message was sent to or received from.</a:t>
            </a:r>
          </a:p>
          <a:p>
            <a:endParaRPr lang="en-GB" dirty="0"/>
          </a:p>
          <a:p>
            <a:r>
              <a:rPr lang="en-GB" dirty="0"/>
              <a:t>6. **attachments**  </a:t>
            </a:r>
          </a:p>
          <a:p>
            <a:r>
              <a:rPr lang="en-GB" dirty="0"/>
              <a:t>   - **Why It’s Valuable**: This table stores metadata about MMS attachments, such as file paths, MIME types, and sizes of media files (e.g., images, videos). It complements the `part` table by providing additional details about multimedia content.  </a:t>
            </a:r>
          </a:p>
          <a:p>
            <a:r>
              <a:rPr lang="en-GB" dirty="0"/>
              <a:t>   - **Use Case**: Important for retrieving or </a:t>
            </a:r>
            <a:r>
              <a:rPr lang="en-GB" dirty="0" err="1"/>
              <a:t>analyzing</a:t>
            </a:r>
            <a:r>
              <a:rPr lang="en-GB" dirty="0"/>
              <a:t> MMS attachments, such as in data recovery or forensic analysis of multimedia messages.</a:t>
            </a:r>
          </a:p>
          <a:p>
            <a:endParaRPr lang="en-GB" dirty="0"/>
          </a:p>
          <a:p>
            <a:r>
              <a:rPr lang="en-GB" dirty="0"/>
              <a:t>7. **</a:t>
            </a:r>
            <a:r>
              <a:rPr lang="en-GB" dirty="0" err="1"/>
              <a:t>pending_msgs</a:t>
            </a:r>
            <a:r>
              <a:rPr lang="en-GB" dirty="0"/>
              <a:t>**  </a:t>
            </a:r>
          </a:p>
          <a:p>
            <a:r>
              <a:rPr lang="en-GB" dirty="0"/>
              <a:t>   - **Why It’s Valuable**: This table stores messages that are queued for sending but not yet delivered (e.g., due to lack of network connectivity). It includes details like the message content, recipient, and status.  </a:t>
            </a:r>
          </a:p>
          <a:p>
            <a:r>
              <a:rPr lang="en-GB" dirty="0"/>
              <a:t>   - **Use Case**: Useful for troubleshooting failed message deliveries or recovering messages that were never sent, especially in forensics or app development.</a:t>
            </a:r>
          </a:p>
          <a:p>
            <a:endParaRPr lang="en-GB" dirty="0"/>
          </a:p>
          <a:p>
            <a:r>
              <a:rPr lang="en-GB" dirty="0"/>
              <a:t>---</a:t>
            </a:r>
          </a:p>
          <a:p>
            <a:endParaRPr lang="en-GB" dirty="0"/>
          </a:p>
          <a:p>
            <a:r>
              <a:rPr lang="en-GB" dirty="0"/>
              <a:t>### Why Other Tables Are Less Valuable</a:t>
            </a:r>
          </a:p>
          <a:p>
            <a:r>
              <a:rPr lang="en-GB" dirty="0"/>
              <a:t>While the above tables are the most directly tied to message content and conversations, the remaining tables in the schema serve more specialized or supporting roles:</a:t>
            </a:r>
          </a:p>
          <a:p>
            <a:endParaRPr lang="en-GB" dirty="0"/>
          </a:p>
          <a:p>
            <a:r>
              <a:rPr lang="en-GB" dirty="0"/>
              <a:t>- **</a:t>
            </a:r>
            <a:r>
              <a:rPr lang="en-GB" dirty="0" err="1"/>
              <a:t>addr</a:t>
            </a:r>
            <a:r>
              <a:rPr lang="en-GB" dirty="0"/>
              <a:t>**: Useful for MMS address details, but less critical than `</a:t>
            </a:r>
            <a:r>
              <a:rPr lang="en-GB" dirty="0" err="1"/>
              <a:t>canonical_addresses</a:t>
            </a:r>
            <a:r>
              <a:rPr lang="en-GB" dirty="0"/>
              <a:t>` for general use.</a:t>
            </a:r>
          </a:p>
          <a:p>
            <a:r>
              <a:rPr lang="en-GB" dirty="0"/>
              <a:t>- **</a:t>
            </a:r>
            <a:r>
              <a:rPr lang="en-GB" dirty="0" err="1"/>
              <a:t>android_metadata</a:t>
            </a:r>
            <a:r>
              <a:rPr lang="en-GB" dirty="0"/>
              <a:t>**: Contains device metadata (e.g., locale), which is not directly related to messages.</a:t>
            </a:r>
          </a:p>
          <a:p>
            <a:r>
              <a:rPr lang="en-GB" dirty="0"/>
              <a:t>- **</a:t>
            </a:r>
            <a:r>
              <a:rPr lang="en-GB" dirty="0" err="1"/>
              <a:t>drm</a:t>
            </a:r>
            <a:r>
              <a:rPr lang="en-GB" dirty="0"/>
              <a:t>**: Relevant only for DRM-protected media, which is rare in modern messaging.</a:t>
            </a:r>
          </a:p>
          <a:p>
            <a:r>
              <a:rPr lang="en-GB" dirty="0"/>
              <a:t>- **rate**: Likely used for tracking message sending rates, which is more of a carrier or system concern.</a:t>
            </a:r>
          </a:p>
          <a:p>
            <a:r>
              <a:rPr lang="en-GB" dirty="0"/>
              <a:t>- **raw**: Stores unprocessed MMS data, but `</a:t>
            </a:r>
            <a:r>
              <a:rPr lang="en-GB" dirty="0" err="1"/>
              <a:t>pdu</a:t>
            </a:r>
            <a:r>
              <a:rPr lang="en-GB" dirty="0"/>
              <a:t>` and `part` are more useful for accessing parsed content.</a:t>
            </a:r>
          </a:p>
          <a:p>
            <a:r>
              <a:rPr lang="en-GB" dirty="0"/>
              <a:t>- **</a:t>
            </a:r>
            <a:r>
              <a:rPr lang="en-GB" dirty="0" err="1"/>
              <a:t>sqlite_sequence</a:t>
            </a:r>
            <a:r>
              <a:rPr lang="en-GB" dirty="0"/>
              <a:t>**: A system table for managing auto-incremented IDs, not directly related to message data.</a:t>
            </a:r>
          </a:p>
          <a:p>
            <a:r>
              <a:rPr lang="en-GB" dirty="0"/>
              <a:t>- **</a:t>
            </a:r>
            <a:r>
              <a:rPr lang="en-GB" dirty="0" err="1"/>
              <a:t>sr_pending</a:t>
            </a:r>
            <a:r>
              <a:rPr lang="en-GB" dirty="0"/>
              <a:t>**: Similar to `</a:t>
            </a:r>
            <a:r>
              <a:rPr lang="en-GB" dirty="0" err="1"/>
              <a:t>pending_msgs</a:t>
            </a:r>
            <a:r>
              <a:rPr lang="en-GB" dirty="0"/>
              <a:t>`, but likely more niche (e.g., for specific send-receive operations).</a:t>
            </a:r>
          </a:p>
          <a:p>
            <a:r>
              <a:rPr lang="en-GB" dirty="0"/>
              <a:t>- **words**, **</a:t>
            </a:r>
            <a:r>
              <a:rPr lang="en-GB" dirty="0" err="1"/>
              <a:t>words_content</a:t>
            </a:r>
            <a:r>
              <a:rPr lang="en-GB" dirty="0"/>
              <a:t>**, **</a:t>
            </a:r>
            <a:r>
              <a:rPr lang="en-GB" dirty="0" err="1"/>
              <a:t>words_segdir</a:t>
            </a:r>
            <a:r>
              <a:rPr lang="en-GB" dirty="0"/>
              <a:t>**, **</a:t>
            </a:r>
            <a:r>
              <a:rPr lang="en-GB" dirty="0" err="1"/>
              <a:t>words_segments</a:t>
            </a:r>
            <a:r>
              <a:rPr lang="en-GB" dirty="0"/>
              <a:t>**: These are part of the full-text search (FTS) system for messages. They’re valuable for search functionality but not for directly accessing message content.</a:t>
            </a:r>
          </a:p>
          <a:p>
            <a:endParaRPr lang="en-GB" dirty="0"/>
          </a:p>
          <a:p>
            <a:r>
              <a:rPr lang="en-GB" dirty="0"/>
              <a:t>---</a:t>
            </a:r>
          </a:p>
          <a:p>
            <a:endParaRPr lang="en-GB" dirty="0"/>
          </a:p>
          <a:p>
            <a:r>
              <a:rPr lang="en-GB" dirty="0"/>
              <a:t>### Summary of Most Valuable Tables</a:t>
            </a:r>
          </a:p>
          <a:p>
            <a:r>
              <a:rPr lang="en-GB" dirty="0"/>
              <a:t>The most valuable tables in `</a:t>
            </a:r>
            <a:r>
              <a:rPr lang="en-GB" dirty="0" err="1"/>
              <a:t>mmssms.db</a:t>
            </a:r>
            <a:r>
              <a:rPr lang="en-GB" dirty="0"/>
              <a:t>` for accessing and </a:t>
            </a:r>
            <a:r>
              <a:rPr lang="en-GB" dirty="0" err="1"/>
              <a:t>analyzing</a:t>
            </a:r>
            <a:r>
              <a:rPr lang="en-GB" dirty="0"/>
              <a:t> SMS and MMS data are:</a:t>
            </a:r>
          </a:p>
          <a:p>
            <a:r>
              <a:rPr lang="en-GB" dirty="0"/>
              <a:t>- `</a:t>
            </a:r>
            <a:r>
              <a:rPr lang="en-GB" dirty="0" err="1"/>
              <a:t>sms</a:t>
            </a:r>
            <a:r>
              <a:rPr lang="en-GB" dirty="0"/>
              <a:t>`: Core SMS message data.</a:t>
            </a:r>
          </a:p>
          <a:p>
            <a:r>
              <a:rPr lang="en-GB" dirty="0"/>
              <a:t>- `</a:t>
            </a:r>
            <a:r>
              <a:rPr lang="en-GB" dirty="0" err="1"/>
              <a:t>pdu</a:t>
            </a:r>
            <a:r>
              <a:rPr lang="en-GB" dirty="0"/>
              <a:t>`: Raw SMS/MMS message data.</a:t>
            </a:r>
          </a:p>
          <a:p>
            <a:r>
              <a:rPr lang="en-GB" dirty="0"/>
              <a:t>- `part`: MMS message parts (e.g., text, media).</a:t>
            </a:r>
          </a:p>
          <a:p>
            <a:r>
              <a:rPr lang="en-GB" dirty="0"/>
              <a:t>- `threads`: Conversation grouping.</a:t>
            </a:r>
          </a:p>
          <a:p>
            <a:r>
              <a:rPr lang="en-GB" dirty="0"/>
              <a:t>- `</a:t>
            </a:r>
            <a:r>
              <a:rPr lang="en-GB" dirty="0" err="1"/>
              <a:t>canonical_addresses</a:t>
            </a:r>
            <a:r>
              <a:rPr lang="en-GB" dirty="0"/>
              <a:t>`: Phone number normalization.</a:t>
            </a:r>
          </a:p>
          <a:p>
            <a:r>
              <a:rPr lang="en-GB" dirty="0"/>
              <a:t>- `attachments`: MMS attachment metadata.</a:t>
            </a:r>
          </a:p>
          <a:p>
            <a:r>
              <a:rPr lang="en-GB" dirty="0"/>
              <a:t>- `</a:t>
            </a:r>
            <a:r>
              <a:rPr lang="en-GB" dirty="0" err="1"/>
              <a:t>pending_msgs</a:t>
            </a:r>
            <a:r>
              <a:rPr lang="en-GB" dirty="0"/>
              <a:t>`: Queued messages.</a:t>
            </a:r>
          </a:p>
          <a:p>
            <a:endParaRPr lang="en-GB" dirty="0"/>
          </a:p>
          <a:p>
            <a:r>
              <a:rPr lang="en-GB" dirty="0"/>
              <a:t>These tables provide the most direct access to message content, conversation structure, and associated metadata, making them the most useful for most practical purposes. If you have a specific use case in mind (e.g., forensics, app development).</a:t>
            </a:r>
            <a:endParaRPr lang="en-US" dirty="0"/>
          </a:p>
        </p:txBody>
      </p:sp>
      <p:sp>
        <p:nvSpPr>
          <p:cNvPr id="4" name="Slide Number Placeholder 3">
            <a:extLst>
              <a:ext uri="{FF2B5EF4-FFF2-40B4-BE49-F238E27FC236}">
                <a16:creationId xmlns:a16="http://schemas.microsoft.com/office/drawing/2014/main" id="{E640B429-EED7-68E2-9423-DBE171FF085C}"/>
              </a:ext>
            </a:extLst>
          </p:cNvPr>
          <p:cNvSpPr>
            <a:spLocks noGrp="1"/>
          </p:cNvSpPr>
          <p:nvPr>
            <p:ph type="sldNum" sz="quarter" idx="5"/>
          </p:nvPr>
        </p:nvSpPr>
        <p:spPr/>
        <p:txBody>
          <a:bodyPr/>
          <a:lstStyle/>
          <a:p>
            <a:fld id="{DDBF98C7-164A-4723-84F0-B1E4B080DDEC}" type="slidenum">
              <a:rPr lang="en-US" smtClean="0"/>
              <a:t>24</a:t>
            </a:fld>
            <a:endParaRPr lang="en-US"/>
          </a:p>
        </p:txBody>
      </p:sp>
    </p:spTree>
    <p:extLst>
      <p:ext uri="{BB962C8B-B14F-4D97-AF65-F5344CB8AC3E}">
        <p14:creationId xmlns:p14="http://schemas.microsoft.com/office/powerpoint/2010/main" val="2146148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A5811-23BC-3D86-8CE8-367E64395E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0BD86-1232-8E47-4CA9-39F44A409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F75AA-CE1A-E256-E983-F2A2C4B3BDA9}"/>
              </a:ext>
            </a:extLst>
          </p:cNvPr>
          <p:cNvSpPr>
            <a:spLocks noGrp="1"/>
          </p:cNvSpPr>
          <p:nvPr>
            <p:ph type="body" idx="1"/>
          </p:nvPr>
        </p:nvSpPr>
        <p:spPr/>
        <p:txBody>
          <a:bodyPr/>
          <a:lstStyle/>
          <a:p>
            <a:r>
              <a:rPr lang="en-GB" dirty="0"/>
              <a:t>The `</a:t>
            </a:r>
            <a:r>
              <a:rPr lang="en-GB" dirty="0" err="1"/>
              <a:t>mmssms.db</a:t>
            </a:r>
            <a:r>
              <a:rPr lang="en-GB" dirty="0"/>
              <a:t>` database contains several tables, but not all are equally valuable depending on the use case. Since this database is primarily used to store SMS and MMS data on an Android device, the "most valuable" tables are those that directly contain or link to message content, conversation details, and associated metadata. These are often the focus in scenarios like digital forensics, data recovery, or app development. Below is a list of the most valuable tables from the schema you provided, along with why they are significant:</a:t>
            </a:r>
          </a:p>
          <a:p>
            <a:endParaRPr lang="en-GB" dirty="0"/>
          </a:p>
          <a:p>
            <a:r>
              <a:rPr lang="en-GB" dirty="0"/>
              <a:t>---</a:t>
            </a:r>
          </a:p>
          <a:p>
            <a:endParaRPr lang="en-GB" dirty="0"/>
          </a:p>
          <a:p>
            <a:r>
              <a:rPr lang="en-GB" dirty="0"/>
              <a:t>### Most Valuable Tables in `</a:t>
            </a:r>
            <a:r>
              <a:rPr lang="en-GB" dirty="0" err="1"/>
              <a:t>mmssms.db</a:t>
            </a:r>
            <a:r>
              <a:rPr lang="en-GB" dirty="0"/>
              <a:t>`</a:t>
            </a:r>
          </a:p>
          <a:p>
            <a:endParaRPr lang="en-GB" dirty="0"/>
          </a:p>
          <a:p>
            <a:r>
              <a:rPr lang="en-GB" dirty="0"/>
              <a:t>1. **</a:t>
            </a:r>
            <a:r>
              <a:rPr lang="en-GB" dirty="0" err="1"/>
              <a:t>sms</a:t>
            </a:r>
            <a:r>
              <a:rPr lang="en-GB" dirty="0"/>
              <a:t>**  </a:t>
            </a:r>
          </a:p>
          <a:p>
            <a:r>
              <a:rPr lang="en-GB" dirty="0"/>
              <a:t>   - **Why It’s Valuable**: This table is the core storage for SMS messages. It contains the actual text messages, including the message body, sender/receiver phone numbers, timestamps, message type (sent, received, draft), and status (read, unread).  </a:t>
            </a:r>
          </a:p>
          <a:p>
            <a:r>
              <a:rPr lang="en-GB" dirty="0"/>
              <a:t>   - **Use Case**: Essential for recovering or </a:t>
            </a:r>
            <a:r>
              <a:rPr lang="en-GB" dirty="0" err="1"/>
              <a:t>analyzing</a:t>
            </a:r>
            <a:r>
              <a:rPr lang="en-GB" dirty="0"/>
              <a:t> SMS communication history, such as in forensic investigations or for apps that need to display a user’s text messages.</a:t>
            </a:r>
          </a:p>
          <a:p>
            <a:endParaRPr lang="en-GB" dirty="0"/>
          </a:p>
          <a:p>
            <a:r>
              <a:rPr lang="en-GB" dirty="0"/>
              <a:t>2. **</a:t>
            </a:r>
            <a:r>
              <a:rPr lang="en-GB" dirty="0" err="1"/>
              <a:t>pdu</a:t>
            </a:r>
            <a:r>
              <a:rPr lang="en-GB" dirty="0"/>
              <a:t>**  </a:t>
            </a:r>
          </a:p>
          <a:p>
            <a:r>
              <a:rPr lang="en-GB" dirty="0"/>
              <a:t>   - **Why It’s Valuable**: The `</a:t>
            </a:r>
            <a:r>
              <a:rPr lang="en-GB" dirty="0" err="1"/>
              <a:t>pdu</a:t>
            </a:r>
            <a:r>
              <a:rPr lang="en-GB" dirty="0"/>
              <a:t>` table stores the raw Protocol Data Unit (PDU) data for both SMS and MMS messages. PDUs are the encoded format of messages as they are sent over the network, so this table holds the full, unparsed message data. For MMS, it’s a starting point before the message is broken into parts.  </a:t>
            </a:r>
          </a:p>
          <a:p>
            <a:r>
              <a:rPr lang="en-GB" dirty="0"/>
              <a:t>   - **Use Case**: Critical for reconstructing MMS messages or </a:t>
            </a:r>
            <a:r>
              <a:rPr lang="en-GB" dirty="0" err="1"/>
              <a:t>analyzing</a:t>
            </a:r>
            <a:r>
              <a:rPr lang="en-GB" dirty="0"/>
              <a:t> low-level message data, especially in forensics or when debugging messaging issues.</a:t>
            </a:r>
          </a:p>
          <a:p>
            <a:endParaRPr lang="en-GB" dirty="0"/>
          </a:p>
          <a:p>
            <a:r>
              <a:rPr lang="en-GB" dirty="0"/>
              <a:t>3. **part**  </a:t>
            </a:r>
          </a:p>
          <a:p>
            <a:r>
              <a:rPr lang="en-GB" dirty="0"/>
              <a:t>   - **Why It’s Valuable**: This table stores individual parts of MMS messages, such as text, images, videos, or audio. Each MMS message is multipart, and this table includes details like the content type (e.g., image/jpeg), file path, and the actual data or reference to the attachment.  </a:t>
            </a:r>
          </a:p>
          <a:p>
            <a:r>
              <a:rPr lang="en-GB" dirty="0"/>
              <a:t>   - **Use Case**: Key for accessing MMS content, such as retrieving multimedia attachments in forensics or displaying MMS messages in an app.</a:t>
            </a:r>
          </a:p>
          <a:p>
            <a:endParaRPr lang="en-GB" dirty="0"/>
          </a:p>
          <a:p>
            <a:r>
              <a:rPr lang="en-GB" dirty="0"/>
              <a:t>4. **threads**  </a:t>
            </a:r>
          </a:p>
          <a:p>
            <a:r>
              <a:rPr lang="en-GB" dirty="0"/>
              <a:t>   - **Why It’s Valuable**: The `threads` table groups messages into conversations. It links SMS and MMS messages to a specific thread (conversation) with a contact or group of contacts. It includes metadata like the thread ID, recipient IDs, and the timestamp of the last message in the thread.  </a:t>
            </a:r>
          </a:p>
          <a:p>
            <a:r>
              <a:rPr lang="en-GB" dirty="0"/>
              <a:t>   - **Use Case**: Essential for organizing messages into conversations, which is how most messaging apps display data. It’s also useful for </a:t>
            </a:r>
            <a:r>
              <a:rPr lang="en-GB" dirty="0" err="1"/>
              <a:t>analyzing</a:t>
            </a:r>
            <a:r>
              <a:rPr lang="en-GB" dirty="0"/>
              <a:t> communication patterns with specific contacts.</a:t>
            </a:r>
          </a:p>
          <a:p>
            <a:endParaRPr lang="en-GB" dirty="0"/>
          </a:p>
          <a:p>
            <a:r>
              <a:rPr lang="en-GB" dirty="0"/>
              <a:t>5. **</a:t>
            </a:r>
            <a:r>
              <a:rPr lang="en-GB" dirty="0" err="1"/>
              <a:t>canonical_addresses</a:t>
            </a:r>
            <a:r>
              <a:rPr lang="en-GB" dirty="0"/>
              <a:t>**  </a:t>
            </a:r>
          </a:p>
          <a:p>
            <a:r>
              <a:rPr lang="en-GB" dirty="0"/>
              <a:t>   - **Why It’s Valuable**: This table maps phone numbers to unique IDs, normalizing them (e.g., removing country codes or formatting differences). Other tables like `</a:t>
            </a:r>
            <a:r>
              <a:rPr lang="en-GB" dirty="0" err="1"/>
              <a:t>sms</a:t>
            </a:r>
            <a:r>
              <a:rPr lang="en-GB" dirty="0"/>
              <a:t>` and `threads` reference these IDs instead of raw phone numbers, ensuring consistency.  </a:t>
            </a:r>
          </a:p>
          <a:p>
            <a:r>
              <a:rPr lang="en-GB" dirty="0"/>
              <a:t>   - **Use Case**: Crucial for linking messages to contacts accurately, especially when phone numbers might be stored in different formats. It’s often used in forensics to identify who a message was sent to or received from.</a:t>
            </a:r>
          </a:p>
          <a:p>
            <a:endParaRPr lang="en-GB" dirty="0"/>
          </a:p>
          <a:p>
            <a:r>
              <a:rPr lang="en-GB" dirty="0"/>
              <a:t>6. **attachments**  </a:t>
            </a:r>
          </a:p>
          <a:p>
            <a:r>
              <a:rPr lang="en-GB" dirty="0"/>
              <a:t>   - **Why It’s Valuable**: This table stores metadata about MMS attachments, such as file paths, MIME types, and sizes of media files (e.g., images, videos). It complements the `part` table by providing additional details about multimedia content.  </a:t>
            </a:r>
          </a:p>
          <a:p>
            <a:r>
              <a:rPr lang="en-GB" dirty="0"/>
              <a:t>   - **Use Case**: Important for retrieving or </a:t>
            </a:r>
            <a:r>
              <a:rPr lang="en-GB" dirty="0" err="1"/>
              <a:t>analyzing</a:t>
            </a:r>
            <a:r>
              <a:rPr lang="en-GB" dirty="0"/>
              <a:t> MMS attachments, such as in data recovery or forensic analysis of multimedia messages.</a:t>
            </a:r>
          </a:p>
          <a:p>
            <a:endParaRPr lang="en-GB" dirty="0"/>
          </a:p>
          <a:p>
            <a:r>
              <a:rPr lang="en-GB" dirty="0"/>
              <a:t>7. **</a:t>
            </a:r>
            <a:r>
              <a:rPr lang="en-GB" dirty="0" err="1"/>
              <a:t>pending_msgs</a:t>
            </a:r>
            <a:r>
              <a:rPr lang="en-GB" dirty="0"/>
              <a:t>**  </a:t>
            </a:r>
          </a:p>
          <a:p>
            <a:r>
              <a:rPr lang="en-GB" dirty="0"/>
              <a:t>   - **Why It’s Valuable**: This table stores messages that are queued for sending but not yet delivered (e.g., due to lack of network connectivity). It includes details like the message content, recipient, and status.  </a:t>
            </a:r>
          </a:p>
          <a:p>
            <a:r>
              <a:rPr lang="en-GB" dirty="0"/>
              <a:t>   - **Use Case**: Useful for troubleshooting failed message deliveries or recovering messages that were never sent, especially in forensics or app development.</a:t>
            </a:r>
          </a:p>
          <a:p>
            <a:endParaRPr lang="en-GB" dirty="0"/>
          </a:p>
          <a:p>
            <a:r>
              <a:rPr lang="en-GB" dirty="0"/>
              <a:t>---</a:t>
            </a:r>
          </a:p>
          <a:p>
            <a:endParaRPr lang="en-GB" dirty="0"/>
          </a:p>
          <a:p>
            <a:r>
              <a:rPr lang="en-GB" dirty="0"/>
              <a:t>### Why Other Tables Are Less Valuable</a:t>
            </a:r>
          </a:p>
          <a:p>
            <a:r>
              <a:rPr lang="en-GB" dirty="0"/>
              <a:t>While the above tables are the most directly tied to message content and conversations, the remaining tables in the schema serve more specialized or supporting roles:</a:t>
            </a:r>
          </a:p>
          <a:p>
            <a:endParaRPr lang="en-GB" dirty="0"/>
          </a:p>
          <a:p>
            <a:r>
              <a:rPr lang="en-GB" dirty="0"/>
              <a:t>- **</a:t>
            </a:r>
            <a:r>
              <a:rPr lang="en-GB" dirty="0" err="1"/>
              <a:t>addr</a:t>
            </a:r>
            <a:r>
              <a:rPr lang="en-GB" dirty="0"/>
              <a:t>**: Useful for MMS address details, but less critical than `</a:t>
            </a:r>
            <a:r>
              <a:rPr lang="en-GB" dirty="0" err="1"/>
              <a:t>canonical_addresses</a:t>
            </a:r>
            <a:r>
              <a:rPr lang="en-GB" dirty="0"/>
              <a:t>` for general use.</a:t>
            </a:r>
          </a:p>
          <a:p>
            <a:r>
              <a:rPr lang="en-GB" dirty="0"/>
              <a:t>- **</a:t>
            </a:r>
            <a:r>
              <a:rPr lang="en-GB" dirty="0" err="1"/>
              <a:t>android_metadata</a:t>
            </a:r>
            <a:r>
              <a:rPr lang="en-GB" dirty="0"/>
              <a:t>**: Contains device metadata (e.g., locale), which is not directly related to messages.</a:t>
            </a:r>
          </a:p>
          <a:p>
            <a:r>
              <a:rPr lang="en-GB" dirty="0"/>
              <a:t>- **</a:t>
            </a:r>
            <a:r>
              <a:rPr lang="en-GB" dirty="0" err="1"/>
              <a:t>drm</a:t>
            </a:r>
            <a:r>
              <a:rPr lang="en-GB" dirty="0"/>
              <a:t>**: Relevant only for DRM-protected media, which is rare in modern messaging.</a:t>
            </a:r>
          </a:p>
          <a:p>
            <a:r>
              <a:rPr lang="en-GB" dirty="0"/>
              <a:t>- **rate**: Likely used for tracking message sending rates, which is more of a carrier or system concern.</a:t>
            </a:r>
          </a:p>
          <a:p>
            <a:r>
              <a:rPr lang="en-GB" dirty="0"/>
              <a:t>- **raw**: Stores unprocessed MMS data, but `</a:t>
            </a:r>
            <a:r>
              <a:rPr lang="en-GB" dirty="0" err="1"/>
              <a:t>pdu</a:t>
            </a:r>
            <a:r>
              <a:rPr lang="en-GB" dirty="0"/>
              <a:t>` and `part` are more useful for accessing parsed content.</a:t>
            </a:r>
          </a:p>
          <a:p>
            <a:r>
              <a:rPr lang="en-GB" dirty="0"/>
              <a:t>- **</a:t>
            </a:r>
            <a:r>
              <a:rPr lang="en-GB" dirty="0" err="1"/>
              <a:t>sqlite_sequence</a:t>
            </a:r>
            <a:r>
              <a:rPr lang="en-GB" dirty="0"/>
              <a:t>**: A system table for managing auto-incremented IDs, not directly related to message data.</a:t>
            </a:r>
          </a:p>
          <a:p>
            <a:r>
              <a:rPr lang="en-GB" dirty="0"/>
              <a:t>- **</a:t>
            </a:r>
            <a:r>
              <a:rPr lang="en-GB" dirty="0" err="1"/>
              <a:t>sr_pending</a:t>
            </a:r>
            <a:r>
              <a:rPr lang="en-GB" dirty="0"/>
              <a:t>**: Similar to `</a:t>
            </a:r>
            <a:r>
              <a:rPr lang="en-GB" dirty="0" err="1"/>
              <a:t>pending_msgs</a:t>
            </a:r>
            <a:r>
              <a:rPr lang="en-GB" dirty="0"/>
              <a:t>`, but likely more niche (e.g., for specific send-receive operations).</a:t>
            </a:r>
          </a:p>
          <a:p>
            <a:r>
              <a:rPr lang="en-GB" dirty="0"/>
              <a:t>- **words**, **</a:t>
            </a:r>
            <a:r>
              <a:rPr lang="en-GB" dirty="0" err="1"/>
              <a:t>words_content</a:t>
            </a:r>
            <a:r>
              <a:rPr lang="en-GB" dirty="0"/>
              <a:t>**, **</a:t>
            </a:r>
            <a:r>
              <a:rPr lang="en-GB" dirty="0" err="1"/>
              <a:t>words_segdir</a:t>
            </a:r>
            <a:r>
              <a:rPr lang="en-GB" dirty="0"/>
              <a:t>**, **</a:t>
            </a:r>
            <a:r>
              <a:rPr lang="en-GB" dirty="0" err="1"/>
              <a:t>words_segments</a:t>
            </a:r>
            <a:r>
              <a:rPr lang="en-GB" dirty="0"/>
              <a:t>**: These are part of the full-text search (FTS) system for messages. They’re valuable for search functionality but not for directly accessing message content.</a:t>
            </a:r>
          </a:p>
          <a:p>
            <a:endParaRPr lang="en-GB" dirty="0"/>
          </a:p>
          <a:p>
            <a:r>
              <a:rPr lang="en-GB" dirty="0"/>
              <a:t>---</a:t>
            </a:r>
          </a:p>
          <a:p>
            <a:endParaRPr lang="en-GB" dirty="0"/>
          </a:p>
          <a:p>
            <a:r>
              <a:rPr lang="en-GB" dirty="0"/>
              <a:t>### Summary of Most Valuable Tables</a:t>
            </a:r>
          </a:p>
          <a:p>
            <a:r>
              <a:rPr lang="en-GB" dirty="0"/>
              <a:t>The most valuable tables in `</a:t>
            </a:r>
            <a:r>
              <a:rPr lang="en-GB" dirty="0" err="1"/>
              <a:t>mmssms.db</a:t>
            </a:r>
            <a:r>
              <a:rPr lang="en-GB" dirty="0"/>
              <a:t>` for accessing and </a:t>
            </a:r>
            <a:r>
              <a:rPr lang="en-GB" dirty="0" err="1"/>
              <a:t>analyzing</a:t>
            </a:r>
            <a:r>
              <a:rPr lang="en-GB" dirty="0"/>
              <a:t> SMS and MMS data are:</a:t>
            </a:r>
          </a:p>
          <a:p>
            <a:r>
              <a:rPr lang="en-GB" dirty="0"/>
              <a:t>- `</a:t>
            </a:r>
            <a:r>
              <a:rPr lang="en-GB" dirty="0" err="1"/>
              <a:t>sms</a:t>
            </a:r>
            <a:r>
              <a:rPr lang="en-GB" dirty="0"/>
              <a:t>`: Core SMS message data.</a:t>
            </a:r>
          </a:p>
          <a:p>
            <a:r>
              <a:rPr lang="en-GB" dirty="0"/>
              <a:t>- `</a:t>
            </a:r>
            <a:r>
              <a:rPr lang="en-GB" dirty="0" err="1"/>
              <a:t>pdu</a:t>
            </a:r>
            <a:r>
              <a:rPr lang="en-GB" dirty="0"/>
              <a:t>`: Raw SMS/MMS message data.</a:t>
            </a:r>
          </a:p>
          <a:p>
            <a:r>
              <a:rPr lang="en-GB" dirty="0"/>
              <a:t>- `part`: MMS message parts (e.g., text, media).</a:t>
            </a:r>
          </a:p>
          <a:p>
            <a:r>
              <a:rPr lang="en-GB" dirty="0"/>
              <a:t>- `threads`: Conversation grouping.</a:t>
            </a:r>
          </a:p>
          <a:p>
            <a:r>
              <a:rPr lang="en-GB" dirty="0"/>
              <a:t>- `</a:t>
            </a:r>
            <a:r>
              <a:rPr lang="en-GB" dirty="0" err="1"/>
              <a:t>canonical_addresses</a:t>
            </a:r>
            <a:r>
              <a:rPr lang="en-GB" dirty="0"/>
              <a:t>`: Phone number normalization.</a:t>
            </a:r>
          </a:p>
          <a:p>
            <a:r>
              <a:rPr lang="en-GB" dirty="0"/>
              <a:t>- `attachments`: MMS attachment metadata.</a:t>
            </a:r>
          </a:p>
          <a:p>
            <a:r>
              <a:rPr lang="en-GB" dirty="0"/>
              <a:t>- `</a:t>
            </a:r>
            <a:r>
              <a:rPr lang="en-GB" dirty="0" err="1"/>
              <a:t>pending_msgs</a:t>
            </a:r>
            <a:r>
              <a:rPr lang="en-GB" dirty="0"/>
              <a:t>`: Queued messages.</a:t>
            </a:r>
          </a:p>
          <a:p>
            <a:endParaRPr lang="en-GB" dirty="0"/>
          </a:p>
          <a:p>
            <a:r>
              <a:rPr lang="en-GB" dirty="0"/>
              <a:t>These tables provide the most direct access to message content, conversation structure, and associated metadata, making them the most useful for most practical purposes. If you have a specific use case in mind (e.g., forensics, app development).</a:t>
            </a:r>
            <a:endParaRPr lang="en-US" dirty="0"/>
          </a:p>
        </p:txBody>
      </p:sp>
      <p:sp>
        <p:nvSpPr>
          <p:cNvPr id="4" name="Slide Number Placeholder 3">
            <a:extLst>
              <a:ext uri="{FF2B5EF4-FFF2-40B4-BE49-F238E27FC236}">
                <a16:creationId xmlns:a16="http://schemas.microsoft.com/office/drawing/2014/main" id="{1B8C8086-D7DB-D173-05D7-5F0922FB2E76}"/>
              </a:ext>
            </a:extLst>
          </p:cNvPr>
          <p:cNvSpPr>
            <a:spLocks noGrp="1"/>
          </p:cNvSpPr>
          <p:nvPr>
            <p:ph type="sldNum" sz="quarter" idx="5"/>
          </p:nvPr>
        </p:nvSpPr>
        <p:spPr/>
        <p:txBody>
          <a:bodyPr/>
          <a:lstStyle/>
          <a:p>
            <a:fld id="{DDBF98C7-164A-4723-84F0-B1E4B080DDEC}" type="slidenum">
              <a:rPr lang="en-US" smtClean="0"/>
              <a:t>25</a:t>
            </a:fld>
            <a:endParaRPr lang="en-US"/>
          </a:p>
        </p:txBody>
      </p:sp>
    </p:spTree>
    <p:extLst>
      <p:ext uri="{BB962C8B-B14F-4D97-AF65-F5344CB8AC3E}">
        <p14:creationId xmlns:p14="http://schemas.microsoft.com/office/powerpoint/2010/main" val="14209192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9AE25-0378-ECC5-51B1-C3ACB7E46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C4E3B0-E291-1B91-A506-0F944E9B9D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0D46BA-9E78-5BA5-E6C1-0D810549C684}"/>
              </a:ext>
            </a:extLst>
          </p:cNvPr>
          <p:cNvSpPr>
            <a:spLocks noGrp="1"/>
          </p:cNvSpPr>
          <p:nvPr>
            <p:ph type="body" idx="1"/>
          </p:nvPr>
        </p:nvSpPr>
        <p:spPr/>
        <p:txBody>
          <a:bodyPr/>
          <a:lstStyle/>
          <a:p>
            <a:r>
              <a:rPr lang="en-GB" dirty="0"/>
              <a:t>The `</a:t>
            </a:r>
            <a:r>
              <a:rPr lang="en-GB" dirty="0" err="1"/>
              <a:t>mmssms.db</a:t>
            </a:r>
            <a:r>
              <a:rPr lang="en-GB" dirty="0"/>
              <a:t>` database contains several tables, but not all are equally valuable depending on the use case. Since this database is primarily used to store SMS and MMS data on an Android device, the "most valuable" tables are those that directly contain or link to message content, conversation details, and associated metadata. These are often the focus in scenarios like digital forensics, data recovery, or app development. Below is a list of the most valuable tables from the schema you provided, along with why they are significant:</a:t>
            </a:r>
          </a:p>
          <a:p>
            <a:endParaRPr lang="en-GB" dirty="0"/>
          </a:p>
          <a:p>
            <a:r>
              <a:rPr lang="en-GB" dirty="0"/>
              <a:t>---</a:t>
            </a:r>
          </a:p>
          <a:p>
            <a:endParaRPr lang="en-GB" dirty="0"/>
          </a:p>
          <a:p>
            <a:r>
              <a:rPr lang="en-GB" dirty="0"/>
              <a:t>### Most Valuable Tables in `</a:t>
            </a:r>
            <a:r>
              <a:rPr lang="en-GB" dirty="0" err="1"/>
              <a:t>mmssms.db</a:t>
            </a:r>
            <a:r>
              <a:rPr lang="en-GB" dirty="0"/>
              <a:t>`</a:t>
            </a:r>
          </a:p>
          <a:p>
            <a:endParaRPr lang="en-GB" dirty="0"/>
          </a:p>
          <a:p>
            <a:r>
              <a:rPr lang="en-GB" dirty="0"/>
              <a:t>1. **</a:t>
            </a:r>
            <a:r>
              <a:rPr lang="en-GB" dirty="0" err="1"/>
              <a:t>sms</a:t>
            </a:r>
            <a:r>
              <a:rPr lang="en-GB" dirty="0"/>
              <a:t>**  </a:t>
            </a:r>
          </a:p>
          <a:p>
            <a:r>
              <a:rPr lang="en-GB" dirty="0"/>
              <a:t>   - **Why It’s Valuable**: This table is the core storage for SMS messages. It contains the actual text messages, including the message body, sender/receiver phone numbers, timestamps, message type (sent, received, draft), and status (read, unread).  </a:t>
            </a:r>
          </a:p>
          <a:p>
            <a:r>
              <a:rPr lang="en-GB" dirty="0"/>
              <a:t>   - **Use Case**: Essential for recovering or </a:t>
            </a:r>
            <a:r>
              <a:rPr lang="en-GB" dirty="0" err="1"/>
              <a:t>analyzing</a:t>
            </a:r>
            <a:r>
              <a:rPr lang="en-GB" dirty="0"/>
              <a:t> SMS communication history, such as in forensic investigations or for apps that need to display a user’s text messages.</a:t>
            </a:r>
          </a:p>
          <a:p>
            <a:endParaRPr lang="en-GB" dirty="0"/>
          </a:p>
          <a:p>
            <a:r>
              <a:rPr lang="en-GB" dirty="0"/>
              <a:t>2. **</a:t>
            </a:r>
            <a:r>
              <a:rPr lang="en-GB" dirty="0" err="1"/>
              <a:t>pdu</a:t>
            </a:r>
            <a:r>
              <a:rPr lang="en-GB" dirty="0"/>
              <a:t>**  </a:t>
            </a:r>
          </a:p>
          <a:p>
            <a:r>
              <a:rPr lang="en-GB" dirty="0"/>
              <a:t>   - **Why It’s Valuable**: The `</a:t>
            </a:r>
            <a:r>
              <a:rPr lang="en-GB" dirty="0" err="1"/>
              <a:t>pdu</a:t>
            </a:r>
            <a:r>
              <a:rPr lang="en-GB" dirty="0"/>
              <a:t>` table stores the raw Protocol Data Unit (PDU) data for both SMS and MMS messages. PDUs are the encoded format of messages as they are sent over the network, so this table holds the full, unparsed message data. For MMS, it’s a starting point before the message is broken into parts.  </a:t>
            </a:r>
          </a:p>
          <a:p>
            <a:r>
              <a:rPr lang="en-GB" dirty="0"/>
              <a:t>   - **Use Case**: Critical for reconstructing MMS messages or </a:t>
            </a:r>
            <a:r>
              <a:rPr lang="en-GB" dirty="0" err="1"/>
              <a:t>analyzing</a:t>
            </a:r>
            <a:r>
              <a:rPr lang="en-GB" dirty="0"/>
              <a:t> low-level message data, especially in forensics or when debugging messaging issues.</a:t>
            </a:r>
          </a:p>
          <a:p>
            <a:endParaRPr lang="en-GB" dirty="0"/>
          </a:p>
          <a:p>
            <a:r>
              <a:rPr lang="en-GB" dirty="0"/>
              <a:t>3. **part**  </a:t>
            </a:r>
          </a:p>
          <a:p>
            <a:r>
              <a:rPr lang="en-GB" dirty="0"/>
              <a:t>   - **Why It’s Valuable**: This table stores individual parts of MMS messages, such as text, images, videos, or audio. Each MMS message is multipart, and this table includes details like the content type (e.g., image/jpeg), file path, and the actual data or reference to the attachment.  </a:t>
            </a:r>
          </a:p>
          <a:p>
            <a:r>
              <a:rPr lang="en-GB" dirty="0"/>
              <a:t>   - **Use Case**: Key for accessing MMS content, such as retrieving multimedia attachments in forensics or displaying MMS messages in an app.</a:t>
            </a:r>
          </a:p>
          <a:p>
            <a:endParaRPr lang="en-GB" dirty="0"/>
          </a:p>
          <a:p>
            <a:r>
              <a:rPr lang="en-GB" dirty="0"/>
              <a:t>4. **threads**  </a:t>
            </a:r>
          </a:p>
          <a:p>
            <a:r>
              <a:rPr lang="en-GB" dirty="0"/>
              <a:t>   - **Why It’s Valuable**: The `threads` table groups messages into conversations. It links SMS and MMS messages to a specific thread (conversation) with a contact or group of contacts. It includes metadata like the thread ID, recipient IDs, and the timestamp of the last message in the thread.  </a:t>
            </a:r>
          </a:p>
          <a:p>
            <a:r>
              <a:rPr lang="en-GB" dirty="0"/>
              <a:t>   - **Use Case**: Essential for organizing messages into conversations, which is how most messaging apps display data. It’s also useful for </a:t>
            </a:r>
            <a:r>
              <a:rPr lang="en-GB" dirty="0" err="1"/>
              <a:t>analyzing</a:t>
            </a:r>
            <a:r>
              <a:rPr lang="en-GB" dirty="0"/>
              <a:t> communication patterns with specific contacts.</a:t>
            </a:r>
          </a:p>
          <a:p>
            <a:endParaRPr lang="en-GB" dirty="0"/>
          </a:p>
          <a:p>
            <a:r>
              <a:rPr lang="en-GB" dirty="0"/>
              <a:t>5. **</a:t>
            </a:r>
            <a:r>
              <a:rPr lang="en-GB" dirty="0" err="1"/>
              <a:t>canonical_addresses</a:t>
            </a:r>
            <a:r>
              <a:rPr lang="en-GB" dirty="0"/>
              <a:t>**  </a:t>
            </a:r>
          </a:p>
          <a:p>
            <a:r>
              <a:rPr lang="en-GB" dirty="0"/>
              <a:t>   - **Why It’s Valuable**: This table maps phone numbers to unique IDs, normalizing them (e.g., removing country codes or formatting differences). Other tables like `</a:t>
            </a:r>
            <a:r>
              <a:rPr lang="en-GB" dirty="0" err="1"/>
              <a:t>sms</a:t>
            </a:r>
            <a:r>
              <a:rPr lang="en-GB" dirty="0"/>
              <a:t>` and `threads` reference these IDs instead of raw phone numbers, ensuring consistency.  </a:t>
            </a:r>
          </a:p>
          <a:p>
            <a:r>
              <a:rPr lang="en-GB" dirty="0"/>
              <a:t>   - **Use Case**: Crucial for linking messages to contacts accurately, especially when phone numbers might be stored in different formats. It’s often used in forensics to identify who a message was sent to or received from.</a:t>
            </a:r>
          </a:p>
          <a:p>
            <a:endParaRPr lang="en-GB" dirty="0"/>
          </a:p>
          <a:p>
            <a:r>
              <a:rPr lang="en-GB" dirty="0"/>
              <a:t>6. **attachments**  </a:t>
            </a:r>
          </a:p>
          <a:p>
            <a:r>
              <a:rPr lang="en-GB" dirty="0"/>
              <a:t>   - **Why It’s Valuable**: This table stores metadata about MMS attachments, such as file paths, MIME types, and sizes of media files (e.g., images, videos). It complements the `part` table by providing additional details about multimedia content.  </a:t>
            </a:r>
          </a:p>
          <a:p>
            <a:r>
              <a:rPr lang="en-GB" dirty="0"/>
              <a:t>   - **Use Case**: Important for retrieving or </a:t>
            </a:r>
            <a:r>
              <a:rPr lang="en-GB" dirty="0" err="1"/>
              <a:t>analyzing</a:t>
            </a:r>
            <a:r>
              <a:rPr lang="en-GB" dirty="0"/>
              <a:t> MMS attachments, such as in data recovery or forensic analysis of multimedia messages.</a:t>
            </a:r>
          </a:p>
          <a:p>
            <a:endParaRPr lang="en-GB" dirty="0"/>
          </a:p>
          <a:p>
            <a:r>
              <a:rPr lang="en-GB" dirty="0"/>
              <a:t>7. **</a:t>
            </a:r>
            <a:r>
              <a:rPr lang="en-GB" dirty="0" err="1"/>
              <a:t>pending_msgs</a:t>
            </a:r>
            <a:r>
              <a:rPr lang="en-GB" dirty="0"/>
              <a:t>**  </a:t>
            </a:r>
          </a:p>
          <a:p>
            <a:r>
              <a:rPr lang="en-GB" dirty="0"/>
              <a:t>   - **Why It’s Valuable**: This table stores messages that are queued for sending but not yet delivered (e.g., due to lack of network connectivity). It includes details like the message content, recipient, and status.  </a:t>
            </a:r>
          </a:p>
          <a:p>
            <a:r>
              <a:rPr lang="en-GB" dirty="0"/>
              <a:t>   - **Use Case**: Useful for troubleshooting failed message deliveries or recovering messages that were never sent, especially in forensics or app development.</a:t>
            </a:r>
          </a:p>
          <a:p>
            <a:endParaRPr lang="en-GB" dirty="0"/>
          </a:p>
          <a:p>
            <a:r>
              <a:rPr lang="en-GB" dirty="0"/>
              <a:t>---</a:t>
            </a:r>
          </a:p>
          <a:p>
            <a:endParaRPr lang="en-GB" dirty="0"/>
          </a:p>
          <a:p>
            <a:r>
              <a:rPr lang="en-GB" dirty="0"/>
              <a:t>### Why Other Tables Are Less Valuable</a:t>
            </a:r>
          </a:p>
          <a:p>
            <a:r>
              <a:rPr lang="en-GB" dirty="0"/>
              <a:t>While the above tables are the most directly tied to message content and conversations, the remaining tables in the schema serve more specialized or supporting roles:</a:t>
            </a:r>
          </a:p>
          <a:p>
            <a:endParaRPr lang="en-GB" dirty="0"/>
          </a:p>
          <a:p>
            <a:r>
              <a:rPr lang="en-GB" dirty="0"/>
              <a:t>- **</a:t>
            </a:r>
            <a:r>
              <a:rPr lang="en-GB" dirty="0" err="1"/>
              <a:t>addr</a:t>
            </a:r>
            <a:r>
              <a:rPr lang="en-GB" dirty="0"/>
              <a:t>**: Useful for MMS address details, but less critical than `</a:t>
            </a:r>
            <a:r>
              <a:rPr lang="en-GB" dirty="0" err="1"/>
              <a:t>canonical_addresses</a:t>
            </a:r>
            <a:r>
              <a:rPr lang="en-GB" dirty="0"/>
              <a:t>` for general use.</a:t>
            </a:r>
          </a:p>
          <a:p>
            <a:r>
              <a:rPr lang="en-GB" dirty="0"/>
              <a:t>- **</a:t>
            </a:r>
            <a:r>
              <a:rPr lang="en-GB" dirty="0" err="1"/>
              <a:t>android_metadata</a:t>
            </a:r>
            <a:r>
              <a:rPr lang="en-GB" dirty="0"/>
              <a:t>**: Contains device metadata (e.g., locale), which is not directly related to messages.</a:t>
            </a:r>
          </a:p>
          <a:p>
            <a:r>
              <a:rPr lang="en-GB" dirty="0"/>
              <a:t>- **</a:t>
            </a:r>
            <a:r>
              <a:rPr lang="en-GB" dirty="0" err="1"/>
              <a:t>drm</a:t>
            </a:r>
            <a:r>
              <a:rPr lang="en-GB" dirty="0"/>
              <a:t>**: Relevant only for DRM-protected media, which is rare in modern messaging.</a:t>
            </a:r>
          </a:p>
          <a:p>
            <a:r>
              <a:rPr lang="en-GB" dirty="0"/>
              <a:t>- **rate**: Likely used for tracking message sending rates, which is more of a carrier or system concern.</a:t>
            </a:r>
          </a:p>
          <a:p>
            <a:r>
              <a:rPr lang="en-GB" dirty="0"/>
              <a:t>- **raw**: Stores unprocessed MMS data, but `</a:t>
            </a:r>
            <a:r>
              <a:rPr lang="en-GB" dirty="0" err="1"/>
              <a:t>pdu</a:t>
            </a:r>
            <a:r>
              <a:rPr lang="en-GB" dirty="0"/>
              <a:t>` and `part` are more useful for accessing parsed content.</a:t>
            </a:r>
          </a:p>
          <a:p>
            <a:r>
              <a:rPr lang="en-GB" dirty="0"/>
              <a:t>- **</a:t>
            </a:r>
            <a:r>
              <a:rPr lang="en-GB" dirty="0" err="1"/>
              <a:t>sqlite_sequence</a:t>
            </a:r>
            <a:r>
              <a:rPr lang="en-GB" dirty="0"/>
              <a:t>**: A system table for managing auto-incremented IDs, not directly related to message data.</a:t>
            </a:r>
          </a:p>
          <a:p>
            <a:r>
              <a:rPr lang="en-GB" dirty="0"/>
              <a:t>- **</a:t>
            </a:r>
            <a:r>
              <a:rPr lang="en-GB" dirty="0" err="1"/>
              <a:t>sr_pending</a:t>
            </a:r>
            <a:r>
              <a:rPr lang="en-GB" dirty="0"/>
              <a:t>**: Similar to `</a:t>
            </a:r>
            <a:r>
              <a:rPr lang="en-GB" dirty="0" err="1"/>
              <a:t>pending_msgs</a:t>
            </a:r>
            <a:r>
              <a:rPr lang="en-GB" dirty="0"/>
              <a:t>`, but likely more niche (e.g., for specific send-receive operations).</a:t>
            </a:r>
          </a:p>
          <a:p>
            <a:r>
              <a:rPr lang="en-GB" dirty="0"/>
              <a:t>- **words**, **</a:t>
            </a:r>
            <a:r>
              <a:rPr lang="en-GB" dirty="0" err="1"/>
              <a:t>words_content</a:t>
            </a:r>
            <a:r>
              <a:rPr lang="en-GB" dirty="0"/>
              <a:t>**, **</a:t>
            </a:r>
            <a:r>
              <a:rPr lang="en-GB" dirty="0" err="1"/>
              <a:t>words_segdir</a:t>
            </a:r>
            <a:r>
              <a:rPr lang="en-GB" dirty="0"/>
              <a:t>**, **</a:t>
            </a:r>
            <a:r>
              <a:rPr lang="en-GB" dirty="0" err="1"/>
              <a:t>words_segments</a:t>
            </a:r>
            <a:r>
              <a:rPr lang="en-GB" dirty="0"/>
              <a:t>**: These are part of the full-text search (FTS) system for messages. They’re valuable for search functionality but not for directly accessing message content.</a:t>
            </a:r>
          </a:p>
          <a:p>
            <a:endParaRPr lang="en-GB" dirty="0"/>
          </a:p>
          <a:p>
            <a:r>
              <a:rPr lang="en-GB" dirty="0"/>
              <a:t>---</a:t>
            </a:r>
          </a:p>
          <a:p>
            <a:endParaRPr lang="en-GB" dirty="0"/>
          </a:p>
          <a:p>
            <a:r>
              <a:rPr lang="en-GB" dirty="0"/>
              <a:t>### Summary of Most Valuable Tables</a:t>
            </a:r>
          </a:p>
          <a:p>
            <a:r>
              <a:rPr lang="en-GB" dirty="0"/>
              <a:t>The most valuable tables in `</a:t>
            </a:r>
            <a:r>
              <a:rPr lang="en-GB" dirty="0" err="1"/>
              <a:t>mmssms.db</a:t>
            </a:r>
            <a:r>
              <a:rPr lang="en-GB" dirty="0"/>
              <a:t>` for accessing and </a:t>
            </a:r>
            <a:r>
              <a:rPr lang="en-GB" dirty="0" err="1"/>
              <a:t>analyzing</a:t>
            </a:r>
            <a:r>
              <a:rPr lang="en-GB" dirty="0"/>
              <a:t> SMS and MMS data are:</a:t>
            </a:r>
          </a:p>
          <a:p>
            <a:r>
              <a:rPr lang="en-GB" dirty="0"/>
              <a:t>- `</a:t>
            </a:r>
            <a:r>
              <a:rPr lang="en-GB" dirty="0" err="1"/>
              <a:t>sms</a:t>
            </a:r>
            <a:r>
              <a:rPr lang="en-GB" dirty="0"/>
              <a:t>`: Core SMS message data.</a:t>
            </a:r>
          </a:p>
          <a:p>
            <a:r>
              <a:rPr lang="en-GB" dirty="0"/>
              <a:t>- `</a:t>
            </a:r>
            <a:r>
              <a:rPr lang="en-GB" dirty="0" err="1"/>
              <a:t>pdu</a:t>
            </a:r>
            <a:r>
              <a:rPr lang="en-GB" dirty="0"/>
              <a:t>`: Raw SMS/MMS message data.</a:t>
            </a:r>
          </a:p>
          <a:p>
            <a:r>
              <a:rPr lang="en-GB" dirty="0"/>
              <a:t>- `part`: MMS message parts (e.g., text, media).</a:t>
            </a:r>
          </a:p>
          <a:p>
            <a:r>
              <a:rPr lang="en-GB" dirty="0"/>
              <a:t>- `threads`: Conversation grouping.</a:t>
            </a:r>
          </a:p>
          <a:p>
            <a:r>
              <a:rPr lang="en-GB" dirty="0"/>
              <a:t>- `</a:t>
            </a:r>
            <a:r>
              <a:rPr lang="en-GB" dirty="0" err="1"/>
              <a:t>canonical_addresses</a:t>
            </a:r>
            <a:r>
              <a:rPr lang="en-GB" dirty="0"/>
              <a:t>`: Phone number normalization.</a:t>
            </a:r>
          </a:p>
          <a:p>
            <a:r>
              <a:rPr lang="en-GB" dirty="0"/>
              <a:t>- `attachments`: MMS attachment metadata.</a:t>
            </a:r>
          </a:p>
          <a:p>
            <a:r>
              <a:rPr lang="en-GB" dirty="0"/>
              <a:t>- `</a:t>
            </a:r>
            <a:r>
              <a:rPr lang="en-GB" dirty="0" err="1"/>
              <a:t>pending_msgs</a:t>
            </a:r>
            <a:r>
              <a:rPr lang="en-GB" dirty="0"/>
              <a:t>`: Queued messages.</a:t>
            </a:r>
          </a:p>
          <a:p>
            <a:endParaRPr lang="en-GB" dirty="0"/>
          </a:p>
          <a:p>
            <a:r>
              <a:rPr lang="en-GB" dirty="0"/>
              <a:t>These tables provide the most direct access to message content, conversation structure, and associated metadata, making them the most useful for most practical purposes. If you have a specific use case in mind (e.g., forensics, app development).</a:t>
            </a:r>
            <a:endParaRPr lang="en-US" dirty="0"/>
          </a:p>
        </p:txBody>
      </p:sp>
      <p:sp>
        <p:nvSpPr>
          <p:cNvPr id="4" name="Slide Number Placeholder 3">
            <a:extLst>
              <a:ext uri="{FF2B5EF4-FFF2-40B4-BE49-F238E27FC236}">
                <a16:creationId xmlns:a16="http://schemas.microsoft.com/office/drawing/2014/main" id="{48E2AEFE-A887-FF95-EDB4-157445E330E6}"/>
              </a:ext>
            </a:extLst>
          </p:cNvPr>
          <p:cNvSpPr>
            <a:spLocks noGrp="1"/>
          </p:cNvSpPr>
          <p:nvPr>
            <p:ph type="sldNum" sz="quarter" idx="5"/>
          </p:nvPr>
        </p:nvSpPr>
        <p:spPr/>
        <p:txBody>
          <a:bodyPr/>
          <a:lstStyle/>
          <a:p>
            <a:fld id="{DDBF98C7-164A-4723-84F0-B1E4B080DDEC}" type="slidenum">
              <a:rPr lang="en-US" smtClean="0"/>
              <a:t>26</a:t>
            </a:fld>
            <a:endParaRPr lang="en-US"/>
          </a:p>
        </p:txBody>
      </p:sp>
    </p:spTree>
    <p:extLst>
      <p:ext uri="{BB962C8B-B14F-4D97-AF65-F5344CB8AC3E}">
        <p14:creationId xmlns:p14="http://schemas.microsoft.com/office/powerpoint/2010/main" val="42223070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93A0D-E3B4-A866-9D31-0DE8DFECB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872BD3-AA6B-2DF2-15F9-92B8355D39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30ABB0-48DE-01C9-7238-E55651463778}"/>
              </a:ext>
            </a:extLst>
          </p:cNvPr>
          <p:cNvSpPr>
            <a:spLocks noGrp="1"/>
          </p:cNvSpPr>
          <p:nvPr>
            <p:ph type="body" idx="1"/>
          </p:nvPr>
        </p:nvSpPr>
        <p:spPr/>
        <p:txBody>
          <a:bodyPr/>
          <a:lstStyle/>
          <a:p>
            <a:r>
              <a:rPr lang="en-GB" dirty="0"/>
              <a:t>The `</a:t>
            </a:r>
            <a:r>
              <a:rPr lang="en-GB" dirty="0" err="1"/>
              <a:t>mmssms.db</a:t>
            </a:r>
            <a:r>
              <a:rPr lang="en-GB" dirty="0"/>
              <a:t>` database contains several tables, but not all are equally valuable depending on the use case. Since this database is primarily used to store SMS and MMS data on an Android device, the "most valuable" tables are those that directly contain or link to message content, conversation details, and associated metadata. These are often the focus in scenarios like digital forensics, data recovery, or app development. Below is a list of the most valuable tables from the schema you provided, along with why they are significant:</a:t>
            </a:r>
          </a:p>
          <a:p>
            <a:endParaRPr lang="en-GB" dirty="0"/>
          </a:p>
          <a:p>
            <a:r>
              <a:rPr lang="en-GB" dirty="0"/>
              <a:t>---</a:t>
            </a:r>
          </a:p>
          <a:p>
            <a:endParaRPr lang="en-GB" dirty="0"/>
          </a:p>
          <a:p>
            <a:r>
              <a:rPr lang="en-GB" dirty="0"/>
              <a:t>### Most Valuable Tables in `</a:t>
            </a:r>
            <a:r>
              <a:rPr lang="en-GB" dirty="0" err="1"/>
              <a:t>mmssms.db</a:t>
            </a:r>
            <a:r>
              <a:rPr lang="en-GB" dirty="0"/>
              <a:t>`</a:t>
            </a:r>
          </a:p>
          <a:p>
            <a:endParaRPr lang="en-GB" dirty="0"/>
          </a:p>
          <a:p>
            <a:r>
              <a:rPr lang="en-GB" dirty="0"/>
              <a:t>1. **</a:t>
            </a:r>
            <a:r>
              <a:rPr lang="en-GB" dirty="0" err="1"/>
              <a:t>sms</a:t>
            </a:r>
            <a:r>
              <a:rPr lang="en-GB" dirty="0"/>
              <a:t>**  </a:t>
            </a:r>
          </a:p>
          <a:p>
            <a:r>
              <a:rPr lang="en-GB" dirty="0"/>
              <a:t>   - **Why It’s Valuable**: This table is the core storage for SMS messages. It contains the actual text messages, including the message body, sender/receiver phone numbers, timestamps, message type (sent, received, draft), and status (read, unread).  </a:t>
            </a:r>
          </a:p>
          <a:p>
            <a:r>
              <a:rPr lang="en-GB" dirty="0"/>
              <a:t>   - **Use Case**: Essential for recovering or </a:t>
            </a:r>
            <a:r>
              <a:rPr lang="en-GB" dirty="0" err="1"/>
              <a:t>analyzing</a:t>
            </a:r>
            <a:r>
              <a:rPr lang="en-GB" dirty="0"/>
              <a:t> SMS communication history, such as in forensic investigations or for apps that need to display a user’s text messages.</a:t>
            </a:r>
          </a:p>
          <a:p>
            <a:endParaRPr lang="en-GB" dirty="0"/>
          </a:p>
          <a:p>
            <a:r>
              <a:rPr lang="en-GB" dirty="0"/>
              <a:t>2. **</a:t>
            </a:r>
            <a:r>
              <a:rPr lang="en-GB" dirty="0" err="1"/>
              <a:t>pdu</a:t>
            </a:r>
            <a:r>
              <a:rPr lang="en-GB" dirty="0"/>
              <a:t>**  </a:t>
            </a:r>
          </a:p>
          <a:p>
            <a:r>
              <a:rPr lang="en-GB" dirty="0"/>
              <a:t>   - **Why It’s Valuable**: The `</a:t>
            </a:r>
            <a:r>
              <a:rPr lang="en-GB" dirty="0" err="1"/>
              <a:t>pdu</a:t>
            </a:r>
            <a:r>
              <a:rPr lang="en-GB" dirty="0"/>
              <a:t>` table stores the raw Protocol Data Unit (PDU) data for both SMS and MMS messages. PDUs are the encoded format of messages as they are sent over the network, so this table holds the full, unparsed message data. For MMS, it’s a starting point before the message is broken into parts.  </a:t>
            </a:r>
          </a:p>
          <a:p>
            <a:r>
              <a:rPr lang="en-GB" dirty="0"/>
              <a:t>   - **Use Case**: Critical for reconstructing MMS messages or </a:t>
            </a:r>
            <a:r>
              <a:rPr lang="en-GB" dirty="0" err="1"/>
              <a:t>analyzing</a:t>
            </a:r>
            <a:r>
              <a:rPr lang="en-GB" dirty="0"/>
              <a:t> low-level message data, especially in forensics or when debugging messaging issues.</a:t>
            </a:r>
          </a:p>
          <a:p>
            <a:endParaRPr lang="en-GB" dirty="0"/>
          </a:p>
          <a:p>
            <a:r>
              <a:rPr lang="en-GB" dirty="0"/>
              <a:t>3. **part**  </a:t>
            </a:r>
          </a:p>
          <a:p>
            <a:r>
              <a:rPr lang="en-GB" dirty="0"/>
              <a:t>   - **Why It’s Valuable**: This table stores individual parts of MMS messages, such as text, images, videos, or audio. Each MMS message is multipart, and this table includes details like the content type (e.g., image/jpeg), file path, and the actual data or reference to the attachment.  </a:t>
            </a:r>
          </a:p>
          <a:p>
            <a:r>
              <a:rPr lang="en-GB" dirty="0"/>
              <a:t>   - **Use Case**: Key for accessing MMS content, such as retrieving multimedia attachments in forensics or displaying MMS messages in an app.</a:t>
            </a:r>
          </a:p>
          <a:p>
            <a:endParaRPr lang="en-GB" dirty="0"/>
          </a:p>
          <a:p>
            <a:r>
              <a:rPr lang="en-GB" dirty="0"/>
              <a:t>4. **threads**  </a:t>
            </a:r>
          </a:p>
          <a:p>
            <a:r>
              <a:rPr lang="en-GB" dirty="0"/>
              <a:t>   - **Why It’s Valuable**: The `threads` table groups messages into conversations. It links SMS and MMS messages to a specific thread (conversation) with a contact or group of contacts. It includes metadata like the thread ID, recipient IDs, and the timestamp of the last message in the thread.  </a:t>
            </a:r>
          </a:p>
          <a:p>
            <a:r>
              <a:rPr lang="en-GB" dirty="0"/>
              <a:t>   - **Use Case**: Essential for organizing messages into conversations, which is how most messaging apps display data. It’s also useful for </a:t>
            </a:r>
            <a:r>
              <a:rPr lang="en-GB" dirty="0" err="1"/>
              <a:t>analyzing</a:t>
            </a:r>
            <a:r>
              <a:rPr lang="en-GB" dirty="0"/>
              <a:t> communication patterns with specific contacts.</a:t>
            </a:r>
          </a:p>
          <a:p>
            <a:endParaRPr lang="en-GB" dirty="0"/>
          </a:p>
          <a:p>
            <a:r>
              <a:rPr lang="en-GB" dirty="0"/>
              <a:t>5. **</a:t>
            </a:r>
            <a:r>
              <a:rPr lang="en-GB" dirty="0" err="1"/>
              <a:t>canonical_addresses</a:t>
            </a:r>
            <a:r>
              <a:rPr lang="en-GB" dirty="0"/>
              <a:t>**  </a:t>
            </a:r>
          </a:p>
          <a:p>
            <a:r>
              <a:rPr lang="en-GB" dirty="0"/>
              <a:t>   - **Why It’s Valuable**: This table maps phone numbers to unique IDs, normalizing them (e.g., removing country codes or formatting differences). Other tables like `</a:t>
            </a:r>
            <a:r>
              <a:rPr lang="en-GB" dirty="0" err="1"/>
              <a:t>sms</a:t>
            </a:r>
            <a:r>
              <a:rPr lang="en-GB" dirty="0"/>
              <a:t>` and `threads` reference these IDs instead of raw phone numbers, ensuring consistency.  </a:t>
            </a:r>
          </a:p>
          <a:p>
            <a:r>
              <a:rPr lang="en-GB" dirty="0"/>
              <a:t>   - **Use Case**: Crucial for linking messages to contacts accurately, especially when phone numbers might be stored in different formats. It’s often used in forensics to identify who a message was sent to or received from.</a:t>
            </a:r>
          </a:p>
          <a:p>
            <a:endParaRPr lang="en-GB" dirty="0"/>
          </a:p>
          <a:p>
            <a:r>
              <a:rPr lang="en-GB" dirty="0"/>
              <a:t>6. **attachments**  </a:t>
            </a:r>
          </a:p>
          <a:p>
            <a:r>
              <a:rPr lang="en-GB" dirty="0"/>
              <a:t>   - **Why It’s Valuable**: This table stores metadata about MMS attachments, such as file paths, MIME types, and sizes of media files (e.g., images, videos). It complements the `part` table by providing additional details about multimedia content.  </a:t>
            </a:r>
          </a:p>
          <a:p>
            <a:r>
              <a:rPr lang="en-GB" dirty="0"/>
              <a:t>   - **Use Case**: Important for retrieving or </a:t>
            </a:r>
            <a:r>
              <a:rPr lang="en-GB" dirty="0" err="1"/>
              <a:t>analyzing</a:t>
            </a:r>
            <a:r>
              <a:rPr lang="en-GB" dirty="0"/>
              <a:t> MMS attachments, such as in data recovery or forensic analysis of multimedia messages.</a:t>
            </a:r>
          </a:p>
          <a:p>
            <a:endParaRPr lang="en-GB" dirty="0"/>
          </a:p>
          <a:p>
            <a:r>
              <a:rPr lang="en-GB" dirty="0"/>
              <a:t>7. **</a:t>
            </a:r>
            <a:r>
              <a:rPr lang="en-GB" dirty="0" err="1"/>
              <a:t>pending_msgs</a:t>
            </a:r>
            <a:r>
              <a:rPr lang="en-GB" dirty="0"/>
              <a:t>**  </a:t>
            </a:r>
          </a:p>
          <a:p>
            <a:r>
              <a:rPr lang="en-GB" dirty="0"/>
              <a:t>   - **Why It’s Valuable**: This table stores messages that are queued for sending but not yet delivered (e.g., due to lack of network connectivity). It includes details like the message content, recipient, and status.  </a:t>
            </a:r>
          </a:p>
          <a:p>
            <a:r>
              <a:rPr lang="en-GB" dirty="0"/>
              <a:t>   - **Use Case**: Useful for troubleshooting failed message deliveries or recovering messages that were never sent, especially in forensics or app development.</a:t>
            </a:r>
          </a:p>
          <a:p>
            <a:endParaRPr lang="en-GB" dirty="0"/>
          </a:p>
          <a:p>
            <a:r>
              <a:rPr lang="en-GB" dirty="0"/>
              <a:t>---</a:t>
            </a:r>
          </a:p>
          <a:p>
            <a:endParaRPr lang="en-GB" dirty="0"/>
          </a:p>
          <a:p>
            <a:r>
              <a:rPr lang="en-GB" dirty="0"/>
              <a:t>### Why Other Tables Are Less Valuable</a:t>
            </a:r>
          </a:p>
          <a:p>
            <a:r>
              <a:rPr lang="en-GB" dirty="0"/>
              <a:t>While the above tables are the most directly tied to message content and conversations, the remaining tables in the schema serve more specialized or supporting roles:</a:t>
            </a:r>
          </a:p>
          <a:p>
            <a:endParaRPr lang="en-GB" dirty="0"/>
          </a:p>
          <a:p>
            <a:r>
              <a:rPr lang="en-GB" dirty="0"/>
              <a:t>- **</a:t>
            </a:r>
            <a:r>
              <a:rPr lang="en-GB" dirty="0" err="1"/>
              <a:t>addr</a:t>
            </a:r>
            <a:r>
              <a:rPr lang="en-GB" dirty="0"/>
              <a:t>**: Useful for MMS address details, but less critical than `</a:t>
            </a:r>
            <a:r>
              <a:rPr lang="en-GB" dirty="0" err="1"/>
              <a:t>canonical_addresses</a:t>
            </a:r>
            <a:r>
              <a:rPr lang="en-GB" dirty="0"/>
              <a:t>` for general use.</a:t>
            </a:r>
          </a:p>
          <a:p>
            <a:r>
              <a:rPr lang="en-GB" dirty="0"/>
              <a:t>- **</a:t>
            </a:r>
            <a:r>
              <a:rPr lang="en-GB" dirty="0" err="1"/>
              <a:t>android_metadata</a:t>
            </a:r>
            <a:r>
              <a:rPr lang="en-GB" dirty="0"/>
              <a:t>**: Contains device metadata (e.g., locale), which is not directly related to messages.</a:t>
            </a:r>
          </a:p>
          <a:p>
            <a:r>
              <a:rPr lang="en-GB" dirty="0"/>
              <a:t>- **</a:t>
            </a:r>
            <a:r>
              <a:rPr lang="en-GB" dirty="0" err="1"/>
              <a:t>drm</a:t>
            </a:r>
            <a:r>
              <a:rPr lang="en-GB" dirty="0"/>
              <a:t>**: Relevant only for DRM-protected media, which is rare in modern messaging.</a:t>
            </a:r>
          </a:p>
          <a:p>
            <a:r>
              <a:rPr lang="en-GB" dirty="0"/>
              <a:t>- **rate**: Likely used for tracking message sending rates, which is more of a carrier or system concern.</a:t>
            </a:r>
          </a:p>
          <a:p>
            <a:r>
              <a:rPr lang="en-GB" dirty="0"/>
              <a:t>- **raw**: Stores unprocessed MMS data, but `</a:t>
            </a:r>
            <a:r>
              <a:rPr lang="en-GB" dirty="0" err="1"/>
              <a:t>pdu</a:t>
            </a:r>
            <a:r>
              <a:rPr lang="en-GB" dirty="0"/>
              <a:t>` and `part` are more useful for accessing parsed content.</a:t>
            </a:r>
          </a:p>
          <a:p>
            <a:r>
              <a:rPr lang="en-GB" dirty="0"/>
              <a:t>- **</a:t>
            </a:r>
            <a:r>
              <a:rPr lang="en-GB" dirty="0" err="1"/>
              <a:t>sqlite_sequence</a:t>
            </a:r>
            <a:r>
              <a:rPr lang="en-GB" dirty="0"/>
              <a:t>**: A system table for managing auto-incremented IDs, not directly related to message data.</a:t>
            </a:r>
          </a:p>
          <a:p>
            <a:r>
              <a:rPr lang="en-GB" dirty="0"/>
              <a:t>- **</a:t>
            </a:r>
            <a:r>
              <a:rPr lang="en-GB" dirty="0" err="1"/>
              <a:t>sr_pending</a:t>
            </a:r>
            <a:r>
              <a:rPr lang="en-GB" dirty="0"/>
              <a:t>**: Similar to `</a:t>
            </a:r>
            <a:r>
              <a:rPr lang="en-GB" dirty="0" err="1"/>
              <a:t>pending_msgs</a:t>
            </a:r>
            <a:r>
              <a:rPr lang="en-GB" dirty="0"/>
              <a:t>`, but likely more niche (e.g., for specific send-receive operations).</a:t>
            </a:r>
          </a:p>
          <a:p>
            <a:r>
              <a:rPr lang="en-GB" dirty="0"/>
              <a:t>- **words**, **</a:t>
            </a:r>
            <a:r>
              <a:rPr lang="en-GB" dirty="0" err="1"/>
              <a:t>words_content</a:t>
            </a:r>
            <a:r>
              <a:rPr lang="en-GB" dirty="0"/>
              <a:t>**, **</a:t>
            </a:r>
            <a:r>
              <a:rPr lang="en-GB" dirty="0" err="1"/>
              <a:t>words_segdir</a:t>
            </a:r>
            <a:r>
              <a:rPr lang="en-GB" dirty="0"/>
              <a:t>**, **</a:t>
            </a:r>
            <a:r>
              <a:rPr lang="en-GB" dirty="0" err="1"/>
              <a:t>words_segments</a:t>
            </a:r>
            <a:r>
              <a:rPr lang="en-GB" dirty="0"/>
              <a:t>**: These are part of the full-text search (FTS) system for messages. They’re valuable for search functionality but not for directly accessing message content.</a:t>
            </a:r>
          </a:p>
          <a:p>
            <a:endParaRPr lang="en-GB" dirty="0"/>
          </a:p>
          <a:p>
            <a:r>
              <a:rPr lang="en-GB" dirty="0"/>
              <a:t>---</a:t>
            </a:r>
          </a:p>
          <a:p>
            <a:endParaRPr lang="en-GB" dirty="0"/>
          </a:p>
          <a:p>
            <a:r>
              <a:rPr lang="en-GB" dirty="0"/>
              <a:t>### Summary of Most Valuable Tables</a:t>
            </a:r>
          </a:p>
          <a:p>
            <a:r>
              <a:rPr lang="en-GB" dirty="0"/>
              <a:t>The most valuable tables in `</a:t>
            </a:r>
            <a:r>
              <a:rPr lang="en-GB" dirty="0" err="1"/>
              <a:t>mmssms.db</a:t>
            </a:r>
            <a:r>
              <a:rPr lang="en-GB" dirty="0"/>
              <a:t>` for accessing and </a:t>
            </a:r>
            <a:r>
              <a:rPr lang="en-GB" dirty="0" err="1"/>
              <a:t>analyzing</a:t>
            </a:r>
            <a:r>
              <a:rPr lang="en-GB" dirty="0"/>
              <a:t> SMS and MMS data are:</a:t>
            </a:r>
          </a:p>
          <a:p>
            <a:r>
              <a:rPr lang="en-GB" dirty="0"/>
              <a:t>- `</a:t>
            </a:r>
            <a:r>
              <a:rPr lang="en-GB" dirty="0" err="1"/>
              <a:t>sms</a:t>
            </a:r>
            <a:r>
              <a:rPr lang="en-GB" dirty="0"/>
              <a:t>`: Core SMS message data.</a:t>
            </a:r>
          </a:p>
          <a:p>
            <a:r>
              <a:rPr lang="en-GB" dirty="0"/>
              <a:t>- `</a:t>
            </a:r>
            <a:r>
              <a:rPr lang="en-GB" dirty="0" err="1"/>
              <a:t>pdu</a:t>
            </a:r>
            <a:r>
              <a:rPr lang="en-GB" dirty="0"/>
              <a:t>`: Raw SMS/MMS message data.</a:t>
            </a:r>
          </a:p>
          <a:p>
            <a:r>
              <a:rPr lang="en-GB" dirty="0"/>
              <a:t>- `part`: MMS message parts (e.g., text, media).</a:t>
            </a:r>
          </a:p>
          <a:p>
            <a:r>
              <a:rPr lang="en-GB" dirty="0"/>
              <a:t>- `threads`: Conversation grouping.</a:t>
            </a:r>
          </a:p>
          <a:p>
            <a:r>
              <a:rPr lang="en-GB" dirty="0"/>
              <a:t>- `</a:t>
            </a:r>
            <a:r>
              <a:rPr lang="en-GB" dirty="0" err="1"/>
              <a:t>canonical_addresses</a:t>
            </a:r>
            <a:r>
              <a:rPr lang="en-GB" dirty="0"/>
              <a:t>`: Phone number normalization.</a:t>
            </a:r>
          </a:p>
          <a:p>
            <a:r>
              <a:rPr lang="en-GB" dirty="0"/>
              <a:t>- `attachments`: MMS attachment metadata.</a:t>
            </a:r>
          </a:p>
          <a:p>
            <a:r>
              <a:rPr lang="en-GB" dirty="0"/>
              <a:t>- `</a:t>
            </a:r>
            <a:r>
              <a:rPr lang="en-GB" dirty="0" err="1"/>
              <a:t>pending_msgs</a:t>
            </a:r>
            <a:r>
              <a:rPr lang="en-GB" dirty="0"/>
              <a:t>`: Queued messages.</a:t>
            </a:r>
          </a:p>
          <a:p>
            <a:endParaRPr lang="en-GB" dirty="0"/>
          </a:p>
          <a:p>
            <a:r>
              <a:rPr lang="en-GB" dirty="0"/>
              <a:t>These tables provide the most direct access to message content, conversation structure, and associated metadata, making them the most useful for most practical purposes. If you have a specific use case in mind (e.g., forensics, app development).</a:t>
            </a:r>
            <a:endParaRPr lang="en-US" dirty="0"/>
          </a:p>
        </p:txBody>
      </p:sp>
      <p:sp>
        <p:nvSpPr>
          <p:cNvPr id="4" name="Slide Number Placeholder 3">
            <a:extLst>
              <a:ext uri="{FF2B5EF4-FFF2-40B4-BE49-F238E27FC236}">
                <a16:creationId xmlns:a16="http://schemas.microsoft.com/office/drawing/2014/main" id="{09555D97-E62F-AE56-98C7-7D3469374FA0}"/>
              </a:ext>
            </a:extLst>
          </p:cNvPr>
          <p:cNvSpPr>
            <a:spLocks noGrp="1"/>
          </p:cNvSpPr>
          <p:nvPr>
            <p:ph type="sldNum" sz="quarter" idx="5"/>
          </p:nvPr>
        </p:nvSpPr>
        <p:spPr/>
        <p:txBody>
          <a:bodyPr/>
          <a:lstStyle/>
          <a:p>
            <a:fld id="{DDBF98C7-164A-4723-84F0-B1E4B080DDEC}" type="slidenum">
              <a:rPr lang="en-US" smtClean="0"/>
              <a:t>27</a:t>
            </a:fld>
            <a:endParaRPr lang="en-US"/>
          </a:p>
        </p:txBody>
      </p:sp>
    </p:spTree>
    <p:extLst>
      <p:ext uri="{BB962C8B-B14F-4D97-AF65-F5344CB8AC3E}">
        <p14:creationId xmlns:p14="http://schemas.microsoft.com/office/powerpoint/2010/main" val="40224754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262DF-3081-DEF8-BEE3-1311850B5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28149-A1EA-9FB2-034A-90F082A30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8966FB-E0FB-79DC-29C6-BF78EE72080D}"/>
              </a:ext>
            </a:extLst>
          </p:cNvPr>
          <p:cNvSpPr>
            <a:spLocks noGrp="1"/>
          </p:cNvSpPr>
          <p:nvPr>
            <p:ph type="body" idx="1"/>
          </p:nvPr>
        </p:nvSpPr>
        <p:spPr/>
        <p:txBody>
          <a:bodyPr/>
          <a:lstStyle/>
          <a:p>
            <a:r>
              <a:rPr lang="en-GB" dirty="0"/>
              <a:t>The `</a:t>
            </a:r>
            <a:r>
              <a:rPr lang="en-GB" dirty="0" err="1"/>
              <a:t>mmssms.db</a:t>
            </a:r>
            <a:r>
              <a:rPr lang="en-GB" dirty="0"/>
              <a:t>` database contains several tables, but not all are equally valuable depending on the use case. Since this database is primarily used to store SMS and MMS data on an Android device, the "most valuable" tables are those that directly contain or link to message content, conversation details, and associated metadata. These are often the focus in scenarios like digital forensics, data recovery, or app development. Below is a list of the most valuable tables from the schema you provided, along with why they are significant:</a:t>
            </a:r>
          </a:p>
          <a:p>
            <a:endParaRPr lang="en-GB" dirty="0"/>
          </a:p>
          <a:p>
            <a:r>
              <a:rPr lang="en-GB" dirty="0"/>
              <a:t>---</a:t>
            </a:r>
          </a:p>
          <a:p>
            <a:endParaRPr lang="en-GB" dirty="0"/>
          </a:p>
          <a:p>
            <a:r>
              <a:rPr lang="en-GB" dirty="0"/>
              <a:t>### Most Valuable Tables in `</a:t>
            </a:r>
            <a:r>
              <a:rPr lang="en-GB" dirty="0" err="1"/>
              <a:t>mmssms.db</a:t>
            </a:r>
            <a:r>
              <a:rPr lang="en-GB" dirty="0"/>
              <a:t>`</a:t>
            </a:r>
          </a:p>
          <a:p>
            <a:endParaRPr lang="en-GB" dirty="0"/>
          </a:p>
          <a:p>
            <a:r>
              <a:rPr lang="en-GB" dirty="0"/>
              <a:t>1. **</a:t>
            </a:r>
            <a:r>
              <a:rPr lang="en-GB" dirty="0" err="1"/>
              <a:t>sms</a:t>
            </a:r>
            <a:r>
              <a:rPr lang="en-GB" dirty="0"/>
              <a:t>**  </a:t>
            </a:r>
          </a:p>
          <a:p>
            <a:r>
              <a:rPr lang="en-GB" dirty="0"/>
              <a:t>   - **Why It’s Valuable**: This table is the core storage for SMS messages. It contains the actual text messages, including the message body, sender/receiver phone numbers, timestamps, message type (sent, received, draft), and status (read, unread).  </a:t>
            </a:r>
          </a:p>
          <a:p>
            <a:r>
              <a:rPr lang="en-GB" dirty="0"/>
              <a:t>   - **Use Case**: Essential for recovering or </a:t>
            </a:r>
            <a:r>
              <a:rPr lang="en-GB" dirty="0" err="1"/>
              <a:t>analyzing</a:t>
            </a:r>
            <a:r>
              <a:rPr lang="en-GB" dirty="0"/>
              <a:t> SMS communication history, such as in forensic investigations or for apps that need to display a user’s text messages.</a:t>
            </a:r>
          </a:p>
          <a:p>
            <a:endParaRPr lang="en-GB" dirty="0"/>
          </a:p>
          <a:p>
            <a:r>
              <a:rPr lang="en-GB" dirty="0"/>
              <a:t>2. **</a:t>
            </a:r>
            <a:r>
              <a:rPr lang="en-GB" dirty="0" err="1"/>
              <a:t>pdu</a:t>
            </a:r>
            <a:r>
              <a:rPr lang="en-GB" dirty="0"/>
              <a:t>**  </a:t>
            </a:r>
          </a:p>
          <a:p>
            <a:r>
              <a:rPr lang="en-GB" dirty="0"/>
              <a:t>   - **Why It’s Valuable**: The `</a:t>
            </a:r>
            <a:r>
              <a:rPr lang="en-GB" dirty="0" err="1"/>
              <a:t>pdu</a:t>
            </a:r>
            <a:r>
              <a:rPr lang="en-GB" dirty="0"/>
              <a:t>` table stores the raw Protocol Data Unit (PDU) data for both SMS and MMS messages. PDUs are the encoded format of messages as they are sent over the network, so this table holds the full, unparsed message data. For MMS, it’s a starting point before the message is broken into parts.  </a:t>
            </a:r>
          </a:p>
          <a:p>
            <a:r>
              <a:rPr lang="en-GB" dirty="0"/>
              <a:t>   - **Use Case**: Critical for reconstructing MMS messages or </a:t>
            </a:r>
            <a:r>
              <a:rPr lang="en-GB" dirty="0" err="1"/>
              <a:t>analyzing</a:t>
            </a:r>
            <a:r>
              <a:rPr lang="en-GB" dirty="0"/>
              <a:t> low-level message data, especially in forensics or when debugging messaging issues.</a:t>
            </a:r>
          </a:p>
          <a:p>
            <a:endParaRPr lang="en-GB" dirty="0"/>
          </a:p>
          <a:p>
            <a:r>
              <a:rPr lang="en-GB" dirty="0"/>
              <a:t>3. **part**  </a:t>
            </a:r>
          </a:p>
          <a:p>
            <a:r>
              <a:rPr lang="en-GB" dirty="0"/>
              <a:t>   - **Why It’s Valuable**: This table stores individual parts of MMS messages, such as text, images, videos, or audio. Each MMS message is multipart, and this table includes details like the content type (e.g., image/jpeg), file path, and the actual data or reference to the attachment.  </a:t>
            </a:r>
          </a:p>
          <a:p>
            <a:r>
              <a:rPr lang="en-GB" dirty="0"/>
              <a:t>   - **Use Case**: Key for accessing MMS content, such as retrieving multimedia attachments in forensics or displaying MMS messages in an app.</a:t>
            </a:r>
          </a:p>
          <a:p>
            <a:endParaRPr lang="en-GB" dirty="0"/>
          </a:p>
          <a:p>
            <a:r>
              <a:rPr lang="en-GB" dirty="0"/>
              <a:t>4. **threads**  </a:t>
            </a:r>
          </a:p>
          <a:p>
            <a:r>
              <a:rPr lang="en-GB" dirty="0"/>
              <a:t>   - **Why It’s Valuable**: The `threads` table groups messages into conversations. It links SMS and MMS messages to a specific thread (conversation) with a contact or group of contacts. It includes metadata like the thread ID, recipient IDs, and the timestamp of the last message in the thread.  </a:t>
            </a:r>
          </a:p>
          <a:p>
            <a:r>
              <a:rPr lang="en-GB" dirty="0"/>
              <a:t>   - **Use Case**: Essential for organizing messages into conversations, which is how most messaging apps display data. It’s also useful for </a:t>
            </a:r>
            <a:r>
              <a:rPr lang="en-GB" dirty="0" err="1"/>
              <a:t>analyzing</a:t>
            </a:r>
            <a:r>
              <a:rPr lang="en-GB" dirty="0"/>
              <a:t> communication patterns with specific contacts.</a:t>
            </a:r>
          </a:p>
          <a:p>
            <a:endParaRPr lang="en-GB" dirty="0"/>
          </a:p>
          <a:p>
            <a:r>
              <a:rPr lang="en-GB" dirty="0"/>
              <a:t>5. **</a:t>
            </a:r>
            <a:r>
              <a:rPr lang="en-GB" dirty="0" err="1"/>
              <a:t>canonical_addresses</a:t>
            </a:r>
            <a:r>
              <a:rPr lang="en-GB" dirty="0"/>
              <a:t>**  </a:t>
            </a:r>
          </a:p>
          <a:p>
            <a:r>
              <a:rPr lang="en-GB" dirty="0"/>
              <a:t>   - **Why It’s Valuable**: This table maps phone numbers to unique IDs, normalizing them (e.g., removing country codes or formatting differences). Other tables like `</a:t>
            </a:r>
            <a:r>
              <a:rPr lang="en-GB" dirty="0" err="1"/>
              <a:t>sms</a:t>
            </a:r>
            <a:r>
              <a:rPr lang="en-GB" dirty="0"/>
              <a:t>` and `threads` reference these IDs instead of raw phone numbers, ensuring consistency.  </a:t>
            </a:r>
          </a:p>
          <a:p>
            <a:r>
              <a:rPr lang="en-GB" dirty="0"/>
              <a:t>   - **Use Case**: Crucial for linking messages to contacts accurately, especially when phone numbers might be stored in different formats. It’s often used in forensics to identify who a message was sent to or received from.</a:t>
            </a:r>
          </a:p>
          <a:p>
            <a:endParaRPr lang="en-GB" dirty="0"/>
          </a:p>
          <a:p>
            <a:r>
              <a:rPr lang="en-GB" dirty="0"/>
              <a:t>6. **attachments**  </a:t>
            </a:r>
          </a:p>
          <a:p>
            <a:r>
              <a:rPr lang="en-GB" dirty="0"/>
              <a:t>   - **Why It’s Valuable**: This table stores metadata about MMS attachments, such as file paths, MIME types, and sizes of media files (e.g., images, videos). It complements the `part` table by providing additional details about multimedia content.  </a:t>
            </a:r>
          </a:p>
          <a:p>
            <a:r>
              <a:rPr lang="en-GB" dirty="0"/>
              <a:t>   - **Use Case**: Important for retrieving or </a:t>
            </a:r>
            <a:r>
              <a:rPr lang="en-GB" dirty="0" err="1"/>
              <a:t>analyzing</a:t>
            </a:r>
            <a:r>
              <a:rPr lang="en-GB" dirty="0"/>
              <a:t> MMS attachments, such as in data recovery or forensic analysis of multimedia messages.</a:t>
            </a:r>
          </a:p>
          <a:p>
            <a:endParaRPr lang="en-GB" dirty="0"/>
          </a:p>
          <a:p>
            <a:r>
              <a:rPr lang="en-GB" dirty="0"/>
              <a:t>7. **</a:t>
            </a:r>
            <a:r>
              <a:rPr lang="en-GB" dirty="0" err="1"/>
              <a:t>pending_msgs</a:t>
            </a:r>
            <a:r>
              <a:rPr lang="en-GB" dirty="0"/>
              <a:t>**  </a:t>
            </a:r>
          </a:p>
          <a:p>
            <a:r>
              <a:rPr lang="en-GB" dirty="0"/>
              <a:t>   - **Why It’s Valuable**: This table stores messages that are queued for sending but not yet delivered (e.g., due to lack of network connectivity). It includes details like the message content, recipient, and status.  </a:t>
            </a:r>
          </a:p>
          <a:p>
            <a:r>
              <a:rPr lang="en-GB" dirty="0"/>
              <a:t>   - **Use Case**: Useful for troubleshooting failed message deliveries or recovering messages that were never sent, especially in forensics or app development.</a:t>
            </a:r>
          </a:p>
          <a:p>
            <a:endParaRPr lang="en-GB" dirty="0"/>
          </a:p>
          <a:p>
            <a:r>
              <a:rPr lang="en-GB" dirty="0"/>
              <a:t>---</a:t>
            </a:r>
          </a:p>
          <a:p>
            <a:endParaRPr lang="en-GB" dirty="0"/>
          </a:p>
          <a:p>
            <a:r>
              <a:rPr lang="en-GB" dirty="0"/>
              <a:t>### Why Other Tables Are Less Valuable</a:t>
            </a:r>
          </a:p>
          <a:p>
            <a:r>
              <a:rPr lang="en-GB" dirty="0"/>
              <a:t>While the above tables are the most directly tied to message content and conversations, the remaining tables in the schema serve more specialized or supporting roles:</a:t>
            </a:r>
          </a:p>
          <a:p>
            <a:endParaRPr lang="en-GB" dirty="0"/>
          </a:p>
          <a:p>
            <a:r>
              <a:rPr lang="en-GB" dirty="0"/>
              <a:t>- **</a:t>
            </a:r>
            <a:r>
              <a:rPr lang="en-GB" dirty="0" err="1"/>
              <a:t>addr</a:t>
            </a:r>
            <a:r>
              <a:rPr lang="en-GB" dirty="0"/>
              <a:t>**: Useful for MMS address details, but less critical than `</a:t>
            </a:r>
            <a:r>
              <a:rPr lang="en-GB" dirty="0" err="1"/>
              <a:t>canonical_addresses</a:t>
            </a:r>
            <a:r>
              <a:rPr lang="en-GB" dirty="0"/>
              <a:t>` for general use.</a:t>
            </a:r>
          </a:p>
          <a:p>
            <a:r>
              <a:rPr lang="en-GB" dirty="0"/>
              <a:t>- **</a:t>
            </a:r>
            <a:r>
              <a:rPr lang="en-GB" dirty="0" err="1"/>
              <a:t>android_metadata</a:t>
            </a:r>
            <a:r>
              <a:rPr lang="en-GB" dirty="0"/>
              <a:t>**: Contains device metadata (e.g., locale), which is not directly related to messages.</a:t>
            </a:r>
          </a:p>
          <a:p>
            <a:r>
              <a:rPr lang="en-GB" dirty="0"/>
              <a:t>- **</a:t>
            </a:r>
            <a:r>
              <a:rPr lang="en-GB" dirty="0" err="1"/>
              <a:t>drm</a:t>
            </a:r>
            <a:r>
              <a:rPr lang="en-GB" dirty="0"/>
              <a:t>**: Relevant only for DRM-protected media, which is rare in modern messaging.</a:t>
            </a:r>
          </a:p>
          <a:p>
            <a:r>
              <a:rPr lang="en-GB" dirty="0"/>
              <a:t>- **rate**: Likely used for tracking message sending rates, which is more of a carrier or system concern.</a:t>
            </a:r>
          </a:p>
          <a:p>
            <a:r>
              <a:rPr lang="en-GB" dirty="0"/>
              <a:t>- **raw**: Stores unprocessed MMS data, but `</a:t>
            </a:r>
            <a:r>
              <a:rPr lang="en-GB" dirty="0" err="1"/>
              <a:t>pdu</a:t>
            </a:r>
            <a:r>
              <a:rPr lang="en-GB" dirty="0"/>
              <a:t>` and `part` are more useful for accessing parsed content.</a:t>
            </a:r>
          </a:p>
          <a:p>
            <a:r>
              <a:rPr lang="en-GB" dirty="0"/>
              <a:t>- **</a:t>
            </a:r>
            <a:r>
              <a:rPr lang="en-GB" dirty="0" err="1"/>
              <a:t>sqlite_sequence</a:t>
            </a:r>
            <a:r>
              <a:rPr lang="en-GB" dirty="0"/>
              <a:t>**: A system table for managing auto-incremented IDs, not directly related to message data.</a:t>
            </a:r>
          </a:p>
          <a:p>
            <a:r>
              <a:rPr lang="en-GB" dirty="0"/>
              <a:t>- **</a:t>
            </a:r>
            <a:r>
              <a:rPr lang="en-GB" dirty="0" err="1"/>
              <a:t>sr_pending</a:t>
            </a:r>
            <a:r>
              <a:rPr lang="en-GB" dirty="0"/>
              <a:t>**: Similar to `</a:t>
            </a:r>
            <a:r>
              <a:rPr lang="en-GB" dirty="0" err="1"/>
              <a:t>pending_msgs</a:t>
            </a:r>
            <a:r>
              <a:rPr lang="en-GB" dirty="0"/>
              <a:t>`, but likely more niche (e.g., for specific send-receive operations).</a:t>
            </a:r>
          </a:p>
          <a:p>
            <a:r>
              <a:rPr lang="en-GB" dirty="0"/>
              <a:t>- **words**, **</a:t>
            </a:r>
            <a:r>
              <a:rPr lang="en-GB" dirty="0" err="1"/>
              <a:t>words_content</a:t>
            </a:r>
            <a:r>
              <a:rPr lang="en-GB" dirty="0"/>
              <a:t>**, **</a:t>
            </a:r>
            <a:r>
              <a:rPr lang="en-GB" dirty="0" err="1"/>
              <a:t>words_segdir</a:t>
            </a:r>
            <a:r>
              <a:rPr lang="en-GB" dirty="0"/>
              <a:t>**, **</a:t>
            </a:r>
            <a:r>
              <a:rPr lang="en-GB" dirty="0" err="1"/>
              <a:t>words_segments</a:t>
            </a:r>
            <a:r>
              <a:rPr lang="en-GB" dirty="0"/>
              <a:t>**: These are part of the full-text search (FTS) system for messages. They’re valuable for search functionality but not for directly accessing message content.</a:t>
            </a:r>
          </a:p>
          <a:p>
            <a:endParaRPr lang="en-GB" dirty="0"/>
          </a:p>
          <a:p>
            <a:r>
              <a:rPr lang="en-GB" dirty="0"/>
              <a:t>---</a:t>
            </a:r>
          </a:p>
          <a:p>
            <a:endParaRPr lang="en-GB" dirty="0"/>
          </a:p>
          <a:p>
            <a:r>
              <a:rPr lang="en-GB" dirty="0"/>
              <a:t>### Summary of Most Valuable Tables</a:t>
            </a:r>
          </a:p>
          <a:p>
            <a:r>
              <a:rPr lang="en-GB" dirty="0"/>
              <a:t>The most valuable tables in `</a:t>
            </a:r>
            <a:r>
              <a:rPr lang="en-GB" dirty="0" err="1"/>
              <a:t>mmssms.db</a:t>
            </a:r>
            <a:r>
              <a:rPr lang="en-GB" dirty="0"/>
              <a:t>` for accessing and </a:t>
            </a:r>
            <a:r>
              <a:rPr lang="en-GB" dirty="0" err="1"/>
              <a:t>analyzing</a:t>
            </a:r>
            <a:r>
              <a:rPr lang="en-GB" dirty="0"/>
              <a:t> SMS and MMS data are:</a:t>
            </a:r>
          </a:p>
          <a:p>
            <a:r>
              <a:rPr lang="en-GB" dirty="0"/>
              <a:t>- `</a:t>
            </a:r>
            <a:r>
              <a:rPr lang="en-GB" dirty="0" err="1"/>
              <a:t>sms</a:t>
            </a:r>
            <a:r>
              <a:rPr lang="en-GB" dirty="0"/>
              <a:t>`: Core SMS message data.</a:t>
            </a:r>
          </a:p>
          <a:p>
            <a:r>
              <a:rPr lang="en-GB" dirty="0"/>
              <a:t>- `</a:t>
            </a:r>
            <a:r>
              <a:rPr lang="en-GB" dirty="0" err="1"/>
              <a:t>pdu</a:t>
            </a:r>
            <a:r>
              <a:rPr lang="en-GB" dirty="0"/>
              <a:t>`: Raw SMS/MMS message data.</a:t>
            </a:r>
          </a:p>
          <a:p>
            <a:r>
              <a:rPr lang="en-GB" dirty="0"/>
              <a:t>- `part`: MMS message parts (e.g., text, media).</a:t>
            </a:r>
          </a:p>
          <a:p>
            <a:r>
              <a:rPr lang="en-GB" dirty="0"/>
              <a:t>- `threads`: Conversation grouping.</a:t>
            </a:r>
          </a:p>
          <a:p>
            <a:r>
              <a:rPr lang="en-GB" dirty="0"/>
              <a:t>- `</a:t>
            </a:r>
            <a:r>
              <a:rPr lang="en-GB" dirty="0" err="1"/>
              <a:t>canonical_addresses</a:t>
            </a:r>
            <a:r>
              <a:rPr lang="en-GB" dirty="0"/>
              <a:t>`: Phone number normalization.</a:t>
            </a:r>
          </a:p>
          <a:p>
            <a:r>
              <a:rPr lang="en-GB" dirty="0"/>
              <a:t>- `attachments`: MMS attachment metadata.</a:t>
            </a:r>
          </a:p>
          <a:p>
            <a:r>
              <a:rPr lang="en-GB" dirty="0"/>
              <a:t>- `</a:t>
            </a:r>
            <a:r>
              <a:rPr lang="en-GB" dirty="0" err="1"/>
              <a:t>pending_msgs</a:t>
            </a:r>
            <a:r>
              <a:rPr lang="en-GB" dirty="0"/>
              <a:t>`: Queued messages.</a:t>
            </a:r>
          </a:p>
          <a:p>
            <a:endParaRPr lang="en-GB" dirty="0"/>
          </a:p>
          <a:p>
            <a:r>
              <a:rPr lang="en-GB" dirty="0"/>
              <a:t>These tables provide the most direct access to message content, conversation structure, and associated metadata, making them the most useful for most practical purposes. If you have a specific use case in mind (e.g., forensics, app development).</a:t>
            </a:r>
            <a:endParaRPr lang="en-US" dirty="0"/>
          </a:p>
        </p:txBody>
      </p:sp>
      <p:sp>
        <p:nvSpPr>
          <p:cNvPr id="4" name="Slide Number Placeholder 3">
            <a:extLst>
              <a:ext uri="{FF2B5EF4-FFF2-40B4-BE49-F238E27FC236}">
                <a16:creationId xmlns:a16="http://schemas.microsoft.com/office/drawing/2014/main" id="{54881A05-FB8B-F98F-3CFD-8C6C8D82945F}"/>
              </a:ext>
            </a:extLst>
          </p:cNvPr>
          <p:cNvSpPr>
            <a:spLocks noGrp="1"/>
          </p:cNvSpPr>
          <p:nvPr>
            <p:ph type="sldNum" sz="quarter" idx="5"/>
          </p:nvPr>
        </p:nvSpPr>
        <p:spPr/>
        <p:txBody>
          <a:bodyPr/>
          <a:lstStyle/>
          <a:p>
            <a:fld id="{DDBF98C7-164A-4723-84F0-B1E4B080DDEC}" type="slidenum">
              <a:rPr lang="en-US" smtClean="0"/>
              <a:t>28</a:t>
            </a:fld>
            <a:endParaRPr lang="en-US"/>
          </a:p>
        </p:txBody>
      </p:sp>
    </p:spTree>
    <p:extLst>
      <p:ext uri="{BB962C8B-B14F-4D97-AF65-F5344CB8AC3E}">
        <p14:creationId xmlns:p14="http://schemas.microsoft.com/office/powerpoint/2010/main" val="4627526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BD7D6-ECF7-5E9A-3D7D-7B66C690C2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11A1FA-ABD3-B265-A9D0-D8A10A6A7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AA95CA-D906-5898-651F-22B709488409}"/>
              </a:ext>
            </a:extLst>
          </p:cNvPr>
          <p:cNvSpPr>
            <a:spLocks noGrp="1"/>
          </p:cNvSpPr>
          <p:nvPr>
            <p:ph type="body" idx="1"/>
          </p:nvPr>
        </p:nvSpPr>
        <p:spPr/>
        <p:txBody>
          <a:bodyPr/>
          <a:lstStyle/>
          <a:p>
            <a:r>
              <a:rPr lang="en-GB" dirty="0"/>
              <a:t>The `</a:t>
            </a:r>
            <a:r>
              <a:rPr lang="en-GB" dirty="0" err="1"/>
              <a:t>mmssms.db</a:t>
            </a:r>
            <a:r>
              <a:rPr lang="en-GB" dirty="0"/>
              <a:t>` database contains several tables, but not all are equally valuable depending on the use case. Since this database is primarily used to store SMS and MMS data on an Android device, the "most valuable" tables are those that directly contain or link to message content, conversation details, and associated metadata. These are often the focus in scenarios like digital forensics, data recovery, or app development. Below is a list of the most valuable tables from the schema you provided, along with why they are significant:</a:t>
            </a:r>
          </a:p>
          <a:p>
            <a:endParaRPr lang="en-GB" dirty="0"/>
          </a:p>
          <a:p>
            <a:r>
              <a:rPr lang="en-GB" dirty="0"/>
              <a:t>---</a:t>
            </a:r>
          </a:p>
          <a:p>
            <a:endParaRPr lang="en-GB" dirty="0"/>
          </a:p>
          <a:p>
            <a:r>
              <a:rPr lang="en-GB" dirty="0"/>
              <a:t>### Most Valuable Tables in `</a:t>
            </a:r>
            <a:r>
              <a:rPr lang="en-GB" dirty="0" err="1"/>
              <a:t>mmssms.db</a:t>
            </a:r>
            <a:r>
              <a:rPr lang="en-GB" dirty="0"/>
              <a:t>`</a:t>
            </a:r>
          </a:p>
          <a:p>
            <a:endParaRPr lang="en-GB" dirty="0"/>
          </a:p>
          <a:p>
            <a:r>
              <a:rPr lang="en-GB" dirty="0"/>
              <a:t>1. **</a:t>
            </a:r>
            <a:r>
              <a:rPr lang="en-GB" dirty="0" err="1"/>
              <a:t>sms</a:t>
            </a:r>
            <a:r>
              <a:rPr lang="en-GB" dirty="0"/>
              <a:t>**  </a:t>
            </a:r>
          </a:p>
          <a:p>
            <a:r>
              <a:rPr lang="en-GB" dirty="0"/>
              <a:t>   - **Why It’s Valuable**: This table is the core storage for SMS messages. It contains the actual text messages, including the message body, sender/receiver phone numbers, timestamps, message type (sent, received, draft), and status (read, unread).  </a:t>
            </a:r>
          </a:p>
          <a:p>
            <a:r>
              <a:rPr lang="en-GB" dirty="0"/>
              <a:t>   - **Use Case**: Essential for recovering or </a:t>
            </a:r>
            <a:r>
              <a:rPr lang="en-GB" dirty="0" err="1"/>
              <a:t>analyzing</a:t>
            </a:r>
            <a:r>
              <a:rPr lang="en-GB" dirty="0"/>
              <a:t> SMS communication history, such as in forensic investigations or for apps that need to display a user’s text messages.</a:t>
            </a:r>
          </a:p>
          <a:p>
            <a:endParaRPr lang="en-GB" dirty="0"/>
          </a:p>
          <a:p>
            <a:r>
              <a:rPr lang="en-GB" dirty="0"/>
              <a:t>2. **</a:t>
            </a:r>
            <a:r>
              <a:rPr lang="en-GB" dirty="0" err="1"/>
              <a:t>pdu</a:t>
            </a:r>
            <a:r>
              <a:rPr lang="en-GB" dirty="0"/>
              <a:t>**  </a:t>
            </a:r>
          </a:p>
          <a:p>
            <a:r>
              <a:rPr lang="en-GB" dirty="0"/>
              <a:t>   - **Why It’s Valuable**: The `</a:t>
            </a:r>
            <a:r>
              <a:rPr lang="en-GB" dirty="0" err="1"/>
              <a:t>pdu</a:t>
            </a:r>
            <a:r>
              <a:rPr lang="en-GB" dirty="0"/>
              <a:t>` table stores the raw Protocol Data Unit (PDU) data for both SMS and MMS messages. PDUs are the encoded format of messages as they are sent over the network, so this table holds the full, unparsed message data. For MMS, it’s a starting point before the message is broken into parts.  </a:t>
            </a:r>
          </a:p>
          <a:p>
            <a:r>
              <a:rPr lang="en-GB" dirty="0"/>
              <a:t>   - **Use Case**: Critical for reconstructing MMS messages or </a:t>
            </a:r>
            <a:r>
              <a:rPr lang="en-GB" dirty="0" err="1"/>
              <a:t>analyzing</a:t>
            </a:r>
            <a:r>
              <a:rPr lang="en-GB" dirty="0"/>
              <a:t> low-level message data, especially in forensics or when debugging messaging issues.</a:t>
            </a:r>
          </a:p>
          <a:p>
            <a:endParaRPr lang="en-GB" dirty="0"/>
          </a:p>
          <a:p>
            <a:r>
              <a:rPr lang="en-GB" dirty="0"/>
              <a:t>3. **part**  </a:t>
            </a:r>
          </a:p>
          <a:p>
            <a:r>
              <a:rPr lang="en-GB" dirty="0"/>
              <a:t>   - **Why It’s Valuable**: This table stores individual parts of MMS messages, such as text, images, videos, or audio. Each MMS message is multipart, and this table includes details like the content type (e.g., image/jpeg), file path, and the actual data or reference to the attachment.  </a:t>
            </a:r>
          </a:p>
          <a:p>
            <a:r>
              <a:rPr lang="en-GB" dirty="0"/>
              <a:t>   - **Use Case**: Key for accessing MMS content, such as retrieving multimedia attachments in forensics or displaying MMS messages in an app.</a:t>
            </a:r>
          </a:p>
          <a:p>
            <a:endParaRPr lang="en-GB" dirty="0"/>
          </a:p>
          <a:p>
            <a:r>
              <a:rPr lang="en-GB" dirty="0"/>
              <a:t>4. **threads**  </a:t>
            </a:r>
          </a:p>
          <a:p>
            <a:r>
              <a:rPr lang="en-GB" dirty="0"/>
              <a:t>   - **Why It’s Valuable**: The `threads` table groups messages into conversations. It links SMS and MMS messages to a specific thread (conversation) with a contact or group of contacts. It includes metadata like the thread ID, recipient IDs, and the timestamp of the last message in the thread.  </a:t>
            </a:r>
          </a:p>
          <a:p>
            <a:r>
              <a:rPr lang="en-GB" dirty="0"/>
              <a:t>   - **Use Case**: Essential for organizing messages into conversations, which is how most messaging apps display data. It’s also useful for </a:t>
            </a:r>
            <a:r>
              <a:rPr lang="en-GB" dirty="0" err="1"/>
              <a:t>analyzing</a:t>
            </a:r>
            <a:r>
              <a:rPr lang="en-GB" dirty="0"/>
              <a:t> communication patterns with specific contacts.</a:t>
            </a:r>
          </a:p>
          <a:p>
            <a:endParaRPr lang="en-GB" dirty="0"/>
          </a:p>
          <a:p>
            <a:r>
              <a:rPr lang="en-GB" dirty="0"/>
              <a:t>5. **</a:t>
            </a:r>
            <a:r>
              <a:rPr lang="en-GB" dirty="0" err="1"/>
              <a:t>canonical_addresses</a:t>
            </a:r>
            <a:r>
              <a:rPr lang="en-GB" dirty="0"/>
              <a:t>**  </a:t>
            </a:r>
          </a:p>
          <a:p>
            <a:r>
              <a:rPr lang="en-GB" dirty="0"/>
              <a:t>   - **Why It’s Valuable**: This table maps phone numbers to unique IDs, normalizing them (e.g., removing country codes or formatting differences). Other tables like `</a:t>
            </a:r>
            <a:r>
              <a:rPr lang="en-GB" dirty="0" err="1"/>
              <a:t>sms</a:t>
            </a:r>
            <a:r>
              <a:rPr lang="en-GB" dirty="0"/>
              <a:t>` and `threads` reference these IDs instead of raw phone numbers, ensuring consistency.  </a:t>
            </a:r>
          </a:p>
          <a:p>
            <a:r>
              <a:rPr lang="en-GB" dirty="0"/>
              <a:t>   - **Use Case**: Crucial for linking messages to contacts accurately, especially when phone numbers might be stored in different formats. It’s often used in forensics to identify who a message was sent to or received from.</a:t>
            </a:r>
          </a:p>
          <a:p>
            <a:endParaRPr lang="en-GB" dirty="0"/>
          </a:p>
          <a:p>
            <a:r>
              <a:rPr lang="en-GB" dirty="0"/>
              <a:t>6. **attachments**  </a:t>
            </a:r>
          </a:p>
          <a:p>
            <a:r>
              <a:rPr lang="en-GB" dirty="0"/>
              <a:t>   - **Why It’s Valuable**: This table stores metadata about MMS attachments, such as file paths, MIME types, and sizes of media files (e.g., images, videos). It complements the `part` table by providing additional details about multimedia content.  </a:t>
            </a:r>
          </a:p>
          <a:p>
            <a:r>
              <a:rPr lang="en-GB" dirty="0"/>
              <a:t>   - **Use Case**: Important for retrieving or </a:t>
            </a:r>
            <a:r>
              <a:rPr lang="en-GB" dirty="0" err="1"/>
              <a:t>analyzing</a:t>
            </a:r>
            <a:r>
              <a:rPr lang="en-GB" dirty="0"/>
              <a:t> MMS attachments, such as in data recovery or forensic analysis of multimedia messages.</a:t>
            </a:r>
          </a:p>
          <a:p>
            <a:endParaRPr lang="en-GB" dirty="0"/>
          </a:p>
          <a:p>
            <a:r>
              <a:rPr lang="en-GB" dirty="0"/>
              <a:t>7. **</a:t>
            </a:r>
            <a:r>
              <a:rPr lang="en-GB" dirty="0" err="1"/>
              <a:t>pending_msgs</a:t>
            </a:r>
            <a:r>
              <a:rPr lang="en-GB" dirty="0"/>
              <a:t>**  </a:t>
            </a:r>
          </a:p>
          <a:p>
            <a:r>
              <a:rPr lang="en-GB" dirty="0"/>
              <a:t>   - **Why It’s Valuable**: This table stores messages that are queued for sending but not yet delivered (e.g., due to lack of network connectivity). It includes details like the message content, recipient, and status.  </a:t>
            </a:r>
          </a:p>
          <a:p>
            <a:r>
              <a:rPr lang="en-GB" dirty="0"/>
              <a:t>   - **Use Case**: Useful for troubleshooting failed message deliveries or recovering messages that were never sent, especially in forensics or app development.</a:t>
            </a:r>
          </a:p>
          <a:p>
            <a:endParaRPr lang="en-GB" dirty="0"/>
          </a:p>
          <a:p>
            <a:r>
              <a:rPr lang="en-GB" dirty="0"/>
              <a:t>---</a:t>
            </a:r>
          </a:p>
          <a:p>
            <a:endParaRPr lang="en-GB" dirty="0"/>
          </a:p>
          <a:p>
            <a:r>
              <a:rPr lang="en-GB" dirty="0"/>
              <a:t>### Why Other Tables Are Less Valuable</a:t>
            </a:r>
          </a:p>
          <a:p>
            <a:r>
              <a:rPr lang="en-GB" dirty="0"/>
              <a:t>While the above tables are the most directly tied to message content and conversations, the remaining tables in the schema serve more specialized or supporting roles:</a:t>
            </a:r>
          </a:p>
          <a:p>
            <a:endParaRPr lang="en-GB" dirty="0"/>
          </a:p>
          <a:p>
            <a:r>
              <a:rPr lang="en-GB" dirty="0"/>
              <a:t>- **</a:t>
            </a:r>
            <a:r>
              <a:rPr lang="en-GB" dirty="0" err="1"/>
              <a:t>addr</a:t>
            </a:r>
            <a:r>
              <a:rPr lang="en-GB" dirty="0"/>
              <a:t>**: Useful for MMS address details, but less critical than `</a:t>
            </a:r>
            <a:r>
              <a:rPr lang="en-GB" dirty="0" err="1"/>
              <a:t>canonical_addresses</a:t>
            </a:r>
            <a:r>
              <a:rPr lang="en-GB" dirty="0"/>
              <a:t>` for general use.</a:t>
            </a:r>
          </a:p>
          <a:p>
            <a:r>
              <a:rPr lang="en-GB" dirty="0"/>
              <a:t>- **</a:t>
            </a:r>
            <a:r>
              <a:rPr lang="en-GB" dirty="0" err="1"/>
              <a:t>android_metadata</a:t>
            </a:r>
            <a:r>
              <a:rPr lang="en-GB" dirty="0"/>
              <a:t>**: Contains device metadata (e.g., locale), which is not directly related to messages.</a:t>
            </a:r>
          </a:p>
          <a:p>
            <a:r>
              <a:rPr lang="en-GB" dirty="0"/>
              <a:t>- **</a:t>
            </a:r>
            <a:r>
              <a:rPr lang="en-GB" dirty="0" err="1"/>
              <a:t>drm</a:t>
            </a:r>
            <a:r>
              <a:rPr lang="en-GB" dirty="0"/>
              <a:t>**: Relevant only for DRM-protected media, which is rare in modern messaging.</a:t>
            </a:r>
          </a:p>
          <a:p>
            <a:r>
              <a:rPr lang="en-GB" dirty="0"/>
              <a:t>- **rate**: Likely used for tracking message sending rates, which is more of a carrier or system concern.</a:t>
            </a:r>
          </a:p>
          <a:p>
            <a:r>
              <a:rPr lang="en-GB" dirty="0"/>
              <a:t>- **raw**: Stores unprocessed MMS data, but `</a:t>
            </a:r>
            <a:r>
              <a:rPr lang="en-GB" dirty="0" err="1"/>
              <a:t>pdu</a:t>
            </a:r>
            <a:r>
              <a:rPr lang="en-GB" dirty="0"/>
              <a:t>` and `part` are more useful for accessing parsed content.</a:t>
            </a:r>
          </a:p>
          <a:p>
            <a:r>
              <a:rPr lang="en-GB" dirty="0"/>
              <a:t>- **</a:t>
            </a:r>
            <a:r>
              <a:rPr lang="en-GB" dirty="0" err="1"/>
              <a:t>sqlite_sequence</a:t>
            </a:r>
            <a:r>
              <a:rPr lang="en-GB" dirty="0"/>
              <a:t>**: A system table for managing auto-incremented IDs, not directly related to message data.</a:t>
            </a:r>
          </a:p>
          <a:p>
            <a:r>
              <a:rPr lang="en-GB" dirty="0"/>
              <a:t>- **</a:t>
            </a:r>
            <a:r>
              <a:rPr lang="en-GB" dirty="0" err="1"/>
              <a:t>sr_pending</a:t>
            </a:r>
            <a:r>
              <a:rPr lang="en-GB" dirty="0"/>
              <a:t>**: Similar to `</a:t>
            </a:r>
            <a:r>
              <a:rPr lang="en-GB" dirty="0" err="1"/>
              <a:t>pending_msgs</a:t>
            </a:r>
            <a:r>
              <a:rPr lang="en-GB" dirty="0"/>
              <a:t>`, but likely more niche (e.g., for specific send-receive operations).</a:t>
            </a:r>
          </a:p>
          <a:p>
            <a:r>
              <a:rPr lang="en-GB" dirty="0"/>
              <a:t>- **words**, **</a:t>
            </a:r>
            <a:r>
              <a:rPr lang="en-GB" dirty="0" err="1"/>
              <a:t>words_content</a:t>
            </a:r>
            <a:r>
              <a:rPr lang="en-GB" dirty="0"/>
              <a:t>**, **</a:t>
            </a:r>
            <a:r>
              <a:rPr lang="en-GB" dirty="0" err="1"/>
              <a:t>words_segdir</a:t>
            </a:r>
            <a:r>
              <a:rPr lang="en-GB" dirty="0"/>
              <a:t>**, **</a:t>
            </a:r>
            <a:r>
              <a:rPr lang="en-GB" dirty="0" err="1"/>
              <a:t>words_segments</a:t>
            </a:r>
            <a:r>
              <a:rPr lang="en-GB" dirty="0"/>
              <a:t>**: These are part of the full-text search (FTS) system for messages. They’re valuable for search functionality but not for directly accessing message content.</a:t>
            </a:r>
          </a:p>
          <a:p>
            <a:endParaRPr lang="en-GB" dirty="0"/>
          </a:p>
          <a:p>
            <a:r>
              <a:rPr lang="en-GB" dirty="0"/>
              <a:t>---</a:t>
            </a:r>
          </a:p>
          <a:p>
            <a:endParaRPr lang="en-GB" dirty="0"/>
          </a:p>
          <a:p>
            <a:r>
              <a:rPr lang="en-GB" dirty="0"/>
              <a:t>### Summary of Most Valuable Tables</a:t>
            </a:r>
          </a:p>
          <a:p>
            <a:r>
              <a:rPr lang="en-GB" dirty="0"/>
              <a:t>The most valuable tables in `</a:t>
            </a:r>
            <a:r>
              <a:rPr lang="en-GB" dirty="0" err="1"/>
              <a:t>mmssms.db</a:t>
            </a:r>
            <a:r>
              <a:rPr lang="en-GB" dirty="0"/>
              <a:t>` for accessing and </a:t>
            </a:r>
            <a:r>
              <a:rPr lang="en-GB" dirty="0" err="1"/>
              <a:t>analyzing</a:t>
            </a:r>
            <a:r>
              <a:rPr lang="en-GB" dirty="0"/>
              <a:t> SMS and MMS data are:</a:t>
            </a:r>
          </a:p>
          <a:p>
            <a:r>
              <a:rPr lang="en-GB" dirty="0"/>
              <a:t>- `</a:t>
            </a:r>
            <a:r>
              <a:rPr lang="en-GB" dirty="0" err="1"/>
              <a:t>sms</a:t>
            </a:r>
            <a:r>
              <a:rPr lang="en-GB" dirty="0"/>
              <a:t>`: Core SMS message data.</a:t>
            </a:r>
          </a:p>
          <a:p>
            <a:r>
              <a:rPr lang="en-GB" dirty="0"/>
              <a:t>- `</a:t>
            </a:r>
            <a:r>
              <a:rPr lang="en-GB" dirty="0" err="1"/>
              <a:t>pdu</a:t>
            </a:r>
            <a:r>
              <a:rPr lang="en-GB" dirty="0"/>
              <a:t>`: Raw SMS/MMS message data.</a:t>
            </a:r>
          </a:p>
          <a:p>
            <a:r>
              <a:rPr lang="en-GB" dirty="0"/>
              <a:t>- `part`: MMS message parts (e.g., text, media).</a:t>
            </a:r>
          </a:p>
          <a:p>
            <a:r>
              <a:rPr lang="en-GB" dirty="0"/>
              <a:t>- `threads`: Conversation grouping.</a:t>
            </a:r>
          </a:p>
          <a:p>
            <a:r>
              <a:rPr lang="en-GB" dirty="0"/>
              <a:t>- `</a:t>
            </a:r>
            <a:r>
              <a:rPr lang="en-GB" dirty="0" err="1"/>
              <a:t>canonical_addresses</a:t>
            </a:r>
            <a:r>
              <a:rPr lang="en-GB" dirty="0"/>
              <a:t>`: Phone number normalization.</a:t>
            </a:r>
          </a:p>
          <a:p>
            <a:r>
              <a:rPr lang="en-GB" dirty="0"/>
              <a:t>- `attachments`: MMS attachment metadata.</a:t>
            </a:r>
          </a:p>
          <a:p>
            <a:r>
              <a:rPr lang="en-GB" dirty="0"/>
              <a:t>- `</a:t>
            </a:r>
            <a:r>
              <a:rPr lang="en-GB" dirty="0" err="1"/>
              <a:t>pending_msgs</a:t>
            </a:r>
            <a:r>
              <a:rPr lang="en-GB" dirty="0"/>
              <a:t>`: Queued messages.</a:t>
            </a:r>
          </a:p>
          <a:p>
            <a:endParaRPr lang="en-GB" dirty="0"/>
          </a:p>
          <a:p>
            <a:r>
              <a:rPr lang="en-GB" dirty="0"/>
              <a:t>These tables provide the most direct access to message content, conversation structure, and associated metadata, making them the most useful for most practical purposes. If you have a specific use case in mind (e.g., forensics, app development).</a:t>
            </a:r>
            <a:endParaRPr lang="en-US" dirty="0"/>
          </a:p>
        </p:txBody>
      </p:sp>
      <p:sp>
        <p:nvSpPr>
          <p:cNvPr id="4" name="Slide Number Placeholder 3">
            <a:extLst>
              <a:ext uri="{FF2B5EF4-FFF2-40B4-BE49-F238E27FC236}">
                <a16:creationId xmlns:a16="http://schemas.microsoft.com/office/drawing/2014/main" id="{CC7E6F06-9DE2-97BE-ED66-A7510ECD9EF7}"/>
              </a:ext>
            </a:extLst>
          </p:cNvPr>
          <p:cNvSpPr>
            <a:spLocks noGrp="1"/>
          </p:cNvSpPr>
          <p:nvPr>
            <p:ph type="sldNum" sz="quarter" idx="5"/>
          </p:nvPr>
        </p:nvSpPr>
        <p:spPr/>
        <p:txBody>
          <a:bodyPr/>
          <a:lstStyle/>
          <a:p>
            <a:fld id="{DDBF98C7-164A-4723-84F0-B1E4B080DDEC}" type="slidenum">
              <a:rPr lang="en-US" smtClean="0"/>
              <a:t>29</a:t>
            </a:fld>
            <a:endParaRPr lang="en-US"/>
          </a:p>
        </p:txBody>
      </p:sp>
    </p:spTree>
    <p:extLst>
      <p:ext uri="{BB962C8B-B14F-4D97-AF65-F5344CB8AC3E}">
        <p14:creationId xmlns:p14="http://schemas.microsoft.com/office/powerpoint/2010/main" val="35908774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dirty="0" err="1"/>
              <a:t>pdu</a:t>
            </a:r>
            <a:r>
              <a:rPr lang="en-GB" dirty="0"/>
              <a:t>` table in the `</a:t>
            </a:r>
            <a:r>
              <a:rPr lang="en-GB" dirty="0" err="1"/>
              <a:t>mmssms.db</a:t>
            </a:r>
            <a:r>
              <a:rPr lang="en-GB" dirty="0"/>
              <a:t>` database is a critical component for storing raw SMS and MMS message data on an Android device. The table contains Protocol Data Units (PDUs), which are the encoded format of messages as they are sent over the network. The columns in the `</a:t>
            </a:r>
            <a:r>
              <a:rPr lang="en-GB" dirty="0" err="1"/>
              <a:t>pdu</a:t>
            </a:r>
            <a:r>
              <a:rPr lang="en-GB" dirty="0"/>
              <a:t>` table provide metadata and details about these messages. Let’s break down each column in the table based on the screenshot you provided:</a:t>
            </a:r>
          </a:p>
          <a:p>
            <a:endParaRPr lang="en-GB" dirty="0"/>
          </a:p>
          <a:p>
            <a:r>
              <a:rPr lang="en-GB" dirty="0"/>
              <a:t>---</a:t>
            </a:r>
          </a:p>
          <a:p>
            <a:endParaRPr lang="en-GB" dirty="0"/>
          </a:p>
          <a:p>
            <a:r>
              <a:rPr lang="en-GB" dirty="0"/>
              <a:t>### Columns of the `</a:t>
            </a:r>
            <a:r>
              <a:rPr lang="en-GB" dirty="0" err="1"/>
              <a:t>pdu</a:t>
            </a:r>
            <a:r>
              <a:rPr lang="en-GB" dirty="0"/>
              <a:t>` Table</a:t>
            </a:r>
          </a:p>
          <a:p>
            <a:endParaRPr lang="en-GB" dirty="0"/>
          </a:p>
          <a:p>
            <a:r>
              <a:rPr lang="en-GB" dirty="0"/>
              <a:t>1. **_id**  </a:t>
            </a:r>
          </a:p>
          <a:p>
            <a:r>
              <a:rPr lang="en-GB" dirty="0"/>
              <a:t>   - **Description**: A unique identifier for each row in the `</a:t>
            </a:r>
            <a:r>
              <a:rPr lang="en-GB" dirty="0" err="1"/>
              <a:t>pdu</a:t>
            </a:r>
            <a:r>
              <a:rPr lang="en-GB" dirty="0"/>
              <a:t>` table. This is an auto-incremented primary key used to reference specific messages.  </a:t>
            </a:r>
          </a:p>
          <a:p>
            <a:r>
              <a:rPr lang="en-GB" dirty="0"/>
              <a:t>   - **Example Values**: 1, 2, 3, ..., 7 (as seen in the screenshot).  </a:t>
            </a:r>
          </a:p>
          <a:p>
            <a:r>
              <a:rPr lang="en-GB" dirty="0"/>
              <a:t>   - **Purpose**: Used to uniquely identify a message in the database and link it to other tables (e.g., `part` for MMS messages).</a:t>
            </a:r>
          </a:p>
          <a:p>
            <a:endParaRPr lang="en-GB" dirty="0"/>
          </a:p>
          <a:p>
            <a:r>
              <a:rPr lang="en-GB" dirty="0"/>
              <a:t>2. **</a:t>
            </a:r>
            <a:r>
              <a:rPr lang="en-GB" dirty="0" err="1"/>
              <a:t>thread_id</a:t>
            </a:r>
            <a:r>
              <a:rPr lang="en-GB" dirty="0"/>
              <a:t>**  </a:t>
            </a:r>
          </a:p>
          <a:p>
            <a:r>
              <a:rPr lang="en-GB" dirty="0"/>
              <a:t>   - **Description**: The ID of the conversation thread this message belongs to. It links the message to a specific thread in the `threads` table, which groups messages with the same contact or group of contacts.  </a:t>
            </a:r>
          </a:p>
          <a:p>
            <a:r>
              <a:rPr lang="en-GB" dirty="0"/>
              <a:t>   - **Example Values**: 17 (consistent across all rows in the screenshot).  </a:t>
            </a:r>
          </a:p>
          <a:p>
            <a:r>
              <a:rPr lang="en-GB" dirty="0"/>
              <a:t>   - **Purpose**: Organizes messages into conversations. For example, all messages with `</a:t>
            </a:r>
            <a:r>
              <a:rPr lang="en-GB" dirty="0" err="1"/>
              <a:t>thread_id</a:t>
            </a:r>
            <a:r>
              <a:rPr lang="en-GB" dirty="0"/>
              <a:t>` 17 belong to the same conversation.</a:t>
            </a:r>
          </a:p>
          <a:p>
            <a:endParaRPr lang="en-GB" dirty="0"/>
          </a:p>
          <a:p>
            <a:r>
              <a:rPr lang="en-GB" dirty="0"/>
              <a:t>3. **date**  </a:t>
            </a:r>
          </a:p>
          <a:p>
            <a:r>
              <a:rPr lang="en-GB" dirty="0"/>
              <a:t>   - **Description**: The timestamp when the message was sent or received, stored as a Unix epoch time (in milliseconds).  </a:t>
            </a:r>
          </a:p>
          <a:p>
            <a:r>
              <a:rPr lang="en-GB" dirty="0"/>
              <a:t>   - **Example Values**: 1580587493, 1580587564, 1580587672, etc.  </a:t>
            </a:r>
          </a:p>
          <a:p>
            <a:r>
              <a:rPr lang="en-GB" dirty="0"/>
              <a:t>   - **Purpose**: Indicates when the message was processed. For example, 1580587493 converts to approximately February 1, 2020, 20:44:53 UTC.  </a:t>
            </a:r>
          </a:p>
          <a:p>
            <a:r>
              <a:rPr lang="en-GB" dirty="0"/>
              <a:t>   - **Note**: This timestamp may differ from `</a:t>
            </a:r>
            <a:r>
              <a:rPr lang="en-GB" dirty="0" err="1"/>
              <a:t>date_sent</a:t>
            </a:r>
            <a:r>
              <a:rPr lang="en-GB" dirty="0"/>
              <a:t>` if there’s a delay in receiving the message.</a:t>
            </a:r>
          </a:p>
          <a:p>
            <a:endParaRPr lang="en-GB" dirty="0"/>
          </a:p>
          <a:p>
            <a:r>
              <a:rPr lang="en-GB" dirty="0"/>
              <a:t>4. **</a:t>
            </a:r>
            <a:r>
              <a:rPr lang="en-GB" dirty="0" err="1"/>
              <a:t>date_sent</a:t>
            </a:r>
            <a:r>
              <a:rPr lang="en-GB" dirty="0"/>
              <a:t>**  </a:t>
            </a:r>
          </a:p>
          <a:p>
            <a:r>
              <a:rPr lang="en-GB" dirty="0"/>
              <a:t>   - **Description**: The timestamp when the message was originally sent by the sender, also in Unix epoch time (milliseconds). This is often set by the sender’s device or network.  </a:t>
            </a:r>
          </a:p>
          <a:p>
            <a:r>
              <a:rPr lang="en-GB" dirty="0"/>
              <a:t>   - **Example Values**: 0 (for rows 1, 3, 5), 1580587564 (for row 2), 1580587692 (for row 4), etc.  </a:t>
            </a:r>
          </a:p>
          <a:p>
            <a:r>
              <a:rPr lang="en-GB" dirty="0"/>
              <a:t>   - **Purpose**: Shows the actual time the message was sent, which can differ from `date` if the message was delayed. A value of 0 typically means the message was sent locally (e.g., an outgoing message) and the `date` field is used instead.</a:t>
            </a:r>
          </a:p>
          <a:p>
            <a:endParaRPr lang="en-GB" dirty="0"/>
          </a:p>
          <a:p>
            <a:r>
              <a:rPr lang="en-GB" dirty="0"/>
              <a:t>5. **</a:t>
            </a:r>
            <a:r>
              <a:rPr lang="en-GB" dirty="0" err="1"/>
              <a:t>msg_box</a:t>
            </a:r>
            <a:r>
              <a:rPr lang="en-GB" dirty="0"/>
              <a:t>**  </a:t>
            </a:r>
          </a:p>
          <a:p>
            <a:r>
              <a:rPr lang="en-GB" dirty="0"/>
              <a:t>   - **Description**: Indicates the message’s status or "box" (e.g., inbox, sent, draft). It’s an integer that maps to a specific state:  </a:t>
            </a:r>
          </a:p>
          <a:p>
            <a:r>
              <a:rPr lang="en-GB" dirty="0"/>
              <a:t>     - 1 = Inbox (received message).  </a:t>
            </a:r>
          </a:p>
          <a:p>
            <a:r>
              <a:rPr lang="en-GB" dirty="0"/>
              <a:t>     - 2 = Sent (outgoing message).  </a:t>
            </a:r>
          </a:p>
          <a:p>
            <a:r>
              <a:rPr lang="en-GB" dirty="0"/>
              <a:t>     - 3 = Draft.  </a:t>
            </a:r>
          </a:p>
          <a:p>
            <a:r>
              <a:rPr lang="en-GB" dirty="0"/>
              <a:t>     - 4 = Outbox (queued for sending).  </a:t>
            </a:r>
          </a:p>
          <a:p>
            <a:r>
              <a:rPr lang="en-GB" dirty="0"/>
              <a:t>   - **Example Values**: 2 (for rows 1, 3, 5), 1 (for rows 2, 4, 6, 7).  </a:t>
            </a:r>
          </a:p>
          <a:p>
            <a:r>
              <a:rPr lang="en-GB" dirty="0"/>
              <a:t>   - **Purpose**: Shows whether the message was sent or received. In the screenshot, rows with `</a:t>
            </a:r>
            <a:r>
              <a:rPr lang="en-GB" dirty="0" err="1"/>
              <a:t>msg_box</a:t>
            </a:r>
            <a:r>
              <a:rPr lang="en-GB" dirty="0"/>
              <a:t>` 1 are incoming MMS messages, and those with `</a:t>
            </a:r>
            <a:r>
              <a:rPr lang="en-GB" dirty="0" err="1"/>
              <a:t>msg_box</a:t>
            </a:r>
            <a:r>
              <a:rPr lang="en-GB" dirty="0"/>
              <a:t>` 2 are outgoing MMS messages.</a:t>
            </a:r>
          </a:p>
          <a:p>
            <a:endParaRPr lang="en-GB" dirty="0"/>
          </a:p>
          <a:p>
            <a:r>
              <a:rPr lang="en-GB" dirty="0"/>
              <a:t>6. **read**  </a:t>
            </a:r>
          </a:p>
          <a:p>
            <a:r>
              <a:rPr lang="en-GB" dirty="0"/>
              <a:t>   - **Description**: Indicates whether the message has been read by the user.  </a:t>
            </a:r>
          </a:p>
          <a:p>
            <a:r>
              <a:rPr lang="en-GB" dirty="0"/>
              <a:t>     - 0 = Unread.  </a:t>
            </a:r>
          </a:p>
          <a:p>
            <a:r>
              <a:rPr lang="en-GB" dirty="0"/>
              <a:t>     - 1 = Read.  </a:t>
            </a:r>
          </a:p>
          <a:p>
            <a:r>
              <a:rPr lang="en-GB" dirty="0"/>
              <a:t>   - **Example Values**: 1 (all messages in the screenshot).  </a:t>
            </a:r>
          </a:p>
          <a:p>
            <a:r>
              <a:rPr lang="en-GB" dirty="0"/>
              <a:t>   - **Purpose**: Tracks the read status of the message, useful for displaying unread message notifications in a messaging app.</a:t>
            </a:r>
          </a:p>
          <a:p>
            <a:endParaRPr lang="en-GB" dirty="0"/>
          </a:p>
          <a:p>
            <a:r>
              <a:rPr lang="en-GB" dirty="0"/>
              <a:t>7. **</a:t>
            </a:r>
            <a:r>
              <a:rPr lang="en-GB" dirty="0" err="1"/>
              <a:t>m_id</a:t>
            </a:r>
            <a:r>
              <a:rPr lang="en-GB" dirty="0"/>
              <a:t>**  </a:t>
            </a:r>
          </a:p>
          <a:p>
            <a:r>
              <a:rPr lang="en-GB" dirty="0"/>
              <a:t>   - **Description**: The message ID assigned by the network or carrier for MMS messages. This is a unique identifier for the MMS message on the network.  </a:t>
            </a:r>
          </a:p>
          <a:p>
            <a:r>
              <a:rPr lang="en-GB" dirty="0"/>
              <a:t>   - **Example Values**: NULL (all rows in the screenshot).  </a:t>
            </a:r>
          </a:p>
          <a:p>
            <a:r>
              <a:rPr lang="en-GB" dirty="0"/>
              <a:t>   - **Purpose**: Used to track MMS messages across the network, though it’s often NULL for SMS or if the carrier doesn’t provide this ID.</a:t>
            </a:r>
          </a:p>
          <a:p>
            <a:endParaRPr lang="en-GB" dirty="0"/>
          </a:p>
          <a:p>
            <a:r>
              <a:rPr lang="en-GB" dirty="0"/>
              <a:t>8. **sub**  </a:t>
            </a:r>
          </a:p>
          <a:p>
            <a:r>
              <a:rPr lang="en-GB" dirty="0"/>
              <a:t>   - **Description**: The subject of the MMS message, if any. SMS messages typically don’t have a subject, so this is usually relevant for MMS.  </a:t>
            </a:r>
          </a:p>
          <a:p>
            <a:r>
              <a:rPr lang="en-GB" dirty="0"/>
              <a:t>   - **Example Values**: NULL (for rows 1, 3, 5), 106 (for rows 2, 4, 6, 7).  </a:t>
            </a:r>
          </a:p>
          <a:p>
            <a:r>
              <a:rPr lang="en-GB" dirty="0"/>
              <a:t>   - **Purpose**: Stores the subject line of an MMS message. The value 106 might be a placeholder or encoded value, but typically, this would be a string if a subject exists.</a:t>
            </a:r>
          </a:p>
          <a:p>
            <a:endParaRPr lang="en-GB" dirty="0"/>
          </a:p>
          <a:p>
            <a:r>
              <a:rPr lang="en-GB" dirty="0"/>
              <a:t>9. **</a:t>
            </a:r>
            <a:r>
              <a:rPr lang="en-GB" dirty="0" err="1"/>
              <a:t>sub_cs</a:t>
            </a:r>
            <a:r>
              <a:rPr lang="en-GB" dirty="0"/>
              <a:t>**  </a:t>
            </a:r>
          </a:p>
          <a:p>
            <a:r>
              <a:rPr lang="en-GB" dirty="0"/>
              <a:t>   - **Description**: The character set (charset) used for the `sub` (subject) field, such as UTF-8 or another encoding standard.  </a:t>
            </a:r>
          </a:p>
          <a:p>
            <a:r>
              <a:rPr lang="en-GB" dirty="0"/>
              <a:t>   - **Example Values**: NULL (all rows in the screenshot).  </a:t>
            </a:r>
          </a:p>
          <a:p>
            <a:r>
              <a:rPr lang="en-GB" dirty="0"/>
              <a:t>   - **Purpose**: Specifies the encoding of the subject, but it’s often NULL if there’s no subject or if the default encoding is assumed.</a:t>
            </a:r>
          </a:p>
          <a:p>
            <a:endParaRPr lang="en-GB" dirty="0"/>
          </a:p>
          <a:p>
            <a:r>
              <a:rPr lang="en-GB" dirty="0"/>
              <a:t>10. **</a:t>
            </a:r>
            <a:r>
              <a:rPr lang="en-GB" dirty="0" err="1"/>
              <a:t>ct_t</a:t>
            </a:r>
            <a:r>
              <a:rPr lang="en-GB" dirty="0"/>
              <a:t>**  </a:t>
            </a:r>
          </a:p>
          <a:p>
            <a:r>
              <a:rPr lang="en-GB" dirty="0"/>
              <a:t>    - **Description**: The content type of the message, typically for MMS messages. This indicates the MIME type of the message’s primary content.  </a:t>
            </a:r>
          </a:p>
          <a:p>
            <a:r>
              <a:rPr lang="en-GB" dirty="0"/>
              <a:t>    - **Example Values**: `application/</a:t>
            </a:r>
            <a:r>
              <a:rPr lang="en-GB" dirty="0" err="1"/>
              <a:t>vnd.wap.multipart.related</a:t>
            </a:r>
            <a:r>
              <a:rPr lang="en-GB" dirty="0"/>
              <a:t>` (for rows 1, 3, 5), NULL (for rows 2, 4, 6, 7).  </a:t>
            </a:r>
          </a:p>
          <a:p>
            <a:r>
              <a:rPr lang="en-GB" dirty="0"/>
              <a:t>    - **Purpose**: Specifies the format of the MMS message. `application/</a:t>
            </a:r>
            <a:r>
              <a:rPr lang="en-GB" dirty="0" err="1"/>
              <a:t>vnd.wap.multipart.related</a:t>
            </a:r>
            <a:r>
              <a:rPr lang="en-GB" dirty="0"/>
              <a:t>` indicates a multipart MMS message (e.g., containing text and media). NULL values might indicate SMS messages or messages without a specified content type.</a:t>
            </a:r>
          </a:p>
          <a:p>
            <a:endParaRPr lang="en-GB" dirty="0"/>
          </a:p>
          <a:p>
            <a:r>
              <a:rPr lang="en-GB" dirty="0"/>
              <a:t>11. **</a:t>
            </a:r>
            <a:r>
              <a:rPr lang="en-GB" dirty="0" err="1"/>
              <a:t>ct_l</a:t>
            </a:r>
            <a:r>
              <a:rPr lang="en-GB" dirty="0"/>
              <a:t>**  </a:t>
            </a:r>
          </a:p>
          <a:p>
            <a:r>
              <a:rPr lang="en-GB" dirty="0"/>
              <a:t>    - **Description**: The content location, often a URL or reference to where the MMS content can be retrieved (e.g., from a carrier’s server).  </a:t>
            </a:r>
          </a:p>
          <a:p>
            <a:r>
              <a:rPr lang="en-GB" dirty="0"/>
              <a:t>    - **Example Values**: NULL (all rows in the screenshot).  </a:t>
            </a:r>
          </a:p>
          <a:p>
            <a:r>
              <a:rPr lang="en-GB" dirty="0"/>
              <a:t>    - **Purpose**: Used for MMS messages to point to external content, but it’s often NULL if the content is stored locally in the `part` table.</a:t>
            </a:r>
          </a:p>
          <a:p>
            <a:endParaRPr lang="en-GB" dirty="0"/>
          </a:p>
          <a:p>
            <a:r>
              <a:rPr lang="en-GB" dirty="0"/>
              <a:t>12. **exp**  </a:t>
            </a:r>
          </a:p>
          <a:p>
            <a:r>
              <a:rPr lang="en-GB" dirty="0"/>
              <a:t>    - **Description**: The expiration time of the MMS message, set by the network or sender, in Unix epoch time (milliseconds). After this time, the message may no longer be available for retrieval.  </a:t>
            </a:r>
          </a:p>
          <a:p>
            <a:r>
              <a:rPr lang="en-GB" dirty="0"/>
              <a:t>    - **Example Values**: 604800 (for rows 1, 3, 5), NULL (for rows 2, 4, 6, 7).  </a:t>
            </a:r>
          </a:p>
          <a:p>
            <a:r>
              <a:rPr lang="en-GB" dirty="0"/>
              <a:t>    - **Purpose**: Indicates how long the MMS message is valid. 604800 milliseconds = 7 days, a common expiration period for MMS messages on a carrier’s server.</a:t>
            </a:r>
          </a:p>
          <a:p>
            <a:endParaRPr lang="en-GB" dirty="0"/>
          </a:p>
          <a:p>
            <a:r>
              <a:rPr lang="en-GB" dirty="0"/>
              <a:t>13. **</a:t>
            </a:r>
            <a:r>
              <a:rPr lang="en-GB" dirty="0" err="1"/>
              <a:t>m_cls</a:t>
            </a:r>
            <a:r>
              <a:rPr lang="en-GB" dirty="0"/>
              <a:t>**  </a:t>
            </a:r>
          </a:p>
          <a:p>
            <a:r>
              <a:rPr lang="en-GB" dirty="0"/>
              <a:t>    - **Description**: The message class, which categorizes the type of MMS message. Common values include:  </a:t>
            </a:r>
          </a:p>
          <a:p>
            <a:r>
              <a:rPr lang="en-GB" dirty="0"/>
              <a:t>      - "personal" = A standard MMS message.  </a:t>
            </a:r>
          </a:p>
          <a:p>
            <a:r>
              <a:rPr lang="en-GB" dirty="0"/>
              <a:t>      - "advertisement" = An ad message.  </a:t>
            </a:r>
          </a:p>
          <a:p>
            <a:r>
              <a:rPr lang="en-GB" dirty="0"/>
              <a:t>      - "informational" = A notification or alert.  </a:t>
            </a:r>
          </a:p>
          <a:p>
            <a:r>
              <a:rPr lang="en-GB" dirty="0"/>
              <a:t>    - **Example Values**: "personal" (for rows 1, 3, 5), NULL (for rows 2, 4, 6, 7).  </a:t>
            </a:r>
          </a:p>
          <a:p>
            <a:r>
              <a:rPr lang="en-GB" dirty="0"/>
              <a:t>    - **Purpose**: Classifies the MMS message’s purpose. In the screenshot, rows 1, 3, and 5 are personal MMS messages.</a:t>
            </a:r>
          </a:p>
          <a:p>
            <a:endParaRPr lang="en-GB" dirty="0"/>
          </a:p>
          <a:p>
            <a:r>
              <a:rPr lang="en-GB" dirty="0"/>
              <a:t>14. **</a:t>
            </a:r>
            <a:r>
              <a:rPr lang="en-GB" dirty="0" err="1"/>
              <a:t>m_type</a:t>
            </a:r>
            <a:r>
              <a:rPr lang="en-GB" dirty="0"/>
              <a:t>**  </a:t>
            </a:r>
          </a:p>
          <a:p>
            <a:r>
              <a:rPr lang="en-GB" dirty="0"/>
              <a:t>    - **Description**: The MMS message type, represented as an integer. Common values include:  </a:t>
            </a:r>
          </a:p>
          <a:p>
            <a:r>
              <a:rPr lang="en-GB" dirty="0"/>
              <a:t>      - 128 = MMS notification (indicating an MMS is available to download).  </a:t>
            </a:r>
          </a:p>
          <a:p>
            <a:r>
              <a:rPr lang="en-GB" dirty="0"/>
              <a:t>      - 130 = MMS delivery report.  </a:t>
            </a:r>
          </a:p>
          <a:p>
            <a:r>
              <a:rPr lang="en-GB" dirty="0"/>
              <a:t>      - 132 = MMS message (the actual message).  </a:t>
            </a:r>
          </a:p>
          <a:p>
            <a:r>
              <a:rPr lang="en-GB" dirty="0"/>
              <a:t>    - **Example Values**: 128 (for rows 1, 3, 5), 132 (for rows 2, 4, 6, 7).  </a:t>
            </a:r>
          </a:p>
          <a:p>
            <a:r>
              <a:rPr lang="en-GB" dirty="0"/>
              <a:t>    - **Purpose**: Specifies the type of MMS message. In the screenshot, rows 1, 3, and 5 are notifications (128), meaning they indicate an MMS is available to download, while rows 2, 4, 6, and 7 are actual MMS messages (132).</a:t>
            </a:r>
          </a:p>
          <a:p>
            <a:endParaRPr lang="en-GB" dirty="0"/>
          </a:p>
          <a:p>
            <a:r>
              <a:rPr lang="en-GB" dirty="0"/>
              <a:t>15. **v**  </a:t>
            </a:r>
          </a:p>
          <a:p>
            <a:r>
              <a:rPr lang="en-GB" dirty="0"/>
              <a:t>    - **Description**: The MMS protocol version, typically a number indicating the MMS standard used (e.g., 1.0, 1.1).  </a:t>
            </a:r>
          </a:p>
          <a:p>
            <a:r>
              <a:rPr lang="en-GB" dirty="0"/>
              <a:t>    - **Example Values**: 18 (for rows 1, 3, 5), NULL (for rows 2, 4, 6, 7).  </a:t>
            </a:r>
          </a:p>
          <a:p>
            <a:r>
              <a:rPr lang="en-GB" dirty="0"/>
              <a:t>    - **Purpose**: Indicates the MMS protocol version for compatibility. The value 18 likely corresponds to a specific MMS version (e.g., 1.8).</a:t>
            </a:r>
          </a:p>
          <a:p>
            <a:endParaRPr lang="en-GB" dirty="0"/>
          </a:p>
          <a:p>
            <a:r>
              <a:rPr lang="en-GB" dirty="0"/>
              <a:t>16. **</a:t>
            </a:r>
            <a:r>
              <a:rPr lang="en-GB" dirty="0" err="1"/>
              <a:t>m_size</a:t>
            </a:r>
            <a:r>
              <a:rPr lang="en-GB" dirty="0"/>
              <a:t>**  </a:t>
            </a:r>
          </a:p>
          <a:p>
            <a:r>
              <a:rPr lang="en-GB" dirty="0"/>
              <a:t>    - **Description**: The size of the MMS message in bytes, as reported by the network.  </a:t>
            </a:r>
          </a:p>
          <a:p>
            <a:r>
              <a:rPr lang="en-GB" dirty="0"/>
              <a:t>    - **Example Values**: 15, 47, 61 (for rows 1, 3, 5), NULL (for rows 2, 4, 6, 7).  </a:t>
            </a:r>
          </a:p>
          <a:p>
            <a:r>
              <a:rPr lang="en-GB" dirty="0"/>
              <a:t>    - **Purpose**: Indicates the size of the MMS message, useful for knowing how much data needs to be downloaded. NULL values might indicate SMS messages or messages already downloaded.</a:t>
            </a:r>
          </a:p>
          <a:p>
            <a:endParaRPr lang="en-GB" dirty="0"/>
          </a:p>
          <a:p>
            <a:r>
              <a:rPr lang="en-GB" dirty="0"/>
              <a:t>---</a:t>
            </a:r>
          </a:p>
          <a:p>
            <a:endParaRPr lang="en-GB" dirty="0"/>
          </a:p>
          <a:p>
            <a:r>
              <a:rPr lang="en-GB" dirty="0"/>
              <a:t>### Observations from the Screenshot</a:t>
            </a:r>
          </a:p>
          <a:p>
            <a:r>
              <a:rPr lang="en-GB" dirty="0"/>
              <a:t>- **Message Types**: The `</a:t>
            </a:r>
            <a:r>
              <a:rPr lang="en-GB" dirty="0" err="1"/>
              <a:t>pdu</a:t>
            </a:r>
            <a:r>
              <a:rPr lang="en-GB" dirty="0"/>
              <a:t>` table contains both MMS notifications (`</a:t>
            </a:r>
            <a:r>
              <a:rPr lang="en-GB" dirty="0" err="1"/>
              <a:t>m_type</a:t>
            </a:r>
            <a:r>
              <a:rPr lang="en-GB" dirty="0"/>
              <a:t>` = 128) and actual MMS messages (`</a:t>
            </a:r>
            <a:r>
              <a:rPr lang="en-GB" dirty="0" err="1"/>
              <a:t>m_type</a:t>
            </a:r>
            <a:r>
              <a:rPr lang="en-GB" dirty="0"/>
              <a:t>` = 132). Rows 1, 3, and 5 are notifications (likely indicating MMS messages available to download), while rows 2, 4, 6, and 7 are the actual MMS messages.</a:t>
            </a:r>
          </a:p>
          <a:p>
            <a:r>
              <a:rPr lang="en-GB" dirty="0"/>
              <a:t>- **Thread Consistency**: All messages belong to the same thread (`</a:t>
            </a:r>
            <a:r>
              <a:rPr lang="en-GB" dirty="0" err="1"/>
              <a:t>thread_id</a:t>
            </a:r>
            <a:r>
              <a:rPr lang="en-GB" dirty="0"/>
              <a:t>` = 17), meaning they are part of the same conversation.</a:t>
            </a:r>
          </a:p>
          <a:p>
            <a:r>
              <a:rPr lang="en-GB" dirty="0"/>
              <a:t>- **Timestamps**: The `date` and `</a:t>
            </a:r>
            <a:r>
              <a:rPr lang="en-GB" dirty="0" err="1"/>
              <a:t>date_sent</a:t>
            </a:r>
            <a:r>
              <a:rPr lang="en-GB" dirty="0"/>
              <a:t>` columns show the messages were sent/received around February 1, 2020. The `</a:t>
            </a:r>
            <a:r>
              <a:rPr lang="en-GB" dirty="0" err="1"/>
              <a:t>date_sent</a:t>
            </a:r>
            <a:r>
              <a:rPr lang="en-GB" dirty="0"/>
              <a:t>` being 0 for some rows suggests those are outgoing messages.</a:t>
            </a:r>
          </a:p>
          <a:p>
            <a:r>
              <a:rPr lang="en-GB" dirty="0"/>
              <a:t>- **Read Status**: All messages have been read (`read` = 1).</a:t>
            </a:r>
          </a:p>
          <a:p>
            <a:r>
              <a:rPr lang="en-GB" dirty="0"/>
              <a:t>- **MMS Details**: Rows 1, 3, and 5 have MMS-specific metadata like `</a:t>
            </a:r>
            <a:r>
              <a:rPr lang="en-GB" dirty="0" err="1"/>
              <a:t>ct_t</a:t>
            </a:r>
            <a:r>
              <a:rPr lang="en-GB" dirty="0"/>
              <a:t>`, `exp`, `</a:t>
            </a:r>
            <a:r>
              <a:rPr lang="en-GB" dirty="0" err="1"/>
              <a:t>m_cls</a:t>
            </a:r>
            <a:r>
              <a:rPr lang="en-GB" dirty="0"/>
              <a:t>`, `</a:t>
            </a:r>
            <a:r>
              <a:rPr lang="en-GB" dirty="0" err="1"/>
              <a:t>m_type</a:t>
            </a:r>
            <a:r>
              <a:rPr lang="en-GB" dirty="0"/>
              <a:t>`, `v`, and `</a:t>
            </a:r>
            <a:r>
              <a:rPr lang="en-GB" dirty="0" err="1"/>
              <a:t>m_size</a:t>
            </a:r>
            <a:r>
              <a:rPr lang="en-GB" dirty="0"/>
              <a:t>`, indicating they are MMS notifications. Rows 2, 4, 6, and 7 lack these details, suggesting they might be the downloaded MMS messages or SMS messages.</a:t>
            </a:r>
          </a:p>
          <a:p>
            <a:endParaRPr lang="en-GB" dirty="0"/>
          </a:p>
          <a:p>
            <a:r>
              <a:rPr lang="en-GB" dirty="0"/>
              <a:t>---</a:t>
            </a:r>
          </a:p>
          <a:p>
            <a:endParaRPr lang="en-GB" dirty="0"/>
          </a:p>
          <a:p>
            <a:r>
              <a:rPr lang="en-GB" dirty="0"/>
              <a:t>### Summary</a:t>
            </a:r>
          </a:p>
          <a:p>
            <a:r>
              <a:rPr lang="en-GB" dirty="0"/>
              <a:t>The `</a:t>
            </a:r>
            <a:r>
              <a:rPr lang="en-GB" dirty="0" err="1"/>
              <a:t>pdu</a:t>
            </a:r>
            <a:r>
              <a:rPr lang="en-GB" dirty="0"/>
              <a:t>` table’s columns collectively store metadata and raw data for SMS and MMS messages. Key columns like `_id`, `</a:t>
            </a:r>
            <a:r>
              <a:rPr lang="en-GB" dirty="0" err="1"/>
              <a:t>thread_id</a:t>
            </a:r>
            <a:r>
              <a:rPr lang="en-GB" dirty="0"/>
              <a:t>`, `date`, `</a:t>
            </a:r>
            <a:r>
              <a:rPr lang="en-GB" dirty="0" err="1"/>
              <a:t>msg_box</a:t>
            </a:r>
            <a:r>
              <a:rPr lang="en-GB" dirty="0"/>
              <a:t>`, and `</a:t>
            </a:r>
            <a:r>
              <a:rPr lang="en-GB" dirty="0" err="1"/>
              <a:t>m_type</a:t>
            </a:r>
            <a:r>
              <a:rPr lang="en-GB" dirty="0"/>
              <a:t>` provide the core information about the message’s identity, conversation, timing, status, and type. MMS-specific columns like `</a:t>
            </a:r>
            <a:r>
              <a:rPr lang="en-GB" dirty="0" err="1"/>
              <a:t>ct_t</a:t>
            </a:r>
            <a:r>
              <a:rPr lang="en-GB" dirty="0"/>
              <a:t>`, `exp`, `</a:t>
            </a:r>
            <a:r>
              <a:rPr lang="en-GB" dirty="0" err="1"/>
              <a:t>m_cls</a:t>
            </a:r>
            <a:r>
              <a:rPr lang="en-GB" dirty="0"/>
              <a:t>`, and `</a:t>
            </a:r>
            <a:r>
              <a:rPr lang="en-GB" dirty="0" err="1"/>
              <a:t>m_size</a:t>
            </a:r>
            <a:r>
              <a:rPr lang="en-GB" dirty="0"/>
              <a:t>` add details for multimedia messages, while columns like `sub` and `</a:t>
            </a:r>
            <a:r>
              <a:rPr lang="en-GB" dirty="0" err="1"/>
              <a:t>ct_l</a:t>
            </a:r>
            <a:r>
              <a:rPr lang="en-GB" dirty="0"/>
              <a:t>` are often unused or NULL for most messages. This structure allows the Android system to manage and display messages efficiently while providing enough data for forensic analysis or app development. </a:t>
            </a:r>
          </a:p>
          <a:p>
            <a:endParaRPr lang="en-GB" dirty="0"/>
          </a:p>
          <a:p>
            <a:endParaRPr lang="en-GB" dirty="0"/>
          </a:p>
          <a:p>
            <a:r>
              <a:rPr lang="en-GB" dirty="0"/>
              <a:t>The first part of the table included columns like `_id`, `</a:t>
            </a:r>
            <a:r>
              <a:rPr lang="en-GB" dirty="0" err="1"/>
              <a:t>thread_id</a:t>
            </a:r>
            <a:r>
              <a:rPr lang="en-GB" dirty="0"/>
              <a:t>`, `date`, `</a:t>
            </a:r>
            <a:r>
              <a:rPr lang="en-GB" dirty="0" err="1"/>
              <a:t>date_sent</a:t>
            </a:r>
            <a:r>
              <a:rPr lang="en-GB" dirty="0"/>
              <a:t>`, `</a:t>
            </a:r>
            <a:r>
              <a:rPr lang="en-GB" dirty="0" err="1"/>
              <a:t>msg_box</a:t>
            </a:r>
            <a:r>
              <a:rPr lang="en-GB" dirty="0"/>
              <a:t>`, `read`, `</a:t>
            </a:r>
            <a:r>
              <a:rPr lang="en-GB" dirty="0" err="1"/>
              <a:t>m_id</a:t>
            </a:r>
            <a:r>
              <a:rPr lang="en-GB" dirty="0"/>
              <a:t>`, `sub`, `</a:t>
            </a:r>
            <a:r>
              <a:rPr lang="en-GB" dirty="0" err="1"/>
              <a:t>sub_cs</a:t>
            </a:r>
            <a:r>
              <a:rPr lang="en-GB" dirty="0"/>
              <a:t>`, `</a:t>
            </a:r>
            <a:r>
              <a:rPr lang="en-GB" dirty="0" err="1"/>
              <a:t>ct_t</a:t>
            </a:r>
            <a:r>
              <a:rPr lang="en-GB" dirty="0"/>
              <a:t>`, `</a:t>
            </a:r>
            <a:r>
              <a:rPr lang="en-GB" dirty="0" err="1"/>
              <a:t>ct_l</a:t>
            </a:r>
            <a:r>
              <a:rPr lang="en-GB" dirty="0"/>
              <a:t>`, `exp`, `</a:t>
            </a:r>
            <a:r>
              <a:rPr lang="en-GB" dirty="0" err="1"/>
              <a:t>m_cls</a:t>
            </a:r>
            <a:r>
              <a:rPr lang="en-GB" dirty="0"/>
              <a:t>`, `</a:t>
            </a:r>
            <a:r>
              <a:rPr lang="en-GB" dirty="0" err="1"/>
              <a:t>m_type</a:t>
            </a:r>
            <a:r>
              <a:rPr lang="en-GB" dirty="0"/>
              <a:t>`, `v`, and `</a:t>
            </a:r>
            <a:r>
              <a:rPr lang="en-GB" dirty="0" err="1"/>
              <a:t>m_size</a:t>
            </a:r>
            <a:r>
              <a:rPr lang="en-GB" dirty="0"/>
              <a:t>`. The screenshot shows additional columns for the same rows (1 through 7). Let’s </a:t>
            </a:r>
            <a:r>
              <a:rPr lang="en-GB" dirty="0" err="1"/>
              <a:t>analyze</a:t>
            </a:r>
            <a:r>
              <a:rPr lang="en-GB" dirty="0"/>
              <a:t> these new columns and explain their purpose.</a:t>
            </a:r>
          </a:p>
          <a:p>
            <a:endParaRPr lang="en-GB" dirty="0"/>
          </a:p>
          <a:p>
            <a:r>
              <a:rPr lang="en-GB" dirty="0"/>
              <a:t>---</a:t>
            </a:r>
          </a:p>
          <a:p>
            <a:endParaRPr lang="en-GB" dirty="0"/>
          </a:p>
          <a:p>
            <a:r>
              <a:rPr lang="en-GB" dirty="0"/>
              <a:t>### Columns of the `</a:t>
            </a:r>
            <a:r>
              <a:rPr lang="en-GB" dirty="0" err="1"/>
              <a:t>pdu</a:t>
            </a:r>
            <a:r>
              <a:rPr lang="en-GB" dirty="0"/>
              <a:t>` Table (Second Part)</a:t>
            </a:r>
          </a:p>
          <a:p>
            <a:endParaRPr lang="en-GB" dirty="0"/>
          </a:p>
          <a:p>
            <a:r>
              <a:rPr lang="en-GB" dirty="0"/>
              <a:t>Based on the screenshot, the columns visible are:</a:t>
            </a:r>
          </a:p>
          <a:p>
            <a:endParaRPr lang="en-GB" dirty="0"/>
          </a:p>
          <a:p>
            <a:r>
              <a:rPr lang="en-GB" dirty="0"/>
              <a:t>1. **</a:t>
            </a:r>
            <a:r>
              <a:rPr lang="en-GB" dirty="0" err="1"/>
              <a:t>pri</a:t>
            </a:r>
            <a:r>
              <a:rPr lang="en-GB" dirty="0"/>
              <a:t>**  </a:t>
            </a:r>
          </a:p>
          <a:p>
            <a:r>
              <a:rPr lang="en-GB" dirty="0"/>
              <a:t>   - **Description**: The priority of the MMS message, as set by the sender or network. Common values include:  </a:t>
            </a:r>
          </a:p>
          <a:p>
            <a:r>
              <a:rPr lang="en-GB" dirty="0"/>
              <a:t>     - 129 = Low priority.  </a:t>
            </a:r>
          </a:p>
          <a:p>
            <a:r>
              <a:rPr lang="en-GB" dirty="0"/>
              <a:t>     - 130 = Normal priority (default).  </a:t>
            </a:r>
          </a:p>
          <a:p>
            <a:r>
              <a:rPr lang="en-GB" dirty="0"/>
              <a:t>     - 131 = High priority.  </a:t>
            </a:r>
          </a:p>
          <a:p>
            <a:r>
              <a:rPr lang="en-GB" dirty="0"/>
              <a:t>   - **Example Values**: 130 (for rows 1, 3, 5), NULL (for rows 2, 4, 6, 7).  </a:t>
            </a:r>
          </a:p>
          <a:p>
            <a:r>
              <a:rPr lang="en-GB" dirty="0"/>
              <a:t>   - **Purpose**: Indicates the urgency of the MMS message. In the screenshot, rows 1, 3, and 5 (MMS notifications) have a normal priority (130), while the other rows (actual MMS messages) have no priority specified (NULL), which is typical for downloaded messages or SMS.</a:t>
            </a:r>
          </a:p>
          <a:p>
            <a:endParaRPr lang="en-GB" dirty="0"/>
          </a:p>
          <a:p>
            <a:r>
              <a:rPr lang="en-GB" dirty="0"/>
              <a:t>2. **</a:t>
            </a:r>
            <a:r>
              <a:rPr lang="en-GB" dirty="0" err="1"/>
              <a:t>rr</a:t>
            </a:r>
            <a:r>
              <a:rPr lang="en-GB" dirty="0"/>
              <a:t>**  </a:t>
            </a:r>
          </a:p>
          <a:p>
            <a:r>
              <a:rPr lang="en-GB" dirty="0"/>
              <a:t>   - **Description**: The read report request flag for MMS messages. It indicates whether the sender requested a read receipt (a notification that the recipient has read the message).  </a:t>
            </a:r>
          </a:p>
          <a:p>
            <a:r>
              <a:rPr lang="en-GB" dirty="0"/>
              <a:t>     - 128 = Read report requested.  </a:t>
            </a:r>
          </a:p>
          <a:p>
            <a:r>
              <a:rPr lang="en-GB" dirty="0"/>
              <a:t>     - NULL or other values = No read report requested.  </a:t>
            </a:r>
          </a:p>
          <a:p>
            <a:r>
              <a:rPr lang="en-GB" dirty="0"/>
              <a:t>   - **Example Values**: NULL (all rows in the screenshot).  </a:t>
            </a:r>
          </a:p>
          <a:p>
            <a:r>
              <a:rPr lang="en-GB" dirty="0"/>
              <a:t>   - **Purpose**: Shows if the sender asked for a read receipt. In this case, no read reports were requested for any of the messages.</a:t>
            </a:r>
          </a:p>
          <a:p>
            <a:endParaRPr lang="en-GB" dirty="0"/>
          </a:p>
          <a:p>
            <a:r>
              <a:rPr lang="en-GB" dirty="0"/>
              <a:t>3. **</a:t>
            </a:r>
            <a:r>
              <a:rPr lang="en-GB" dirty="0" err="1"/>
              <a:t>rpt_a</a:t>
            </a:r>
            <a:r>
              <a:rPr lang="en-GB" dirty="0"/>
              <a:t>**  </a:t>
            </a:r>
          </a:p>
          <a:p>
            <a:r>
              <a:rPr lang="en-GB" dirty="0"/>
              <a:t>   - **Description**: The report allowed flag for MMS messages. It indicates whether the recipient’s device is allowed to send delivery or read reports back to the sender.  </a:t>
            </a:r>
          </a:p>
          <a:p>
            <a:r>
              <a:rPr lang="en-GB" dirty="0"/>
              <a:t>     - 129 = Reports allowed.  </a:t>
            </a:r>
          </a:p>
          <a:p>
            <a:r>
              <a:rPr lang="en-GB" dirty="0"/>
              <a:t>     - NULL or other values = Reports not allowed or not specified.  </a:t>
            </a:r>
          </a:p>
          <a:p>
            <a:r>
              <a:rPr lang="en-GB" dirty="0"/>
              <a:t>   - **Example Values**: NULL (all rows in the screenshot).  </a:t>
            </a:r>
          </a:p>
          <a:p>
            <a:r>
              <a:rPr lang="en-GB" dirty="0"/>
              <a:t>   - **Purpose**: Controls whether the device can send delivery/read reports. Since all values are NULL, this feature is either not used or not supported for these messages.</a:t>
            </a:r>
          </a:p>
          <a:p>
            <a:endParaRPr lang="en-GB" dirty="0"/>
          </a:p>
          <a:p>
            <a:r>
              <a:rPr lang="en-GB" dirty="0"/>
              <a:t>4. **</a:t>
            </a:r>
            <a:r>
              <a:rPr lang="en-GB" dirty="0" err="1"/>
              <a:t>resp_st</a:t>
            </a:r>
            <a:r>
              <a:rPr lang="en-GB" dirty="0"/>
              <a:t>**  </a:t>
            </a:r>
          </a:p>
          <a:p>
            <a:r>
              <a:rPr lang="en-GB" dirty="0"/>
              <a:t>   - **Description**: The response status for MMS messages, typically used in delivery or read reports to indicate the status of the message (e.g., successfully delivered, failed).  </a:t>
            </a:r>
          </a:p>
          <a:p>
            <a:r>
              <a:rPr lang="en-GB" dirty="0"/>
              <a:t>     - Common values depend on the MMS standard, but examples include:  </a:t>
            </a:r>
          </a:p>
          <a:p>
            <a:r>
              <a:rPr lang="en-GB" dirty="0"/>
              <a:t>       - 128 = OK (successful).  </a:t>
            </a:r>
          </a:p>
          <a:p>
            <a:r>
              <a:rPr lang="en-GB" dirty="0"/>
              <a:t>       - Other values for errors (e.g., 192 = Error: Unspecified).  </a:t>
            </a:r>
          </a:p>
          <a:p>
            <a:r>
              <a:rPr lang="en-GB" dirty="0"/>
              <a:t>   - **Example Values**: NULL (all rows in the screenshot).  </a:t>
            </a:r>
          </a:p>
          <a:p>
            <a:r>
              <a:rPr lang="en-GB" dirty="0"/>
              <a:t>   - **Purpose**: Stores the status of a delivery or read report. Since all values are NULL, no such reports are associated with these messages.</a:t>
            </a:r>
          </a:p>
          <a:p>
            <a:endParaRPr lang="en-GB" dirty="0"/>
          </a:p>
          <a:p>
            <a:r>
              <a:rPr lang="en-GB" dirty="0"/>
              <a:t>5. **</a:t>
            </a:r>
            <a:r>
              <a:rPr lang="en-GB" dirty="0" err="1"/>
              <a:t>st</a:t>
            </a:r>
            <a:r>
              <a:rPr lang="en-GB" dirty="0"/>
              <a:t>**  </a:t>
            </a:r>
          </a:p>
          <a:p>
            <a:r>
              <a:rPr lang="en-GB" dirty="0"/>
              <a:t>   - **Description**: The status of the MMS message, often used for MMS notifications to indicate the retrieval status.  </a:t>
            </a:r>
          </a:p>
          <a:p>
            <a:r>
              <a:rPr lang="en-GB" dirty="0"/>
              <a:t>     - Common values include:  </a:t>
            </a:r>
          </a:p>
          <a:p>
            <a:r>
              <a:rPr lang="en-GB" dirty="0"/>
              <a:t>       - 128 = Retrieved (message successfully downloaded).  </a:t>
            </a:r>
          </a:p>
          <a:p>
            <a:r>
              <a:rPr lang="en-GB" dirty="0"/>
              <a:t>       - 130 = Deferred (message retrieval deferred).  </a:t>
            </a:r>
          </a:p>
          <a:p>
            <a:r>
              <a:rPr lang="en-GB" dirty="0"/>
              <a:t>       - 132 = Unrecognized (e.g., unsupported content).  </a:t>
            </a:r>
          </a:p>
          <a:p>
            <a:r>
              <a:rPr lang="en-GB" dirty="0"/>
              <a:t>   - **Example Values**: NULL (all rows in the screenshot).  </a:t>
            </a:r>
          </a:p>
          <a:p>
            <a:r>
              <a:rPr lang="en-GB" dirty="0"/>
              <a:t>   - **Purpose**: Indicates the retrieval status of an MMS message. Since all values are NULL, this field isn’t being used here, possibly because the messages are already downloaded or are SMS.</a:t>
            </a:r>
          </a:p>
          <a:p>
            <a:endParaRPr lang="en-GB" dirty="0"/>
          </a:p>
          <a:p>
            <a:r>
              <a:rPr lang="en-GB" dirty="0"/>
              <a:t>6. **</a:t>
            </a:r>
            <a:r>
              <a:rPr lang="en-GB" dirty="0" err="1"/>
              <a:t>tr_id</a:t>
            </a:r>
            <a:r>
              <a:rPr lang="en-GB" dirty="0"/>
              <a:t>**  </a:t>
            </a:r>
          </a:p>
          <a:p>
            <a:r>
              <a:rPr lang="en-GB" dirty="0"/>
              <a:t>   - **Description**: The transaction ID for MMS messages, a unique identifier assigned by the network to track the MMS transaction (e.g., sending, retrieving).  </a:t>
            </a:r>
          </a:p>
          <a:p>
            <a:r>
              <a:rPr lang="en-GB" dirty="0"/>
              <a:t>   - **Example Values**: Strings like "T5e2c2f5c2a2b2e2", "T5e2c2f5c2a2b2e4", etc. (for rows 1, 3, 5), NULL (for rows 2, 4, 6, 7).  </a:t>
            </a:r>
          </a:p>
          <a:p>
            <a:r>
              <a:rPr lang="en-GB" dirty="0"/>
              <a:t>   - **Purpose**: Used to correlate MMS messages with network transactions, such as matching a notification with its retrieval. Rows 1, 3, and 5 (MMS notifications) have transaction IDs, while the actual MMS messages (rows 2, 4, 6, 7) do not, as they are already retrieved.</a:t>
            </a:r>
          </a:p>
          <a:p>
            <a:endParaRPr lang="en-GB" dirty="0"/>
          </a:p>
          <a:p>
            <a:r>
              <a:rPr lang="en-GB" dirty="0"/>
              <a:t>7. **</a:t>
            </a:r>
            <a:r>
              <a:rPr lang="en-GB" dirty="0" err="1"/>
              <a:t>retr_st</a:t>
            </a:r>
            <a:r>
              <a:rPr lang="en-GB" dirty="0"/>
              <a:t>**  </a:t>
            </a:r>
          </a:p>
          <a:p>
            <a:r>
              <a:rPr lang="en-GB" dirty="0"/>
              <a:t>   - **Description**: The retrieval status of the MMS message, indicating whether the message was successfully retrieved from the server.  </a:t>
            </a:r>
          </a:p>
          <a:p>
            <a:r>
              <a:rPr lang="en-GB" dirty="0"/>
              <a:t>     - 128 = Retrieved successfully.  </a:t>
            </a:r>
          </a:p>
          <a:p>
            <a:r>
              <a:rPr lang="en-GB" dirty="0"/>
              <a:t>     - Other values for errors (e.g., 192 = Error: Unspecified).  </a:t>
            </a:r>
          </a:p>
          <a:p>
            <a:r>
              <a:rPr lang="en-GB" dirty="0"/>
              <a:t>   - **Example Values**: NULL (all rows in the screenshot).  </a:t>
            </a:r>
          </a:p>
          <a:p>
            <a:r>
              <a:rPr lang="en-GB" dirty="0"/>
              <a:t>   - **Purpose**: Tracks whether the MMS content was successfully downloaded. Since all values are NULL, this field isn’t populated, possibly because the retrieval status is tracked elsewhere (e.g., in the `</a:t>
            </a:r>
            <a:r>
              <a:rPr lang="en-GB" dirty="0" err="1"/>
              <a:t>st</a:t>
            </a:r>
            <a:r>
              <a:rPr lang="en-GB" dirty="0"/>
              <a:t>` column or another table).</a:t>
            </a:r>
          </a:p>
          <a:p>
            <a:endParaRPr lang="en-GB" dirty="0"/>
          </a:p>
          <a:p>
            <a:r>
              <a:rPr lang="en-GB" dirty="0"/>
              <a:t>8. **</a:t>
            </a:r>
            <a:r>
              <a:rPr lang="en-GB" dirty="0" err="1"/>
              <a:t>retr_txt</a:t>
            </a:r>
            <a:r>
              <a:rPr lang="en-GB" dirty="0"/>
              <a:t>**  </a:t>
            </a:r>
          </a:p>
          <a:p>
            <a:r>
              <a:rPr lang="en-GB" dirty="0"/>
              <a:t>   - **Description**: The retrieval text, a human-readable message associated with the retrieval status (e.g., an error message if retrieval failed).  </a:t>
            </a:r>
          </a:p>
          <a:p>
            <a:r>
              <a:rPr lang="en-GB" dirty="0"/>
              <a:t>   - **Example Values**: NULL (all rows in the screenshot).  </a:t>
            </a:r>
          </a:p>
          <a:p>
            <a:r>
              <a:rPr lang="en-GB" dirty="0"/>
              <a:t>   - **Purpose**: Provides additional details about the retrieval status. Since all values are NULL, no retrieval errors or messages are recorded here.</a:t>
            </a:r>
          </a:p>
          <a:p>
            <a:endParaRPr lang="en-GB" dirty="0"/>
          </a:p>
          <a:p>
            <a:r>
              <a:rPr lang="en-GB" dirty="0"/>
              <a:t>9. **</a:t>
            </a:r>
            <a:r>
              <a:rPr lang="en-GB" dirty="0" err="1"/>
              <a:t>retr_txt_cs</a:t>
            </a:r>
            <a:r>
              <a:rPr lang="en-GB" dirty="0"/>
              <a:t>**  </a:t>
            </a:r>
          </a:p>
          <a:p>
            <a:r>
              <a:rPr lang="en-GB" dirty="0"/>
              <a:t>   - **Description**: The character set (charset) used for the `</a:t>
            </a:r>
            <a:r>
              <a:rPr lang="en-GB" dirty="0" err="1"/>
              <a:t>retr_txt</a:t>
            </a:r>
            <a:r>
              <a:rPr lang="en-GB" dirty="0"/>
              <a:t>` field, such as UTF-8 or another encoding standard.  </a:t>
            </a:r>
          </a:p>
          <a:p>
            <a:r>
              <a:rPr lang="en-GB" dirty="0"/>
              <a:t>   - **Example Values**: NULL (all rows in the screenshot).  </a:t>
            </a:r>
          </a:p>
          <a:p>
            <a:r>
              <a:rPr lang="en-GB" dirty="0"/>
              <a:t>   - **Purpose**: Specifies the encoding of the `</a:t>
            </a:r>
            <a:r>
              <a:rPr lang="en-GB" dirty="0" err="1"/>
              <a:t>retr_txt</a:t>
            </a:r>
            <a:r>
              <a:rPr lang="en-GB" dirty="0"/>
              <a:t>` field. Since `</a:t>
            </a:r>
            <a:r>
              <a:rPr lang="en-GB" dirty="0" err="1"/>
              <a:t>retr_txt</a:t>
            </a:r>
            <a:r>
              <a:rPr lang="en-GB" dirty="0"/>
              <a:t>` is NULL, this field is also NULL.</a:t>
            </a:r>
          </a:p>
          <a:p>
            <a:endParaRPr lang="en-GB" dirty="0"/>
          </a:p>
          <a:p>
            <a:r>
              <a:rPr lang="en-GB" dirty="0"/>
              <a:t>10. **</a:t>
            </a:r>
            <a:r>
              <a:rPr lang="en-GB" dirty="0" err="1"/>
              <a:t>read_status</a:t>
            </a:r>
            <a:r>
              <a:rPr lang="en-GB" dirty="0"/>
              <a:t>**  </a:t>
            </a:r>
          </a:p>
          <a:p>
            <a:r>
              <a:rPr lang="en-GB" dirty="0"/>
              <a:t>    - **Description**: The read status for MMS messages, specifically for read reports.  </a:t>
            </a:r>
          </a:p>
          <a:p>
            <a:r>
              <a:rPr lang="en-GB" dirty="0"/>
              <a:t>      - 128 = Read.  </a:t>
            </a:r>
          </a:p>
          <a:p>
            <a:r>
              <a:rPr lang="en-GB" dirty="0"/>
              <a:t>      - 130 = Not read.  </a:t>
            </a:r>
          </a:p>
          <a:p>
            <a:r>
              <a:rPr lang="en-GB" dirty="0"/>
              <a:t>      - NULL = No read report requested or available.  </a:t>
            </a:r>
          </a:p>
          <a:p>
            <a:r>
              <a:rPr lang="en-GB" dirty="0"/>
              <a:t>    - **Example Values**: NULL (all rows in the screenshot).  </a:t>
            </a:r>
          </a:p>
          <a:p>
            <a:r>
              <a:rPr lang="en-GB" dirty="0"/>
              <a:t>    - **Purpose**: Indicates whether the recipient has read the MMS message, as part of a read report. Since all values are NULL, no read reports are associated with these messages.</a:t>
            </a:r>
          </a:p>
          <a:p>
            <a:endParaRPr lang="en-GB" dirty="0"/>
          </a:p>
          <a:p>
            <a:r>
              <a:rPr lang="en-GB" dirty="0"/>
              <a:t>11. **</a:t>
            </a:r>
            <a:r>
              <a:rPr lang="en-GB" dirty="0" err="1"/>
              <a:t>d_tm</a:t>
            </a:r>
            <a:r>
              <a:rPr lang="en-GB" dirty="0"/>
              <a:t>**  </a:t>
            </a:r>
          </a:p>
          <a:p>
            <a:r>
              <a:rPr lang="en-GB" dirty="0"/>
              <a:t>    - **Description**: The delivery time of the MMS message, in Unix epoch time (milliseconds). This is the time when the message was delivered to the recipient’s device.  </a:t>
            </a:r>
          </a:p>
          <a:p>
            <a:r>
              <a:rPr lang="en-GB" dirty="0"/>
              <a:t>    - **Example Values**: NULL (all rows in the screenshot).  </a:t>
            </a:r>
          </a:p>
          <a:p>
            <a:r>
              <a:rPr lang="en-GB" dirty="0"/>
              <a:t>    - **Purpose**: Tracks when the MMS message was delivered. Since all values are NULL, this field isn’t used here, possibly because delivery times are tracked elsewhere (e.g., in the `date` column).</a:t>
            </a:r>
          </a:p>
          <a:p>
            <a:endParaRPr lang="en-GB" dirty="0"/>
          </a:p>
          <a:p>
            <a:r>
              <a:rPr lang="en-GB" dirty="0"/>
              <a:t>12. **</a:t>
            </a:r>
            <a:r>
              <a:rPr lang="en-GB" dirty="0" err="1"/>
              <a:t>d_rpt</a:t>
            </a:r>
            <a:r>
              <a:rPr lang="en-GB" dirty="0"/>
              <a:t>**  </a:t>
            </a:r>
          </a:p>
          <a:p>
            <a:r>
              <a:rPr lang="en-GB" dirty="0"/>
              <a:t>    - **Description**: The delivery report request flag for MMS messages. It indicates whether the sender requested a delivery report (a notification that the message was delivered).  </a:t>
            </a:r>
          </a:p>
          <a:p>
            <a:r>
              <a:rPr lang="en-GB" dirty="0"/>
              <a:t>      - 129 = Delivery report requested.  </a:t>
            </a:r>
          </a:p>
          <a:p>
            <a:r>
              <a:rPr lang="en-GB" dirty="0"/>
              <a:t>      - NULL or other values = No delivery report requested.  </a:t>
            </a:r>
          </a:p>
          <a:p>
            <a:r>
              <a:rPr lang="en-GB" dirty="0"/>
              <a:t>    - **Example Values**: 129 (for rows 1, 3, 5), NULL (for rows 2, 4, 6, 7).  </a:t>
            </a:r>
          </a:p>
          <a:p>
            <a:r>
              <a:rPr lang="en-GB" dirty="0"/>
              <a:t>    - **Purpose**: Shows if the sender requested a delivery report. Rows 1, 3, and 5 (MMS notifications) have delivery reports requested, while the other rows do not.</a:t>
            </a:r>
          </a:p>
          <a:p>
            <a:endParaRPr lang="en-GB" dirty="0"/>
          </a:p>
          <a:p>
            <a:r>
              <a:rPr lang="en-GB" dirty="0"/>
              <a:t>13. **locked**  </a:t>
            </a:r>
          </a:p>
          <a:p>
            <a:r>
              <a:rPr lang="en-GB" dirty="0"/>
              <a:t>    - **Description**: Indicates whether the message is locked by the user, preventing it from being deleted (e.g., in the messaging app).  </a:t>
            </a:r>
          </a:p>
          <a:p>
            <a:r>
              <a:rPr lang="en-GB" dirty="0"/>
              <a:t>      - 0 = Not locked.  </a:t>
            </a:r>
          </a:p>
          <a:p>
            <a:r>
              <a:rPr lang="en-GB" dirty="0"/>
              <a:t>      - 1 = Locked.  </a:t>
            </a:r>
          </a:p>
          <a:p>
            <a:r>
              <a:rPr lang="en-GB" dirty="0"/>
              <a:t>    - **Example Values**: 0 (all rows in the screenshot).  </a:t>
            </a:r>
          </a:p>
          <a:p>
            <a:r>
              <a:rPr lang="en-GB" dirty="0"/>
              <a:t>    - **Purpose**: Protects important messages from being deleted. In this case, none of the messages are locked.</a:t>
            </a:r>
          </a:p>
          <a:p>
            <a:endParaRPr lang="en-GB" dirty="0"/>
          </a:p>
          <a:p>
            <a:r>
              <a:rPr lang="en-GB" dirty="0"/>
              <a:t>14. **</a:t>
            </a:r>
            <a:r>
              <a:rPr lang="en-GB" dirty="0" err="1"/>
              <a:t>sub_id</a:t>
            </a:r>
            <a:r>
              <a:rPr lang="en-GB" dirty="0"/>
              <a:t>**  </a:t>
            </a:r>
          </a:p>
          <a:p>
            <a:r>
              <a:rPr lang="en-GB" dirty="0"/>
              <a:t>    - **Description**: The subscription ID, which identifies the SIM card or subscription used for this message (useful for dual-SIM devices).  </a:t>
            </a:r>
          </a:p>
          <a:p>
            <a:r>
              <a:rPr lang="en-GB" dirty="0"/>
              <a:t>    - **Example Values**: 1 (all rows in the screenshot).  </a:t>
            </a:r>
          </a:p>
          <a:p>
            <a:r>
              <a:rPr lang="en-GB" dirty="0"/>
              <a:t>    - **Purpose**: Associates the message with a specific SIM card or subscription. A value of 1 indicates the message was sent/received using the primary SIM.</a:t>
            </a:r>
          </a:p>
          <a:p>
            <a:endParaRPr lang="en-GB" dirty="0"/>
          </a:p>
          <a:p>
            <a:r>
              <a:rPr lang="en-GB" dirty="0"/>
              <a:t>15. **seen**  </a:t>
            </a:r>
          </a:p>
          <a:p>
            <a:r>
              <a:rPr lang="en-GB" dirty="0"/>
              <a:t>    - **Description**: Indicates whether the message has been seen by the user (e.g., displayed in the messaging app).  </a:t>
            </a:r>
          </a:p>
          <a:p>
            <a:r>
              <a:rPr lang="en-GB" dirty="0"/>
              <a:t>      - 0 = Not seen.  </a:t>
            </a:r>
          </a:p>
          <a:p>
            <a:r>
              <a:rPr lang="en-GB" dirty="0"/>
              <a:t>      - 1 = Seen.  </a:t>
            </a:r>
          </a:p>
          <a:p>
            <a:r>
              <a:rPr lang="en-GB" dirty="0"/>
              <a:t>    - **Example Values**: 1 (all rows in the screenshot).  </a:t>
            </a:r>
          </a:p>
          <a:p>
            <a:r>
              <a:rPr lang="en-GB" dirty="0"/>
              <a:t>    - **Purpose**: Tracks whether the message has been viewed, which can differ from `read` (e.g., a message might be seen in a notification but not marked as read). All messages here have been seen.</a:t>
            </a:r>
          </a:p>
          <a:p>
            <a:endParaRPr lang="en-GB" dirty="0"/>
          </a:p>
          <a:p>
            <a:r>
              <a:rPr lang="en-GB" dirty="0"/>
              <a:t>16. **creator**  </a:t>
            </a:r>
          </a:p>
          <a:p>
            <a:r>
              <a:rPr lang="en-GB" dirty="0"/>
              <a:t>    - **Description**: The package name of the app that created or inserted this message into the database.  </a:t>
            </a:r>
          </a:p>
          <a:p>
            <a:r>
              <a:rPr lang="en-GB" dirty="0"/>
              <a:t>    - **Example Values**: NULL (all rows in the screenshot).  </a:t>
            </a:r>
          </a:p>
          <a:p>
            <a:r>
              <a:rPr lang="en-GB" dirty="0"/>
              <a:t>    - **Purpose**: Identifies the app responsible for the message (e.g., the default messaging app). Since all values are NULL, this field isn’t populated, possibly because the default system app was used.</a:t>
            </a:r>
          </a:p>
          <a:p>
            <a:endParaRPr lang="en-GB" dirty="0"/>
          </a:p>
          <a:p>
            <a:r>
              <a:rPr lang="en-GB" dirty="0"/>
              <a:t>17. **</a:t>
            </a:r>
            <a:r>
              <a:rPr lang="en-GB" dirty="0" err="1"/>
              <a:t>text_only</a:t>
            </a:r>
            <a:r>
              <a:rPr lang="en-GB" dirty="0"/>
              <a:t>**  </a:t>
            </a:r>
          </a:p>
          <a:p>
            <a:r>
              <a:rPr lang="en-GB" dirty="0"/>
              <a:t>    - **Description**: Indicates whether the MMS message contains only text (no multimedia).  </a:t>
            </a:r>
          </a:p>
          <a:p>
            <a:r>
              <a:rPr lang="en-GB" dirty="0"/>
              <a:t>      - 0 = Contains multimedia (e.g., images, videos).  </a:t>
            </a:r>
          </a:p>
          <a:p>
            <a:r>
              <a:rPr lang="en-GB" dirty="0"/>
              <a:t>      - 1 = Text only.  </a:t>
            </a:r>
          </a:p>
          <a:p>
            <a:r>
              <a:rPr lang="en-GB" dirty="0"/>
              <a:t>    - **Example Values**: 0 (all rows in the screenshot).  </a:t>
            </a:r>
          </a:p>
          <a:p>
            <a:r>
              <a:rPr lang="en-GB" dirty="0"/>
              <a:t>    - **Purpose**: Helps the system quickly determine if the MMS message is text-only or includes media. All messages here include multimedia (likely because they are MMS messages).</a:t>
            </a:r>
          </a:p>
          <a:p>
            <a:endParaRPr lang="en-GB" dirty="0"/>
          </a:p>
          <a:p>
            <a:r>
              <a:rPr lang="en-GB" dirty="0"/>
              <a:t>---</a:t>
            </a:r>
          </a:p>
          <a:p>
            <a:endParaRPr lang="en-GB" dirty="0"/>
          </a:p>
          <a:p>
            <a:r>
              <a:rPr lang="en-GB" dirty="0"/>
              <a:t>### Observations from the Screenshot</a:t>
            </a:r>
          </a:p>
          <a:p>
            <a:r>
              <a:rPr lang="en-GB" dirty="0"/>
              <a:t>- **MMS Notifications vs. Actual Messages**: As seen in the first part of the table, rows 1, 3, and 5 are MMS notifications (`</a:t>
            </a:r>
            <a:r>
              <a:rPr lang="en-GB" dirty="0" err="1"/>
              <a:t>m_type</a:t>
            </a:r>
            <a:r>
              <a:rPr lang="en-GB" dirty="0"/>
              <a:t>` = 128), and rows 2, 4, 6, and 7 are actual MMS messages (`</a:t>
            </a:r>
            <a:r>
              <a:rPr lang="en-GB" dirty="0" err="1"/>
              <a:t>m_type</a:t>
            </a:r>
            <a:r>
              <a:rPr lang="en-GB" dirty="0"/>
              <a:t>` = 132). This is reflected in the second part:  </a:t>
            </a:r>
          </a:p>
          <a:p>
            <a:r>
              <a:rPr lang="en-GB" dirty="0"/>
              <a:t>  - Rows 1, 3, and 5 have MMS-specific fields populated, like `</a:t>
            </a:r>
            <a:r>
              <a:rPr lang="en-GB" dirty="0" err="1"/>
              <a:t>pri</a:t>
            </a:r>
            <a:r>
              <a:rPr lang="en-GB" dirty="0"/>
              <a:t>` (130), `</a:t>
            </a:r>
            <a:r>
              <a:rPr lang="en-GB" dirty="0" err="1"/>
              <a:t>tr_id</a:t>
            </a:r>
            <a:r>
              <a:rPr lang="en-GB" dirty="0"/>
              <a:t>` (transaction IDs), and `</a:t>
            </a:r>
            <a:r>
              <a:rPr lang="en-GB" dirty="0" err="1"/>
              <a:t>d_rpt</a:t>
            </a:r>
            <a:r>
              <a:rPr lang="en-GB" dirty="0"/>
              <a:t>` (129).  </a:t>
            </a:r>
          </a:p>
          <a:p>
            <a:r>
              <a:rPr lang="en-GB" dirty="0"/>
              <a:t>  - Rows 2, 4, 6, and 7 have mostly NULL values for MMS-specific fields, as they are likely the downloaded messages.</a:t>
            </a:r>
          </a:p>
          <a:p>
            <a:r>
              <a:rPr lang="en-GB" dirty="0"/>
              <a:t>- **Delivery Reports**: Rows 1, 3, and 5 have `</a:t>
            </a:r>
            <a:r>
              <a:rPr lang="en-GB" dirty="0" err="1"/>
              <a:t>d_rpt</a:t>
            </a:r>
            <a:r>
              <a:rPr lang="en-GB" dirty="0"/>
              <a:t>` set to 129, meaning the sender requested delivery reports for these MMS messages.</a:t>
            </a:r>
          </a:p>
          <a:p>
            <a:r>
              <a:rPr lang="en-GB" dirty="0"/>
              <a:t>- **No Read Reports**: Fields like `</a:t>
            </a:r>
            <a:r>
              <a:rPr lang="en-GB" dirty="0" err="1"/>
              <a:t>rr</a:t>
            </a:r>
            <a:r>
              <a:rPr lang="en-GB" dirty="0"/>
              <a:t>`, `</a:t>
            </a:r>
            <a:r>
              <a:rPr lang="en-GB" dirty="0" err="1"/>
              <a:t>read_status</a:t>
            </a:r>
            <a:r>
              <a:rPr lang="en-GB" dirty="0"/>
              <a:t>`, and `</a:t>
            </a:r>
            <a:r>
              <a:rPr lang="en-GB" dirty="0" err="1"/>
              <a:t>rpt_a</a:t>
            </a:r>
            <a:r>
              <a:rPr lang="en-GB" dirty="0"/>
              <a:t>` are all NULL, indicating no read reports were requested or sent.</a:t>
            </a:r>
          </a:p>
          <a:p>
            <a:r>
              <a:rPr lang="en-GB" dirty="0"/>
              <a:t>- **Message Status**: All messages are unlocked (`locked` = 0), seen (`seen` = 1), and associated with the primary SIM (`</a:t>
            </a:r>
            <a:r>
              <a:rPr lang="en-GB" dirty="0" err="1"/>
              <a:t>sub_id</a:t>
            </a:r>
            <a:r>
              <a:rPr lang="en-GB" dirty="0"/>
              <a:t>` = 1).</a:t>
            </a:r>
          </a:p>
          <a:p>
            <a:r>
              <a:rPr lang="en-GB" dirty="0"/>
              <a:t>- **Multimedia Content**: The `</a:t>
            </a:r>
            <a:r>
              <a:rPr lang="en-GB" dirty="0" err="1"/>
              <a:t>text_only</a:t>
            </a:r>
            <a:r>
              <a:rPr lang="en-GB" dirty="0"/>
              <a:t>` field is 0 for all rows, confirming that these MMS messages contain multimedia (e.g., images, videos), which aligns with their `</a:t>
            </a:r>
            <a:r>
              <a:rPr lang="en-GB" dirty="0" err="1"/>
              <a:t>m_type</a:t>
            </a:r>
            <a:r>
              <a:rPr lang="en-GB" dirty="0"/>
              <a:t>` and `</a:t>
            </a:r>
            <a:r>
              <a:rPr lang="en-GB" dirty="0" err="1"/>
              <a:t>ct_t</a:t>
            </a:r>
            <a:r>
              <a:rPr lang="en-GB" dirty="0"/>
              <a:t>` values from the first part.</a:t>
            </a:r>
          </a:p>
          <a:p>
            <a:endParaRPr lang="en-GB" dirty="0"/>
          </a:p>
          <a:p>
            <a:r>
              <a:rPr lang="en-GB" dirty="0"/>
              <a:t>---</a:t>
            </a:r>
          </a:p>
          <a:p>
            <a:endParaRPr lang="en-GB" dirty="0"/>
          </a:p>
          <a:p>
            <a:r>
              <a:rPr lang="en-GB" dirty="0"/>
              <a:t>### Summary</a:t>
            </a:r>
          </a:p>
          <a:p>
            <a:r>
              <a:rPr lang="en-GB" dirty="0"/>
              <a:t>The second part of the `</a:t>
            </a:r>
            <a:r>
              <a:rPr lang="en-GB" dirty="0" err="1"/>
              <a:t>pdu</a:t>
            </a:r>
            <a:r>
              <a:rPr lang="en-GB" dirty="0"/>
              <a:t>` table provides additional metadata for MMS messages, focusing on message priority, delivery/read report settings, transaction tracking, and user interaction flags. Key columns like `</a:t>
            </a:r>
            <a:r>
              <a:rPr lang="en-GB" dirty="0" err="1"/>
              <a:t>pri</a:t>
            </a:r>
            <a:r>
              <a:rPr lang="en-GB" dirty="0"/>
              <a:t>`, `</a:t>
            </a:r>
            <a:r>
              <a:rPr lang="en-GB" dirty="0" err="1"/>
              <a:t>tr_id</a:t>
            </a:r>
            <a:r>
              <a:rPr lang="en-GB" dirty="0"/>
              <a:t>`, and `</a:t>
            </a:r>
            <a:r>
              <a:rPr lang="en-GB" dirty="0" err="1"/>
              <a:t>d_rpt</a:t>
            </a:r>
            <a:r>
              <a:rPr lang="en-GB" dirty="0"/>
              <a:t>` are relevant for MMS notifications (rows 1, 3, 5), while columns like `locked`, `seen`, `</a:t>
            </a:r>
            <a:r>
              <a:rPr lang="en-GB" dirty="0" err="1"/>
              <a:t>sub_id</a:t>
            </a:r>
            <a:r>
              <a:rPr lang="en-GB" dirty="0"/>
              <a:t>`, and `</a:t>
            </a:r>
            <a:r>
              <a:rPr lang="en-GB" dirty="0" err="1"/>
              <a:t>text_only</a:t>
            </a:r>
            <a:r>
              <a:rPr lang="en-GB" dirty="0"/>
              <a:t>` provide general metadata for all messages. Most MMS-specific fields (e.g., `</a:t>
            </a:r>
            <a:r>
              <a:rPr lang="en-GB" dirty="0" err="1"/>
              <a:t>rr</a:t>
            </a:r>
            <a:r>
              <a:rPr lang="en-GB" dirty="0"/>
              <a:t>`, `</a:t>
            </a:r>
            <a:r>
              <a:rPr lang="en-GB" dirty="0" err="1"/>
              <a:t>retr_st</a:t>
            </a:r>
            <a:r>
              <a:rPr lang="en-GB" dirty="0"/>
              <a:t>`, `</a:t>
            </a:r>
            <a:r>
              <a:rPr lang="en-GB" dirty="0" err="1"/>
              <a:t>d_tm</a:t>
            </a:r>
            <a:r>
              <a:rPr lang="en-GB" dirty="0"/>
              <a:t>`) are NULL, indicating they aren’t used in this dataset, possibly because the messages are already downloaded or no reports were requested. This structure helps the Android system manage MMS message workflows while providing enough data for forensic analysis or app development. If you’d like to explore a specific row or column further, let me know!</a:t>
            </a:r>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41</a:t>
            </a:fld>
            <a:endParaRPr lang="en-US"/>
          </a:p>
        </p:txBody>
      </p:sp>
    </p:spTree>
    <p:extLst>
      <p:ext uri="{BB962C8B-B14F-4D97-AF65-F5344CB8AC3E}">
        <p14:creationId xmlns:p14="http://schemas.microsoft.com/office/powerpoint/2010/main" val="1154848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2EE4B-F86C-3D2D-5840-F54CC42704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F3DF2A-DC0D-44A6-93A9-FBDCF9D391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466D72-F671-3228-12B8-68745B68F5D0}"/>
              </a:ext>
            </a:extLst>
          </p:cNvPr>
          <p:cNvSpPr>
            <a:spLocks noGrp="1"/>
          </p:cNvSpPr>
          <p:nvPr>
            <p:ph type="body" idx="1"/>
          </p:nvPr>
        </p:nvSpPr>
        <p:spPr/>
        <p:txBody>
          <a:bodyPr/>
          <a:lstStyle/>
          <a:p>
            <a:r>
              <a:rPr lang="en-GB" dirty="0"/>
              <a:t>The `</a:t>
            </a:r>
            <a:r>
              <a:rPr lang="en-GB" dirty="0" err="1"/>
              <a:t>pdu</a:t>
            </a:r>
            <a:r>
              <a:rPr lang="en-GB" dirty="0"/>
              <a:t>` table in the `</a:t>
            </a:r>
            <a:r>
              <a:rPr lang="en-GB" dirty="0" err="1"/>
              <a:t>mmssms.db</a:t>
            </a:r>
            <a:r>
              <a:rPr lang="en-GB" dirty="0"/>
              <a:t>` database is a critical component for storing raw SMS and MMS message data on an Android device. The table contains Protocol Data Units (PDUs), which are the encoded format of messages as they are sent over the network. The columns in the `</a:t>
            </a:r>
            <a:r>
              <a:rPr lang="en-GB" dirty="0" err="1"/>
              <a:t>pdu</a:t>
            </a:r>
            <a:r>
              <a:rPr lang="en-GB" dirty="0"/>
              <a:t>` table provide metadata and details about these messages. Let’s break down each column in the table based on the screenshot you provided:</a:t>
            </a:r>
          </a:p>
          <a:p>
            <a:endParaRPr lang="en-GB" dirty="0"/>
          </a:p>
          <a:p>
            <a:r>
              <a:rPr lang="en-GB" dirty="0"/>
              <a:t>---</a:t>
            </a:r>
          </a:p>
          <a:p>
            <a:endParaRPr lang="en-GB" dirty="0"/>
          </a:p>
          <a:p>
            <a:r>
              <a:rPr lang="en-GB" dirty="0"/>
              <a:t>### Columns of the `</a:t>
            </a:r>
            <a:r>
              <a:rPr lang="en-GB" dirty="0" err="1"/>
              <a:t>pdu</a:t>
            </a:r>
            <a:r>
              <a:rPr lang="en-GB" dirty="0"/>
              <a:t>` Table</a:t>
            </a:r>
          </a:p>
          <a:p>
            <a:endParaRPr lang="en-GB" dirty="0"/>
          </a:p>
          <a:p>
            <a:r>
              <a:rPr lang="en-GB" dirty="0"/>
              <a:t>1. **_id**  </a:t>
            </a:r>
          </a:p>
          <a:p>
            <a:r>
              <a:rPr lang="en-GB" dirty="0"/>
              <a:t>   - **Description**: A unique identifier for each row in the `</a:t>
            </a:r>
            <a:r>
              <a:rPr lang="en-GB" dirty="0" err="1"/>
              <a:t>pdu</a:t>
            </a:r>
            <a:r>
              <a:rPr lang="en-GB" dirty="0"/>
              <a:t>` table. This is an auto-incremented primary key used to reference specific messages.  </a:t>
            </a:r>
          </a:p>
          <a:p>
            <a:r>
              <a:rPr lang="en-GB" dirty="0"/>
              <a:t>   - **Example Values**: 1, 2, 3, ..., 7 (as seen in the screenshot).  </a:t>
            </a:r>
          </a:p>
          <a:p>
            <a:r>
              <a:rPr lang="en-GB" dirty="0"/>
              <a:t>   - **Purpose**: Used to uniquely identify a message in the database and link it to other tables (e.g., `part` for MMS messages).</a:t>
            </a:r>
          </a:p>
          <a:p>
            <a:endParaRPr lang="en-GB" dirty="0"/>
          </a:p>
          <a:p>
            <a:r>
              <a:rPr lang="en-GB" dirty="0"/>
              <a:t>2. **</a:t>
            </a:r>
            <a:r>
              <a:rPr lang="en-GB" dirty="0" err="1"/>
              <a:t>thread_id</a:t>
            </a:r>
            <a:r>
              <a:rPr lang="en-GB" dirty="0"/>
              <a:t>**  </a:t>
            </a:r>
          </a:p>
          <a:p>
            <a:r>
              <a:rPr lang="en-GB" dirty="0"/>
              <a:t>   - **Description**: The ID of the conversation thread this message belongs to. It links the message to a specific thread in the `threads` table, which groups messages with the same contact or group of contacts.  </a:t>
            </a:r>
          </a:p>
          <a:p>
            <a:r>
              <a:rPr lang="en-GB" dirty="0"/>
              <a:t>   - **Example Values**: 17 (consistent across all rows in the screenshot).  </a:t>
            </a:r>
          </a:p>
          <a:p>
            <a:r>
              <a:rPr lang="en-GB" dirty="0"/>
              <a:t>   - **Purpose**: Organizes messages into conversations. For example, all messages with `</a:t>
            </a:r>
            <a:r>
              <a:rPr lang="en-GB" dirty="0" err="1"/>
              <a:t>thread_id</a:t>
            </a:r>
            <a:r>
              <a:rPr lang="en-GB" dirty="0"/>
              <a:t>` 17 belong to the same conversation.</a:t>
            </a:r>
          </a:p>
          <a:p>
            <a:endParaRPr lang="en-GB" dirty="0"/>
          </a:p>
          <a:p>
            <a:r>
              <a:rPr lang="en-GB" dirty="0"/>
              <a:t>3. **date**  </a:t>
            </a:r>
          </a:p>
          <a:p>
            <a:r>
              <a:rPr lang="en-GB" dirty="0"/>
              <a:t>   - **Description**: The timestamp when the message was sent or received, stored as a Unix epoch time (in milliseconds).  </a:t>
            </a:r>
          </a:p>
          <a:p>
            <a:r>
              <a:rPr lang="en-GB" dirty="0"/>
              <a:t>   - **Example Values**: 1580587493, 1580587564, 1580587672, etc.  </a:t>
            </a:r>
          </a:p>
          <a:p>
            <a:r>
              <a:rPr lang="en-GB" dirty="0"/>
              <a:t>   - **Purpose**: Indicates when the message was processed. For example, 1580587493 converts to approximately February 1, 2020, 20:44:53 UTC.  </a:t>
            </a:r>
          </a:p>
          <a:p>
            <a:r>
              <a:rPr lang="en-GB" dirty="0"/>
              <a:t>   - **Note**: This timestamp may differ from `</a:t>
            </a:r>
            <a:r>
              <a:rPr lang="en-GB" dirty="0" err="1"/>
              <a:t>date_sent</a:t>
            </a:r>
            <a:r>
              <a:rPr lang="en-GB" dirty="0"/>
              <a:t>` if there’s a delay in receiving the message.</a:t>
            </a:r>
          </a:p>
          <a:p>
            <a:endParaRPr lang="en-GB" dirty="0"/>
          </a:p>
          <a:p>
            <a:r>
              <a:rPr lang="en-GB" dirty="0"/>
              <a:t>4. **</a:t>
            </a:r>
            <a:r>
              <a:rPr lang="en-GB" dirty="0" err="1"/>
              <a:t>date_sent</a:t>
            </a:r>
            <a:r>
              <a:rPr lang="en-GB" dirty="0"/>
              <a:t>**  </a:t>
            </a:r>
          </a:p>
          <a:p>
            <a:r>
              <a:rPr lang="en-GB" dirty="0"/>
              <a:t>   - **Description**: The timestamp when the message was originally sent by the sender, also in Unix epoch time (milliseconds). This is often set by the sender’s device or network.  </a:t>
            </a:r>
          </a:p>
          <a:p>
            <a:r>
              <a:rPr lang="en-GB" dirty="0"/>
              <a:t>   - **Example Values**: 0 (for rows 1, 3, 5), 1580587564 (for row 2), 1580587692 (for row 4), etc.  </a:t>
            </a:r>
          </a:p>
          <a:p>
            <a:r>
              <a:rPr lang="en-GB" dirty="0"/>
              <a:t>   - **Purpose**: Shows the actual time the message was sent, which can differ from `date` if the message was delayed. A value of 0 typically means the message was sent locally (e.g., an outgoing message) and the `date` field is used instead.</a:t>
            </a:r>
          </a:p>
          <a:p>
            <a:endParaRPr lang="en-GB" dirty="0"/>
          </a:p>
          <a:p>
            <a:r>
              <a:rPr lang="en-GB" dirty="0"/>
              <a:t>5. **</a:t>
            </a:r>
            <a:r>
              <a:rPr lang="en-GB" dirty="0" err="1"/>
              <a:t>msg_box</a:t>
            </a:r>
            <a:r>
              <a:rPr lang="en-GB" dirty="0"/>
              <a:t>**  </a:t>
            </a:r>
          </a:p>
          <a:p>
            <a:r>
              <a:rPr lang="en-GB" dirty="0"/>
              <a:t>   - **Description**: Indicates the message’s status or "box" (e.g., inbox, sent, draft). It’s an integer that maps to a specific state:  </a:t>
            </a:r>
          </a:p>
          <a:p>
            <a:r>
              <a:rPr lang="en-GB" dirty="0"/>
              <a:t>     - 1 = Inbox (received message).  </a:t>
            </a:r>
          </a:p>
          <a:p>
            <a:r>
              <a:rPr lang="en-GB" dirty="0"/>
              <a:t>     - 2 = Sent (outgoing message).  </a:t>
            </a:r>
          </a:p>
          <a:p>
            <a:r>
              <a:rPr lang="en-GB" dirty="0"/>
              <a:t>     - 3 = Draft.  </a:t>
            </a:r>
          </a:p>
          <a:p>
            <a:r>
              <a:rPr lang="en-GB" dirty="0"/>
              <a:t>     - 4 = Outbox (queued for sending).  </a:t>
            </a:r>
          </a:p>
          <a:p>
            <a:r>
              <a:rPr lang="en-GB" dirty="0"/>
              <a:t>   - **Example Values**: 2 (for rows 1, 3, 5), 1 (for rows 2, 4, 6, 7).  </a:t>
            </a:r>
          </a:p>
          <a:p>
            <a:r>
              <a:rPr lang="en-GB" dirty="0"/>
              <a:t>   - **Purpose**: Shows whether the message was sent or received. In the screenshot, rows with `</a:t>
            </a:r>
            <a:r>
              <a:rPr lang="en-GB" dirty="0" err="1"/>
              <a:t>msg_box</a:t>
            </a:r>
            <a:r>
              <a:rPr lang="en-GB" dirty="0"/>
              <a:t>` 1 are incoming MMS messages, and those with `</a:t>
            </a:r>
            <a:r>
              <a:rPr lang="en-GB" dirty="0" err="1"/>
              <a:t>msg_box</a:t>
            </a:r>
            <a:r>
              <a:rPr lang="en-GB" dirty="0"/>
              <a:t>` 2 are outgoing MMS messages.</a:t>
            </a:r>
          </a:p>
          <a:p>
            <a:endParaRPr lang="en-GB" dirty="0"/>
          </a:p>
          <a:p>
            <a:r>
              <a:rPr lang="en-GB" dirty="0"/>
              <a:t>6. **read**  </a:t>
            </a:r>
          </a:p>
          <a:p>
            <a:r>
              <a:rPr lang="en-GB" dirty="0"/>
              <a:t>   - **Description**: Indicates whether the message has been read by the user.  </a:t>
            </a:r>
          </a:p>
          <a:p>
            <a:r>
              <a:rPr lang="en-GB" dirty="0"/>
              <a:t>     - 0 = Unread.  </a:t>
            </a:r>
          </a:p>
          <a:p>
            <a:r>
              <a:rPr lang="en-GB" dirty="0"/>
              <a:t>     - 1 = Read.  </a:t>
            </a:r>
          </a:p>
          <a:p>
            <a:r>
              <a:rPr lang="en-GB" dirty="0"/>
              <a:t>   - **Example Values**: 1 (all messages in the screenshot).  </a:t>
            </a:r>
          </a:p>
          <a:p>
            <a:r>
              <a:rPr lang="en-GB" dirty="0"/>
              <a:t>   - **Purpose**: Tracks the read status of the message, useful for displaying unread message notifications in a messaging app.</a:t>
            </a:r>
          </a:p>
          <a:p>
            <a:endParaRPr lang="en-GB" dirty="0"/>
          </a:p>
          <a:p>
            <a:r>
              <a:rPr lang="en-GB" dirty="0"/>
              <a:t>7. **</a:t>
            </a:r>
            <a:r>
              <a:rPr lang="en-GB" dirty="0" err="1"/>
              <a:t>m_id</a:t>
            </a:r>
            <a:r>
              <a:rPr lang="en-GB" dirty="0"/>
              <a:t>**  </a:t>
            </a:r>
          </a:p>
          <a:p>
            <a:r>
              <a:rPr lang="en-GB" dirty="0"/>
              <a:t>   - **Description**: The message ID assigned by the network or carrier for MMS messages. This is a unique identifier for the MMS message on the network.  </a:t>
            </a:r>
          </a:p>
          <a:p>
            <a:r>
              <a:rPr lang="en-GB" dirty="0"/>
              <a:t>   - **Example Values**: NULL (all rows in the screenshot).  </a:t>
            </a:r>
          </a:p>
          <a:p>
            <a:r>
              <a:rPr lang="en-GB" dirty="0"/>
              <a:t>   - **Purpose**: Used to track MMS messages across the network, though it’s often NULL for SMS or if the carrier doesn’t provide this ID.</a:t>
            </a:r>
          </a:p>
          <a:p>
            <a:endParaRPr lang="en-GB" dirty="0"/>
          </a:p>
          <a:p>
            <a:r>
              <a:rPr lang="en-GB" dirty="0"/>
              <a:t>8. **sub**  </a:t>
            </a:r>
          </a:p>
          <a:p>
            <a:r>
              <a:rPr lang="en-GB" dirty="0"/>
              <a:t>   - **Description**: The subject of the MMS message, if any. SMS messages typically don’t have a subject, so this is usually relevant for MMS.  </a:t>
            </a:r>
          </a:p>
          <a:p>
            <a:r>
              <a:rPr lang="en-GB" dirty="0"/>
              <a:t>   - **Example Values**: NULL (for rows 1, 3, 5), 106 (for rows 2, 4, 6, 7).  </a:t>
            </a:r>
          </a:p>
          <a:p>
            <a:r>
              <a:rPr lang="en-GB" dirty="0"/>
              <a:t>   - **Purpose**: Stores the subject line of an MMS message. The value 106 might be a placeholder or encoded value, but typically, this would be a string if a subject exists.</a:t>
            </a:r>
          </a:p>
          <a:p>
            <a:endParaRPr lang="en-GB" dirty="0"/>
          </a:p>
          <a:p>
            <a:r>
              <a:rPr lang="en-GB" dirty="0"/>
              <a:t>9. **</a:t>
            </a:r>
            <a:r>
              <a:rPr lang="en-GB" dirty="0" err="1"/>
              <a:t>sub_cs</a:t>
            </a:r>
            <a:r>
              <a:rPr lang="en-GB" dirty="0"/>
              <a:t>**  </a:t>
            </a:r>
          </a:p>
          <a:p>
            <a:r>
              <a:rPr lang="en-GB" dirty="0"/>
              <a:t>   - **Description**: The character set (charset) used for the `sub` (subject) field, such as UTF-8 or another encoding standard.  </a:t>
            </a:r>
          </a:p>
          <a:p>
            <a:r>
              <a:rPr lang="en-GB" dirty="0"/>
              <a:t>   - **Example Values**: NULL (all rows in the screenshot).  </a:t>
            </a:r>
          </a:p>
          <a:p>
            <a:r>
              <a:rPr lang="en-GB" dirty="0"/>
              <a:t>   - **Purpose**: Specifies the encoding of the subject, but it’s often NULL if there’s no subject or if the default encoding is assumed.</a:t>
            </a:r>
          </a:p>
          <a:p>
            <a:endParaRPr lang="en-GB" dirty="0"/>
          </a:p>
          <a:p>
            <a:r>
              <a:rPr lang="en-GB" dirty="0"/>
              <a:t>10. **</a:t>
            </a:r>
            <a:r>
              <a:rPr lang="en-GB" dirty="0" err="1"/>
              <a:t>ct_t</a:t>
            </a:r>
            <a:r>
              <a:rPr lang="en-GB" dirty="0"/>
              <a:t>**  </a:t>
            </a:r>
          </a:p>
          <a:p>
            <a:r>
              <a:rPr lang="en-GB" dirty="0"/>
              <a:t>    - **Description**: The content type of the message, typically for MMS messages. This indicates the MIME type of the message’s primary content.  </a:t>
            </a:r>
          </a:p>
          <a:p>
            <a:r>
              <a:rPr lang="en-GB" dirty="0"/>
              <a:t>    - **Example Values**: `application/</a:t>
            </a:r>
            <a:r>
              <a:rPr lang="en-GB" dirty="0" err="1"/>
              <a:t>vnd.wap.multipart.related</a:t>
            </a:r>
            <a:r>
              <a:rPr lang="en-GB" dirty="0"/>
              <a:t>` (for rows 1, 3, 5), NULL (for rows 2, 4, 6, 7).  </a:t>
            </a:r>
          </a:p>
          <a:p>
            <a:r>
              <a:rPr lang="en-GB" dirty="0"/>
              <a:t>    - **Purpose**: Specifies the format of the MMS message. `application/</a:t>
            </a:r>
            <a:r>
              <a:rPr lang="en-GB" dirty="0" err="1"/>
              <a:t>vnd.wap.multipart.related</a:t>
            </a:r>
            <a:r>
              <a:rPr lang="en-GB" dirty="0"/>
              <a:t>` indicates a multipart MMS message (e.g., containing text and media). NULL values might indicate SMS messages or messages without a specified content type.</a:t>
            </a:r>
          </a:p>
          <a:p>
            <a:endParaRPr lang="en-GB" dirty="0"/>
          </a:p>
          <a:p>
            <a:r>
              <a:rPr lang="en-GB" dirty="0"/>
              <a:t>11. **</a:t>
            </a:r>
            <a:r>
              <a:rPr lang="en-GB" dirty="0" err="1"/>
              <a:t>ct_l</a:t>
            </a:r>
            <a:r>
              <a:rPr lang="en-GB" dirty="0"/>
              <a:t>**  </a:t>
            </a:r>
          </a:p>
          <a:p>
            <a:r>
              <a:rPr lang="en-GB" dirty="0"/>
              <a:t>    - **Description**: The content location, often a URL or reference to where the MMS content can be retrieved (e.g., from a carrier’s server).  </a:t>
            </a:r>
          </a:p>
          <a:p>
            <a:r>
              <a:rPr lang="en-GB" dirty="0"/>
              <a:t>    - **Example Values**: NULL (all rows in the screenshot).  </a:t>
            </a:r>
          </a:p>
          <a:p>
            <a:r>
              <a:rPr lang="en-GB" dirty="0"/>
              <a:t>    - **Purpose**: Used for MMS messages to point to external content, but it’s often NULL if the content is stored locally in the `part` table.</a:t>
            </a:r>
          </a:p>
          <a:p>
            <a:endParaRPr lang="en-GB" dirty="0"/>
          </a:p>
          <a:p>
            <a:r>
              <a:rPr lang="en-GB" dirty="0"/>
              <a:t>12. **exp**  </a:t>
            </a:r>
          </a:p>
          <a:p>
            <a:r>
              <a:rPr lang="en-GB" dirty="0"/>
              <a:t>    - **Description**: The expiration time of the MMS message, set by the network or sender, in Unix epoch time (milliseconds). After this time, the message may no longer be available for retrieval.  </a:t>
            </a:r>
          </a:p>
          <a:p>
            <a:r>
              <a:rPr lang="en-GB" dirty="0"/>
              <a:t>    - **Example Values**: 604800 (for rows 1, 3, 5), NULL (for rows 2, 4, 6, 7).  </a:t>
            </a:r>
          </a:p>
          <a:p>
            <a:r>
              <a:rPr lang="en-GB" dirty="0"/>
              <a:t>    - **Purpose**: Indicates how long the MMS message is valid. 604800 milliseconds = 7 days, a common expiration period for MMS messages on a carrier’s server.</a:t>
            </a:r>
          </a:p>
          <a:p>
            <a:endParaRPr lang="en-GB" dirty="0"/>
          </a:p>
          <a:p>
            <a:r>
              <a:rPr lang="en-GB" dirty="0"/>
              <a:t>13. **</a:t>
            </a:r>
            <a:r>
              <a:rPr lang="en-GB" dirty="0" err="1"/>
              <a:t>m_cls</a:t>
            </a:r>
            <a:r>
              <a:rPr lang="en-GB" dirty="0"/>
              <a:t>**  </a:t>
            </a:r>
          </a:p>
          <a:p>
            <a:r>
              <a:rPr lang="en-GB" dirty="0"/>
              <a:t>    - **Description**: The message class, which categorizes the type of MMS message. Common values include:  </a:t>
            </a:r>
          </a:p>
          <a:p>
            <a:r>
              <a:rPr lang="en-GB" dirty="0"/>
              <a:t>      - "personal" = A standard MMS message.  </a:t>
            </a:r>
          </a:p>
          <a:p>
            <a:r>
              <a:rPr lang="en-GB" dirty="0"/>
              <a:t>      - "advertisement" = An ad message.  </a:t>
            </a:r>
          </a:p>
          <a:p>
            <a:r>
              <a:rPr lang="en-GB" dirty="0"/>
              <a:t>      - "informational" = A notification or alert.  </a:t>
            </a:r>
          </a:p>
          <a:p>
            <a:r>
              <a:rPr lang="en-GB" dirty="0"/>
              <a:t>    - **Example Values**: "personal" (for rows 1, 3, 5), NULL (for rows 2, 4, 6, 7).  </a:t>
            </a:r>
          </a:p>
          <a:p>
            <a:r>
              <a:rPr lang="en-GB" dirty="0"/>
              <a:t>    - **Purpose**: Classifies the MMS message’s purpose. In the screenshot, rows 1, 3, and 5 are personal MMS messages.</a:t>
            </a:r>
          </a:p>
          <a:p>
            <a:endParaRPr lang="en-GB" dirty="0"/>
          </a:p>
          <a:p>
            <a:r>
              <a:rPr lang="en-GB" dirty="0"/>
              <a:t>14. **</a:t>
            </a:r>
            <a:r>
              <a:rPr lang="en-GB" dirty="0" err="1"/>
              <a:t>m_type</a:t>
            </a:r>
            <a:r>
              <a:rPr lang="en-GB" dirty="0"/>
              <a:t>**  </a:t>
            </a:r>
          </a:p>
          <a:p>
            <a:r>
              <a:rPr lang="en-GB" dirty="0"/>
              <a:t>    - **Description**: The MMS message type, represented as an integer. Common values include:  </a:t>
            </a:r>
          </a:p>
          <a:p>
            <a:r>
              <a:rPr lang="en-GB" dirty="0"/>
              <a:t>      - 128 = MMS notification (indicating an MMS is available to download).  </a:t>
            </a:r>
          </a:p>
          <a:p>
            <a:r>
              <a:rPr lang="en-GB" dirty="0"/>
              <a:t>      - 130 = MMS delivery report.  </a:t>
            </a:r>
          </a:p>
          <a:p>
            <a:r>
              <a:rPr lang="en-GB" dirty="0"/>
              <a:t>      - 132 = MMS message (the actual message).  </a:t>
            </a:r>
          </a:p>
          <a:p>
            <a:r>
              <a:rPr lang="en-GB" dirty="0"/>
              <a:t>    - **Example Values**: 128 (for rows 1, 3, 5), 132 (for rows 2, 4, 6, 7).  </a:t>
            </a:r>
          </a:p>
          <a:p>
            <a:r>
              <a:rPr lang="en-GB" dirty="0"/>
              <a:t>    - **Purpose**: Specifies the type of MMS message. In the screenshot, rows 1, 3, and 5 are notifications (128), meaning they indicate an MMS is available to download, while rows 2, 4, 6, and 7 are actual MMS messages (132).</a:t>
            </a:r>
          </a:p>
          <a:p>
            <a:endParaRPr lang="en-GB" dirty="0"/>
          </a:p>
          <a:p>
            <a:r>
              <a:rPr lang="en-GB" dirty="0"/>
              <a:t>15. **v**  </a:t>
            </a:r>
          </a:p>
          <a:p>
            <a:r>
              <a:rPr lang="en-GB" dirty="0"/>
              <a:t>    - **Description**: The MMS protocol version, typically a number indicating the MMS standard used (e.g., 1.0, 1.1).  </a:t>
            </a:r>
          </a:p>
          <a:p>
            <a:r>
              <a:rPr lang="en-GB" dirty="0"/>
              <a:t>    - **Example Values**: 18 (for rows 1, 3, 5), NULL (for rows 2, 4, 6, 7).  </a:t>
            </a:r>
          </a:p>
          <a:p>
            <a:r>
              <a:rPr lang="en-GB" dirty="0"/>
              <a:t>    - **Purpose**: Indicates the MMS protocol version for compatibility. The value 18 likely corresponds to a specific MMS version (e.g., 1.8).</a:t>
            </a:r>
          </a:p>
          <a:p>
            <a:endParaRPr lang="en-GB" dirty="0"/>
          </a:p>
          <a:p>
            <a:r>
              <a:rPr lang="en-GB" dirty="0"/>
              <a:t>16. **</a:t>
            </a:r>
            <a:r>
              <a:rPr lang="en-GB" dirty="0" err="1"/>
              <a:t>m_size</a:t>
            </a:r>
            <a:r>
              <a:rPr lang="en-GB" dirty="0"/>
              <a:t>**  </a:t>
            </a:r>
          </a:p>
          <a:p>
            <a:r>
              <a:rPr lang="en-GB" dirty="0"/>
              <a:t>    - **Description**: The size of the MMS message in bytes, as reported by the network.  </a:t>
            </a:r>
          </a:p>
          <a:p>
            <a:r>
              <a:rPr lang="en-GB" dirty="0"/>
              <a:t>    - **Example Values**: 15, 47, 61 (for rows 1, 3, 5), NULL (for rows 2, 4, 6, 7).  </a:t>
            </a:r>
          </a:p>
          <a:p>
            <a:r>
              <a:rPr lang="en-GB" dirty="0"/>
              <a:t>    - **Purpose**: Indicates the size of the MMS message, useful for knowing how much data needs to be downloaded. NULL values might indicate SMS messages or messages already downloaded.</a:t>
            </a:r>
          </a:p>
          <a:p>
            <a:endParaRPr lang="en-GB" dirty="0"/>
          </a:p>
          <a:p>
            <a:r>
              <a:rPr lang="en-GB" dirty="0"/>
              <a:t>---</a:t>
            </a:r>
          </a:p>
          <a:p>
            <a:endParaRPr lang="en-GB" dirty="0"/>
          </a:p>
          <a:p>
            <a:r>
              <a:rPr lang="en-GB" dirty="0"/>
              <a:t>### Observations from the Screenshot</a:t>
            </a:r>
          </a:p>
          <a:p>
            <a:r>
              <a:rPr lang="en-GB" dirty="0"/>
              <a:t>- **Message Types**: The `</a:t>
            </a:r>
            <a:r>
              <a:rPr lang="en-GB" dirty="0" err="1"/>
              <a:t>pdu</a:t>
            </a:r>
            <a:r>
              <a:rPr lang="en-GB" dirty="0"/>
              <a:t>` table contains both MMS notifications (`</a:t>
            </a:r>
            <a:r>
              <a:rPr lang="en-GB" dirty="0" err="1"/>
              <a:t>m_type</a:t>
            </a:r>
            <a:r>
              <a:rPr lang="en-GB" dirty="0"/>
              <a:t>` = 128) and actual MMS messages (`</a:t>
            </a:r>
            <a:r>
              <a:rPr lang="en-GB" dirty="0" err="1"/>
              <a:t>m_type</a:t>
            </a:r>
            <a:r>
              <a:rPr lang="en-GB" dirty="0"/>
              <a:t>` = 132). Rows 1, 3, and 5 are notifications (likely indicating MMS messages available to download), while rows 2, 4, 6, and 7 are the actual MMS messages.</a:t>
            </a:r>
          </a:p>
          <a:p>
            <a:r>
              <a:rPr lang="en-GB" dirty="0"/>
              <a:t>- **Thread Consistency**: All messages belong to the same thread (`</a:t>
            </a:r>
            <a:r>
              <a:rPr lang="en-GB" dirty="0" err="1"/>
              <a:t>thread_id</a:t>
            </a:r>
            <a:r>
              <a:rPr lang="en-GB" dirty="0"/>
              <a:t>` = 17), meaning they are part of the same conversation.</a:t>
            </a:r>
          </a:p>
          <a:p>
            <a:r>
              <a:rPr lang="en-GB" dirty="0"/>
              <a:t>- **Timestamps**: The `date` and `</a:t>
            </a:r>
            <a:r>
              <a:rPr lang="en-GB" dirty="0" err="1"/>
              <a:t>date_sent</a:t>
            </a:r>
            <a:r>
              <a:rPr lang="en-GB" dirty="0"/>
              <a:t>` columns show the messages were sent/received around February 1, 2020. The `</a:t>
            </a:r>
            <a:r>
              <a:rPr lang="en-GB" dirty="0" err="1"/>
              <a:t>date_sent</a:t>
            </a:r>
            <a:r>
              <a:rPr lang="en-GB" dirty="0"/>
              <a:t>` being 0 for some rows suggests those are outgoing messages.</a:t>
            </a:r>
          </a:p>
          <a:p>
            <a:r>
              <a:rPr lang="en-GB" dirty="0"/>
              <a:t>- **Read Status**: All messages have been read (`read` = 1).</a:t>
            </a:r>
          </a:p>
          <a:p>
            <a:r>
              <a:rPr lang="en-GB" dirty="0"/>
              <a:t>- **MMS Details**: Rows 1, 3, and 5 have MMS-specific metadata like `</a:t>
            </a:r>
            <a:r>
              <a:rPr lang="en-GB" dirty="0" err="1"/>
              <a:t>ct_t</a:t>
            </a:r>
            <a:r>
              <a:rPr lang="en-GB" dirty="0"/>
              <a:t>`, `exp`, `</a:t>
            </a:r>
            <a:r>
              <a:rPr lang="en-GB" dirty="0" err="1"/>
              <a:t>m_cls</a:t>
            </a:r>
            <a:r>
              <a:rPr lang="en-GB" dirty="0"/>
              <a:t>`, `</a:t>
            </a:r>
            <a:r>
              <a:rPr lang="en-GB" dirty="0" err="1"/>
              <a:t>m_type</a:t>
            </a:r>
            <a:r>
              <a:rPr lang="en-GB" dirty="0"/>
              <a:t>`, `v`, and `</a:t>
            </a:r>
            <a:r>
              <a:rPr lang="en-GB" dirty="0" err="1"/>
              <a:t>m_size</a:t>
            </a:r>
            <a:r>
              <a:rPr lang="en-GB" dirty="0"/>
              <a:t>`, indicating they are MMS notifications. Rows 2, 4, 6, and 7 lack these details, suggesting they might be the downloaded MMS messages or SMS messages.</a:t>
            </a:r>
          </a:p>
          <a:p>
            <a:endParaRPr lang="en-GB" dirty="0"/>
          </a:p>
          <a:p>
            <a:r>
              <a:rPr lang="en-GB" dirty="0"/>
              <a:t>---</a:t>
            </a:r>
          </a:p>
          <a:p>
            <a:endParaRPr lang="en-GB" dirty="0"/>
          </a:p>
          <a:p>
            <a:r>
              <a:rPr lang="en-GB" dirty="0"/>
              <a:t>### Summary</a:t>
            </a:r>
          </a:p>
          <a:p>
            <a:r>
              <a:rPr lang="en-GB" dirty="0"/>
              <a:t>The `</a:t>
            </a:r>
            <a:r>
              <a:rPr lang="en-GB" dirty="0" err="1"/>
              <a:t>pdu</a:t>
            </a:r>
            <a:r>
              <a:rPr lang="en-GB" dirty="0"/>
              <a:t>` table’s columns collectively store metadata and raw data for SMS and MMS messages. Key columns like `_id`, `</a:t>
            </a:r>
            <a:r>
              <a:rPr lang="en-GB" dirty="0" err="1"/>
              <a:t>thread_id</a:t>
            </a:r>
            <a:r>
              <a:rPr lang="en-GB" dirty="0"/>
              <a:t>`, `date`, `</a:t>
            </a:r>
            <a:r>
              <a:rPr lang="en-GB" dirty="0" err="1"/>
              <a:t>msg_box</a:t>
            </a:r>
            <a:r>
              <a:rPr lang="en-GB" dirty="0"/>
              <a:t>`, and `</a:t>
            </a:r>
            <a:r>
              <a:rPr lang="en-GB" dirty="0" err="1"/>
              <a:t>m_type</a:t>
            </a:r>
            <a:r>
              <a:rPr lang="en-GB" dirty="0"/>
              <a:t>` provide the core information about the message’s identity, conversation, timing, status, and type. MMS-specific columns like `</a:t>
            </a:r>
            <a:r>
              <a:rPr lang="en-GB" dirty="0" err="1"/>
              <a:t>ct_t</a:t>
            </a:r>
            <a:r>
              <a:rPr lang="en-GB" dirty="0"/>
              <a:t>`, `exp`, `</a:t>
            </a:r>
            <a:r>
              <a:rPr lang="en-GB" dirty="0" err="1"/>
              <a:t>m_cls</a:t>
            </a:r>
            <a:r>
              <a:rPr lang="en-GB" dirty="0"/>
              <a:t>`, and `</a:t>
            </a:r>
            <a:r>
              <a:rPr lang="en-GB" dirty="0" err="1"/>
              <a:t>m_size</a:t>
            </a:r>
            <a:r>
              <a:rPr lang="en-GB" dirty="0"/>
              <a:t>` add details for multimedia messages, while columns like `sub` and `</a:t>
            </a:r>
            <a:r>
              <a:rPr lang="en-GB" dirty="0" err="1"/>
              <a:t>ct_l</a:t>
            </a:r>
            <a:r>
              <a:rPr lang="en-GB" dirty="0"/>
              <a:t>` are often unused or NULL for most messages. This structure allows the Android system to manage and display messages efficiently while providing enough data for forensic analysis or app development. </a:t>
            </a:r>
          </a:p>
          <a:p>
            <a:endParaRPr lang="en-GB" dirty="0"/>
          </a:p>
          <a:p>
            <a:endParaRPr lang="en-GB" dirty="0"/>
          </a:p>
          <a:p>
            <a:r>
              <a:rPr lang="en-GB" dirty="0"/>
              <a:t>The first part of the table included columns like `_id`, `</a:t>
            </a:r>
            <a:r>
              <a:rPr lang="en-GB" dirty="0" err="1"/>
              <a:t>thread_id</a:t>
            </a:r>
            <a:r>
              <a:rPr lang="en-GB" dirty="0"/>
              <a:t>`, `date`, `</a:t>
            </a:r>
            <a:r>
              <a:rPr lang="en-GB" dirty="0" err="1"/>
              <a:t>date_sent</a:t>
            </a:r>
            <a:r>
              <a:rPr lang="en-GB" dirty="0"/>
              <a:t>`, `</a:t>
            </a:r>
            <a:r>
              <a:rPr lang="en-GB" dirty="0" err="1"/>
              <a:t>msg_box</a:t>
            </a:r>
            <a:r>
              <a:rPr lang="en-GB" dirty="0"/>
              <a:t>`, `read`, `</a:t>
            </a:r>
            <a:r>
              <a:rPr lang="en-GB" dirty="0" err="1"/>
              <a:t>m_id</a:t>
            </a:r>
            <a:r>
              <a:rPr lang="en-GB" dirty="0"/>
              <a:t>`, `sub`, `</a:t>
            </a:r>
            <a:r>
              <a:rPr lang="en-GB" dirty="0" err="1"/>
              <a:t>sub_cs</a:t>
            </a:r>
            <a:r>
              <a:rPr lang="en-GB" dirty="0"/>
              <a:t>`, `</a:t>
            </a:r>
            <a:r>
              <a:rPr lang="en-GB" dirty="0" err="1"/>
              <a:t>ct_t</a:t>
            </a:r>
            <a:r>
              <a:rPr lang="en-GB" dirty="0"/>
              <a:t>`, `</a:t>
            </a:r>
            <a:r>
              <a:rPr lang="en-GB" dirty="0" err="1"/>
              <a:t>ct_l</a:t>
            </a:r>
            <a:r>
              <a:rPr lang="en-GB" dirty="0"/>
              <a:t>`, `exp`, `</a:t>
            </a:r>
            <a:r>
              <a:rPr lang="en-GB" dirty="0" err="1"/>
              <a:t>m_cls</a:t>
            </a:r>
            <a:r>
              <a:rPr lang="en-GB" dirty="0"/>
              <a:t>`, `</a:t>
            </a:r>
            <a:r>
              <a:rPr lang="en-GB" dirty="0" err="1"/>
              <a:t>m_type</a:t>
            </a:r>
            <a:r>
              <a:rPr lang="en-GB" dirty="0"/>
              <a:t>`, `v`, and `</a:t>
            </a:r>
            <a:r>
              <a:rPr lang="en-GB" dirty="0" err="1"/>
              <a:t>m_size</a:t>
            </a:r>
            <a:r>
              <a:rPr lang="en-GB" dirty="0"/>
              <a:t>`. The screenshot shows additional columns for the same rows (1 through 7). Let’s </a:t>
            </a:r>
            <a:r>
              <a:rPr lang="en-GB" dirty="0" err="1"/>
              <a:t>analyze</a:t>
            </a:r>
            <a:r>
              <a:rPr lang="en-GB" dirty="0"/>
              <a:t> these new columns and explain their purpose.</a:t>
            </a:r>
          </a:p>
          <a:p>
            <a:endParaRPr lang="en-GB" dirty="0"/>
          </a:p>
          <a:p>
            <a:r>
              <a:rPr lang="en-GB" dirty="0"/>
              <a:t>---</a:t>
            </a:r>
          </a:p>
          <a:p>
            <a:endParaRPr lang="en-GB" dirty="0"/>
          </a:p>
          <a:p>
            <a:r>
              <a:rPr lang="en-GB" dirty="0"/>
              <a:t>### Columns of the `</a:t>
            </a:r>
            <a:r>
              <a:rPr lang="en-GB" dirty="0" err="1"/>
              <a:t>pdu</a:t>
            </a:r>
            <a:r>
              <a:rPr lang="en-GB" dirty="0"/>
              <a:t>` Table (Second Part)</a:t>
            </a:r>
          </a:p>
          <a:p>
            <a:endParaRPr lang="en-GB" dirty="0"/>
          </a:p>
          <a:p>
            <a:r>
              <a:rPr lang="en-GB" dirty="0"/>
              <a:t>Based on the screenshot, the columns visible are:</a:t>
            </a:r>
          </a:p>
          <a:p>
            <a:endParaRPr lang="en-GB" dirty="0"/>
          </a:p>
          <a:p>
            <a:r>
              <a:rPr lang="en-GB" dirty="0"/>
              <a:t>1. **</a:t>
            </a:r>
            <a:r>
              <a:rPr lang="en-GB" dirty="0" err="1"/>
              <a:t>pri</a:t>
            </a:r>
            <a:r>
              <a:rPr lang="en-GB" dirty="0"/>
              <a:t>**  </a:t>
            </a:r>
          </a:p>
          <a:p>
            <a:r>
              <a:rPr lang="en-GB" dirty="0"/>
              <a:t>   - **Description**: The priority of the MMS message, as set by the sender or network. Common values include:  </a:t>
            </a:r>
          </a:p>
          <a:p>
            <a:r>
              <a:rPr lang="en-GB" dirty="0"/>
              <a:t>     - 129 = Low priority.  </a:t>
            </a:r>
          </a:p>
          <a:p>
            <a:r>
              <a:rPr lang="en-GB" dirty="0"/>
              <a:t>     - 130 = Normal priority (default).  </a:t>
            </a:r>
          </a:p>
          <a:p>
            <a:r>
              <a:rPr lang="en-GB" dirty="0"/>
              <a:t>     - 131 = High priority.  </a:t>
            </a:r>
          </a:p>
          <a:p>
            <a:r>
              <a:rPr lang="en-GB" dirty="0"/>
              <a:t>   - **Example Values**: 130 (for rows 1, 3, 5), NULL (for rows 2, 4, 6, 7).  </a:t>
            </a:r>
          </a:p>
          <a:p>
            <a:r>
              <a:rPr lang="en-GB" dirty="0"/>
              <a:t>   - **Purpose**: Indicates the urgency of the MMS message. In the screenshot, rows 1, 3, and 5 (MMS notifications) have a normal priority (130), while the other rows (actual MMS messages) have no priority specified (NULL), which is typical for downloaded messages or SMS.</a:t>
            </a:r>
          </a:p>
          <a:p>
            <a:endParaRPr lang="en-GB" dirty="0"/>
          </a:p>
          <a:p>
            <a:r>
              <a:rPr lang="en-GB" dirty="0"/>
              <a:t>2. **</a:t>
            </a:r>
            <a:r>
              <a:rPr lang="en-GB" dirty="0" err="1"/>
              <a:t>rr</a:t>
            </a:r>
            <a:r>
              <a:rPr lang="en-GB" dirty="0"/>
              <a:t>**  </a:t>
            </a:r>
          </a:p>
          <a:p>
            <a:r>
              <a:rPr lang="en-GB" dirty="0"/>
              <a:t>   - **Description**: The read report request flag for MMS messages. It indicates whether the sender requested a read receipt (a notification that the recipient has read the message).  </a:t>
            </a:r>
          </a:p>
          <a:p>
            <a:r>
              <a:rPr lang="en-GB" dirty="0"/>
              <a:t>     - 128 = Read report requested.  </a:t>
            </a:r>
          </a:p>
          <a:p>
            <a:r>
              <a:rPr lang="en-GB" dirty="0"/>
              <a:t>     - NULL or other values = No read report requested.  </a:t>
            </a:r>
          </a:p>
          <a:p>
            <a:r>
              <a:rPr lang="en-GB" dirty="0"/>
              <a:t>   - **Example Values**: NULL (all rows in the screenshot).  </a:t>
            </a:r>
          </a:p>
          <a:p>
            <a:r>
              <a:rPr lang="en-GB" dirty="0"/>
              <a:t>   - **Purpose**: Shows if the sender asked for a read receipt. In this case, no read reports were requested for any of the messages.</a:t>
            </a:r>
          </a:p>
          <a:p>
            <a:endParaRPr lang="en-GB" dirty="0"/>
          </a:p>
          <a:p>
            <a:r>
              <a:rPr lang="en-GB" dirty="0"/>
              <a:t>3. **</a:t>
            </a:r>
            <a:r>
              <a:rPr lang="en-GB" dirty="0" err="1"/>
              <a:t>rpt_a</a:t>
            </a:r>
            <a:r>
              <a:rPr lang="en-GB" dirty="0"/>
              <a:t>**  </a:t>
            </a:r>
          </a:p>
          <a:p>
            <a:r>
              <a:rPr lang="en-GB" dirty="0"/>
              <a:t>   - **Description**: The report allowed flag for MMS messages. It indicates whether the recipient’s device is allowed to send delivery or read reports back to the sender.  </a:t>
            </a:r>
          </a:p>
          <a:p>
            <a:r>
              <a:rPr lang="en-GB" dirty="0"/>
              <a:t>     - 129 = Reports allowed.  </a:t>
            </a:r>
          </a:p>
          <a:p>
            <a:r>
              <a:rPr lang="en-GB" dirty="0"/>
              <a:t>     - NULL or other values = Reports not allowed or not specified.  </a:t>
            </a:r>
          </a:p>
          <a:p>
            <a:r>
              <a:rPr lang="en-GB" dirty="0"/>
              <a:t>   - **Example Values**: NULL (all rows in the screenshot).  </a:t>
            </a:r>
          </a:p>
          <a:p>
            <a:r>
              <a:rPr lang="en-GB" dirty="0"/>
              <a:t>   - **Purpose**: Controls whether the device can send delivery/read reports. Since all values are NULL, this feature is either not used or not supported for these messages.</a:t>
            </a:r>
          </a:p>
          <a:p>
            <a:endParaRPr lang="en-GB" dirty="0"/>
          </a:p>
          <a:p>
            <a:r>
              <a:rPr lang="en-GB" dirty="0"/>
              <a:t>4. **</a:t>
            </a:r>
            <a:r>
              <a:rPr lang="en-GB" dirty="0" err="1"/>
              <a:t>resp_st</a:t>
            </a:r>
            <a:r>
              <a:rPr lang="en-GB" dirty="0"/>
              <a:t>**  </a:t>
            </a:r>
          </a:p>
          <a:p>
            <a:r>
              <a:rPr lang="en-GB" dirty="0"/>
              <a:t>   - **Description**: The response status for MMS messages, typically used in delivery or read reports to indicate the status of the message (e.g., successfully delivered, failed).  </a:t>
            </a:r>
          </a:p>
          <a:p>
            <a:r>
              <a:rPr lang="en-GB" dirty="0"/>
              <a:t>     - Common values depend on the MMS standard, but examples include:  </a:t>
            </a:r>
          </a:p>
          <a:p>
            <a:r>
              <a:rPr lang="en-GB" dirty="0"/>
              <a:t>       - 128 = OK (successful).  </a:t>
            </a:r>
          </a:p>
          <a:p>
            <a:r>
              <a:rPr lang="en-GB" dirty="0"/>
              <a:t>       - Other values for errors (e.g., 192 = Error: Unspecified).  </a:t>
            </a:r>
          </a:p>
          <a:p>
            <a:r>
              <a:rPr lang="en-GB" dirty="0"/>
              <a:t>   - **Example Values**: NULL (all rows in the screenshot).  </a:t>
            </a:r>
          </a:p>
          <a:p>
            <a:r>
              <a:rPr lang="en-GB" dirty="0"/>
              <a:t>   - **Purpose**: Stores the status of a delivery or read report. Since all values are NULL, no such reports are associated with these messages.</a:t>
            </a:r>
          </a:p>
          <a:p>
            <a:endParaRPr lang="en-GB" dirty="0"/>
          </a:p>
          <a:p>
            <a:r>
              <a:rPr lang="en-GB" dirty="0"/>
              <a:t>5. **</a:t>
            </a:r>
            <a:r>
              <a:rPr lang="en-GB" dirty="0" err="1"/>
              <a:t>st</a:t>
            </a:r>
            <a:r>
              <a:rPr lang="en-GB" dirty="0"/>
              <a:t>**  </a:t>
            </a:r>
          </a:p>
          <a:p>
            <a:r>
              <a:rPr lang="en-GB" dirty="0"/>
              <a:t>   - **Description**: The status of the MMS message, often used for MMS notifications to indicate the retrieval status.  </a:t>
            </a:r>
          </a:p>
          <a:p>
            <a:r>
              <a:rPr lang="en-GB" dirty="0"/>
              <a:t>     - Common values include:  </a:t>
            </a:r>
          </a:p>
          <a:p>
            <a:r>
              <a:rPr lang="en-GB" dirty="0"/>
              <a:t>       - 128 = Retrieved (message successfully downloaded).  </a:t>
            </a:r>
          </a:p>
          <a:p>
            <a:r>
              <a:rPr lang="en-GB" dirty="0"/>
              <a:t>       - 130 = Deferred (message retrieval deferred).  </a:t>
            </a:r>
          </a:p>
          <a:p>
            <a:r>
              <a:rPr lang="en-GB" dirty="0"/>
              <a:t>       - 132 = Unrecognized (e.g., unsupported content).  </a:t>
            </a:r>
          </a:p>
          <a:p>
            <a:r>
              <a:rPr lang="en-GB" dirty="0"/>
              <a:t>   - **Example Values**: NULL (all rows in the screenshot).  </a:t>
            </a:r>
          </a:p>
          <a:p>
            <a:r>
              <a:rPr lang="en-GB" dirty="0"/>
              <a:t>   - **Purpose**: Indicates the retrieval status of an MMS message. Since all values are NULL, this field isn’t being used here, possibly because the messages are already downloaded or are SMS.</a:t>
            </a:r>
          </a:p>
          <a:p>
            <a:endParaRPr lang="en-GB" dirty="0"/>
          </a:p>
          <a:p>
            <a:r>
              <a:rPr lang="en-GB" dirty="0"/>
              <a:t>6. **</a:t>
            </a:r>
            <a:r>
              <a:rPr lang="en-GB" dirty="0" err="1"/>
              <a:t>tr_id</a:t>
            </a:r>
            <a:r>
              <a:rPr lang="en-GB" dirty="0"/>
              <a:t>**  </a:t>
            </a:r>
          </a:p>
          <a:p>
            <a:r>
              <a:rPr lang="en-GB" dirty="0"/>
              <a:t>   - **Description**: The transaction ID for MMS messages, a unique identifier assigned by the network to track the MMS transaction (e.g., sending, retrieving).  </a:t>
            </a:r>
          </a:p>
          <a:p>
            <a:r>
              <a:rPr lang="en-GB" dirty="0"/>
              <a:t>   - **Example Values**: Strings like "T5e2c2f5c2a2b2e2", "T5e2c2f5c2a2b2e4", etc. (for rows 1, 3, 5), NULL (for rows 2, 4, 6, 7).  </a:t>
            </a:r>
          </a:p>
          <a:p>
            <a:r>
              <a:rPr lang="en-GB" dirty="0"/>
              <a:t>   - **Purpose**: Used to correlate MMS messages with network transactions, such as matching a notification with its retrieval. Rows 1, 3, and 5 (MMS notifications) have transaction IDs, while the actual MMS messages (rows 2, 4, 6, 7) do not, as they are already retrieved.</a:t>
            </a:r>
          </a:p>
          <a:p>
            <a:endParaRPr lang="en-GB" dirty="0"/>
          </a:p>
          <a:p>
            <a:r>
              <a:rPr lang="en-GB" dirty="0"/>
              <a:t>7. **</a:t>
            </a:r>
            <a:r>
              <a:rPr lang="en-GB" dirty="0" err="1"/>
              <a:t>retr_st</a:t>
            </a:r>
            <a:r>
              <a:rPr lang="en-GB" dirty="0"/>
              <a:t>**  </a:t>
            </a:r>
          </a:p>
          <a:p>
            <a:r>
              <a:rPr lang="en-GB" dirty="0"/>
              <a:t>   - **Description**: The retrieval status of the MMS message, indicating whether the message was successfully retrieved from the server.  </a:t>
            </a:r>
          </a:p>
          <a:p>
            <a:r>
              <a:rPr lang="en-GB" dirty="0"/>
              <a:t>     - 128 = Retrieved successfully.  </a:t>
            </a:r>
          </a:p>
          <a:p>
            <a:r>
              <a:rPr lang="en-GB" dirty="0"/>
              <a:t>     - Other values for errors (e.g., 192 = Error: Unspecified).  </a:t>
            </a:r>
          </a:p>
          <a:p>
            <a:r>
              <a:rPr lang="en-GB" dirty="0"/>
              <a:t>   - **Example Values**: NULL (all rows in the screenshot).  </a:t>
            </a:r>
          </a:p>
          <a:p>
            <a:r>
              <a:rPr lang="en-GB" dirty="0"/>
              <a:t>   - **Purpose**: Tracks whether the MMS content was successfully downloaded. Since all values are NULL, this field isn’t populated, possibly because the retrieval status is tracked elsewhere (e.g., in the `</a:t>
            </a:r>
            <a:r>
              <a:rPr lang="en-GB" dirty="0" err="1"/>
              <a:t>st</a:t>
            </a:r>
            <a:r>
              <a:rPr lang="en-GB" dirty="0"/>
              <a:t>` column or another table).</a:t>
            </a:r>
          </a:p>
          <a:p>
            <a:endParaRPr lang="en-GB" dirty="0"/>
          </a:p>
          <a:p>
            <a:r>
              <a:rPr lang="en-GB" dirty="0"/>
              <a:t>8. **</a:t>
            </a:r>
            <a:r>
              <a:rPr lang="en-GB" dirty="0" err="1"/>
              <a:t>retr_txt</a:t>
            </a:r>
            <a:r>
              <a:rPr lang="en-GB" dirty="0"/>
              <a:t>**  </a:t>
            </a:r>
          </a:p>
          <a:p>
            <a:r>
              <a:rPr lang="en-GB" dirty="0"/>
              <a:t>   - **Description**: The retrieval text, a human-readable message associated with the retrieval status (e.g., an error message if retrieval failed).  </a:t>
            </a:r>
          </a:p>
          <a:p>
            <a:r>
              <a:rPr lang="en-GB" dirty="0"/>
              <a:t>   - **Example Values**: NULL (all rows in the screenshot).  </a:t>
            </a:r>
          </a:p>
          <a:p>
            <a:r>
              <a:rPr lang="en-GB" dirty="0"/>
              <a:t>   - **Purpose**: Provides additional details about the retrieval status. Since all values are NULL, no retrieval errors or messages are recorded here.</a:t>
            </a:r>
          </a:p>
          <a:p>
            <a:endParaRPr lang="en-GB" dirty="0"/>
          </a:p>
          <a:p>
            <a:r>
              <a:rPr lang="en-GB" dirty="0"/>
              <a:t>9. **</a:t>
            </a:r>
            <a:r>
              <a:rPr lang="en-GB" dirty="0" err="1"/>
              <a:t>retr_txt_cs</a:t>
            </a:r>
            <a:r>
              <a:rPr lang="en-GB" dirty="0"/>
              <a:t>**  </a:t>
            </a:r>
          </a:p>
          <a:p>
            <a:r>
              <a:rPr lang="en-GB" dirty="0"/>
              <a:t>   - **Description**: The character set (charset) used for the `</a:t>
            </a:r>
            <a:r>
              <a:rPr lang="en-GB" dirty="0" err="1"/>
              <a:t>retr_txt</a:t>
            </a:r>
            <a:r>
              <a:rPr lang="en-GB" dirty="0"/>
              <a:t>` field, such as UTF-8 or another encoding standard.  </a:t>
            </a:r>
          </a:p>
          <a:p>
            <a:r>
              <a:rPr lang="en-GB" dirty="0"/>
              <a:t>   - **Example Values**: NULL (all rows in the screenshot).  </a:t>
            </a:r>
          </a:p>
          <a:p>
            <a:r>
              <a:rPr lang="en-GB" dirty="0"/>
              <a:t>   - **Purpose**: Specifies the encoding of the `</a:t>
            </a:r>
            <a:r>
              <a:rPr lang="en-GB" dirty="0" err="1"/>
              <a:t>retr_txt</a:t>
            </a:r>
            <a:r>
              <a:rPr lang="en-GB" dirty="0"/>
              <a:t>` field. Since `</a:t>
            </a:r>
            <a:r>
              <a:rPr lang="en-GB" dirty="0" err="1"/>
              <a:t>retr_txt</a:t>
            </a:r>
            <a:r>
              <a:rPr lang="en-GB" dirty="0"/>
              <a:t>` is NULL, this field is also NULL.</a:t>
            </a:r>
          </a:p>
          <a:p>
            <a:endParaRPr lang="en-GB" dirty="0"/>
          </a:p>
          <a:p>
            <a:r>
              <a:rPr lang="en-GB" dirty="0"/>
              <a:t>10. **</a:t>
            </a:r>
            <a:r>
              <a:rPr lang="en-GB" dirty="0" err="1"/>
              <a:t>read_status</a:t>
            </a:r>
            <a:r>
              <a:rPr lang="en-GB" dirty="0"/>
              <a:t>**  </a:t>
            </a:r>
          </a:p>
          <a:p>
            <a:r>
              <a:rPr lang="en-GB" dirty="0"/>
              <a:t>    - **Description**: The read status for MMS messages, specifically for read reports.  </a:t>
            </a:r>
          </a:p>
          <a:p>
            <a:r>
              <a:rPr lang="en-GB" dirty="0"/>
              <a:t>      - 128 = Read.  </a:t>
            </a:r>
          </a:p>
          <a:p>
            <a:r>
              <a:rPr lang="en-GB" dirty="0"/>
              <a:t>      - 130 = Not read.  </a:t>
            </a:r>
          </a:p>
          <a:p>
            <a:r>
              <a:rPr lang="en-GB" dirty="0"/>
              <a:t>      - NULL = No read report requested or available.  </a:t>
            </a:r>
          </a:p>
          <a:p>
            <a:r>
              <a:rPr lang="en-GB" dirty="0"/>
              <a:t>    - **Example Values**: NULL (all rows in the screenshot).  </a:t>
            </a:r>
          </a:p>
          <a:p>
            <a:r>
              <a:rPr lang="en-GB" dirty="0"/>
              <a:t>    - **Purpose**: Indicates whether the recipient has read the MMS message, as part of a read report. Since all values are NULL, no read reports are associated with these messages.</a:t>
            </a:r>
          </a:p>
          <a:p>
            <a:endParaRPr lang="en-GB" dirty="0"/>
          </a:p>
          <a:p>
            <a:r>
              <a:rPr lang="en-GB" dirty="0"/>
              <a:t>11. **</a:t>
            </a:r>
            <a:r>
              <a:rPr lang="en-GB" dirty="0" err="1"/>
              <a:t>d_tm</a:t>
            </a:r>
            <a:r>
              <a:rPr lang="en-GB" dirty="0"/>
              <a:t>**  </a:t>
            </a:r>
          </a:p>
          <a:p>
            <a:r>
              <a:rPr lang="en-GB" dirty="0"/>
              <a:t>    - **Description**: The delivery time of the MMS message, in Unix epoch time (milliseconds). This is the time when the message was delivered to the recipient’s device.  </a:t>
            </a:r>
          </a:p>
          <a:p>
            <a:r>
              <a:rPr lang="en-GB" dirty="0"/>
              <a:t>    - **Example Values**: NULL (all rows in the screenshot).  </a:t>
            </a:r>
          </a:p>
          <a:p>
            <a:r>
              <a:rPr lang="en-GB" dirty="0"/>
              <a:t>    - **Purpose**: Tracks when the MMS message was delivered. Since all values are NULL, this field isn’t used here, possibly because delivery times are tracked elsewhere (e.g., in the `date` column).</a:t>
            </a:r>
          </a:p>
          <a:p>
            <a:endParaRPr lang="en-GB" dirty="0"/>
          </a:p>
          <a:p>
            <a:r>
              <a:rPr lang="en-GB" dirty="0"/>
              <a:t>12. **</a:t>
            </a:r>
            <a:r>
              <a:rPr lang="en-GB" dirty="0" err="1"/>
              <a:t>d_rpt</a:t>
            </a:r>
            <a:r>
              <a:rPr lang="en-GB" dirty="0"/>
              <a:t>**  </a:t>
            </a:r>
          </a:p>
          <a:p>
            <a:r>
              <a:rPr lang="en-GB" dirty="0"/>
              <a:t>    - **Description**: The delivery report request flag for MMS messages. It indicates whether the sender requested a delivery report (a notification that the message was delivered).  </a:t>
            </a:r>
          </a:p>
          <a:p>
            <a:r>
              <a:rPr lang="en-GB" dirty="0"/>
              <a:t>      - 129 = Delivery report requested.  </a:t>
            </a:r>
          </a:p>
          <a:p>
            <a:r>
              <a:rPr lang="en-GB" dirty="0"/>
              <a:t>      - NULL or other values = No delivery report requested.  </a:t>
            </a:r>
          </a:p>
          <a:p>
            <a:r>
              <a:rPr lang="en-GB" dirty="0"/>
              <a:t>    - **Example Values**: 129 (for rows 1, 3, 5), NULL (for rows 2, 4, 6, 7).  </a:t>
            </a:r>
          </a:p>
          <a:p>
            <a:r>
              <a:rPr lang="en-GB" dirty="0"/>
              <a:t>    - **Purpose**: Shows if the sender requested a delivery report. Rows 1, 3, and 5 (MMS notifications) have delivery reports requested, while the other rows do not.</a:t>
            </a:r>
          </a:p>
          <a:p>
            <a:endParaRPr lang="en-GB" dirty="0"/>
          </a:p>
          <a:p>
            <a:r>
              <a:rPr lang="en-GB" dirty="0"/>
              <a:t>13. **locked**  </a:t>
            </a:r>
          </a:p>
          <a:p>
            <a:r>
              <a:rPr lang="en-GB" dirty="0"/>
              <a:t>    - **Description**: Indicates whether the message is locked by the user, preventing it from being deleted (e.g., in the messaging app).  </a:t>
            </a:r>
          </a:p>
          <a:p>
            <a:r>
              <a:rPr lang="en-GB" dirty="0"/>
              <a:t>      - 0 = Not locked.  </a:t>
            </a:r>
          </a:p>
          <a:p>
            <a:r>
              <a:rPr lang="en-GB" dirty="0"/>
              <a:t>      - 1 = Locked.  </a:t>
            </a:r>
          </a:p>
          <a:p>
            <a:r>
              <a:rPr lang="en-GB" dirty="0"/>
              <a:t>    - **Example Values**: 0 (all rows in the screenshot).  </a:t>
            </a:r>
          </a:p>
          <a:p>
            <a:r>
              <a:rPr lang="en-GB" dirty="0"/>
              <a:t>    - **Purpose**: Protects important messages from being deleted. In this case, none of the messages are locked.</a:t>
            </a:r>
          </a:p>
          <a:p>
            <a:endParaRPr lang="en-GB" dirty="0"/>
          </a:p>
          <a:p>
            <a:r>
              <a:rPr lang="en-GB" dirty="0"/>
              <a:t>14. **</a:t>
            </a:r>
            <a:r>
              <a:rPr lang="en-GB" dirty="0" err="1"/>
              <a:t>sub_id</a:t>
            </a:r>
            <a:r>
              <a:rPr lang="en-GB" dirty="0"/>
              <a:t>**  </a:t>
            </a:r>
          </a:p>
          <a:p>
            <a:r>
              <a:rPr lang="en-GB" dirty="0"/>
              <a:t>    - **Description**: The subscription ID, which identifies the SIM card or subscription used for this message (useful for dual-SIM devices).  </a:t>
            </a:r>
          </a:p>
          <a:p>
            <a:r>
              <a:rPr lang="en-GB" dirty="0"/>
              <a:t>    - **Example Values**: 1 (all rows in the screenshot).  </a:t>
            </a:r>
          </a:p>
          <a:p>
            <a:r>
              <a:rPr lang="en-GB" dirty="0"/>
              <a:t>    - **Purpose**: Associates the message with a specific SIM card or subscription. A value of 1 indicates the message was sent/received using the primary SIM.</a:t>
            </a:r>
          </a:p>
          <a:p>
            <a:endParaRPr lang="en-GB" dirty="0"/>
          </a:p>
          <a:p>
            <a:r>
              <a:rPr lang="en-GB" dirty="0"/>
              <a:t>15. **seen**  </a:t>
            </a:r>
          </a:p>
          <a:p>
            <a:r>
              <a:rPr lang="en-GB" dirty="0"/>
              <a:t>    - **Description**: Indicates whether the message has been seen by the user (e.g., displayed in the messaging app).  </a:t>
            </a:r>
          </a:p>
          <a:p>
            <a:r>
              <a:rPr lang="en-GB" dirty="0"/>
              <a:t>      - 0 = Not seen.  </a:t>
            </a:r>
          </a:p>
          <a:p>
            <a:r>
              <a:rPr lang="en-GB" dirty="0"/>
              <a:t>      - 1 = Seen.  </a:t>
            </a:r>
          </a:p>
          <a:p>
            <a:r>
              <a:rPr lang="en-GB" dirty="0"/>
              <a:t>    - **Example Values**: 1 (all rows in the screenshot).  </a:t>
            </a:r>
          </a:p>
          <a:p>
            <a:r>
              <a:rPr lang="en-GB" dirty="0"/>
              <a:t>    - **Purpose**: Tracks whether the message has been viewed, which can differ from `read` (e.g., a message might be seen in a notification but not marked as read). All messages here have been seen.</a:t>
            </a:r>
          </a:p>
          <a:p>
            <a:endParaRPr lang="en-GB" dirty="0"/>
          </a:p>
          <a:p>
            <a:r>
              <a:rPr lang="en-GB" dirty="0"/>
              <a:t>16. **creator**  </a:t>
            </a:r>
          </a:p>
          <a:p>
            <a:r>
              <a:rPr lang="en-GB" dirty="0"/>
              <a:t>    - **Description**: The package name of the app that created or inserted this message into the database.  </a:t>
            </a:r>
          </a:p>
          <a:p>
            <a:r>
              <a:rPr lang="en-GB" dirty="0"/>
              <a:t>    - **Example Values**: NULL (all rows in the screenshot).  </a:t>
            </a:r>
          </a:p>
          <a:p>
            <a:r>
              <a:rPr lang="en-GB" dirty="0"/>
              <a:t>    - **Purpose**: Identifies the app responsible for the message (e.g., the default messaging app). Since all values are NULL, this field isn’t populated, possibly because the default system app was used.</a:t>
            </a:r>
          </a:p>
          <a:p>
            <a:endParaRPr lang="en-GB" dirty="0"/>
          </a:p>
          <a:p>
            <a:r>
              <a:rPr lang="en-GB" dirty="0"/>
              <a:t>17. **</a:t>
            </a:r>
            <a:r>
              <a:rPr lang="en-GB" dirty="0" err="1"/>
              <a:t>text_only</a:t>
            </a:r>
            <a:r>
              <a:rPr lang="en-GB" dirty="0"/>
              <a:t>**  </a:t>
            </a:r>
          </a:p>
          <a:p>
            <a:r>
              <a:rPr lang="en-GB" dirty="0"/>
              <a:t>    - **Description**: Indicates whether the MMS message contains only text (no multimedia).  </a:t>
            </a:r>
          </a:p>
          <a:p>
            <a:r>
              <a:rPr lang="en-GB" dirty="0"/>
              <a:t>      - 0 = Contains multimedia (e.g., images, videos).  </a:t>
            </a:r>
          </a:p>
          <a:p>
            <a:r>
              <a:rPr lang="en-GB" dirty="0"/>
              <a:t>      - 1 = Text only.  </a:t>
            </a:r>
          </a:p>
          <a:p>
            <a:r>
              <a:rPr lang="en-GB" dirty="0"/>
              <a:t>    - **Example Values**: 0 (all rows in the screenshot).  </a:t>
            </a:r>
          </a:p>
          <a:p>
            <a:r>
              <a:rPr lang="en-GB" dirty="0"/>
              <a:t>    - **Purpose**: Helps the system quickly determine if the MMS message is text-only or includes media. All messages here include multimedia (likely because they are MMS messages).</a:t>
            </a:r>
          </a:p>
          <a:p>
            <a:endParaRPr lang="en-GB" dirty="0"/>
          </a:p>
          <a:p>
            <a:r>
              <a:rPr lang="en-GB" dirty="0"/>
              <a:t>---</a:t>
            </a:r>
          </a:p>
          <a:p>
            <a:endParaRPr lang="en-GB" dirty="0"/>
          </a:p>
          <a:p>
            <a:r>
              <a:rPr lang="en-GB" dirty="0"/>
              <a:t>### Observations from the Screenshot</a:t>
            </a:r>
          </a:p>
          <a:p>
            <a:r>
              <a:rPr lang="en-GB" dirty="0"/>
              <a:t>- **MMS Notifications vs. Actual Messages**: As seen in the first part of the table, rows 1, 3, and 5 are MMS notifications (`</a:t>
            </a:r>
            <a:r>
              <a:rPr lang="en-GB" dirty="0" err="1"/>
              <a:t>m_type</a:t>
            </a:r>
            <a:r>
              <a:rPr lang="en-GB" dirty="0"/>
              <a:t>` = 128), and rows 2, 4, 6, and 7 are actual MMS messages (`</a:t>
            </a:r>
            <a:r>
              <a:rPr lang="en-GB" dirty="0" err="1"/>
              <a:t>m_type</a:t>
            </a:r>
            <a:r>
              <a:rPr lang="en-GB" dirty="0"/>
              <a:t>` = 132). This is reflected in the second part:  </a:t>
            </a:r>
          </a:p>
          <a:p>
            <a:r>
              <a:rPr lang="en-GB" dirty="0"/>
              <a:t>  - Rows 1, 3, and 5 have MMS-specific fields populated, like `</a:t>
            </a:r>
            <a:r>
              <a:rPr lang="en-GB" dirty="0" err="1"/>
              <a:t>pri</a:t>
            </a:r>
            <a:r>
              <a:rPr lang="en-GB" dirty="0"/>
              <a:t>` (130), `</a:t>
            </a:r>
            <a:r>
              <a:rPr lang="en-GB" dirty="0" err="1"/>
              <a:t>tr_id</a:t>
            </a:r>
            <a:r>
              <a:rPr lang="en-GB" dirty="0"/>
              <a:t>` (transaction IDs), and `</a:t>
            </a:r>
            <a:r>
              <a:rPr lang="en-GB" dirty="0" err="1"/>
              <a:t>d_rpt</a:t>
            </a:r>
            <a:r>
              <a:rPr lang="en-GB" dirty="0"/>
              <a:t>` (129).  </a:t>
            </a:r>
          </a:p>
          <a:p>
            <a:r>
              <a:rPr lang="en-GB" dirty="0"/>
              <a:t>  - Rows 2, 4, 6, and 7 have mostly NULL values for MMS-specific fields, as they are likely the downloaded messages.</a:t>
            </a:r>
          </a:p>
          <a:p>
            <a:r>
              <a:rPr lang="en-GB" dirty="0"/>
              <a:t>- **Delivery Reports**: Rows 1, 3, and 5 have `</a:t>
            </a:r>
            <a:r>
              <a:rPr lang="en-GB" dirty="0" err="1"/>
              <a:t>d_rpt</a:t>
            </a:r>
            <a:r>
              <a:rPr lang="en-GB" dirty="0"/>
              <a:t>` set to 129, meaning the sender requested delivery reports for these MMS messages.</a:t>
            </a:r>
          </a:p>
          <a:p>
            <a:r>
              <a:rPr lang="en-GB" dirty="0"/>
              <a:t>- **No Read Reports**: Fields like `</a:t>
            </a:r>
            <a:r>
              <a:rPr lang="en-GB" dirty="0" err="1"/>
              <a:t>rr</a:t>
            </a:r>
            <a:r>
              <a:rPr lang="en-GB" dirty="0"/>
              <a:t>`, `</a:t>
            </a:r>
            <a:r>
              <a:rPr lang="en-GB" dirty="0" err="1"/>
              <a:t>read_status</a:t>
            </a:r>
            <a:r>
              <a:rPr lang="en-GB" dirty="0"/>
              <a:t>`, and `</a:t>
            </a:r>
            <a:r>
              <a:rPr lang="en-GB" dirty="0" err="1"/>
              <a:t>rpt_a</a:t>
            </a:r>
            <a:r>
              <a:rPr lang="en-GB" dirty="0"/>
              <a:t>` are all NULL, indicating no read reports were requested or sent.</a:t>
            </a:r>
          </a:p>
          <a:p>
            <a:r>
              <a:rPr lang="en-GB" dirty="0"/>
              <a:t>- **Message Status**: All messages are unlocked (`locked` = 0), seen (`seen` = 1), and associated with the primary SIM (`</a:t>
            </a:r>
            <a:r>
              <a:rPr lang="en-GB" dirty="0" err="1"/>
              <a:t>sub_id</a:t>
            </a:r>
            <a:r>
              <a:rPr lang="en-GB" dirty="0"/>
              <a:t>` = 1).</a:t>
            </a:r>
          </a:p>
          <a:p>
            <a:r>
              <a:rPr lang="en-GB" dirty="0"/>
              <a:t>- **Multimedia Content**: The `</a:t>
            </a:r>
            <a:r>
              <a:rPr lang="en-GB" dirty="0" err="1"/>
              <a:t>text_only</a:t>
            </a:r>
            <a:r>
              <a:rPr lang="en-GB" dirty="0"/>
              <a:t>` field is 0 for all rows, confirming that these MMS messages contain multimedia (e.g., images, videos), which aligns with their `</a:t>
            </a:r>
            <a:r>
              <a:rPr lang="en-GB" dirty="0" err="1"/>
              <a:t>m_type</a:t>
            </a:r>
            <a:r>
              <a:rPr lang="en-GB" dirty="0"/>
              <a:t>` and `</a:t>
            </a:r>
            <a:r>
              <a:rPr lang="en-GB" dirty="0" err="1"/>
              <a:t>ct_t</a:t>
            </a:r>
            <a:r>
              <a:rPr lang="en-GB" dirty="0"/>
              <a:t>` values from the first part.</a:t>
            </a:r>
          </a:p>
          <a:p>
            <a:endParaRPr lang="en-GB" dirty="0"/>
          </a:p>
          <a:p>
            <a:r>
              <a:rPr lang="en-GB" dirty="0"/>
              <a:t>---</a:t>
            </a:r>
          </a:p>
          <a:p>
            <a:endParaRPr lang="en-GB" dirty="0"/>
          </a:p>
          <a:p>
            <a:r>
              <a:rPr lang="en-GB" dirty="0"/>
              <a:t>### Summary</a:t>
            </a:r>
          </a:p>
          <a:p>
            <a:r>
              <a:rPr lang="en-GB" dirty="0"/>
              <a:t>The second part of the `</a:t>
            </a:r>
            <a:r>
              <a:rPr lang="en-GB" dirty="0" err="1"/>
              <a:t>pdu</a:t>
            </a:r>
            <a:r>
              <a:rPr lang="en-GB" dirty="0"/>
              <a:t>` table provides additional metadata for MMS messages, focusing on message priority, delivery/read report settings, transaction tracking, and user interaction flags. Key columns like `</a:t>
            </a:r>
            <a:r>
              <a:rPr lang="en-GB" dirty="0" err="1"/>
              <a:t>pri</a:t>
            </a:r>
            <a:r>
              <a:rPr lang="en-GB" dirty="0"/>
              <a:t>`, `</a:t>
            </a:r>
            <a:r>
              <a:rPr lang="en-GB" dirty="0" err="1"/>
              <a:t>tr_id</a:t>
            </a:r>
            <a:r>
              <a:rPr lang="en-GB" dirty="0"/>
              <a:t>`, and `</a:t>
            </a:r>
            <a:r>
              <a:rPr lang="en-GB" dirty="0" err="1"/>
              <a:t>d_rpt</a:t>
            </a:r>
            <a:r>
              <a:rPr lang="en-GB" dirty="0"/>
              <a:t>` are relevant for MMS notifications (rows 1, 3, 5), while columns like `locked`, `seen`, `</a:t>
            </a:r>
            <a:r>
              <a:rPr lang="en-GB" dirty="0" err="1"/>
              <a:t>sub_id</a:t>
            </a:r>
            <a:r>
              <a:rPr lang="en-GB" dirty="0"/>
              <a:t>`, and `</a:t>
            </a:r>
            <a:r>
              <a:rPr lang="en-GB" dirty="0" err="1"/>
              <a:t>text_only</a:t>
            </a:r>
            <a:r>
              <a:rPr lang="en-GB" dirty="0"/>
              <a:t>` provide general metadata for all messages. Most MMS-specific fields (e.g., `</a:t>
            </a:r>
            <a:r>
              <a:rPr lang="en-GB" dirty="0" err="1"/>
              <a:t>rr</a:t>
            </a:r>
            <a:r>
              <a:rPr lang="en-GB" dirty="0"/>
              <a:t>`, `</a:t>
            </a:r>
            <a:r>
              <a:rPr lang="en-GB" dirty="0" err="1"/>
              <a:t>retr_st</a:t>
            </a:r>
            <a:r>
              <a:rPr lang="en-GB" dirty="0"/>
              <a:t>`, `</a:t>
            </a:r>
            <a:r>
              <a:rPr lang="en-GB" dirty="0" err="1"/>
              <a:t>d_tm</a:t>
            </a:r>
            <a:r>
              <a:rPr lang="en-GB" dirty="0"/>
              <a:t>`) are NULL, indicating they aren’t used in this dataset, possibly because the messages are already downloaded or no reports were requested. This structure helps the Android system manage MMS message workflows while providing enough data for forensic analysis or app development. If you’d like to explore a specific row or column further, let me know!</a:t>
            </a:r>
            <a:endParaRPr lang="en-US" dirty="0"/>
          </a:p>
        </p:txBody>
      </p:sp>
      <p:sp>
        <p:nvSpPr>
          <p:cNvPr id="4" name="Slide Number Placeholder 3">
            <a:extLst>
              <a:ext uri="{FF2B5EF4-FFF2-40B4-BE49-F238E27FC236}">
                <a16:creationId xmlns:a16="http://schemas.microsoft.com/office/drawing/2014/main" id="{32D9DF34-531E-621E-441F-0FABAFBE0FE3}"/>
              </a:ext>
            </a:extLst>
          </p:cNvPr>
          <p:cNvSpPr>
            <a:spLocks noGrp="1"/>
          </p:cNvSpPr>
          <p:nvPr>
            <p:ph type="sldNum" sz="quarter" idx="5"/>
          </p:nvPr>
        </p:nvSpPr>
        <p:spPr/>
        <p:txBody>
          <a:bodyPr/>
          <a:lstStyle/>
          <a:p>
            <a:fld id="{DDBF98C7-164A-4723-84F0-B1E4B080DDEC}" type="slidenum">
              <a:rPr lang="en-US" smtClean="0"/>
              <a:t>42</a:t>
            </a:fld>
            <a:endParaRPr lang="en-US"/>
          </a:p>
        </p:txBody>
      </p:sp>
    </p:spTree>
    <p:extLst>
      <p:ext uri="{BB962C8B-B14F-4D97-AF65-F5344CB8AC3E}">
        <p14:creationId xmlns:p14="http://schemas.microsoft.com/office/powerpoint/2010/main" val="35733074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a:t>
            </a:r>
            <a:r>
              <a:rPr lang="en-US" dirty="0" err="1"/>
              <a:t>pdu</a:t>
            </a:r>
            <a:r>
              <a:rPr lang="en-US" dirty="0"/>
              <a:t>._id, </a:t>
            </a:r>
            <a:r>
              <a:rPr lang="en-US" dirty="0" err="1"/>
              <a:t>part.ct</a:t>
            </a:r>
            <a:r>
              <a:rPr lang="en-US" dirty="0"/>
              <a:t>, </a:t>
            </a:r>
            <a:r>
              <a:rPr lang="en-US" dirty="0" err="1"/>
              <a:t>part.text</a:t>
            </a:r>
            <a:r>
              <a:rPr lang="en-US" dirty="0"/>
              <a:t>, </a:t>
            </a:r>
            <a:r>
              <a:rPr lang="en-US" dirty="0" err="1"/>
              <a:t>pdu.date</a:t>
            </a:r>
            <a:r>
              <a:rPr lang="en-US" dirty="0"/>
              <a:t>, </a:t>
            </a:r>
            <a:r>
              <a:rPr lang="en-US" dirty="0" err="1"/>
              <a:t>pdu.msg_box</a:t>
            </a:r>
            <a:endParaRPr lang="en-US" dirty="0"/>
          </a:p>
          <a:p>
            <a:r>
              <a:rPr lang="en-US" dirty="0"/>
              <a:t>FROM </a:t>
            </a:r>
            <a:r>
              <a:rPr lang="en-US" dirty="0" err="1"/>
              <a:t>pdu</a:t>
            </a:r>
            <a:endParaRPr lang="en-US" dirty="0"/>
          </a:p>
          <a:p>
            <a:r>
              <a:rPr lang="en-US" dirty="0"/>
              <a:t>JOIN part ON </a:t>
            </a:r>
            <a:r>
              <a:rPr lang="en-US" dirty="0" err="1"/>
              <a:t>pdu</a:t>
            </a:r>
            <a:r>
              <a:rPr lang="en-US" dirty="0"/>
              <a:t>._id = part.mid</a:t>
            </a:r>
          </a:p>
          <a:p>
            <a:r>
              <a:rPr lang="en-US" dirty="0"/>
              <a:t>WHERE </a:t>
            </a:r>
            <a:r>
              <a:rPr lang="en-US" dirty="0" err="1"/>
              <a:t>pdu.msg_box</a:t>
            </a:r>
            <a:r>
              <a:rPr lang="en-US" dirty="0"/>
              <a:t> = 1 AND </a:t>
            </a:r>
            <a:r>
              <a:rPr lang="en-US" dirty="0" err="1"/>
              <a:t>part.ct</a:t>
            </a:r>
            <a:r>
              <a:rPr lang="en-US" dirty="0"/>
              <a:t> LIKE 'text/%';</a:t>
            </a:r>
          </a:p>
          <a:p>
            <a:endParaRPr lang="en-US" dirty="0"/>
          </a:p>
        </p:txBody>
      </p:sp>
      <p:sp>
        <p:nvSpPr>
          <p:cNvPr id="4" name="Slide Number Placeholder 3"/>
          <p:cNvSpPr>
            <a:spLocks noGrp="1"/>
          </p:cNvSpPr>
          <p:nvPr>
            <p:ph type="sldNum" sz="quarter" idx="5"/>
          </p:nvPr>
        </p:nvSpPr>
        <p:spPr/>
        <p:txBody>
          <a:bodyPr/>
          <a:lstStyle/>
          <a:p>
            <a:fld id="{DDBF98C7-164A-4723-84F0-B1E4B080DDEC}" type="slidenum">
              <a:rPr lang="en-US" smtClean="0"/>
              <a:t>52</a:t>
            </a:fld>
            <a:endParaRPr lang="en-US"/>
          </a:p>
        </p:txBody>
      </p:sp>
    </p:spTree>
    <p:extLst>
      <p:ext uri="{BB962C8B-B14F-4D97-AF65-F5344CB8AC3E}">
        <p14:creationId xmlns:p14="http://schemas.microsoft.com/office/powerpoint/2010/main" val="3581793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263717A-E3C1-4BED-ABE0-B7069385E023}"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2766646" cy="365125"/>
          </a:xfrm>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821171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430622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63717A-E3C1-4BED-ABE0-B7069385E023}"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993569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63717A-E3C1-4BED-ABE0-B7069385E023}"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858911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263717A-E3C1-4BED-ABE0-B7069385E023}"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71692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263717A-E3C1-4BED-ABE0-B7069385E023}"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600089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63717A-E3C1-4BED-ABE0-B7069385E023}"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96400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330900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63717A-E3C1-4BED-ABE0-B7069385E023}"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19480371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17696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63717A-E3C1-4BED-ABE0-B7069385E023}"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6F5B0-BCF1-4291-802C-4ED5F9057036}" type="slidenum">
              <a:rPr lang="en-US" smtClean="0"/>
              <a:t>‹#›</a:t>
            </a:fld>
            <a:endParaRPr lang="en-US"/>
          </a:p>
        </p:txBody>
      </p:sp>
    </p:spTree>
    <p:extLst>
      <p:ext uri="{BB962C8B-B14F-4D97-AF65-F5344CB8AC3E}">
        <p14:creationId xmlns:p14="http://schemas.microsoft.com/office/powerpoint/2010/main" val="3795900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63717A-E3C1-4BED-ABE0-B7069385E023}" type="datetimeFigureOut">
              <a:rPr lang="en-US" smtClean="0"/>
              <a:t>10/27/2026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E6F5B0-BCF1-4291-802C-4ED5F9057036}" type="slidenum">
              <a:rPr lang="en-US" smtClean="0"/>
              <a:t>‹#›</a:t>
            </a:fld>
            <a:endParaRPr lang="en-US"/>
          </a:p>
        </p:txBody>
      </p:sp>
      <p:pic>
        <p:nvPicPr>
          <p:cNvPr id="1026" name="Picture 2" descr="United States Department of Justice - Wikipedia"/>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04663" y="6429241"/>
            <a:ext cx="379628" cy="37962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JP PMP Login"/>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684291" y="6519834"/>
            <a:ext cx="420444" cy="20164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niversity of Baltimore Issues Marketing RFP - PR News"/>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54993" y="6286831"/>
            <a:ext cx="1571896" cy="66444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le:Towson University logo horiz 2019.png - Wikimedia Commons"/>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272985" y="6456351"/>
            <a:ext cx="1202235" cy="414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5741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9.png"/><Relationship Id="rId1" Type="http://schemas.openxmlformats.org/officeDocument/2006/relationships/slideLayout" Target="../slideLayouts/slideLayout6.xml"/><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45.png"/><Relationship Id="rId18" Type="http://schemas.openxmlformats.org/officeDocument/2006/relationships/customXml" Target="../ink/ink8.xml"/><Relationship Id="rId26" Type="http://schemas.openxmlformats.org/officeDocument/2006/relationships/customXml" Target="../ink/ink12.xml"/><Relationship Id="rId3" Type="http://schemas.openxmlformats.org/officeDocument/2006/relationships/image" Target="../media/image44.png"/><Relationship Id="rId21" Type="http://schemas.openxmlformats.org/officeDocument/2006/relationships/image" Target="../media/image49.png"/><Relationship Id="rId7" Type="http://schemas.openxmlformats.org/officeDocument/2006/relationships/image" Target="../media/image420.png"/><Relationship Id="rId12" Type="http://schemas.openxmlformats.org/officeDocument/2006/relationships/customXml" Target="../ink/ink5.xml"/><Relationship Id="rId17" Type="http://schemas.openxmlformats.org/officeDocument/2006/relationships/image" Target="../media/image47.png"/><Relationship Id="rId25" Type="http://schemas.openxmlformats.org/officeDocument/2006/relationships/image" Target="../media/image51.png"/><Relationship Id="rId2" Type="http://schemas.openxmlformats.org/officeDocument/2006/relationships/notesSlide" Target="../notesSlides/notesSlide16.xml"/><Relationship Id="rId16" Type="http://schemas.openxmlformats.org/officeDocument/2006/relationships/customXml" Target="../ink/ink7.xml"/><Relationship Id="rId20" Type="http://schemas.openxmlformats.org/officeDocument/2006/relationships/customXml" Target="../ink/ink9.xml"/><Relationship Id="rId29"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441.png"/><Relationship Id="rId24" Type="http://schemas.openxmlformats.org/officeDocument/2006/relationships/customXml" Target="../ink/ink11.xml"/><Relationship Id="rId5" Type="http://schemas.openxmlformats.org/officeDocument/2006/relationships/image" Target="../media/image410.png"/><Relationship Id="rId15" Type="http://schemas.openxmlformats.org/officeDocument/2006/relationships/image" Target="../media/image46.png"/><Relationship Id="rId23" Type="http://schemas.openxmlformats.org/officeDocument/2006/relationships/image" Target="../media/image50.png"/><Relationship Id="rId28" Type="http://schemas.openxmlformats.org/officeDocument/2006/relationships/customXml" Target="../ink/ink13.xml"/><Relationship Id="rId10" Type="http://schemas.openxmlformats.org/officeDocument/2006/relationships/customXml" Target="../ink/ink4.xml"/><Relationship Id="rId19" Type="http://schemas.openxmlformats.org/officeDocument/2006/relationships/image" Target="../media/image48.png"/><Relationship Id="rId4" Type="http://schemas.openxmlformats.org/officeDocument/2006/relationships/customXml" Target="../ink/ink1.xml"/><Relationship Id="rId9" Type="http://schemas.openxmlformats.org/officeDocument/2006/relationships/image" Target="../media/image430.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52.png"/></Relationships>
</file>

<file path=ppt/slides/_rels/slide42.xml.rels><?xml version="1.0" encoding="UTF-8" standalone="yes"?>
<Relationships xmlns="http://schemas.openxmlformats.org/package/2006/relationships"><Relationship Id="rId8" Type="http://schemas.openxmlformats.org/officeDocument/2006/relationships/customXml" Target="../ink/ink16.xml"/><Relationship Id="rId13"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6.png"/><Relationship Id="rId12" Type="http://schemas.openxmlformats.org/officeDocument/2006/relationships/customXml" Target="../ink/ink18.xml"/><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customXml" Target="../ink/ink15.xml"/><Relationship Id="rId11" Type="http://schemas.openxmlformats.org/officeDocument/2006/relationships/image" Target="../media/image58.png"/><Relationship Id="rId5" Type="http://schemas.openxmlformats.org/officeDocument/2006/relationships/image" Target="../media/image55.png"/><Relationship Id="rId10" Type="http://schemas.openxmlformats.org/officeDocument/2006/relationships/customXml" Target="../ink/ink17.xml"/><Relationship Id="rId4" Type="http://schemas.openxmlformats.org/officeDocument/2006/relationships/customXml" Target="../ink/ink14.xml"/><Relationship Id="rId9" Type="http://schemas.openxmlformats.org/officeDocument/2006/relationships/image" Target="../media/image5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customXml" Target="../ink/ink24.xml"/><Relationship Id="rId18" Type="http://schemas.openxmlformats.org/officeDocument/2006/relationships/customXml" Target="../ink/ink26.xml"/><Relationship Id="rId3" Type="http://schemas.openxmlformats.org/officeDocument/2006/relationships/customXml" Target="../ink/ink19.xml"/><Relationship Id="rId21" Type="http://schemas.openxmlformats.org/officeDocument/2006/relationships/image" Target="../media/image70.png"/><Relationship Id="rId7" Type="http://schemas.openxmlformats.org/officeDocument/2006/relationships/customXml" Target="../ink/ink21.xml"/><Relationship Id="rId12" Type="http://schemas.openxmlformats.org/officeDocument/2006/relationships/image" Target="../media/image66.png"/><Relationship Id="rId17" Type="http://schemas.openxmlformats.org/officeDocument/2006/relationships/image" Target="../media/image44.png"/><Relationship Id="rId25" Type="http://schemas.openxmlformats.org/officeDocument/2006/relationships/image" Target="../media/image72.png"/><Relationship Id="rId2" Type="http://schemas.openxmlformats.org/officeDocument/2006/relationships/image" Target="../media/image61.png"/><Relationship Id="rId16" Type="http://schemas.openxmlformats.org/officeDocument/2006/relationships/image" Target="../media/image68.png"/><Relationship Id="rId20" Type="http://schemas.openxmlformats.org/officeDocument/2006/relationships/customXml" Target="../ink/ink27.xml"/><Relationship Id="rId1" Type="http://schemas.openxmlformats.org/officeDocument/2006/relationships/slideLayout" Target="../slideLayouts/slideLayout2.xml"/><Relationship Id="rId6" Type="http://schemas.openxmlformats.org/officeDocument/2006/relationships/image" Target="../media/image63.png"/><Relationship Id="rId11" Type="http://schemas.openxmlformats.org/officeDocument/2006/relationships/customXml" Target="../ink/ink23.xml"/><Relationship Id="rId24" Type="http://schemas.openxmlformats.org/officeDocument/2006/relationships/customXml" Target="../ink/ink29.xml"/><Relationship Id="rId5" Type="http://schemas.openxmlformats.org/officeDocument/2006/relationships/customXml" Target="../ink/ink20.xml"/><Relationship Id="rId15" Type="http://schemas.openxmlformats.org/officeDocument/2006/relationships/customXml" Target="../ink/ink25.xml"/><Relationship Id="rId23" Type="http://schemas.openxmlformats.org/officeDocument/2006/relationships/image" Target="../media/image71.png"/><Relationship Id="rId10" Type="http://schemas.openxmlformats.org/officeDocument/2006/relationships/image" Target="../media/image65.png"/><Relationship Id="rId19" Type="http://schemas.openxmlformats.org/officeDocument/2006/relationships/image" Target="../media/image69.png"/><Relationship Id="rId4" Type="http://schemas.openxmlformats.org/officeDocument/2006/relationships/image" Target="../media/image62.png"/><Relationship Id="rId9" Type="http://schemas.openxmlformats.org/officeDocument/2006/relationships/customXml" Target="../ink/ink22.xml"/><Relationship Id="rId14" Type="http://schemas.openxmlformats.org/officeDocument/2006/relationships/image" Target="../media/image67.png"/><Relationship Id="rId22" Type="http://schemas.openxmlformats.org/officeDocument/2006/relationships/customXml" Target="../ink/ink2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customXml" Target="../ink/ink32.xml"/><Relationship Id="rId3" Type="http://schemas.openxmlformats.org/officeDocument/2006/relationships/image" Target="../media/image75.png"/><Relationship Id="rId7" Type="http://schemas.openxmlformats.org/officeDocument/2006/relationships/image" Target="../media/image450.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customXml" Target="../ink/ink31.xml"/><Relationship Id="rId5" Type="http://schemas.openxmlformats.org/officeDocument/2006/relationships/image" Target="../media/image440.png"/><Relationship Id="rId4" Type="http://schemas.openxmlformats.org/officeDocument/2006/relationships/customXml" Target="../ink/ink30.xml"/><Relationship Id="rId9" Type="http://schemas.openxmlformats.org/officeDocument/2006/relationships/image" Target="../media/image460.png"/></Relationships>
</file>

<file path=ppt/slides/_rels/slide5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8" Type="http://schemas.openxmlformats.org/officeDocument/2006/relationships/image" Target="../media/image500.png"/><Relationship Id="rId3" Type="http://schemas.openxmlformats.org/officeDocument/2006/relationships/customXml" Target="../ink/ink33.xml"/><Relationship Id="rId7" Type="http://schemas.openxmlformats.org/officeDocument/2006/relationships/customXml" Target="../ink/ink35.xml"/><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490.png"/><Relationship Id="rId5" Type="http://schemas.openxmlformats.org/officeDocument/2006/relationships/customXml" Target="../ink/ink34.xml"/><Relationship Id="rId10" Type="http://schemas.openxmlformats.org/officeDocument/2006/relationships/image" Target="../media/image510.png"/><Relationship Id="rId4" Type="http://schemas.openxmlformats.org/officeDocument/2006/relationships/image" Target="../media/image78.png"/><Relationship Id="rId9" Type="http://schemas.openxmlformats.org/officeDocument/2006/relationships/customXml" Target="../ink/ink3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6BAF9-88AC-4600-B511-347782B9C875}"/>
              </a:ext>
            </a:extLst>
          </p:cNvPr>
          <p:cNvSpPr>
            <a:spLocks noGrp="1"/>
          </p:cNvSpPr>
          <p:nvPr>
            <p:ph type="ctrTitle"/>
          </p:nvPr>
        </p:nvSpPr>
        <p:spPr/>
        <p:txBody>
          <a:bodyPr wrap="square">
            <a:normAutofit/>
          </a:bodyPr>
          <a:lstStyle/>
          <a:p>
            <a:r>
              <a:rPr sz="4400"/>
              <a:t>AOSP App Investigations</a:t>
            </a:r>
          </a:p>
        </p:txBody>
      </p:sp>
      <p:sp>
        <p:nvSpPr>
          <p:cNvPr id="3" name="Subtitle 2">
            <a:extLst>
              <a:ext uri="{FF2B5EF4-FFF2-40B4-BE49-F238E27FC236}">
                <a16:creationId xmlns:a16="http://schemas.microsoft.com/office/drawing/2014/main" id="{58CD3106-2EE0-40F4-8C0B-042135FF9FB4}"/>
              </a:ext>
            </a:extLst>
          </p:cNvPr>
          <p:cNvSpPr>
            <a:spLocks noGrp="1"/>
          </p:cNvSpPr>
          <p:nvPr>
            <p:ph type="subTitle" idx="1"/>
          </p:nvPr>
        </p:nvSpPr>
        <p:spPr/>
        <p:txBody>
          <a:bodyPr wrap="square">
            <a:normAutofit/>
          </a:bodyPr>
          <a:lstStyle/>
          <a:p>
            <a:r>
              <a:rPr sz="2200"/>
              <a:t>Part 1: Messaging Service Provider (SMS/MMS)</a:t>
            </a:r>
          </a:p>
        </p:txBody>
      </p:sp>
    </p:spTree>
    <p:extLst>
      <p:ext uri="{BB962C8B-B14F-4D97-AF65-F5344CB8AC3E}">
        <p14:creationId xmlns:p14="http://schemas.microsoft.com/office/powerpoint/2010/main" val="1323245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D1AA9B-6B98-430E-B4E0-474EEF791748}"/>
              </a:ext>
            </a:extLst>
          </p:cNvPr>
          <p:cNvSpPr>
            <a:spLocks noGrp="1"/>
          </p:cNvSpPr>
          <p:nvPr>
            <p:ph type="title"/>
          </p:nvPr>
        </p:nvSpPr>
        <p:spPr/>
        <p:txBody>
          <a:bodyPr wrap="square">
            <a:normAutofit/>
          </a:bodyPr>
          <a:lstStyle/>
          <a:p>
            <a:r>
              <a:rPr sz="3600"/>
              <a:t>Why phone messaging matters in investigations</a:t>
            </a:r>
          </a:p>
        </p:txBody>
      </p:sp>
      <p:pic>
        <p:nvPicPr>
          <p:cNvPr id="7" name="Picture 6">
            <a:extLst>
              <a:ext uri="{FF2B5EF4-FFF2-40B4-BE49-F238E27FC236}">
                <a16:creationId xmlns:a16="http://schemas.microsoft.com/office/drawing/2014/main" id="{FF652EB5-0BC5-45ED-82EA-E8E7EF28FA52}"/>
              </a:ext>
            </a:extLst>
          </p:cNvPr>
          <p:cNvPicPr>
            <a:picLocks noChangeAspect="1"/>
          </p:cNvPicPr>
          <p:nvPr/>
        </p:nvPicPr>
        <p:blipFill>
          <a:blip r:embed="rId3"/>
          <a:stretch>
            <a:fillRect/>
          </a:stretch>
        </p:blipFill>
        <p:spPr>
          <a:xfrm>
            <a:off x="1044393" y="1501467"/>
            <a:ext cx="4385968" cy="2270825"/>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A718F3C1-CC73-4BA8-BA5A-21262479BD99}"/>
              </a:ext>
            </a:extLst>
          </p:cNvPr>
          <p:cNvPicPr>
            <a:picLocks noChangeAspect="1"/>
          </p:cNvPicPr>
          <p:nvPr/>
        </p:nvPicPr>
        <p:blipFill>
          <a:blip r:embed="rId4"/>
          <a:stretch>
            <a:fillRect/>
          </a:stretch>
        </p:blipFill>
        <p:spPr>
          <a:xfrm>
            <a:off x="6557453" y="2328574"/>
            <a:ext cx="3840325" cy="3626528"/>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0928EA06-EA37-43B9-B843-D2A5DB05AF31}"/>
              </a:ext>
            </a:extLst>
          </p:cNvPr>
          <p:cNvPicPr>
            <a:picLocks noChangeAspect="1"/>
          </p:cNvPicPr>
          <p:nvPr/>
        </p:nvPicPr>
        <p:blipFill>
          <a:blip r:embed="rId5"/>
          <a:stretch>
            <a:fillRect/>
          </a:stretch>
        </p:blipFill>
        <p:spPr>
          <a:xfrm>
            <a:off x="1054911" y="4141838"/>
            <a:ext cx="4375450" cy="225338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70298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59095-D279-4A4F-9B71-A1288FC40515}"/>
              </a:ext>
            </a:extLst>
          </p:cNvPr>
          <p:cNvSpPr>
            <a:spLocks noGrp="1"/>
          </p:cNvSpPr>
          <p:nvPr>
            <p:ph type="title"/>
          </p:nvPr>
        </p:nvSpPr>
        <p:spPr/>
        <p:txBody>
          <a:bodyPr wrap="square">
            <a:normAutofit/>
          </a:bodyPr>
          <a:lstStyle/>
          <a:p>
            <a:r>
              <a:rPr lang="en-US" dirty="0"/>
              <a:t>AOSP Application/Services</a:t>
            </a:r>
          </a:p>
        </p:txBody>
      </p:sp>
      <p:sp>
        <p:nvSpPr>
          <p:cNvPr id="3" name="Content Placeholder 2">
            <a:extLst>
              <a:ext uri="{FF2B5EF4-FFF2-40B4-BE49-F238E27FC236}">
                <a16:creationId xmlns:a16="http://schemas.microsoft.com/office/drawing/2014/main" id="{2799846A-3D68-4768-B9E9-0E9864C63640}"/>
              </a:ext>
            </a:extLst>
          </p:cNvPr>
          <p:cNvSpPr>
            <a:spLocks noGrp="1"/>
          </p:cNvSpPr>
          <p:nvPr>
            <p:ph type="body" idx="1"/>
          </p:nvPr>
        </p:nvSpPr>
        <p:spPr/>
        <p:txBody>
          <a:bodyPr wrap="square">
            <a:normAutofit/>
          </a:bodyPr>
          <a:lstStyle/>
          <a:p>
            <a:endParaRPr lang="en-US" dirty="0"/>
          </a:p>
          <a:p>
            <a:endParaRPr lang="en-US" dirty="0"/>
          </a:p>
          <a:p>
            <a:endParaRPr lang="en-US" dirty="0"/>
          </a:p>
        </p:txBody>
      </p:sp>
    </p:spTree>
    <p:extLst>
      <p:ext uri="{BB962C8B-B14F-4D97-AF65-F5344CB8AC3E}">
        <p14:creationId xmlns:p14="http://schemas.microsoft.com/office/powerpoint/2010/main" val="611713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07F9E-469E-44F6-81E3-EB300C936190}"/>
              </a:ext>
            </a:extLst>
          </p:cNvPr>
          <p:cNvSpPr>
            <a:spLocks noGrp="1"/>
          </p:cNvSpPr>
          <p:nvPr>
            <p:ph type="title"/>
          </p:nvPr>
        </p:nvSpPr>
        <p:spPr/>
        <p:txBody>
          <a:bodyPr wrap="square">
            <a:normAutofit/>
          </a:bodyPr>
          <a:lstStyle/>
          <a:p>
            <a:r>
              <a:rPr sz="3400"/>
              <a:t>What is an AOSP application or service?</a:t>
            </a:r>
          </a:p>
        </p:txBody>
      </p:sp>
      <p:sp>
        <p:nvSpPr>
          <p:cNvPr id="3" name="Content Placeholder 2">
            <a:extLst>
              <a:ext uri="{FF2B5EF4-FFF2-40B4-BE49-F238E27FC236}">
                <a16:creationId xmlns:a16="http://schemas.microsoft.com/office/drawing/2014/main" id="{3247E548-7ACA-4A55-B57F-8F9ECF1ED979}"/>
              </a:ext>
            </a:extLst>
          </p:cNvPr>
          <p:cNvSpPr>
            <a:spLocks noGrp="1"/>
          </p:cNvSpPr>
          <p:nvPr>
            <p:ph idx="1"/>
          </p:nvPr>
        </p:nvSpPr>
        <p:spPr>
          <a:xfrm>
            <a:off x="838201" y="1825625"/>
            <a:ext cx="6192328" cy="4351338"/>
          </a:xfrm>
        </p:spPr>
        <p:txBody>
          <a:bodyPr wrap="square">
            <a:normAutofit/>
          </a:bodyPr>
          <a:lstStyle/>
          <a:p>
            <a:r>
              <a:rPr sz="2300" dirty="0"/>
              <a:t>Android Open Source Project (AOSP) apps and services provide baseline phone functionality.</a:t>
            </a:r>
          </a:p>
          <a:p>
            <a:r>
              <a:rPr sz="2300" dirty="0"/>
              <a:t>They also expose standard APIs that other apps can use.</a:t>
            </a:r>
          </a:p>
          <a:p>
            <a:r>
              <a:rPr sz="2300" dirty="0"/>
              <a:t>Forensics value: app-service data may persist even when the visible app is not obvious.</a:t>
            </a:r>
          </a:p>
          <a:p>
            <a:r>
              <a:rPr sz="2300" dirty="0"/>
              <a:t>Key examples: messaging, contacts, calendar, downloads, media, NFC, MTP, and user dictionary.</a:t>
            </a:r>
          </a:p>
        </p:txBody>
      </p:sp>
      <p:sp>
        <p:nvSpPr>
          <p:cNvPr id="4" name="AutoShape 2">
            <a:extLst>
              <a:ext uri="{FF2B5EF4-FFF2-40B4-BE49-F238E27FC236}">
                <a16:creationId xmlns:a16="http://schemas.microsoft.com/office/drawing/2014/main" id="{08FEAFEC-A6BE-E12B-9AEA-F90F22F5F5B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92500" lnSpcReduction="20000"/>
          </a:bodyPr>
          <a:lstStyle/>
          <a:p>
            <a:endParaRPr lang="en-US"/>
          </a:p>
        </p:txBody>
      </p:sp>
      <p:pic>
        <p:nvPicPr>
          <p:cNvPr id="5" name="Picture 4">
            <a:extLst>
              <a:ext uri="{FF2B5EF4-FFF2-40B4-BE49-F238E27FC236}">
                <a16:creationId xmlns:a16="http://schemas.microsoft.com/office/drawing/2014/main" id="{35E4EC6A-F1A6-95F7-4530-E7B1F8D8F90E}"/>
              </a:ext>
            </a:extLst>
          </p:cNvPr>
          <p:cNvPicPr>
            <a:picLocks noChangeAspect="1"/>
          </p:cNvPicPr>
          <p:nvPr/>
        </p:nvPicPr>
        <p:blipFill>
          <a:blip r:embed="rId3"/>
          <a:srcRect l="29601" t="8377" r="30171" b="12136"/>
          <a:stretch>
            <a:fillRect/>
          </a:stretch>
        </p:blipFill>
        <p:spPr>
          <a:xfrm>
            <a:off x="7596112" y="1690688"/>
            <a:ext cx="3365662" cy="4433521"/>
          </a:xfrm>
          <a:prstGeom prst="rect">
            <a:avLst/>
          </a:prstGeom>
        </p:spPr>
      </p:pic>
    </p:spTree>
    <p:extLst>
      <p:ext uri="{BB962C8B-B14F-4D97-AF65-F5344CB8AC3E}">
        <p14:creationId xmlns:p14="http://schemas.microsoft.com/office/powerpoint/2010/main" val="1681695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3CC56C-BD37-42C4-9835-5E085D8B3872}"/>
              </a:ext>
            </a:extLst>
          </p:cNvPr>
          <p:cNvPicPr>
            <a:picLocks noChangeAspect="1"/>
          </p:cNvPicPr>
          <p:nvPr/>
        </p:nvPicPr>
        <p:blipFill>
          <a:blip r:embed="rId3"/>
          <a:stretch>
            <a:fillRect/>
          </a:stretch>
        </p:blipFill>
        <p:spPr>
          <a:xfrm>
            <a:off x="2742178" y="2071583"/>
            <a:ext cx="5700254" cy="3520745"/>
          </a:xfrm>
          <a:prstGeom prst="rect">
            <a:avLst/>
          </a:prstGeom>
        </p:spPr>
      </p:pic>
      <p:pic>
        <p:nvPicPr>
          <p:cNvPr id="7" name="Picture 6">
            <a:extLst>
              <a:ext uri="{FF2B5EF4-FFF2-40B4-BE49-F238E27FC236}">
                <a16:creationId xmlns:a16="http://schemas.microsoft.com/office/drawing/2014/main" id="{09A564FE-EBF2-4334-A51C-F52BD954523B}"/>
              </a:ext>
            </a:extLst>
          </p:cNvPr>
          <p:cNvPicPr>
            <a:picLocks noChangeAspect="1"/>
          </p:cNvPicPr>
          <p:nvPr/>
        </p:nvPicPr>
        <p:blipFill>
          <a:blip r:embed="rId4"/>
          <a:stretch>
            <a:fillRect/>
          </a:stretch>
        </p:blipFill>
        <p:spPr>
          <a:xfrm>
            <a:off x="9309699" y="1382309"/>
            <a:ext cx="1998513" cy="746675"/>
          </a:xfrm>
          <a:prstGeom prst="rect">
            <a:avLst/>
          </a:prstGeom>
        </p:spPr>
      </p:pic>
      <p:sp>
        <p:nvSpPr>
          <p:cNvPr id="9" name="TextBox 8">
            <a:extLst>
              <a:ext uri="{FF2B5EF4-FFF2-40B4-BE49-F238E27FC236}">
                <a16:creationId xmlns:a16="http://schemas.microsoft.com/office/drawing/2014/main" id="{E4536D50-D207-411E-AF5B-8DAE5C8EA820}"/>
              </a:ext>
            </a:extLst>
          </p:cNvPr>
          <p:cNvSpPr txBox="1"/>
          <p:nvPr/>
        </p:nvSpPr>
        <p:spPr>
          <a:xfrm>
            <a:off x="6489288" y="3099520"/>
            <a:ext cx="1880525" cy="769441"/>
          </a:xfrm>
          <a:prstGeom prst="rect">
            <a:avLst/>
          </a:prstGeom>
          <a:solidFill>
            <a:schemeClr val="accent4">
              <a:lumMod val="20000"/>
              <a:lumOff val="80000"/>
            </a:schemeClr>
          </a:solidFill>
        </p:spPr>
        <p:txBody>
          <a:bodyPr wrap="square">
            <a:normAutofit fontScale="92500" lnSpcReduction="20000"/>
          </a:bodyPr>
          <a:lstStyle/>
          <a:p>
            <a:r>
              <a:rPr sz="1400"/>
              <a:t>Different front-end apps may use shared back-end services and credentials.</a:t>
            </a:r>
            <a:endParaRPr lang="en-US" sz="1100"/>
          </a:p>
        </p:txBody>
      </p:sp>
      <p:pic>
        <p:nvPicPr>
          <p:cNvPr id="11" name="Picture 10">
            <a:extLst>
              <a:ext uri="{FF2B5EF4-FFF2-40B4-BE49-F238E27FC236}">
                <a16:creationId xmlns:a16="http://schemas.microsoft.com/office/drawing/2014/main" id="{D6DF6FE0-41AC-4C44-932F-84EBF02AED2B}"/>
              </a:ext>
            </a:extLst>
          </p:cNvPr>
          <p:cNvPicPr>
            <a:picLocks noChangeAspect="1"/>
          </p:cNvPicPr>
          <p:nvPr/>
        </p:nvPicPr>
        <p:blipFill>
          <a:blip r:embed="rId5"/>
          <a:stretch>
            <a:fillRect/>
          </a:stretch>
        </p:blipFill>
        <p:spPr>
          <a:xfrm>
            <a:off x="9260383" y="2160683"/>
            <a:ext cx="2395764" cy="3999111"/>
          </a:xfrm>
          <a:prstGeom prst="rect">
            <a:avLst/>
          </a:prstGeom>
        </p:spPr>
      </p:pic>
      <p:cxnSp>
        <p:nvCxnSpPr>
          <p:cNvPr id="13" name="Straight Arrow Connector 12">
            <a:extLst>
              <a:ext uri="{FF2B5EF4-FFF2-40B4-BE49-F238E27FC236}">
                <a16:creationId xmlns:a16="http://schemas.microsoft.com/office/drawing/2014/main" id="{37DC1696-1F88-4C07-8BAC-6AE7C07AB3AE}"/>
              </a:ext>
            </a:extLst>
          </p:cNvPr>
          <p:cNvCxnSpPr>
            <a:cxnSpLocks/>
          </p:cNvCxnSpPr>
          <p:nvPr/>
        </p:nvCxnSpPr>
        <p:spPr>
          <a:xfrm flipH="1" flipV="1">
            <a:off x="4858719" y="3223647"/>
            <a:ext cx="1557580" cy="260593"/>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15" name="Straight Arrow Connector 14">
            <a:extLst>
              <a:ext uri="{FF2B5EF4-FFF2-40B4-BE49-F238E27FC236}">
                <a16:creationId xmlns:a16="http://schemas.microsoft.com/office/drawing/2014/main" id="{1A1927F3-7639-4E0E-B3D2-CFB18A4AF12A}"/>
              </a:ext>
            </a:extLst>
          </p:cNvPr>
          <p:cNvCxnSpPr>
            <a:cxnSpLocks/>
            <a:stCxn id="11" idx="1"/>
          </p:cNvCxnSpPr>
          <p:nvPr/>
        </p:nvCxnSpPr>
        <p:spPr>
          <a:xfrm flipH="1" flipV="1">
            <a:off x="8357743" y="3221634"/>
            <a:ext cx="902640" cy="938605"/>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pic>
        <p:nvPicPr>
          <p:cNvPr id="19" name="Picture 18">
            <a:extLst>
              <a:ext uri="{FF2B5EF4-FFF2-40B4-BE49-F238E27FC236}">
                <a16:creationId xmlns:a16="http://schemas.microsoft.com/office/drawing/2014/main" id="{10F45EBF-27F0-494A-9875-23E2B2046611}"/>
              </a:ext>
            </a:extLst>
          </p:cNvPr>
          <p:cNvPicPr>
            <a:picLocks noChangeAspect="1"/>
          </p:cNvPicPr>
          <p:nvPr/>
        </p:nvPicPr>
        <p:blipFill>
          <a:blip r:embed="rId6"/>
          <a:stretch>
            <a:fillRect/>
          </a:stretch>
        </p:blipFill>
        <p:spPr>
          <a:xfrm>
            <a:off x="225059" y="1690688"/>
            <a:ext cx="2003349" cy="3091912"/>
          </a:xfrm>
          <a:prstGeom prst="rect">
            <a:avLst/>
          </a:prstGeom>
        </p:spPr>
      </p:pic>
      <p:cxnSp>
        <p:nvCxnSpPr>
          <p:cNvPr id="21" name="Straight Arrow Connector 20">
            <a:extLst>
              <a:ext uri="{FF2B5EF4-FFF2-40B4-BE49-F238E27FC236}">
                <a16:creationId xmlns:a16="http://schemas.microsoft.com/office/drawing/2014/main" id="{7FBF8B3E-4AEF-4FA5-933D-118134B2DC4C}"/>
              </a:ext>
            </a:extLst>
          </p:cNvPr>
          <p:cNvCxnSpPr>
            <a:cxnSpLocks/>
          </p:cNvCxnSpPr>
          <p:nvPr/>
        </p:nvCxnSpPr>
        <p:spPr>
          <a:xfrm flipH="1" flipV="1">
            <a:off x="1835151" y="3099520"/>
            <a:ext cx="907027" cy="32948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ECD111E0-0DD1-4D91-8E10-7899C7DBBE16}"/>
              </a:ext>
            </a:extLst>
          </p:cNvPr>
          <p:cNvCxnSpPr>
            <a:cxnSpLocks/>
            <a:endCxn id="7" idx="1"/>
          </p:cNvCxnSpPr>
          <p:nvPr/>
        </p:nvCxnSpPr>
        <p:spPr>
          <a:xfrm flipV="1">
            <a:off x="6586780" y="1755647"/>
            <a:ext cx="2722919" cy="1003052"/>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27" name="TextBox 26">
            <a:extLst>
              <a:ext uri="{FF2B5EF4-FFF2-40B4-BE49-F238E27FC236}">
                <a16:creationId xmlns:a16="http://schemas.microsoft.com/office/drawing/2014/main" id="{A112C62D-3B12-4D1C-8DB1-6B2CB0993708}"/>
              </a:ext>
            </a:extLst>
          </p:cNvPr>
          <p:cNvSpPr txBox="1"/>
          <p:nvPr/>
        </p:nvSpPr>
        <p:spPr>
          <a:xfrm>
            <a:off x="6750356" y="4389066"/>
            <a:ext cx="2395765" cy="1015663"/>
          </a:xfrm>
          <a:prstGeom prst="rect">
            <a:avLst/>
          </a:prstGeom>
          <a:solidFill>
            <a:schemeClr val="accent6">
              <a:lumMod val="20000"/>
              <a:lumOff val="80000"/>
            </a:schemeClr>
          </a:solidFill>
        </p:spPr>
        <p:txBody>
          <a:bodyPr wrap="square">
            <a:normAutofit/>
          </a:bodyPr>
          <a:lstStyle/>
          <a:p>
            <a:r>
              <a:rPr sz="1300"/>
              <a:t>Telephony provider data can include SMS/MMS, APN/MMSC settings, and service-state artifacts.</a:t>
            </a:r>
            <a:endParaRPr lang="en-US" sz="1200"/>
          </a:p>
        </p:txBody>
      </p:sp>
      <p:cxnSp>
        <p:nvCxnSpPr>
          <p:cNvPr id="28" name="Straight Arrow Connector 27">
            <a:extLst>
              <a:ext uri="{FF2B5EF4-FFF2-40B4-BE49-F238E27FC236}">
                <a16:creationId xmlns:a16="http://schemas.microsoft.com/office/drawing/2014/main" id="{096F7136-4EDE-4836-B17B-0F21B4A74DA4}"/>
              </a:ext>
            </a:extLst>
          </p:cNvPr>
          <p:cNvCxnSpPr>
            <a:cxnSpLocks/>
          </p:cNvCxnSpPr>
          <p:nvPr/>
        </p:nvCxnSpPr>
        <p:spPr>
          <a:xfrm flipH="1" flipV="1">
            <a:off x="5866108" y="4636304"/>
            <a:ext cx="884248" cy="240237"/>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35" name="TextBox 34">
            <a:extLst>
              <a:ext uri="{FF2B5EF4-FFF2-40B4-BE49-F238E27FC236}">
                <a16:creationId xmlns:a16="http://schemas.microsoft.com/office/drawing/2014/main" id="{A966AE2C-9609-462F-B3EE-15C54486E300}"/>
              </a:ext>
            </a:extLst>
          </p:cNvPr>
          <p:cNvSpPr txBox="1"/>
          <p:nvPr/>
        </p:nvSpPr>
        <p:spPr>
          <a:xfrm>
            <a:off x="201142" y="4896897"/>
            <a:ext cx="1837347" cy="461665"/>
          </a:xfrm>
          <a:prstGeom prst="rect">
            <a:avLst/>
          </a:prstGeom>
          <a:solidFill>
            <a:schemeClr val="accent4">
              <a:lumMod val="20000"/>
              <a:lumOff val="80000"/>
            </a:schemeClr>
          </a:solidFill>
        </p:spPr>
        <p:txBody>
          <a:bodyPr wrap="square">
            <a:normAutofit fontScale="77500" lnSpcReduction="20000"/>
          </a:bodyPr>
          <a:lstStyle/>
          <a:p>
            <a:r>
              <a:rPr sz="1300" dirty="0"/>
              <a:t>IMS supports IP-based multimedia communication services.</a:t>
            </a:r>
          </a:p>
        </p:txBody>
      </p:sp>
      <p:cxnSp>
        <p:nvCxnSpPr>
          <p:cNvPr id="36" name="Straight Arrow Connector 35">
            <a:extLst>
              <a:ext uri="{FF2B5EF4-FFF2-40B4-BE49-F238E27FC236}">
                <a16:creationId xmlns:a16="http://schemas.microsoft.com/office/drawing/2014/main" id="{7F5C0BE5-132E-417B-84FD-67AB3A94C5D9}"/>
              </a:ext>
            </a:extLst>
          </p:cNvPr>
          <p:cNvCxnSpPr>
            <a:cxnSpLocks/>
            <a:stCxn id="35" idx="3"/>
          </p:cNvCxnSpPr>
          <p:nvPr/>
        </p:nvCxnSpPr>
        <p:spPr>
          <a:xfrm flipV="1">
            <a:off x="2038489" y="5067946"/>
            <a:ext cx="703689" cy="59784"/>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43" name="TextBox 42">
            <a:extLst>
              <a:ext uri="{FF2B5EF4-FFF2-40B4-BE49-F238E27FC236}">
                <a16:creationId xmlns:a16="http://schemas.microsoft.com/office/drawing/2014/main" id="{4D96CE77-8B51-40EF-AA74-4210E907CFAF}"/>
              </a:ext>
            </a:extLst>
          </p:cNvPr>
          <p:cNvSpPr txBox="1"/>
          <p:nvPr/>
        </p:nvSpPr>
        <p:spPr>
          <a:xfrm>
            <a:off x="225059" y="5712524"/>
            <a:ext cx="2087552" cy="830997"/>
          </a:xfrm>
          <a:prstGeom prst="rect">
            <a:avLst/>
          </a:prstGeom>
          <a:solidFill>
            <a:schemeClr val="accent4">
              <a:lumMod val="20000"/>
              <a:lumOff val="80000"/>
            </a:schemeClr>
          </a:solidFill>
        </p:spPr>
        <p:txBody>
          <a:bodyPr wrap="square">
            <a:normAutofit/>
          </a:bodyPr>
          <a:lstStyle/>
          <a:p>
            <a:r>
              <a:rPr sz="1300"/>
              <a:t>System tracing records short-term device activity and performance behavior.</a:t>
            </a:r>
            <a:endParaRPr lang="en-US" sz="1200"/>
          </a:p>
        </p:txBody>
      </p:sp>
      <p:cxnSp>
        <p:nvCxnSpPr>
          <p:cNvPr id="44" name="Straight Arrow Connector 43">
            <a:extLst>
              <a:ext uri="{FF2B5EF4-FFF2-40B4-BE49-F238E27FC236}">
                <a16:creationId xmlns:a16="http://schemas.microsoft.com/office/drawing/2014/main" id="{5278ED39-4F1E-4B31-AD04-2CCE190B112F}"/>
              </a:ext>
            </a:extLst>
          </p:cNvPr>
          <p:cNvCxnSpPr>
            <a:cxnSpLocks/>
          </p:cNvCxnSpPr>
          <p:nvPr/>
        </p:nvCxnSpPr>
        <p:spPr>
          <a:xfrm flipV="1">
            <a:off x="2312611" y="5298779"/>
            <a:ext cx="1752072" cy="669269"/>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47" name="Title 46">
            <a:extLst>
              <a:ext uri="{FF2B5EF4-FFF2-40B4-BE49-F238E27FC236}">
                <a16:creationId xmlns:a16="http://schemas.microsoft.com/office/drawing/2014/main" id="{44379959-ADB6-4CA0-B5E1-F7E4EDBED422}"/>
              </a:ext>
            </a:extLst>
          </p:cNvPr>
          <p:cNvSpPr>
            <a:spLocks noGrp="1"/>
          </p:cNvSpPr>
          <p:nvPr>
            <p:ph type="title"/>
          </p:nvPr>
        </p:nvSpPr>
        <p:spPr/>
        <p:txBody>
          <a:bodyPr wrap="square">
            <a:normAutofit/>
          </a:bodyPr>
          <a:lstStyle/>
          <a:p>
            <a:r>
              <a:rPr sz="3400"/>
              <a:t>AOSP Apps/Services: com.android.*</a:t>
            </a:r>
            <a:endParaRPr lang="en-US" dirty="0"/>
          </a:p>
        </p:txBody>
      </p:sp>
    </p:spTree>
    <p:extLst>
      <p:ext uri="{BB962C8B-B14F-4D97-AF65-F5344CB8AC3E}">
        <p14:creationId xmlns:p14="http://schemas.microsoft.com/office/powerpoint/2010/main" val="1408481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2FE13C6A-7B51-4378-B6A0-BFBFB074E2F9}"/>
              </a:ext>
            </a:extLst>
          </p:cNvPr>
          <p:cNvPicPr>
            <a:picLocks noChangeAspect="1"/>
          </p:cNvPicPr>
          <p:nvPr/>
        </p:nvPicPr>
        <p:blipFill>
          <a:blip r:embed="rId2"/>
          <a:stretch>
            <a:fillRect/>
          </a:stretch>
        </p:blipFill>
        <p:spPr>
          <a:xfrm>
            <a:off x="8301040" y="1690688"/>
            <a:ext cx="1448822" cy="2965925"/>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FAD75B04-D3D4-4837-A9C1-4E37452C0987}"/>
              </a:ext>
            </a:extLst>
          </p:cNvPr>
          <p:cNvSpPr>
            <a:spLocks noGrp="1"/>
          </p:cNvSpPr>
          <p:nvPr>
            <p:ph type="title"/>
          </p:nvPr>
        </p:nvSpPr>
        <p:spPr/>
        <p:txBody>
          <a:bodyPr wrap="square">
            <a:normAutofit/>
          </a:bodyPr>
          <a:lstStyle/>
          <a:p>
            <a:r>
              <a:rPr sz="3400"/>
              <a:t>Core AOSP services to investigate</a:t>
            </a:r>
            <a:endParaRPr lang="en-US" dirty="0"/>
          </a:p>
        </p:txBody>
      </p:sp>
      <p:cxnSp>
        <p:nvCxnSpPr>
          <p:cNvPr id="14" name="Straight Arrow Connector 13">
            <a:extLst>
              <a:ext uri="{FF2B5EF4-FFF2-40B4-BE49-F238E27FC236}">
                <a16:creationId xmlns:a16="http://schemas.microsoft.com/office/drawing/2014/main" id="{7F8EA1B2-B840-481D-91FA-992E13068C7F}"/>
              </a:ext>
            </a:extLst>
          </p:cNvPr>
          <p:cNvCxnSpPr>
            <a:cxnSpLocks/>
          </p:cNvCxnSpPr>
          <p:nvPr/>
        </p:nvCxnSpPr>
        <p:spPr>
          <a:xfrm flipV="1">
            <a:off x="5661329" y="1130058"/>
            <a:ext cx="4260559" cy="9452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4D81EF8-8E64-40E5-B10F-F49C9E9BD232}"/>
              </a:ext>
            </a:extLst>
          </p:cNvPr>
          <p:cNvCxnSpPr>
            <a:cxnSpLocks/>
          </p:cNvCxnSpPr>
          <p:nvPr/>
        </p:nvCxnSpPr>
        <p:spPr>
          <a:xfrm flipV="1">
            <a:off x="5876810" y="2441415"/>
            <a:ext cx="2639377" cy="35718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2CB0E1ED-D407-4087-8F30-54794BB23D8B}"/>
              </a:ext>
            </a:extLst>
          </p:cNvPr>
          <p:cNvCxnSpPr>
            <a:cxnSpLocks/>
          </p:cNvCxnSpPr>
          <p:nvPr/>
        </p:nvCxnSpPr>
        <p:spPr>
          <a:xfrm>
            <a:off x="5784505" y="3695858"/>
            <a:ext cx="1021494" cy="46685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AAB26786-60D7-49F6-A7AE-9D2E35230F4E}"/>
              </a:ext>
            </a:extLst>
          </p:cNvPr>
          <p:cNvSpPr>
            <a:spLocks noGrp="1"/>
          </p:cNvSpPr>
          <p:nvPr>
            <p:ph idx="1"/>
          </p:nvPr>
        </p:nvSpPr>
        <p:spPr>
          <a:xfrm>
            <a:off x="838200" y="1825625"/>
            <a:ext cx="5674743" cy="4351338"/>
          </a:xfrm>
        </p:spPr>
        <p:txBody>
          <a:bodyPr wrap="square">
            <a:normAutofit/>
          </a:bodyPr>
          <a:lstStyle/>
          <a:p>
            <a:r>
              <a:rPr sz="2400" dirty="0"/>
              <a:t>Messaging service: SMS/MMS</a:t>
            </a:r>
          </a:p>
          <a:p>
            <a:pPr lvl="1"/>
            <a:r>
              <a:rPr sz="2000" dirty="0"/>
              <a:t>Package:</a:t>
            </a:r>
            <a:r>
              <a:rPr lang="en-US" sz="2000" dirty="0"/>
              <a:t> </a:t>
            </a:r>
            <a:r>
              <a:rPr sz="2000" dirty="0" err="1">
                <a:latin typeface="Arial Narrow" panose="020B0606020202030204" pitchFamily="34" charset="0"/>
              </a:rPr>
              <a:t>com.android.providers.telephony</a:t>
            </a:r>
            <a:endParaRPr sz="2000" dirty="0">
              <a:latin typeface="Arial Narrow" panose="020B0606020202030204" pitchFamily="34" charset="0"/>
            </a:endParaRPr>
          </a:p>
          <a:p>
            <a:r>
              <a:rPr sz="2400" dirty="0"/>
              <a:t>Contacts service: contacts and call log</a:t>
            </a:r>
          </a:p>
          <a:p>
            <a:pPr lvl="1"/>
            <a:r>
              <a:rPr sz="2000" dirty="0"/>
              <a:t>Package: </a:t>
            </a:r>
            <a:r>
              <a:rPr sz="2000" dirty="0" err="1">
                <a:latin typeface="Arial Narrow" panose="020B0606020202030204" pitchFamily="34" charset="0"/>
              </a:rPr>
              <a:t>com.android.providers.contacts</a:t>
            </a:r>
            <a:endParaRPr sz="2000" dirty="0">
              <a:latin typeface="Arial Narrow" panose="020B0606020202030204" pitchFamily="34" charset="0"/>
            </a:endParaRPr>
          </a:p>
          <a:p>
            <a:r>
              <a:rPr sz="2400" dirty="0"/>
              <a:t>Calendar service: events and reminders</a:t>
            </a:r>
          </a:p>
          <a:p>
            <a:pPr lvl="1"/>
            <a:r>
              <a:rPr sz="2000" dirty="0"/>
              <a:t>Package: </a:t>
            </a:r>
            <a:r>
              <a:rPr sz="2000" dirty="0" err="1">
                <a:latin typeface="Arial Narrow" panose="020B0606020202030204" pitchFamily="34" charset="0"/>
              </a:rPr>
              <a:t>com.android.providers.calendar</a:t>
            </a:r>
            <a:endParaRPr sz="2000" dirty="0">
              <a:latin typeface="Arial Narrow" panose="020B0606020202030204" pitchFamily="34" charset="0"/>
            </a:endParaRPr>
          </a:p>
        </p:txBody>
      </p:sp>
      <p:pic>
        <p:nvPicPr>
          <p:cNvPr id="25" name="Picture 24">
            <a:extLst>
              <a:ext uri="{FF2B5EF4-FFF2-40B4-BE49-F238E27FC236}">
                <a16:creationId xmlns:a16="http://schemas.microsoft.com/office/drawing/2014/main" id="{6E4CD059-59FE-4C2D-86EE-E74B0FFFB27A}"/>
              </a:ext>
            </a:extLst>
          </p:cNvPr>
          <p:cNvPicPr>
            <a:picLocks noChangeAspect="1"/>
          </p:cNvPicPr>
          <p:nvPr/>
        </p:nvPicPr>
        <p:blipFill>
          <a:blip r:embed="rId3"/>
          <a:stretch>
            <a:fillRect/>
          </a:stretch>
        </p:blipFill>
        <p:spPr>
          <a:xfrm>
            <a:off x="10042918" y="359539"/>
            <a:ext cx="1684915" cy="3431502"/>
          </a:xfrm>
          <a:prstGeom prst="rect">
            <a:avLst/>
          </a:prstGeom>
          <a:ln>
            <a:noFill/>
          </a:ln>
          <a:effectLst>
            <a:outerShdw blurRad="292100" dist="139700" dir="2700000" algn="tl" rotWithShape="0">
              <a:srgbClr val="333333">
                <a:alpha val="65000"/>
              </a:srgbClr>
            </a:outerShdw>
          </a:effectLst>
        </p:spPr>
      </p:pic>
      <p:pic>
        <p:nvPicPr>
          <p:cNvPr id="3" name="Picture 3" descr="A picture containing chart&#10;&#10;Description automatically generated">
            <a:extLst>
              <a:ext uri="{FF2B5EF4-FFF2-40B4-BE49-F238E27FC236}">
                <a16:creationId xmlns:a16="http://schemas.microsoft.com/office/drawing/2014/main" id="{10FD14E9-B310-488A-903C-5E0DDAC828FC}"/>
              </a:ext>
            </a:extLst>
          </p:cNvPr>
          <p:cNvPicPr>
            <a:picLocks noChangeAspect="1"/>
          </p:cNvPicPr>
          <p:nvPr/>
        </p:nvPicPr>
        <p:blipFill>
          <a:blip r:embed="rId4"/>
          <a:stretch>
            <a:fillRect/>
          </a:stretch>
        </p:blipFill>
        <p:spPr>
          <a:xfrm>
            <a:off x="6612876" y="3228433"/>
            <a:ext cx="1448822" cy="32162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77270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12EDA0-A064-4A81-B30F-E2891869589D}"/>
              </a:ext>
            </a:extLst>
          </p:cNvPr>
          <p:cNvSpPr>
            <a:spLocks noGrp="1"/>
          </p:cNvSpPr>
          <p:nvPr>
            <p:ph type="title"/>
          </p:nvPr>
        </p:nvSpPr>
        <p:spPr/>
        <p:txBody>
          <a:bodyPr wrap="square">
            <a:normAutofit/>
          </a:bodyPr>
          <a:lstStyle/>
          <a:p>
            <a:r>
              <a:rPr sz="4400"/>
              <a:t>Messaging services</a:t>
            </a:r>
          </a:p>
        </p:txBody>
      </p:sp>
      <p:sp>
        <p:nvSpPr>
          <p:cNvPr id="4" name="Text Placeholder 3">
            <a:extLst>
              <a:ext uri="{FF2B5EF4-FFF2-40B4-BE49-F238E27FC236}">
                <a16:creationId xmlns:a16="http://schemas.microsoft.com/office/drawing/2014/main" id="{8BF52F07-FA21-4132-A061-5E6D969465BC}"/>
              </a:ext>
            </a:extLst>
          </p:cNvPr>
          <p:cNvSpPr>
            <a:spLocks noGrp="1"/>
          </p:cNvSpPr>
          <p:nvPr>
            <p:ph type="body" idx="1"/>
          </p:nvPr>
        </p:nvSpPr>
        <p:spPr/>
        <p:txBody>
          <a:bodyPr wrap="square">
            <a:normAutofit/>
          </a:bodyPr>
          <a:lstStyle/>
          <a:p>
            <a:r>
              <a:rPr sz="2200"/>
              <a:t>SMS and MMS evidence sources</a:t>
            </a:r>
          </a:p>
        </p:txBody>
      </p:sp>
      <p:pic>
        <p:nvPicPr>
          <p:cNvPr id="1026" name="Picture 2" descr="The Android Telephony API for GSM - Open Source For You">
            <a:extLst>
              <a:ext uri="{FF2B5EF4-FFF2-40B4-BE49-F238E27FC236}">
                <a16:creationId xmlns:a16="http://schemas.microsoft.com/office/drawing/2014/main" id="{8978B64E-ADD2-ECB8-95B7-A1ED20629E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0072" y="3969"/>
            <a:ext cx="57150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032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821449-767B-4B25-B116-BAB43FE2E540}"/>
              </a:ext>
            </a:extLst>
          </p:cNvPr>
          <p:cNvSpPr>
            <a:spLocks noGrp="1"/>
          </p:cNvSpPr>
          <p:nvPr>
            <p:ph type="title"/>
          </p:nvPr>
        </p:nvSpPr>
        <p:spPr/>
        <p:txBody>
          <a:bodyPr wrap="square">
            <a:normAutofit/>
          </a:bodyPr>
          <a:lstStyle/>
          <a:p>
            <a:r>
              <a:rPr sz="3200"/>
              <a:t>Messaging service is a core AOSP evidence source</a:t>
            </a:r>
            <a:endParaRPr lang="en-US" dirty="0"/>
          </a:p>
        </p:txBody>
      </p:sp>
      <p:sp>
        <p:nvSpPr>
          <p:cNvPr id="5" name="Content Placeholder 4">
            <a:extLst>
              <a:ext uri="{FF2B5EF4-FFF2-40B4-BE49-F238E27FC236}">
                <a16:creationId xmlns:a16="http://schemas.microsoft.com/office/drawing/2014/main" id="{EF7A98D7-B546-4B62-A553-0AC31C013774}"/>
              </a:ext>
            </a:extLst>
          </p:cNvPr>
          <p:cNvSpPr>
            <a:spLocks noGrp="1"/>
          </p:cNvSpPr>
          <p:nvPr>
            <p:ph idx="1"/>
          </p:nvPr>
        </p:nvSpPr>
        <p:spPr>
          <a:xfrm>
            <a:off x="838200" y="1825625"/>
            <a:ext cx="5165035" cy="4351338"/>
          </a:xfrm>
        </p:spPr>
        <p:txBody>
          <a:bodyPr wrap="square">
            <a:normAutofit/>
          </a:bodyPr>
          <a:lstStyle/>
          <a:p>
            <a:r>
              <a:rPr sz="2300"/>
              <a:t>SMS: Short Message Service; text messages and related metadata.</a:t>
            </a:r>
          </a:p>
          <a:p>
            <a:r>
              <a:rPr sz="2300"/>
              <a:t>MMS: Multimedia Messaging Service; text plus media such as images, audio, and video.</a:t>
            </a:r>
          </a:p>
          <a:p>
            <a:r>
              <a:rPr sz="2300"/>
              <a:t>Provider role: stores message content, status, timestamps, participants, and attachment references.</a:t>
            </a:r>
          </a:p>
        </p:txBody>
      </p:sp>
      <p:pic>
        <p:nvPicPr>
          <p:cNvPr id="3074" name="Picture 2">
            <a:extLst>
              <a:ext uri="{FF2B5EF4-FFF2-40B4-BE49-F238E27FC236}">
                <a16:creationId xmlns:a16="http://schemas.microsoft.com/office/drawing/2014/main" id="{8246A28F-2C38-43F9-B302-0D5A6ED8CC8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655" r="11694"/>
          <a:stretch/>
        </p:blipFill>
        <p:spPr bwMode="auto">
          <a:xfrm>
            <a:off x="6390862" y="1352550"/>
            <a:ext cx="5695122" cy="55054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A568C86-3353-45AE-A0A5-405357C9C5F1}"/>
              </a:ext>
            </a:extLst>
          </p:cNvPr>
          <p:cNvSpPr txBox="1"/>
          <p:nvPr/>
        </p:nvSpPr>
        <p:spPr>
          <a:xfrm>
            <a:off x="6390862" y="6657086"/>
            <a:ext cx="6177168" cy="261610"/>
          </a:xfrm>
          <a:prstGeom prst="rect">
            <a:avLst/>
          </a:prstGeom>
          <a:noFill/>
        </p:spPr>
        <p:txBody>
          <a:bodyPr wrap="square">
            <a:normAutofit/>
          </a:bodyPr>
          <a:lstStyle/>
          <a:p>
            <a:r>
              <a:rPr sz="1100"/>
              <a:t>Example: third-party messaging apps may interact with Android messaging services.</a:t>
            </a:r>
          </a:p>
        </p:txBody>
      </p:sp>
    </p:spTree>
    <p:extLst>
      <p:ext uri="{BB962C8B-B14F-4D97-AF65-F5344CB8AC3E}">
        <p14:creationId xmlns:p14="http://schemas.microsoft.com/office/powerpoint/2010/main" val="4252957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59118-A9C2-4435-AE1E-72AB3C64C6DE}"/>
              </a:ext>
            </a:extLst>
          </p:cNvPr>
          <p:cNvSpPr>
            <a:spLocks noGrp="1"/>
          </p:cNvSpPr>
          <p:nvPr>
            <p:ph type="title"/>
          </p:nvPr>
        </p:nvSpPr>
        <p:spPr/>
        <p:txBody>
          <a:bodyPr wrap="square">
            <a:normAutofit/>
          </a:bodyPr>
          <a:lstStyle/>
          <a:p>
            <a:r>
              <a:rPr sz="4200"/>
              <a:t>Messaging service implementation</a:t>
            </a:r>
            <a:endParaRPr lang="en-US" dirty="0"/>
          </a:p>
        </p:txBody>
      </p:sp>
      <p:pic>
        <p:nvPicPr>
          <p:cNvPr id="5" name="Picture 4">
            <a:extLst>
              <a:ext uri="{FF2B5EF4-FFF2-40B4-BE49-F238E27FC236}">
                <a16:creationId xmlns:a16="http://schemas.microsoft.com/office/drawing/2014/main" id="{51C386D4-65A0-4689-A164-D55D12B3F1E4}"/>
              </a:ext>
            </a:extLst>
          </p:cNvPr>
          <p:cNvPicPr>
            <a:picLocks noChangeAspect="1"/>
          </p:cNvPicPr>
          <p:nvPr/>
        </p:nvPicPr>
        <p:blipFill>
          <a:blip r:embed="rId3"/>
          <a:stretch>
            <a:fillRect/>
          </a:stretch>
        </p:blipFill>
        <p:spPr>
          <a:xfrm>
            <a:off x="838200" y="1633288"/>
            <a:ext cx="6695112" cy="4536923"/>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D03E66A2-65E6-4BFD-9699-DDE83B8D0CCC}"/>
              </a:ext>
            </a:extLst>
          </p:cNvPr>
          <p:cNvSpPr txBox="1"/>
          <p:nvPr/>
        </p:nvSpPr>
        <p:spPr>
          <a:xfrm>
            <a:off x="8078525" y="4953663"/>
            <a:ext cx="2197642" cy="818984"/>
          </a:xfrm>
          <a:prstGeom prst="rect">
            <a:avLst/>
          </a:prstGeom>
          <a:solidFill>
            <a:schemeClr val="accent4">
              <a:lumMod val="20000"/>
              <a:lumOff val="80000"/>
            </a:schemeClr>
          </a:solidFill>
        </p:spPr>
        <p:txBody>
          <a:bodyPr wrap="square" rtlCol="0">
            <a:normAutofit fontScale="85000" lnSpcReduction="10000"/>
          </a:bodyPr>
          <a:lstStyle/>
          <a:p>
            <a:r>
              <a:rPr sz="2000" dirty="0"/>
              <a:t>Can be used by third-party</a:t>
            </a:r>
            <a:r>
              <a:rPr lang="en-US" sz="2000" dirty="0"/>
              <a:t> applications through Android APIs.</a:t>
            </a:r>
            <a:endParaRPr sz="2000" dirty="0"/>
          </a:p>
        </p:txBody>
      </p:sp>
      <p:cxnSp>
        <p:nvCxnSpPr>
          <p:cNvPr id="10" name="Straight Arrow Connector 9">
            <a:extLst>
              <a:ext uri="{FF2B5EF4-FFF2-40B4-BE49-F238E27FC236}">
                <a16:creationId xmlns:a16="http://schemas.microsoft.com/office/drawing/2014/main" id="{165DE37E-60BE-4D3B-9337-9BC9293EF6F6}"/>
              </a:ext>
            </a:extLst>
          </p:cNvPr>
          <p:cNvCxnSpPr>
            <a:cxnSpLocks/>
          </p:cNvCxnSpPr>
          <p:nvPr/>
        </p:nvCxnSpPr>
        <p:spPr>
          <a:xfrm flipV="1">
            <a:off x="6361043" y="5351228"/>
            <a:ext cx="1717482" cy="421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AA20CDB4-8A93-44E9-B77B-D6BE138C73C5}"/>
              </a:ext>
            </a:extLst>
          </p:cNvPr>
          <p:cNvPicPr>
            <a:picLocks noChangeAspect="1"/>
          </p:cNvPicPr>
          <p:nvPr/>
        </p:nvPicPr>
        <p:blipFill>
          <a:blip r:embed="rId4"/>
          <a:stretch>
            <a:fillRect/>
          </a:stretch>
        </p:blipFill>
        <p:spPr>
          <a:xfrm>
            <a:off x="8309113" y="2631882"/>
            <a:ext cx="3444783" cy="2071071"/>
          </a:xfrm>
          <a:prstGeom prst="rect">
            <a:avLst/>
          </a:prstGeom>
        </p:spPr>
      </p:pic>
    </p:spTree>
    <p:extLst>
      <p:ext uri="{BB962C8B-B14F-4D97-AF65-F5344CB8AC3E}">
        <p14:creationId xmlns:p14="http://schemas.microsoft.com/office/powerpoint/2010/main" val="2406771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30C27-0B16-4B3C-9B0F-2E2B39682460}"/>
              </a:ext>
            </a:extLst>
          </p:cNvPr>
          <p:cNvSpPr>
            <a:spLocks noGrp="1"/>
          </p:cNvSpPr>
          <p:nvPr>
            <p:ph type="title"/>
          </p:nvPr>
        </p:nvSpPr>
        <p:spPr/>
        <p:txBody>
          <a:bodyPr wrap="square">
            <a:normAutofit/>
          </a:bodyPr>
          <a:lstStyle/>
          <a:p>
            <a:r>
              <a:rPr sz="3600"/>
              <a:t>Messaging service can be used by other apps</a:t>
            </a:r>
            <a:endParaRPr lang="en-US" dirty="0">
              <a:solidFill>
                <a:srgbClr val="002060"/>
              </a:solidFill>
              <a:cs typeface="Calibri Light"/>
            </a:endParaRPr>
          </a:p>
        </p:txBody>
      </p:sp>
      <p:pic>
        <p:nvPicPr>
          <p:cNvPr id="4" name="Picture 3">
            <a:extLst>
              <a:ext uri="{FF2B5EF4-FFF2-40B4-BE49-F238E27FC236}">
                <a16:creationId xmlns:a16="http://schemas.microsoft.com/office/drawing/2014/main" id="{13655B71-C971-4272-B18B-117E16D46949}"/>
              </a:ext>
            </a:extLst>
          </p:cNvPr>
          <p:cNvPicPr>
            <a:picLocks noChangeAspect="1"/>
          </p:cNvPicPr>
          <p:nvPr/>
        </p:nvPicPr>
        <p:blipFill rotWithShape="1">
          <a:blip r:embed="rId2"/>
          <a:srcRect b="37246"/>
          <a:stretch/>
        </p:blipFill>
        <p:spPr>
          <a:xfrm>
            <a:off x="838200" y="1779105"/>
            <a:ext cx="7788965" cy="4596091"/>
          </a:xfrm>
          <a:prstGeom prst="rect">
            <a:avLst/>
          </a:prstGeom>
        </p:spPr>
      </p:pic>
    </p:spTree>
    <p:extLst>
      <p:ext uri="{BB962C8B-B14F-4D97-AF65-F5344CB8AC3E}">
        <p14:creationId xmlns:p14="http://schemas.microsoft.com/office/powerpoint/2010/main" val="2117915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A1920-EBFB-4893-8070-5907D25F77D9}"/>
              </a:ext>
            </a:extLst>
          </p:cNvPr>
          <p:cNvSpPr>
            <a:spLocks noGrp="1"/>
          </p:cNvSpPr>
          <p:nvPr>
            <p:ph type="title"/>
          </p:nvPr>
        </p:nvSpPr>
        <p:spPr/>
        <p:txBody>
          <a:bodyPr wrap="square">
            <a:normAutofit/>
          </a:bodyPr>
          <a:lstStyle/>
          <a:p>
            <a:r>
              <a:rPr sz="3600"/>
              <a:t>Check which apps use messaging services</a:t>
            </a:r>
          </a:p>
        </p:txBody>
      </p:sp>
      <p:pic>
        <p:nvPicPr>
          <p:cNvPr id="5" name="Picture 4">
            <a:extLst>
              <a:ext uri="{FF2B5EF4-FFF2-40B4-BE49-F238E27FC236}">
                <a16:creationId xmlns:a16="http://schemas.microsoft.com/office/drawing/2014/main" id="{35242082-A1BB-4CDD-B0FD-A64354D1ED6A}"/>
              </a:ext>
            </a:extLst>
          </p:cNvPr>
          <p:cNvPicPr>
            <a:picLocks noChangeAspect="1"/>
          </p:cNvPicPr>
          <p:nvPr/>
        </p:nvPicPr>
        <p:blipFill>
          <a:blip r:embed="rId2"/>
          <a:stretch>
            <a:fillRect/>
          </a:stretch>
        </p:blipFill>
        <p:spPr>
          <a:xfrm>
            <a:off x="972807" y="1482355"/>
            <a:ext cx="3027192" cy="4780722"/>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5248BB88-50FE-4E0F-85A1-C88EDBD2FB65}"/>
              </a:ext>
            </a:extLst>
          </p:cNvPr>
          <p:cNvPicPr>
            <a:picLocks noChangeAspect="1"/>
          </p:cNvPicPr>
          <p:nvPr/>
        </p:nvPicPr>
        <p:blipFill>
          <a:blip r:embed="rId3"/>
          <a:stretch>
            <a:fillRect/>
          </a:stretch>
        </p:blipFill>
        <p:spPr>
          <a:xfrm>
            <a:off x="4623889" y="1453792"/>
            <a:ext cx="3176561" cy="4809285"/>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CAB431B0-E85F-4FB7-95E7-D350E54DE4E3}"/>
              </a:ext>
            </a:extLst>
          </p:cNvPr>
          <p:cNvPicPr>
            <a:picLocks noChangeAspect="1"/>
          </p:cNvPicPr>
          <p:nvPr/>
        </p:nvPicPr>
        <p:blipFill>
          <a:blip r:embed="rId4"/>
          <a:stretch>
            <a:fillRect/>
          </a:stretch>
        </p:blipFill>
        <p:spPr>
          <a:xfrm>
            <a:off x="8424340" y="1482355"/>
            <a:ext cx="3553350" cy="4718725"/>
          </a:xfrm>
          <a:prstGeom prst="rect">
            <a:avLst/>
          </a:prstGeom>
          <a:ln>
            <a:noFill/>
          </a:ln>
          <a:effectLst>
            <a:outerShdw blurRad="292100" dist="139700" dir="2700000" algn="tl" rotWithShape="0">
              <a:srgbClr val="333333">
                <a:alpha val="65000"/>
              </a:srgbClr>
            </a:outerShdw>
          </a:effectLst>
        </p:spPr>
      </p:pic>
      <p:sp>
        <p:nvSpPr>
          <p:cNvPr id="10" name="Arrow: Right 9">
            <a:extLst>
              <a:ext uri="{FF2B5EF4-FFF2-40B4-BE49-F238E27FC236}">
                <a16:creationId xmlns:a16="http://schemas.microsoft.com/office/drawing/2014/main" id="{5F8A8468-719A-41F4-BEFD-18EE409D2583}"/>
              </a:ext>
            </a:extLst>
          </p:cNvPr>
          <p:cNvSpPr/>
          <p:nvPr/>
        </p:nvSpPr>
        <p:spPr>
          <a:xfrm>
            <a:off x="4114800" y="3766930"/>
            <a:ext cx="298174" cy="1490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en-US"/>
          </a:p>
        </p:txBody>
      </p:sp>
      <p:sp>
        <p:nvSpPr>
          <p:cNvPr id="11" name="Arrow: Right 10">
            <a:extLst>
              <a:ext uri="{FF2B5EF4-FFF2-40B4-BE49-F238E27FC236}">
                <a16:creationId xmlns:a16="http://schemas.microsoft.com/office/drawing/2014/main" id="{15EFE5DF-F086-4E12-900E-17049E483B17}"/>
              </a:ext>
            </a:extLst>
          </p:cNvPr>
          <p:cNvSpPr/>
          <p:nvPr/>
        </p:nvSpPr>
        <p:spPr>
          <a:xfrm>
            <a:off x="7951304" y="3766930"/>
            <a:ext cx="373712" cy="1490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en-US"/>
          </a:p>
        </p:txBody>
      </p:sp>
    </p:spTree>
    <p:extLst>
      <p:ext uri="{BB962C8B-B14F-4D97-AF65-F5344CB8AC3E}">
        <p14:creationId xmlns:p14="http://schemas.microsoft.com/office/powerpoint/2010/main" val="29165300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DAEB432-8C66-7104-28C5-984B7A13FDC9}"/>
              </a:ext>
            </a:extLst>
          </p:cNvPr>
          <p:cNvSpPr>
            <a:spLocks noGrp="1"/>
          </p:cNvSpPr>
          <p:nvPr>
            <p:ph type="title"/>
          </p:nvPr>
        </p:nvSpPr>
        <p:spPr/>
        <p:txBody>
          <a:bodyPr wrap="square">
            <a:normAutofit/>
          </a:bodyPr>
          <a:lstStyle/>
          <a:p>
            <a:r>
              <a:rPr sz="4000"/>
              <a:t>Messaging services in digital forensics</a:t>
            </a:r>
          </a:p>
        </p:txBody>
      </p:sp>
      <p:sp>
        <p:nvSpPr>
          <p:cNvPr id="4" name="Text Placeholder 3">
            <a:extLst>
              <a:ext uri="{FF2B5EF4-FFF2-40B4-BE49-F238E27FC236}">
                <a16:creationId xmlns:a16="http://schemas.microsoft.com/office/drawing/2014/main" id="{56A50A64-57EB-85DD-9E5B-88B8122C7A05}"/>
              </a:ext>
            </a:extLst>
          </p:cNvPr>
          <p:cNvSpPr>
            <a:spLocks noGrp="1"/>
          </p:cNvSpPr>
          <p:nvPr>
            <p:ph type="body" idx="1"/>
          </p:nvPr>
        </p:nvSpPr>
        <p:spPr/>
        <p:txBody>
          <a:bodyPr wrap="square">
            <a:normAutofit/>
          </a:bodyPr>
          <a:lstStyle/>
          <a:p>
            <a:endParaRPr lang="en-US"/>
          </a:p>
        </p:txBody>
      </p:sp>
    </p:spTree>
    <p:extLst>
      <p:ext uri="{BB962C8B-B14F-4D97-AF65-F5344CB8AC3E}">
        <p14:creationId xmlns:p14="http://schemas.microsoft.com/office/powerpoint/2010/main" val="38849432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D971-4910-47BD-BE36-8F87425E86E4}"/>
              </a:ext>
            </a:extLst>
          </p:cNvPr>
          <p:cNvSpPr>
            <a:spLocks noGrp="1"/>
          </p:cNvSpPr>
          <p:nvPr>
            <p:ph type="title"/>
          </p:nvPr>
        </p:nvSpPr>
        <p:spPr/>
        <p:txBody>
          <a:bodyPr wrap="square">
            <a:normAutofit/>
          </a:bodyPr>
          <a:lstStyle/>
          <a:p>
            <a:r>
              <a:rPr sz="3400"/>
              <a:t>Why messaging services matter</a:t>
            </a:r>
            <a:endParaRPr lang="en-US" dirty="0"/>
          </a:p>
        </p:txBody>
      </p:sp>
      <p:sp>
        <p:nvSpPr>
          <p:cNvPr id="3" name="Content Placeholder 2">
            <a:extLst>
              <a:ext uri="{FF2B5EF4-FFF2-40B4-BE49-F238E27FC236}">
                <a16:creationId xmlns:a16="http://schemas.microsoft.com/office/drawing/2014/main" id="{5EB639F4-4104-4E75-B298-B59A2BC1487B}"/>
              </a:ext>
            </a:extLst>
          </p:cNvPr>
          <p:cNvSpPr>
            <a:spLocks noGrp="1"/>
          </p:cNvSpPr>
          <p:nvPr>
            <p:ph idx="1"/>
          </p:nvPr>
        </p:nvSpPr>
        <p:spPr/>
        <p:txBody>
          <a:bodyPr vert="horz" wrap="square" lIns="91440" tIns="45720" rIns="91440" bIns="45720" rtlCol="0" anchor="t">
            <a:normAutofit/>
          </a:bodyPr>
          <a:lstStyle/>
          <a:p>
            <a:r>
              <a:rPr sz="2400"/>
              <a:t>Messaging is a common source of user activity.</a:t>
            </a:r>
          </a:p>
          <a:p>
            <a:r>
              <a:rPr sz="2400"/>
              <a:t>SMS/MMS records can reveal content, participants, timestamps, read status, and attachments.</a:t>
            </a:r>
          </a:p>
          <a:p>
            <a:r>
              <a:rPr sz="2400"/>
              <a:t>Provider databases may preserve artifacts beyond what a single app UI displays.</a:t>
            </a:r>
          </a:p>
          <a:p>
            <a:r>
              <a:rPr sz="2400"/>
              <a:t>Carrier-related fields can help explain message delivery and retrieval behavior.</a:t>
            </a:r>
          </a:p>
        </p:txBody>
      </p:sp>
    </p:spTree>
    <p:extLst>
      <p:ext uri="{BB962C8B-B14F-4D97-AF65-F5344CB8AC3E}">
        <p14:creationId xmlns:p14="http://schemas.microsoft.com/office/powerpoint/2010/main" val="3831362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C62C0-EE5D-469A-B0DE-B2AFDDECC942}"/>
              </a:ext>
            </a:extLst>
          </p:cNvPr>
          <p:cNvSpPr>
            <a:spLocks noGrp="1"/>
          </p:cNvSpPr>
          <p:nvPr>
            <p:ph type="title"/>
          </p:nvPr>
        </p:nvSpPr>
        <p:spPr/>
        <p:txBody>
          <a:bodyPr wrap="square">
            <a:normAutofit/>
          </a:bodyPr>
          <a:lstStyle/>
          <a:p>
            <a:r>
              <a:rPr sz="3400"/>
              <a:t>Sample forensic questions</a:t>
            </a:r>
          </a:p>
        </p:txBody>
      </p:sp>
      <p:sp>
        <p:nvSpPr>
          <p:cNvPr id="3" name="Content Placeholder 2">
            <a:extLst>
              <a:ext uri="{FF2B5EF4-FFF2-40B4-BE49-F238E27FC236}">
                <a16:creationId xmlns:a16="http://schemas.microsoft.com/office/drawing/2014/main" id="{61A7C225-375C-48DD-BFB2-6275F78A18FC}"/>
              </a:ext>
            </a:extLst>
          </p:cNvPr>
          <p:cNvSpPr>
            <a:spLocks noGrp="1"/>
          </p:cNvSpPr>
          <p:nvPr>
            <p:ph idx="1"/>
          </p:nvPr>
        </p:nvSpPr>
        <p:spPr/>
        <p:txBody>
          <a:bodyPr vert="horz" wrap="square" lIns="91440" tIns="45720" rIns="91440" bIns="45720" rtlCol="0" anchor="t">
            <a:normAutofit/>
          </a:bodyPr>
          <a:lstStyle/>
          <a:p>
            <a:r>
              <a:rPr sz="2400"/>
              <a:t>Who sent or received the message?</a:t>
            </a:r>
          </a:p>
          <a:p>
            <a:r>
              <a:rPr sz="2400"/>
              <a:t>What was the message content?</a:t>
            </a:r>
          </a:p>
          <a:p>
            <a:r>
              <a:rPr sz="2400"/>
              <a:t>Was there an attachment or other multimedia component?</a:t>
            </a:r>
          </a:p>
          <a:p>
            <a:r>
              <a:rPr sz="2400"/>
              <a:t>When was the message sent, received, or downloaded?</a:t>
            </a:r>
          </a:p>
          <a:p>
            <a:r>
              <a:rPr sz="2400"/>
              <a:t>Was the message read, seen, failed, queued, or deleted?</a:t>
            </a:r>
          </a:p>
          <a:p>
            <a:r>
              <a:rPr sz="2400"/>
              <a:t>Which app or service inserted the record?</a:t>
            </a:r>
          </a:p>
        </p:txBody>
      </p:sp>
    </p:spTree>
    <p:extLst>
      <p:ext uri="{BB962C8B-B14F-4D97-AF65-F5344CB8AC3E}">
        <p14:creationId xmlns:p14="http://schemas.microsoft.com/office/powerpoint/2010/main" val="8447598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65AC6-E73B-4910-B495-3AA16912AAA1}"/>
              </a:ext>
            </a:extLst>
          </p:cNvPr>
          <p:cNvSpPr>
            <a:spLocks noGrp="1"/>
          </p:cNvSpPr>
          <p:nvPr>
            <p:ph type="title"/>
          </p:nvPr>
        </p:nvSpPr>
        <p:spPr/>
        <p:txBody>
          <a:bodyPr wrap="square">
            <a:normAutofit/>
          </a:bodyPr>
          <a:lstStyle/>
          <a:p>
            <a:r>
              <a:rPr sz="3400"/>
              <a:t>Strategy: move from service to storage</a:t>
            </a:r>
            <a:endParaRPr lang="en-US" dirty="0"/>
          </a:p>
        </p:txBody>
      </p:sp>
      <p:sp>
        <p:nvSpPr>
          <p:cNvPr id="3" name="Content Placeholder 2">
            <a:extLst>
              <a:ext uri="{FF2B5EF4-FFF2-40B4-BE49-F238E27FC236}">
                <a16:creationId xmlns:a16="http://schemas.microsoft.com/office/drawing/2014/main" id="{9245C43A-EBA4-49C9-9369-095A49DC2464}"/>
              </a:ext>
            </a:extLst>
          </p:cNvPr>
          <p:cNvSpPr>
            <a:spLocks noGrp="1"/>
          </p:cNvSpPr>
          <p:nvPr>
            <p:ph idx="1"/>
          </p:nvPr>
        </p:nvSpPr>
        <p:spPr>
          <a:xfrm>
            <a:off x="838200" y="1825625"/>
            <a:ext cx="10515600" cy="1603375"/>
          </a:xfrm>
        </p:spPr>
        <p:txBody>
          <a:bodyPr vert="horz" wrap="square" lIns="91440" tIns="45720" rIns="91440" bIns="45720" rtlCol="0" anchor="t">
            <a:normAutofit fontScale="92500" lnSpcReduction="10000"/>
          </a:bodyPr>
          <a:lstStyle/>
          <a:p>
            <a:r>
              <a:rPr sz="2400"/>
              <a:t>Identify the application or service package.</a:t>
            </a:r>
          </a:p>
          <a:p>
            <a:r>
              <a:rPr sz="2400"/>
              <a:t>Inspect its private data directory.</a:t>
            </a:r>
          </a:p>
          <a:p>
            <a:r>
              <a:rPr sz="2400"/>
              <a:t>Locate structured stores such as SQLite databases, XML preferences, and text files.</a:t>
            </a:r>
          </a:p>
          <a:p>
            <a:r>
              <a:rPr sz="2400"/>
              <a:t>Correlate database records with file-system artifacts and timestamps.</a:t>
            </a:r>
          </a:p>
        </p:txBody>
      </p:sp>
      <p:pic>
        <p:nvPicPr>
          <p:cNvPr id="4" name="Picture 2" descr="Database | Bruker">
            <a:extLst>
              <a:ext uri="{FF2B5EF4-FFF2-40B4-BE49-F238E27FC236}">
                <a16:creationId xmlns:a16="http://schemas.microsoft.com/office/drawing/2014/main" id="{4EE9C209-0B4A-DA5B-7425-E18832859FC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3429000"/>
            <a:ext cx="1868556" cy="186855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Cell, data, database, grid, row, table icon - Download on Iconfinder">
            <a:extLst>
              <a:ext uri="{FF2B5EF4-FFF2-40B4-BE49-F238E27FC236}">
                <a16:creationId xmlns:a16="http://schemas.microsoft.com/office/drawing/2014/main" id="{A4DE440A-00F6-611E-2B49-767809A88FF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44885" y="3629577"/>
            <a:ext cx="1560443" cy="156044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Column, select, selection, table icon - Download on Iconfinder">
            <a:extLst>
              <a:ext uri="{FF2B5EF4-FFF2-40B4-BE49-F238E27FC236}">
                <a16:creationId xmlns:a16="http://schemas.microsoft.com/office/drawing/2014/main" id="{34B51741-A82B-C216-CF6A-047CB415927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64899" y="3429000"/>
            <a:ext cx="1868556" cy="186855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0" descr="Cell, select, selection, table icon - Download on Iconfinder">
            <a:extLst>
              <a:ext uri="{FF2B5EF4-FFF2-40B4-BE49-F238E27FC236}">
                <a16:creationId xmlns:a16="http://schemas.microsoft.com/office/drawing/2014/main" id="{1092F3B0-36D6-7BF4-5A78-11BF969A69D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21084" y="3624607"/>
            <a:ext cx="1672949" cy="1672949"/>
          </a:xfrm>
          <a:prstGeom prst="rect">
            <a:avLst/>
          </a:prstGeom>
          <a:noFill/>
          <a:extLst>
            <a:ext uri="{909E8E84-426E-40DD-AFC4-6F175D3DCCD1}">
              <a14:hiddenFill xmlns:a14="http://schemas.microsoft.com/office/drawing/2010/main">
                <a:solidFill>
                  <a:srgbClr val="FFFFFF"/>
                </a:solidFill>
              </a14:hiddenFill>
            </a:ext>
          </a:extLst>
        </p:spPr>
      </p:pic>
      <p:sp>
        <p:nvSpPr>
          <p:cNvPr id="8" name="Arrow: Right 7">
            <a:extLst>
              <a:ext uri="{FF2B5EF4-FFF2-40B4-BE49-F238E27FC236}">
                <a16:creationId xmlns:a16="http://schemas.microsoft.com/office/drawing/2014/main" id="{15E86DA5-67A6-A169-A80A-8CB3AFB6E0A5}"/>
              </a:ext>
            </a:extLst>
          </p:cNvPr>
          <p:cNvSpPr/>
          <p:nvPr/>
        </p:nvSpPr>
        <p:spPr>
          <a:xfrm>
            <a:off x="2706756" y="4258916"/>
            <a:ext cx="463825" cy="301763"/>
          </a:xfrm>
          <a:prstGeom prst="rightArrow">
            <a:avLst/>
          </a:prstGeom>
          <a:solidFill>
            <a:srgbClr val="FFC00F"/>
          </a:solidFill>
          <a:ln>
            <a:solidFill>
              <a:srgbClr val="FFC00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en-US"/>
          </a:p>
        </p:txBody>
      </p:sp>
      <p:sp>
        <p:nvSpPr>
          <p:cNvPr id="9" name="Arrow: Right 8">
            <a:extLst>
              <a:ext uri="{FF2B5EF4-FFF2-40B4-BE49-F238E27FC236}">
                <a16:creationId xmlns:a16="http://schemas.microsoft.com/office/drawing/2014/main" id="{B0AF55AB-5483-D053-3F12-F9FDBEECEDB0}"/>
              </a:ext>
            </a:extLst>
          </p:cNvPr>
          <p:cNvSpPr/>
          <p:nvPr/>
        </p:nvSpPr>
        <p:spPr>
          <a:xfrm>
            <a:off x="5247719" y="4212396"/>
            <a:ext cx="463825" cy="301763"/>
          </a:xfrm>
          <a:prstGeom prst="rightArrow">
            <a:avLst/>
          </a:prstGeom>
          <a:solidFill>
            <a:srgbClr val="FFC00F"/>
          </a:solidFill>
          <a:ln>
            <a:solidFill>
              <a:srgbClr val="FFC00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en-US"/>
          </a:p>
        </p:txBody>
      </p:sp>
      <p:sp>
        <p:nvSpPr>
          <p:cNvPr id="10" name="Arrow: Right 9">
            <a:extLst>
              <a:ext uri="{FF2B5EF4-FFF2-40B4-BE49-F238E27FC236}">
                <a16:creationId xmlns:a16="http://schemas.microsoft.com/office/drawing/2014/main" id="{AB6A5164-303B-21B1-BD2A-E73D68781A8F}"/>
              </a:ext>
            </a:extLst>
          </p:cNvPr>
          <p:cNvSpPr/>
          <p:nvPr/>
        </p:nvSpPr>
        <p:spPr>
          <a:xfrm>
            <a:off x="7895357" y="4258916"/>
            <a:ext cx="463825" cy="301763"/>
          </a:xfrm>
          <a:prstGeom prst="rightArrow">
            <a:avLst/>
          </a:prstGeom>
          <a:solidFill>
            <a:srgbClr val="FFC00F"/>
          </a:solidFill>
          <a:ln>
            <a:solidFill>
              <a:srgbClr val="FFC00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lnSpcReduction="20000"/>
          </a:bodyPr>
          <a:lstStyle/>
          <a:p>
            <a:pPr algn="ctr"/>
            <a:endParaRPr lang="en-US"/>
          </a:p>
        </p:txBody>
      </p:sp>
      <p:sp>
        <p:nvSpPr>
          <p:cNvPr id="11" name="TextBox 10">
            <a:extLst>
              <a:ext uri="{FF2B5EF4-FFF2-40B4-BE49-F238E27FC236}">
                <a16:creationId xmlns:a16="http://schemas.microsoft.com/office/drawing/2014/main" id="{DEDFB7E6-FF24-9A29-5C0F-70AA5ED9621D}"/>
              </a:ext>
            </a:extLst>
          </p:cNvPr>
          <p:cNvSpPr txBox="1"/>
          <p:nvPr/>
        </p:nvSpPr>
        <p:spPr>
          <a:xfrm>
            <a:off x="3352253" y="5297556"/>
            <a:ext cx="5663457" cy="461665"/>
          </a:xfrm>
          <a:prstGeom prst="rect">
            <a:avLst/>
          </a:prstGeom>
          <a:noFill/>
        </p:spPr>
        <p:txBody>
          <a:bodyPr wrap="square">
            <a:normAutofit fontScale="85000" lnSpcReduction="10000"/>
          </a:bodyPr>
          <a:lstStyle/>
          <a:p>
            <a:r>
              <a:rPr sz="1600"/>
              <a:t>Forensic workflow: package → directory → database → tables → records</a:t>
            </a:r>
          </a:p>
        </p:txBody>
      </p:sp>
    </p:spTree>
    <p:extLst>
      <p:ext uri="{BB962C8B-B14F-4D97-AF65-F5344CB8AC3E}">
        <p14:creationId xmlns:p14="http://schemas.microsoft.com/office/powerpoint/2010/main" val="3268356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240" y="320040"/>
            <a:ext cx="10515600" cy="731520"/>
          </a:xfrm>
        </p:spPr>
        <p:txBody>
          <a:bodyPr wrap="square">
            <a:normAutofit/>
          </a:bodyPr>
          <a:lstStyle/>
          <a:p>
            <a:r>
              <a:rPr sz="3400" b="0">
                <a:solidFill>
                  <a:srgbClr val="222222"/>
                </a:solidFill>
              </a:rPr>
              <a:t>Forensic workflow: AOSP messaging evidence</a:t>
            </a:r>
          </a:p>
        </p:txBody>
      </p:sp>
      <p:sp>
        <p:nvSpPr>
          <p:cNvPr id="3" name="Rounded Rectangle 2"/>
          <p:cNvSpPr/>
          <p:nvPr/>
        </p:nvSpPr>
        <p:spPr>
          <a:xfrm>
            <a:off x="594360" y="1828800"/>
            <a:ext cx="2057400" cy="914400"/>
          </a:xfrm>
          <a:prstGeom prst="roundRect">
            <a:avLst/>
          </a:prstGeom>
          <a:solidFill>
            <a:srgbClr val="DDEBF7"/>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800" b="1">
                <a:solidFill>
                  <a:srgbClr val="222222"/>
                </a:solidFill>
              </a:rPr>
              <a:t>Extraction</a:t>
            </a:r>
          </a:p>
          <a:p>
            <a:pPr algn="ctr"/>
            <a:r>
              <a:rPr sz="1800" b="1">
                <a:solidFill>
                  <a:srgbClr val="222222"/>
                </a:solidFill>
              </a:rPr>
              <a:t>Pixel 3 data</a:t>
            </a:r>
          </a:p>
        </p:txBody>
      </p:sp>
      <p:sp>
        <p:nvSpPr>
          <p:cNvPr id="4" name="Rectangle 3"/>
          <p:cNvSpPr/>
          <p:nvPr/>
        </p:nvSpPr>
        <p:spPr>
          <a:xfrm>
            <a:off x="594360" y="2999232"/>
            <a:ext cx="2057400" cy="502920"/>
          </a:xfrm>
          <a:prstGeom prst="rect">
            <a:avLst/>
          </a:prstGeom>
          <a:solidFill>
            <a:srgbClr val="FFFFFF"/>
          </a:solidFill>
          <a:ln w="19050">
            <a:solidFill>
              <a:srgbClr val="B4B4B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200" b="0">
                <a:solidFill>
                  <a:srgbClr val="222222"/>
                </a:solidFill>
              </a:rPr>
              <a:t>Raw app folders</a:t>
            </a:r>
          </a:p>
        </p:txBody>
      </p:sp>
      <p:cxnSp>
        <p:nvCxnSpPr>
          <p:cNvPr id="5" name="Connector 4"/>
          <p:cNvCxnSpPr/>
          <p:nvPr/>
        </p:nvCxnSpPr>
        <p:spPr>
          <a:xfrm>
            <a:off x="2670048" y="2286000"/>
            <a:ext cx="182880" cy="0"/>
          </a:xfrm>
          <a:prstGeom prst="line">
            <a:avLst/>
          </a:prstGeom>
          <a:ln w="19050">
            <a:solidFill>
              <a:srgbClr val="606060"/>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880360" y="1828800"/>
            <a:ext cx="2057400" cy="914400"/>
          </a:xfrm>
          <a:prstGeom prst="roundRect">
            <a:avLst/>
          </a:prstGeom>
          <a:solidFill>
            <a:srgbClr val="DDEBF7"/>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fontScale="92500" lnSpcReduction="10000"/>
          </a:bodyPr>
          <a:lstStyle/>
          <a:p>
            <a:pPr algn="ctr"/>
            <a:r>
              <a:rPr sz="1800" b="1">
                <a:solidFill>
                  <a:srgbClr val="222222"/>
                </a:solidFill>
              </a:rPr>
              <a:t>Package</a:t>
            </a:r>
          </a:p>
          <a:p>
            <a:pPr algn="ctr"/>
            <a:r>
              <a:rPr sz="1800" b="1">
                <a:solidFill>
                  <a:srgbClr val="222222"/>
                </a:solidFill>
              </a:rPr>
              <a:t>com.android.providers.telephony</a:t>
            </a:r>
          </a:p>
        </p:txBody>
      </p:sp>
      <p:sp>
        <p:nvSpPr>
          <p:cNvPr id="7" name="Rectangle 6"/>
          <p:cNvSpPr/>
          <p:nvPr/>
        </p:nvSpPr>
        <p:spPr>
          <a:xfrm>
            <a:off x="2880360" y="2999232"/>
            <a:ext cx="2057400" cy="502920"/>
          </a:xfrm>
          <a:prstGeom prst="rect">
            <a:avLst/>
          </a:prstGeom>
          <a:solidFill>
            <a:srgbClr val="FFFFFF"/>
          </a:solidFill>
          <a:ln w="19050">
            <a:solidFill>
              <a:srgbClr val="B4B4B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200" b="0">
                <a:solidFill>
                  <a:srgbClr val="222222"/>
                </a:solidFill>
              </a:rPr>
              <a:t>Service-private evidence</a:t>
            </a:r>
          </a:p>
        </p:txBody>
      </p:sp>
      <p:cxnSp>
        <p:nvCxnSpPr>
          <p:cNvPr id="8" name="Connector 7"/>
          <p:cNvCxnSpPr/>
          <p:nvPr/>
        </p:nvCxnSpPr>
        <p:spPr>
          <a:xfrm>
            <a:off x="4956048" y="2286000"/>
            <a:ext cx="182880" cy="0"/>
          </a:xfrm>
          <a:prstGeom prst="line">
            <a:avLst/>
          </a:prstGeom>
          <a:ln w="19050">
            <a:solidFill>
              <a:srgbClr val="60606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166360" y="1828800"/>
            <a:ext cx="2057400" cy="914400"/>
          </a:xfrm>
          <a:prstGeom prst="roundRect">
            <a:avLst/>
          </a:prstGeom>
          <a:solidFill>
            <a:srgbClr val="DDEBF7"/>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800" b="1">
                <a:solidFill>
                  <a:srgbClr val="222222"/>
                </a:solidFill>
              </a:rPr>
              <a:t>Database</a:t>
            </a:r>
          </a:p>
          <a:p>
            <a:pPr algn="ctr"/>
            <a:r>
              <a:rPr sz="1800" b="1">
                <a:solidFill>
                  <a:srgbClr val="222222"/>
                </a:solidFill>
              </a:rPr>
              <a:t>mmssms.db</a:t>
            </a:r>
          </a:p>
        </p:txBody>
      </p:sp>
      <p:sp>
        <p:nvSpPr>
          <p:cNvPr id="10" name="Rectangle 9"/>
          <p:cNvSpPr/>
          <p:nvPr/>
        </p:nvSpPr>
        <p:spPr>
          <a:xfrm>
            <a:off x="5166360" y="2999232"/>
            <a:ext cx="2057400" cy="502920"/>
          </a:xfrm>
          <a:prstGeom prst="rect">
            <a:avLst/>
          </a:prstGeom>
          <a:solidFill>
            <a:srgbClr val="FFFFFF"/>
          </a:solidFill>
          <a:ln w="19050">
            <a:solidFill>
              <a:srgbClr val="B4B4B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200" b="0">
                <a:solidFill>
                  <a:srgbClr val="222222"/>
                </a:solidFill>
              </a:rPr>
              <a:t>SQLite structured store</a:t>
            </a:r>
          </a:p>
        </p:txBody>
      </p:sp>
      <p:cxnSp>
        <p:nvCxnSpPr>
          <p:cNvPr id="11" name="Connector 10"/>
          <p:cNvCxnSpPr/>
          <p:nvPr/>
        </p:nvCxnSpPr>
        <p:spPr>
          <a:xfrm>
            <a:off x="7242048" y="2286000"/>
            <a:ext cx="182880" cy="0"/>
          </a:xfrm>
          <a:prstGeom prst="line">
            <a:avLst/>
          </a:prstGeom>
          <a:ln w="19050">
            <a:solidFill>
              <a:srgbClr val="60606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452360" y="1828800"/>
            <a:ext cx="2057400" cy="914400"/>
          </a:xfrm>
          <a:prstGeom prst="roundRect">
            <a:avLst/>
          </a:prstGeom>
          <a:solidFill>
            <a:srgbClr val="DDEBF7"/>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fontScale="92500" lnSpcReduction="10000"/>
          </a:bodyPr>
          <a:lstStyle/>
          <a:p>
            <a:pPr algn="ctr"/>
            <a:r>
              <a:rPr sz="1800" b="1">
                <a:solidFill>
                  <a:srgbClr val="222222"/>
                </a:solidFill>
              </a:rPr>
              <a:t>Tables</a:t>
            </a:r>
          </a:p>
          <a:p>
            <a:pPr algn="ctr"/>
            <a:r>
              <a:rPr sz="1800" b="1">
                <a:solidFill>
                  <a:srgbClr val="222222"/>
                </a:solidFill>
              </a:rPr>
              <a:t>sms / pdu / part / addr / threads</a:t>
            </a:r>
          </a:p>
        </p:txBody>
      </p:sp>
      <p:sp>
        <p:nvSpPr>
          <p:cNvPr id="13" name="Rectangle 12"/>
          <p:cNvSpPr/>
          <p:nvPr/>
        </p:nvSpPr>
        <p:spPr>
          <a:xfrm>
            <a:off x="7452360" y="2999232"/>
            <a:ext cx="2057400" cy="502920"/>
          </a:xfrm>
          <a:prstGeom prst="rect">
            <a:avLst/>
          </a:prstGeom>
          <a:solidFill>
            <a:srgbClr val="FFFFFF"/>
          </a:solidFill>
          <a:ln w="19050">
            <a:solidFill>
              <a:srgbClr val="B4B4B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200" b="0">
                <a:solidFill>
                  <a:srgbClr val="222222"/>
                </a:solidFill>
              </a:rPr>
              <a:t>Records and relationships</a:t>
            </a:r>
          </a:p>
        </p:txBody>
      </p:sp>
      <p:cxnSp>
        <p:nvCxnSpPr>
          <p:cNvPr id="14" name="Connector 13"/>
          <p:cNvCxnSpPr/>
          <p:nvPr/>
        </p:nvCxnSpPr>
        <p:spPr>
          <a:xfrm>
            <a:off x="9528048" y="2286000"/>
            <a:ext cx="182880" cy="0"/>
          </a:xfrm>
          <a:prstGeom prst="line">
            <a:avLst/>
          </a:prstGeom>
          <a:ln w="19050">
            <a:solidFill>
              <a:srgbClr val="60606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738360" y="1828800"/>
            <a:ext cx="2057400" cy="914400"/>
          </a:xfrm>
          <a:prstGeom prst="roundRect">
            <a:avLst/>
          </a:prstGeom>
          <a:solidFill>
            <a:srgbClr val="DDEBF7"/>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fontScale="92500" lnSpcReduction="10000"/>
          </a:bodyPr>
          <a:lstStyle/>
          <a:p>
            <a:pPr algn="ctr"/>
            <a:r>
              <a:rPr sz="1800" b="1">
                <a:solidFill>
                  <a:srgbClr val="222222"/>
                </a:solidFill>
              </a:rPr>
              <a:t>Findings</a:t>
            </a:r>
          </a:p>
          <a:p>
            <a:pPr algn="ctr"/>
            <a:r>
              <a:rPr sz="1800" b="1">
                <a:solidFill>
                  <a:srgbClr val="222222"/>
                </a:solidFill>
              </a:rPr>
              <a:t>who / what / when / status</a:t>
            </a:r>
          </a:p>
        </p:txBody>
      </p:sp>
      <p:sp>
        <p:nvSpPr>
          <p:cNvPr id="16" name="Rectangle 15"/>
          <p:cNvSpPr/>
          <p:nvPr/>
        </p:nvSpPr>
        <p:spPr>
          <a:xfrm>
            <a:off x="9738360" y="2999232"/>
            <a:ext cx="2057400" cy="502920"/>
          </a:xfrm>
          <a:prstGeom prst="rect">
            <a:avLst/>
          </a:prstGeom>
          <a:solidFill>
            <a:srgbClr val="FFFFFF"/>
          </a:solidFill>
          <a:ln w="19050">
            <a:solidFill>
              <a:srgbClr val="B4B4B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200" b="0">
                <a:solidFill>
                  <a:srgbClr val="222222"/>
                </a:solidFill>
              </a:rPr>
              <a:t>Defensible interpretation</a:t>
            </a:r>
          </a:p>
        </p:txBody>
      </p:sp>
      <p:sp>
        <p:nvSpPr>
          <p:cNvPr id="17" name="Rectangle 16"/>
          <p:cNvSpPr/>
          <p:nvPr/>
        </p:nvSpPr>
        <p:spPr>
          <a:xfrm>
            <a:off x="868680" y="4800600"/>
            <a:ext cx="10287000" cy="594360"/>
          </a:xfrm>
          <a:prstGeom prst="rect">
            <a:avLst/>
          </a:prstGeom>
          <a:solidFill>
            <a:srgbClr val="FFF2CC"/>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600" b="0">
                <a:solidFill>
                  <a:srgbClr val="222222"/>
                </a:solidFill>
              </a:rPr>
              <a:t>Teaching point: students should move from app-service context to database evidence, then translate database records into investigative answers.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0817B-657F-44E2-BFBD-4420CCE65601}"/>
              </a:ext>
            </a:extLst>
          </p:cNvPr>
          <p:cNvSpPr>
            <a:spLocks noGrp="1"/>
          </p:cNvSpPr>
          <p:nvPr>
            <p:ph type="title"/>
          </p:nvPr>
        </p:nvSpPr>
        <p:spPr/>
        <p:txBody>
          <a:bodyPr wrap="square">
            <a:normAutofit/>
          </a:bodyPr>
          <a:lstStyle/>
          <a:p>
            <a:r>
              <a:rPr sz="3400"/>
              <a:t>Messaging service folder structure</a:t>
            </a:r>
          </a:p>
        </p:txBody>
      </p:sp>
      <p:pic>
        <p:nvPicPr>
          <p:cNvPr id="5" name="Picture 8" descr="Graphical user interface, text&#10;&#10;Description automatically generated">
            <a:extLst>
              <a:ext uri="{FF2B5EF4-FFF2-40B4-BE49-F238E27FC236}">
                <a16:creationId xmlns:a16="http://schemas.microsoft.com/office/drawing/2014/main" id="{E1527D8D-06C8-4F1F-8E33-B26E96B5F029}"/>
              </a:ext>
            </a:extLst>
          </p:cNvPr>
          <p:cNvPicPr>
            <a:picLocks noChangeAspect="1"/>
          </p:cNvPicPr>
          <p:nvPr/>
        </p:nvPicPr>
        <p:blipFill>
          <a:blip r:embed="rId3"/>
          <a:stretch>
            <a:fillRect/>
          </a:stretch>
        </p:blipFill>
        <p:spPr>
          <a:xfrm>
            <a:off x="950006" y="2350823"/>
            <a:ext cx="10291988" cy="2670438"/>
          </a:xfrm>
          <a:prstGeom prst="rect">
            <a:avLst/>
          </a:prstGeom>
        </p:spPr>
      </p:pic>
      <p:sp>
        <p:nvSpPr>
          <p:cNvPr id="6" name="Rectangle 5">
            <a:extLst>
              <a:ext uri="{FF2B5EF4-FFF2-40B4-BE49-F238E27FC236}">
                <a16:creationId xmlns:a16="http://schemas.microsoft.com/office/drawing/2014/main" id="{2B667C35-3105-4747-995C-B8701D73F9D1}"/>
              </a:ext>
            </a:extLst>
          </p:cNvPr>
          <p:cNvSpPr/>
          <p:nvPr/>
        </p:nvSpPr>
        <p:spPr>
          <a:xfrm>
            <a:off x="1613606" y="3548858"/>
            <a:ext cx="9644062" cy="3333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92500" lnSpcReduction="10000"/>
          </a:bodyPr>
          <a:lstStyle/>
          <a:p>
            <a:pPr algn="ctr"/>
            <a:endParaRPr lang="en-US"/>
          </a:p>
        </p:txBody>
      </p:sp>
      <p:sp>
        <p:nvSpPr>
          <p:cNvPr id="4" name="TextBox 3">
            <a:extLst>
              <a:ext uri="{FF2B5EF4-FFF2-40B4-BE49-F238E27FC236}">
                <a16:creationId xmlns:a16="http://schemas.microsoft.com/office/drawing/2014/main" id="{A72F6BB4-C439-463B-89C7-DCFB3229583B}"/>
              </a:ext>
            </a:extLst>
          </p:cNvPr>
          <p:cNvSpPr txBox="1"/>
          <p:nvPr/>
        </p:nvSpPr>
        <p:spPr>
          <a:xfrm>
            <a:off x="9448801" y="3074737"/>
            <a:ext cx="1191491" cy="369332"/>
          </a:xfrm>
          <a:prstGeom prst="rect">
            <a:avLst/>
          </a:prstGeom>
          <a:solidFill>
            <a:schemeClr val="accent4">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fontScale="47500" lnSpcReduction="20000"/>
          </a:bodyPr>
          <a:lstStyle/>
          <a:p>
            <a:r>
              <a:rPr sz="1600"/>
              <a:t>tree -L 1 shows only the first directory level.</a:t>
            </a:r>
          </a:p>
        </p:txBody>
      </p:sp>
    </p:spTree>
    <p:extLst>
      <p:ext uri="{BB962C8B-B14F-4D97-AF65-F5344CB8AC3E}">
        <p14:creationId xmlns:p14="http://schemas.microsoft.com/office/powerpoint/2010/main" val="9797699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BBFA79-E3F5-5E05-1A21-7076A36004A8}"/>
              </a:ext>
            </a:extLst>
          </p:cNvPr>
          <p:cNvSpPr>
            <a:spLocks noGrp="1"/>
          </p:cNvSpPr>
          <p:nvPr>
            <p:ph type="title"/>
          </p:nvPr>
        </p:nvSpPr>
        <p:spPr/>
        <p:txBody>
          <a:bodyPr wrap="square">
            <a:normAutofit/>
          </a:bodyPr>
          <a:lstStyle/>
          <a:p>
            <a:r>
              <a:rPr sz="4400"/>
              <a:t>Investigating mmssms.db</a:t>
            </a:r>
            <a:endParaRPr lang="en-US" dirty="0">
              <a:solidFill>
                <a:schemeClr val="accent2"/>
              </a:solidFill>
            </a:endParaRPr>
          </a:p>
        </p:txBody>
      </p:sp>
      <p:sp>
        <p:nvSpPr>
          <p:cNvPr id="5" name="Text Placeholder 4">
            <a:extLst>
              <a:ext uri="{FF2B5EF4-FFF2-40B4-BE49-F238E27FC236}">
                <a16:creationId xmlns:a16="http://schemas.microsoft.com/office/drawing/2014/main" id="{4CB476AA-326D-1CE2-9488-C205B93AE03C}"/>
              </a:ext>
            </a:extLst>
          </p:cNvPr>
          <p:cNvSpPr>
            <a:spLocks noGrp="1"/>
          </p:cNvSpPr>
          <p:nvPr>
            <p:ph type="body" idx="1"/>
          </p:nvPr>
        </p:nvSpPr>
        <p:spPr/>
        <p:txBody>
          <a:bodyPr wrap="square">
            <a:normAutofit/>
          </a:bodyPr>
          <a:lstStyle/>
          <a:p>
            <a:endParaRPr lang="en-US"/>
          </a:p>
        </p:txBody>
      </p:sp>
    </p:spTree>
    <p:extLst>
      <p:ext uri="{BB962C8B-B14F-4D97-AF65-F5344CB8AC3E}">
        <p14:creationId xmlns:p14="http://schemas.microsoft.com/office/powerpoint/2010/main" val="2918534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9" descr="Graphical user interface, text&#10;&#10;Description automatically generated">
            <a:extLst>
              <a:ext uri="{FF2B5EF4-FFF2-40B4-BE49-F238E27FC236}">
                <a16:creationId xmlns:a16="http://schemas.microsoft.com/office/drawing/2014/main" id="{90B9C398-2BCD-4869-AB73-B80EAA933441}"/>
              </a:ext>
            </a:extLst>
          </p:cNvPr>
          <p:cNvPicPr>
            <a:picLocks noChangeAspect="1"/>
          </p:cNvPicPr>
          <p:nvPr/>
        </p:nvPicPr>
        <p:blipFill>
          <a:blip r:embed="rId3"/>
          <a:stretch>
            <a:fillRect/>
          </a:stretch>
        </p:blipFill>
        <p:spPr>
          <a:xfrm>
            <a:off x="783759" y="1784680"/>
            <a:ext cx="10624481" cy="2227302"/>
          </a:xfrm>
          <a:prstGeom prst="rect">
            <a:avLst/>
          </a:prstGeom>
        </p:spPr>
      </p:pic>
      <p:sp>
        <p:nvSpPr>
          <p:cNvPr id="4" name="Rectangle 3">
            <a:extLst>
              <a:ext uri="{FF2B5EF4-FFF2-40B4-BE49-F238E27FC236}">
                <a16:creationId xmlns:a16="http://schemas.microsoft.com/office/drawing/2014/main" id="{31BCDAE8-4419-45E0-B331-E76AFEEE612E}"/>
              </a:ext>
            </a:extLst>
          </p:cNvPr>
          <p:cNvSpPr/>
          <p:nvPr/>
        </p:nvSpPr>
        <p:spPr>
          <a:xfrm>
            <a:off x="1437664" y="2367021"/>
            <a:ext cx="9970576" cy="33579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92500" lnSpcReduction="10000"/>
          </a:bodyPr>
          <a:lstStyle/>
          <a:p>
            <a:pPr algn="ctr"/>
            <a:endParaRPr lang="en-US"/>
          </a:p>
        </p:txBody>
      </p:sp>
      <p:sp>
        <p:nvSpPr>
          <p:cNvPr id="7" name="TextBox 6">
            <a:extLst>
              <a:ext uri="{FF2B5EF4-FFF2-40B4-BE49-F238E27FC236}">
                <a16:creationId xmlns:a16="http://schemas.microsoft.com/office/drawing/2014/main" id="{0207045F-3693-F2FF-4CA3-73A56C685CDA}"/>
              </a:ext>
            </a:extLst>
          </p:cNvPr>
          <p:cNvSpPr txBox="1"/>
          <p:nvPr/>
        </p:nvSpPr>
        <p:spPr>
          <a:xfrm>
            <a:off x="783758" y="4469676"/>
            <a:ext cx="10504001" cy="1261884"/>
          </a:xfrm>
          <a:prstGeom prst="rect">
            <a:avLst/>
          </a:prstGeom>
          <a:noFill/>
        </p:spPr>
        <p:txBody>
          <a:bodyPr wrap="square">
            <a:normAutofit/>
          </a:bodyPr>
          <a:lstStyle/>
          <a:p>
            <a:r>
              <a:rPr sz="2400"/>
              <a:t>mmssms.db is the primary SQLite database for SMS/MMS artifacts. It stores message content, participant references, timestamps, message status, conversation grouping, and MMS metadata or attachment references.</a:t>
            </a:r>
          </a:p>
        </p:txBody>
      </p:sp>
      <p:sp>
        <p:nvSpPr>
          <p:cNvPr id="8" name="Title 7">
            <a:extLst>
              <a:ext uri="{FF2B5EF4-FFF2-40B4-BE49-F238E27FC236}">
                <a16:creationId xmlns:a16="http://schemas.microsoft.com/office/drawing/2014/main" id="{45B24595-8D74-D748-1954-BE22C4BC1818}"/>
              </a:ext>
            </a:extLst>
          </p:cNvPr>
          <p:cNvSpPr>
            <a:spLocks noGrp="1"/>
          </p:cNvSpPr>
          <p:nvPr>
            <p:ph type="title"/>
          </p:nvPr>
        </p:nvSpPr>
        <p:spPr/>
        <p:txBody>
          <a:bodyPr wrap="square">
            <a:normAutofit/>
          </a:bodyPr>
          <a:lstStyle/>
          <a:p>
            <a:r>
              <a:rPr sz="3400"/>
              <a:t>Locate mmssms.db</a:t>
            </a:r>
            <a:endParaRPr lang="en-US" dirty="0">
              <a:solidFill>
                <a:schemeClr val="accent2"/>
              </a:solidFill>
            </a:endParaRPr>
          </a:p>
        </p:txBody>
      </p:sp>
    </p:spTree>
    <p:extLst>
      <p:ext uri="{BB962C8B-B14F-4D97-AF65-F5344CB8AC3E}">
        <p14:creationId xmlns:p14="http://schemas.microsoft.com/office/powerpoint/2010/main" val="4293835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9DF52-466B-4C48-8F85-C38A32923203}"/>
              </a:ext>
            </a:extLst>
          </p:cNvPr>
          <p:cNvSpPr>
            <a:spLocks noGrp="1"/>
          </p:cNvSpPr>
          <p:nvPr>
            <p:ph type="title"/>
          </p:nvPr>
        </p:nvSpPr>
        <p:spPr/>
        <p:txBody>
          <a:bodyPr wrap="square">
            <a:normAutofit/>
          </a:bodyPr>
          <a:lstStyle/>
          <a:p>
            <a:r>
              <a:rPr sz="3200"/>
              <a:t>Most valuable mmssms.db tables</a:t>
            </a:r>
            <a:endParaRPr lang="en-US" dirty="0">
              <a:solidFill>
                <a:schemeClr val="accent2"/>
              </a:solidFill>
              <a:cs typeface="Calibri Light"/>
            </a:endParaRPr>
          </a:p>
        </p:txBody>
      </p:sp>
      <p:sp>
        <p:nvSpPr>
          <p:cNvPr id="3" name="Content Placeholder 2">
            <a:extLst>
              <a:ext uri="{FF2B5EF4-FFF2-40B4-BE49-F238E27FC236}">
                <a16:creationId xmlns:a16="http://schemas.microsoft.com/office/drawing/2014/main" id="{F19F14B4-6D97-DFA3-E0E1-515F8D6D8512}"/>
              </a:ext>
            </a:extLst>
          </p:cNvPr>
          <p:cNvSpPr>
            <a:spLocks noGrp="1"/>
          </p:cNvSpPr>
          <p:nvPr>
            <p:ph idx="1"/>
          </p:nvPr>
        </p:nvSpPr>
        <p:spPr>
          <a:xfrm>
            <a:off x="4138872" y="2651759"/>
            <a:ext cx="7214927" cy="3525203"/>
          </a:xfrm>
        </p:spPr>
        <p:txBody>
          <a:bodyPr wrap="square">
            <a:normAutofit lnSpcReduction="10000"/>
          </a:bodyPr>
          <a:lstStyle/>
          <a:p>
            <a:r>
              <a:rPr sz="2200"/>
              <a:t>sms: SMS message content and metadata</a:t>
            </a:r>
          </a:p>
          <a:p>
            <a:r>
              <a:rPr sz="2200"/>
              <a:t>pdu: MMS message-level metadata</a:t>
            </a:r>
          </a:p>
          <a:p>
            <a:r>
              <a:rPr sz="2200"/>
              <a:t>part: MMS components such as text, SMIL, images, audio, and video</a:t>
            </a:r>
          </a:p>
          <a:p>
            <a:r>
              <a:rPr sz="2200"/>
              <a:t>threads: conversation grouping</a:t>
            </a:r>
          </a:p>
          <a:p>
            <a:r>
              <a:rPr sz="2200"/>
              <a:t>addr: MMS sender/recipient records</a:t>
            </a:r>
          </a:p>
          <a:p>
            <a:r>
              <a:rPr sz="2200"/>
              <a:t>canonical_addresses: normalized address identifiers</a:t>
            </a:r>
          </a:p>
          <a:p>
            <a:r>
              <a:rPr sz="2200"/>
              <a:t>attachments: attachment metadata</a:t>
            </a:r>
          </a:p>
          <a:p>
            <a:r>
              <a:rPr sz="2200"/>
              <a:t>pending_msgs: queued or unsent messages</a:t>
            </a:r>
          </a:p>
        </p:txBody>
      </p:sp>
      <p:pic>
        <p:nvPicPr>
          <p:cNvPr id="5" name="Picture 11">
            <a:extLst>
              <a:ext uri="{FF2B5EF4-FFF2-40B4-BE49-F238E27FC236}">
                <a16:creationId xmlns:a16="http://schemas.microsoft.com/office/drawing/2014/main" id="{232CDD55-5E33-4F9C-BCC6-B073648A14A1}"/>
              </a:ext>
            </a:extLst>
          </p:cNvPr>
          <p:cNvPicPr>
            <a:picLocks noChangeAspect="1"/>
          </p:cNvPicPr>
          <p:nvPr/>
        </p:nvPicPr>
        <p:blipFill>
          <a:blip r:embed="rId3"/>
          <a:stretch>
            <a:fillRect/>
          </a:stretch>
        </p:blipFill>
        <p:spPr>
          <a:xfrm>
            <a:off x="838200" y="1699712"/>
            <a:ext cx="11019592" cy="724794"/>
          </a:xfrm>
          <a:prstGeom prst="rect">
            <a:avLst/>
          </a:prstGeom>
        </p:spPr>
      </p:pic>
      <p:pic>
        <p:nvPicPr>
          <p:cNvPr id="19" name="Picture 19">
            <a:extLst>
              <a:ext uri="{FF2B5EF4-FFF2-40B4-BE49-F238E27FC236}">
                <a16:creationId xmlns:a16="http://schemas.microsoft.com/office/drawing/2014/main" id="{35DB7AB5-D076-4186-8183-24D35A5FE4D8}"/>
              </a:ext>
            </a:extLst>
          </p:cNvPr>
          <p:cNvPicPr>
            <a:picLocks noChangeAspect="1"/>
          </p:cNvPicPr>
          <p:nvPr/>
        </p:nvPicPr>
        <p:blipFill>
          <a:blip r:embed="rId4"/>
          <a:srcRect b="15690"/>
          <a:stretch/>
        </p:blipFill>
        <p:spPr>
          <a:xfrm>
            <a:off x="838200" y="2792162"/>
            <a:ext cx="2833606" cy="3326054"/>
          </a:xfrm>
          <a:prstGeom prst="rect">
            <a:avLst/>
          </a:prstGeom>
        </p:spPr>
      </p:pic>
      <p:sp>
        <p:nvSpPr>
          <p:cNvPr id="20" name="Rectangle 19">
            <a:extLst>
              <a:ext uri="{FF2B5EF4-FFF2-40B4-BE49-F238E27FC236}">
                <a16:creationId xmlns:a16="http://schemas.microsoft.com/office/drawing/2014/main" id="{532BF592-AD69-4366-9237-AEF4158217EF}"/>
              </a:ext>
            </a:extLst>
          </p:cNvPr>
          <p:cNvSpPr/>
          <p:nvPr/>
        </p:nvSpPr>
        <p:spPr>
          <a:xfrm>
            <a:off x="1420636" y="4760310"/>
            <a:ext cx="400373" cy="19372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40000" lnSpcReduction="20000"/>
          </a:bodyPr>
          <a:lstStyle/>
          <a:p>
            <a:pPr algn="ctr"/>
            <a:endParaRPr lang="en-US"/>
          </a:p>
        </p:txBody>
      </p:sp>
      <p:sp>
        <p:nvSpPr>
          <p:cNvPr id="21" name="Rectangle 20">
            <a:extLst>
              <a:ext uri="{FF2B5EF4-FFF2-40B4-BE49-F238E27FC236}">
                <a16:creationId xmlns:a16="http://schemas.microsoft.com/office/drawing/2014/main" id="{FDE34F1C-ABAD-4C8B-BC8E-68141DC3B381}"/>
              </a:ext>
            </a:extLst>
          </p:cNvPr>
          <p:cNvSpPr/>
          <p:nvPr/>
        </p:nvSpPr>
        <p:spPr>
          <a:xfrm>
            <a:off x="1432541" y="5215371"/>
            <a:ext cx="503695" cy="2195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55000" lnSpcReduction="20000"/>
          </a:bodyPr>
          <a:lstStyle/>
          <a:p>
            <a:pPr algn="ctr"/>
            <a:endParaRPr lang="en-US"/>
          </a:p>
        </p:txBody>
      </p:sp>
      <p:sp>
        <p:nvSpPr>
          <p:cNvPr id="7" name="Rectangle 6">
            <a:extLst>
              <a:ext uri="{FF2B5EF4-FFF2-40B4-BE49-F238E27FC236}">
                <a16:creationId xmlns:a16="http://schemas.microsoft.com/office/drawing/2014/main" id="{F506C3D8-38FE-44CB-BA11-7F2808C917F7}"/>
              </a:ext>
            </a:extLst>
          </p:cNvPr>
          <p:cNvSpPr/>
          <p:nvPr/>
        </p:nvSpPr>
        <p:spPr>
          <a:xfrm>
            <a:off x="1305267" y="2067368"/>
            <a:ext cx="10577593" cy="3487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lnSpcReduction="10000"/>
          </a:bodyPr>
          <a:lstStyle/>
          <a:p>
            <a:pPr algn="ctr"/>
            <a:endParaRPr lang="en-US"/>
          </a:p>
        </p:txBody>
      </p:sp>
      <p:sp>
        <p:nvSpPr>
          <p:cNvPr id="4" name="Rectangle 3">
            <a:extLst>
              <a:ext uri="{FF2B5EF4-FFF2-40B4-BE49-F238E27FC236}">
                <a16:creationId xmlns:a16="http://schemas.microsoft.com/office/drawing/2014/main" id="{F27527C5-5A35-538A-F554-AC7B424CD9AB}"/>
              </a:ext>
            </a:extLst>
          </p:cNvPr>
          <p:cNvSpPr/>
          <p:nvPr/>
        </p:nvSpPr>
        <p:spPr>
          <a:xfrm>
            <a:off x="1397776" y="3934701"/>
            <a:ext cx="400373" cy="19372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40000" lnSpcReduction="20000"/>
          </a:bodyPr>
          <a:lstStyle/>
          <a:p>
            <a:pPr algn="ctr"/>
            <a:endParaRPr lang="en-US"/>
          </a:p>
        </p:txBody>
      </p:sp>
    </p:spTree>
    <p:extLst>
      <p:ext uri="{BB962C8B-B14F-4D97-AF65-F5344CB8AC3E}">
        <p14:creationId xmlns:p14="http://schemas.microsoft.com/office/powerpoint/2010/main" val="4148899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32D67E3-1C14-8E02-7E9E-2A9585185631}"/>
              </a:ext>
            </a:extLst>
          </p:cNvPr>
          <p:cNvSpPr>
            <a:spLocks noGrp="1"/>
          </p:cNvSpPr>
          <p:nvPr>
            <p:ph type="title"/>
          </p:nvPr>
        </p:nvSpPr>
        <p:spPr/>
        <p:txBody>
          <a:bodyPr wrap="square">
            <a:normAutofit/>
          </a:bodyPr>
          <a:lstStyle/>
          <a:p>
            <a:r>
              <a:rPr sz="3200"/>
              <a:t>Key concept: reconstruct conversations from linked tables</a:t>
            </a:r>
          </a:p>
        </p:txBody>
      </p:sp>
      <p:sp>
        <p:nvSpPr>
          <p:cNvPr id="13" name="Content Placeholder 12">
            <a:extLst>
              <a:ext uri="{FF2B5EF4-FFF2-40B4-BE49-F238E27FC236}">
                <a16:creationId xmlns:a16="http://schemas.microsoft.com/office/drawing/2014/main" id="{0026AC80-30A4-FC53-9483-A65E4083113E}"/>
              </a:ext>
            </a:extLst>
          </p:cNvPr>
          <p:cNvSpPr>
            <a:spLocks noGrp="1"/>
          </p:cNvSpPr>
          <p:nvPr>
            <p:ph idx="1"/>
          </p:nvPr>
        </p:nvSpPr>
        <p:spPr>
          <a:xfrm>
            <a:off x="5086093" y="1758678"/>
            <a:ext cx="5745193" cy="4351338"/>
          </a:xfrm>
        </p:spPr>
        <p:txBody>
          <a:bodyPr wrap="square">
            <a:normAutofit/>
          </a:bodyPr>
          <a:lstStyle/>
          <a:p>
            <a:r>
              <a:rPr sz="2300" dirty="0"/>
              <a:t>thread: one conversation grouping</a:t>
            </a:r>
          </a:p>
          <a:p>
            <a:r>
              <a:rPr sz="2300" dirty="0" err="1"/>
              <a:t>sms</a:t>
            </a:r>
            <a:r>
              <a:rPr sz="2300" dirty="0"/>
              <a:t>: individual SMS records</a:t>
            </a:r>
          </a:p>
          <a:p>
            <a:r>
              <a:rPr sz="2300" dirty="0" err="1"/>
              <a:t>pdu</a:t>
            </a:r>
            <a:r>
              <a:rPr sz="2300" dirty="0"/>
              <a:t>: one MMS message </a:t>
            </a:r>
            <a:r>
              <a:rPr sz="2300"/>
              <a:t>record</a:t>
            </a:r>
            <a:r>
              <a:rPr lang="en-US" sz="2300"/>
              <a:t> metadata</a:t>
            </a:r>
            <a:endParaRPr sz="2300" dirty="0"/>
          </a:p>
          <a:p>
            <a:r>
              <a:rPr sz="2300" dirty="0"/>
              <a:t>part: one-to-many MMS components</a:t>
            </a:r>
          </a:p>
          <a:p>
            <a:r>
              <a:rPr sz="2300" dirty="0" err="1"/>
              <a:t>addr</a:t>
            </a:r>
            <a:r>
              <a:rPr sz="2300" dirty="0"/>
              <a:t>: sender and recipient records</a:t>
            </a:r>
          </a:p>
          <a:p>
            <a:r>
              <a:rPr sz="2300" dirty="0" err="1"/>
              <a:t>canonical_addresses</a:t>
            </a:r>
            <a:r>
              <a:rPr sz="2300" dirty="0"/>
              <a:t>: normalized phone-number IDs</a:t>
            </a:r>
          </a:p>
        </p:txBody>
      </p:sp>
      <p:cxnSp>
        <p:nvCxnSpPr>
          <p:cNvPr id="8" name="Straight Arrow Connector 7">
            <a:extLst>
              <a:ext uri="{FF2B5EF4-FFF2-40B4-BE49-F238E27FC236}">
                <a16:creationId xmlns:a16="http://schemas.microsoft.com/office/drawing/2014/main" id="{84AE4E15-3DA3-E464-17D9-7CAD251B5250}"/>
              </a:ext>
            </a:extLst>
          </p:cNvPr>
          <p:cNvCxnSpPr>
            <a:cxnSpLocks/>
          </p:cNvCxnSpPr>
          <p:nvPr/>
        </p:nvCxnSpPr>
        <p:spPr>
          <a:xfrm flipH="1">
            <a:off x="3812875" y="2734574"/>
            <a:ext cx="1397480" cy="52621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12" name="Picture 11">
            <a:extLst>
              <a:ext uri="{FF2B5EF4-FFF2-40B4-BE49-F238E27FC236}">
                <a16:creationId xmlns:a16="http://schemas.microsoft.com/office/drawing/2014/main" id="{5FB8719D-3CD3-106D-29FD-43E495F80084}"/>
              </a:ext>
            </a:extLst>
          </p:cNvPr>
          <p:cNvPicPr>
            <a:picLocks noChangeAspect="1"/>
          </p:cNvPicPr>
          <p:nvPr/>
        </p:nvPicPr>
        <p:blipFill>
          <a:blip r:embed="rId2"/>
          <a:stretch>
            <a:fillRect/>
          </a:stretch>
        </p:blipFill>
        <p:spPr>
          <a:xfrm>
            <a:off x="1360714" y="1559887"/>
            <a:ext cx="2362405" cy="4618120"/>
          </a:xfrm>
          <a:prstGeom prst="rect">
            <a:avLst/>
          </a:prstGeom>
        </p:spPr>
      </p:pic>
    </p:spTree>
    <p:extLst>
      <p:ext uri="{BB962C8B-B14F-4D97-AF65-F5344CB8AC3E}">
        <p14:creationId xmlns:p14="http://schemas.microsoft.com/office/powerpoint/2010/main" val="8744137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240" y="320040"/>
            <a:ext cx="10515600" cy="731520"/>
          </a:xfrm>
        </p:spPr>
        <p:txBody>
          <a:bodyPr wrap="square">
            <a:normAutofit/>
          </a:bodyPr>
          <a:lstStyle/>
          <a:p>
            <a:r>
              <a:rPr sz="3400" b="0">
                <a:solidFill>
                  <a:srgbClr val="222222"/>
                </a:solidFill>
              </a:rPr>
              <a:t>Evidence map: mmssms.db tables</a:t>
            </a:r>
          </a:p>
        </p:txBody>
      </p:sp>
      <p:sp>
        <p:nvSpPr>
          <p:cNvPr id="3" name="Rounded Rectangle 2"/>
          <p:cNvSpPr/>
          <p:nvPr/>
        </p:nvSpPr>
        <p:spPr>
          <a:xfrm>
            <a:off x="4754880" y="2331720"/>
            <a:ext cx="2651760" cy="82296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2000" b="1">
                <a:solidFill>
                  <a:srgbClr val="222222"/>
                </a:solidFill>
              </a:rPr>
              <a:t>mmssms.db</a:t>
            </a:r>
          </a:p>
          <a:p>
            <a:pPr algn="ctr"/>
            <a:r>
              <a:rPr sz="2000" b="1">
                <a:solidFill>
                  <a:srgbClr val="222222"/>
                </a:solidFill>
              </a:rPr>
              <a:t>SQLite database</a:t>
            </a:r>
          </a:p>
        </p:txBody>
      </p:sp>
      <p:sp>
        <p:nvSpPr>
          <p:cNvPr id="4" name="Rounded Rectangle 3"/>
          <p:cNvSpPr/>
          <p:nvPr/>
        </p:nvSpPr>
        <p:spPr>
          <a:xfrm>
            <a:off x="731520" y="1554480"/>
            <a:ext cx="2697480" cy="822960"/>
          </a:xfrm>
          <a:prstGeom prst="roundRect">
            <a:avLst/>
          </a:prstGeom>
          <a:solidFill>
            <a:srgbClr val="DDEBF7"/>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600" b="1">
                <a:solidFill>
                  <a:srgbClr val="222222"/>
                </a:solidFill>
              </a:rPr>
              <a:t>sms</a:t>
            </a:r>
          </a:p>
          <a:p>
            <a:pPr algn="ctr"/>
            <a:r>
              <a:rPr sz="1600" b="1">
                <a:solidFill>
                  <a:srgbClr val="222222"/>
                </a:solidFill>
              </a:rPr>
              <a:t>SMS text + metadata</a:t>
            </a:r>
          </a:p>
        </p:txBody>
      </p:sp>
      <p:cxnSp>
        <p:nvCxnSpPr>
          <p:cNvPr id="5" name="Connector 4"/>
          <p:cNvCxnSpPr/>
          <p:nvPr/>
        </p:nvCxnSpPr>
        <p:spPr>
          <a:xfrm flipH="1" flipV="1">
            <a:off x="2084832" y="1965960"/>
            <a:ext cx="3995928" cy="777240"/>
          </a:xfrm>
          <a:prstGeom prst="line">
            <a:avLst/>
          </a:prstGeom>
          <a:ln w="15240">
            <a:solidFill>
              <a:srgbClr val="606060"/>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31520" y="3657600"/>
            <a:ext cx="2697480" cy="822960"/>
          </a:xfrm>
          <a:prstGeom prst="roundRect">
            <a:avLst/>
          </a:prstGeom>
          <a:solidFill>
            <a:srgbClr val="DDEBF7"/>
          </a:solidFill>
          <a:ln w="19050">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600" b="1">
                <a:solidFill>
                  <a:srgbClr val="222222"/>
                </a:solidFill>
              </a:rPr>
              <a:t>threads</a:t>
            </a:r>
          </a:p>
          <a:p>
            <a:pPr algn="ctr"/>
            <a:r>
              <a:rPr sz="1600" b="1">
                <a:solidFill>
                  <a:srgbClr val="222222"/>
                </a:solidFill>
              </a:rPr>
              <a:t>Conversation grouping</a:t>
            </a:r>
          </a:p>
        </p:txBody>
      </p:sp>
      <p:cxnSp>
        <p:nvCxnSpPr>
          <p:cNvPr id="7" name="Connector 6"/>
          <p:cNvCxnSpPr/>
          <p:nvPr/>
        </p:nvCxnSpPr>
        <p:spPr>
          <a:xfrm flipH="1">
            <a:off x="2084832" y="2743200"/>
            <a:ext cx="3995928" cy="1325880"/>
          </a:xfrm>
          <a:prstGeom prst="line">
            <a:avLst/>
          </a:prstGeom>
          <a:ln w="15240">
            <a:solidFill>
              <a:srgbClr val="60606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663440" y="960120"/>
            <a:ext cx="2697480" cy="822960"/>
          </a:xfrm>
          <a:prstGeom prst="roundRect">
            <a:avLst/>
          </a:prstGeom>
          <a:solidFill>
            <a:srgbClr val="DDEBF7"/>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600" b="1">
                <a:solidFill>
                  <a:srgbClr val="222222"/>
                </a:solidFill>
              </a:rPr>
              <a:t>pdu</a:t>
            </a:r>
          </a:p>
          <a:p>
            <a:pPr algn="ctr"/>
            <a:r>
              <a:rPr sz="1600" b="1">
                <a:solidFill>
                  <a:srgbClr val="222222"/>
                </a:solidFill>
              </a:rPr>
              <a:t>MMS message metadata</a:t>
            </a:r>
          </a:p>
        </p:txBody>
      </p:sp>
      <p:cxnSp>
        <p:nvCxnSpPr>
          <p:cNvPr id="9" name="Connector 8"/>
          <p:cNvCxnSpPr/>
          <p:nvPr/>
        </p:nvCxnSpPr>
        <p:spPr>
          <a:xfrm flipH="1" flipV="1">
            <a:off x="6016752" y="1371600"/>
            <a:ext cx="64008" cy="1371600"/>
          </a:xfrm>
          <a:prstGeom prst="line">
            <a:avLst/>
          </a:prstGeom>
          <a:ln w="15240">
            <a:solidFill>
              <a:srgbClr val="60606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732520" y="1554480"/>
            <a:ext cx="2697480" cy="822960"/>
          </a:xfrm>
          <a:prstGeom prst="roundRect">
            <a:avLst/>
          </a:prstGeom>
          <a:solidFill>
            <a:srgbClr val="DDEBF7"/>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600" b="1">
                <a:solidFill>
                  <a:srgbClr val="222222"/>
                </a:solidFill>
              </a:rPr>
              <a:t>part</a:t>
            </a:r>
          </a:p>
          <a:p>
            <a:pPr algn="ctr"/>
            <a:r>
              <a:rPr sz="1600" b="1">
                <a:solidFill>
                  <a:srgbClr val="222222"/>
                </a:solidFill>
              </a:rPr>
              <a:t>MMS body + media parts</a:t>
            </a:r>
          </a:p>
        </p:txBody>
      </p:sp>
      <p:cxnSp>
        <p:nvCxnSpPr>
          <p:cNvPr id="11" name="Connector 10"/>
          <p:cNvCxnSpPr/>
          <p:nvPr/>
        </p:nvCxnSpPr>
        <p:spPr>
          <a:xfrm flipV="1">
            <a:off x="6080760" y="1965960"/>
            <a:ext cx="4005072" cy="777240"/>
          </a:xfrm>
          <a:prstGeom prst="line">
            <a:avLst/>
          </a:prstGeom>
          <a:ln w="15240">
            <a:solidFill>
              <a:srgbClr val="60606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732520" y="3657600"/>
            <a:ext cx="2697480" cy="822960"/>
          </a:xfrm>
          <a:prstGeom prst="roundRect">
            <a:avLst/>
          </a:prstGeom>
          <a:solidFill>
            <a:srgbClr val="DDEBF7"/>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600" b="1">
                <a:solidFill>
                  <a:srgbClr val="222222"/>
                </a:solidFill>
              </a:rPr>
              <a:t>addr</a:t>
            </a:r>
          </a:p>
          <a:p>
            <a:pPr algn="ctr"/>
            <a:r>
              <a:rPr sz="1600" b="1">
                <a:solidFill>
                  <a:srgbClr val="222222"/>
                </a:solidFill>
              </a:rPr>
              <a:t>MMS sender/receiver</a:t>
            </a:r>
          </a:p>
        </p:txBody>
      </p:sp>
      <p:cxnSp>
        <p:nvCxnSpPr>
          <p:cNvPr id="13" name="Connector 12"/>
          <p:cNvCxnSpPr/>
          <p:nvPr/>
        </p:nvCxnSpPr>
        <p:spPr>
          <a:xfrm>
            <a:off x="6080760" y="2743200"/>
            <a:ext cx="4005072" cy="1325880"/>
          </a:xfrm>
          <a:prstGeom prst="line">
            <a:avLst/>
          </a:prstGeom>
          <a:ln w="15240">
            <a:solidFill>
              <a:srgbClr val="60606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663440" y="4526280"/>
            <a:ext cx="2697480" cy="822960"/>
          </a:xfrm>
          <a:prstGeom prst="roundRect">
            <a:avLst/>
          </a:prstGeom>
          <a:solidFill>
            <a:srgbClr val="DDEBF7"/>
          </a:solidFill>
          <a:ln w="19050">
            <a:solidFill>
              <a:srgbClr val="7030A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600" b="1">
                <a:solidFill>
                  <a:srgbClr val="222222"/>
                </a:solidFill>
              </a:rPr>
              <a:t>canonical_addresses</a:t>
            </a:r>
          </a:p>
          <a:p>
            <a:pPr algn="ctr"/>
            <a:r>
              <a:rPr sz="1600" b="1">
                <a:solidFill>
                  <a:srgbClr val="222222"/>
                </a:solidFill>
              </a:rPr>
              <a:t>Normalized phone numbers</a:t>
            </a:r>
          </a:p>
        </p:txBody>
      </p:sp>
      <p:cxnSp>
        <p:nvCxnSpPr>
          <p:cNvPr id="15" name="Connector 14"/>
          <p:cNvCxnSpPr/>
          <p:nvPr/>
        </p:nvCxnSpPr>
        <p:spPr>
          <a:xfrm flipH="1">
            <a:off x="6016752" y="2743200"/>
            <a:ext cx="64008" cy="2194560"/>
          </a:xfrm>
          <a:prstGeom prst="line">
            <a:avLst/>
          </a:prstGeom>
          <a:ln w="15240">
            <a:solidFill>
              <a:srgbClr val="606060"/>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1097280" y="5577840"/>
            <a:ext cx="9966960" cy="475488"/>
          </a:xfrm>
          <a:prstGeom prst="rect">
            <a:avLst/>
          </a:prstGeom>
          <a:solidFill>
            <a:srgbClr val="FFF2CC"/>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600" b="0">
                <a:solidFill>
                  <a:srgbClr val="222222"/>
                </a:solidFill>
              </a:rPr>
              <a:t>Core reconstruction: SMS usually starts in sms; MMS usually requires joining pdu + part + addr.</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93D83-E4F2-3EC7-D3A6-7FA98F76E350}"/>
              </a:ext>
            </a:extLst>
          </p:cNvPr>
          <p:cNvSpPr>
            <a:spLocks noGrp="1"/>
          </p:cNvSpPr>
          <p:nvPr>
            <p:ph type="title"/>
          </p:nvPr>
        </p:nvSpPr>
        <p:spPr/>
        <p:txBody>
          <a:bodyPr wrap="square">
            <a:normAutofit/>
          </a:bodyPr>
          <a:lstStyle/>
          <a:p>
            <a:r>
              <a:rPr sz="3400"/>
              <a:t>sms table</a:t>
            </a:r>
          </a:p>
        </p:txBody>
      </p:sp>
      <p:sp>
        <p:nvSpPr>
          <p:cNvPr id="3" name="Content Placeholder 2">
            <a:extLst>
              <a:ext uri="{FF2B5EF4-FFF2-40B4-BE49-F238E27FC236}">
                <a16:creationId xmlns:a16="http://schemas.microsoft.com/office/drawing/2014/main" id="{29472781-BA47-8ED2-4B99-1825A909DC41}"/>
              </a:ext>
            </a:extLst>
          </p:cNvPr>
          <p:cNvSpPr>
            <a:spLocks noGrp="1"/>
          </p:cNvSpPr>
          <p:nvPr>
            <p:ph idx="1"/>
          </p:nvPr>
        </p:nvSpPr>
        <p:spPr/>
        <p:txBody>
          <a:bodyPr wrap="square">
            <a:normAutofit/>
          </a:bodyPr>
          <a:lstStyle/>
          <a:p>
            <a:r>
              <a:rPr sz="2500"/>
              <a:t>Stores individual SMS records.</a:t>
            </a:r>
          </a:p>
          <a:p>
            <a:r>
              <a:rPr sz="2500"/>
              <a:t>Key fields: address, date, type, read, seen, body, service_center, creator.</a:t>
            </a:r>
          </a:p>
          <a:p>
            <a:r>
              <a:rPr sz="2500"/>
              <a:t>Forensics value: reconstructs who communicated, when, message direction, content, and read/seen status.</a:t>
            </a:r>
          </a:p>
        </p:txBody>
      </p:sp>
    </p:spTree>
    <p:extLst>
      <p:ext uri="{BB962C8B-B14F-4D97-AF65-F5344CB8AC3E}">
        <p14:creationId xmlns:p14="http://schemas.microsoft.com/office/powerpoint/2010/main" val="501057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120C4-81E6-7C24-5760-E08F6E9C75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E4D798-F31A-B1D2-E40A-D5C995A7B19F}"/>
              </a:ext>
            </a:extLst>
          </p:cNvPr>
          <p:cNvSpPr>
            <a:spLocks noGrp="1"/>
          </p:cNvSpPr>
          <p:nvPr>
            <p:ph type="title"/>
          </p:nvPr>
        </p:nvSpPr>
        <p:spPr/>
        <p:txBody>
          <a:bodyPr wrap="square">
            <a:normAutofit/>
          </a:bodyPr>
          <a:lstStyle/>
          <a:p>
            <a:r>
              <a:rPr sz="3400"/>
              <a:t>pdu table</a:t>
            </a:r>
          </a:p>
        </p:txBody>
      </p:sp>
      <p:sp>
        <p:nvSpPr>
          <p:cNvPr id="3" name="Content Placeholder 2">
            <a:extLst>
              <a:ext uri="{FF2B5EF4-FFF2-40B4-BE49-F238E27FC236}">
                <a16:creationId xmlns:a16="http://schemas.microsoft.com/office/drawing/2014/main" id="{466BE17E-EF2E-4F8B-0575-834BD506FA5E}"/>
              </a:ext>
            </a:extLst>
          </p:cNvPr>
          <p:cNvSpPr>
            <a:spLocks noGrp="1"/>
          </p:cNvSpPr>
          <p:nvPr>
            <p:ph idx="1"/>
          </p:nvPr>
        </p:nvSpPr>
        <p:spPr/>
        <p:txBody>
          <a:bodyPr wrap="square">
            <a:normAutofit/>
          </a:bodyPr>
          <a:lstStyle/>
          <a:p>
            <a:r>
              <a:rPr sz="2500"/>
              <a:t>Stores one row per MMS message at the message level.</a:t>
            </a:r>
          </a:p>
          <a:p>
            <a:r>
              <a:rPr sz="2500"/>
              <a:t>Key fields: thread_id, date, msg_box, m_type, read, seen, sub_id, creator.</a:t>
            </a:r>
          </a:p>
          <a:p>
            <a:r>
              <a:rPr sz="2500"/>
              <a:t>To reconstruct content, join pdu with part and addr.</a:t>
            </a:r>
          </a:p>
        </p:txBody>
      </p:sp>
    </p:spTree>
    <p:extLst>
      <p:ext uri="{BB962C8B-B14F-4D97-AF65-F5344CB8AC3E}">
        <p14:creationId xmlns:p14="http://schemas.microsoft.com/office/powerpoint/2010/main" val="40450446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E946A-B3C3-8D5B-59F3-8155D1340E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7147B-010A-0242-1DBE-16A3A456E494}"/>
              </a:ext>
            </a:extLst>
          </p:cNvPr>
          <p:cNvSpPr>
            <a:spLocks noGrp="1"/>
          </p:cNvSpPr>
          <p:nvPr>
            <p:ph type="title"/>
          </p:nvPr>
        </p:nvSpPr>
        <p:spPr/>
        <p:txBody>
          <a:bodyPr wrap="square">
            <a:normAutofit/>
          </a:bodyPr>
          <a:lstStyle/>
          <a:p>
            <a:r>
              <a:rPr sz="3400"/>
              <a:t>part table</a:t>
            </a:r>
          </a:p>
        </p:txBody>
      </p:sp>
      <p:sp>
        <p:nvSpPr>
          <p:cNvPr id="3" name="Content Placeholder 2">
            <a:extLst>
              <a:ext uri="{FF2B5EF4-FFF2-40B4-BE49-F238E27FC236}">
                <a16:creationId xmlns:a16="http://schemas.microsoft.com/office/drawing/2014/main" id="{1EE10F9E-B874-1D88-0F37-548614931442}"/>
              </a:ext>
            </a:extLst>
          </p:cNvPr>
          <p:cNvSpPr>
            <a:spLocks noGrp="1"/>
          </p:cNvSpPr>
          <p:nvPr>
            <p:ph idx="1"/>
          </p:nvPr>
        </p:nvSpPr>
        <p:spPr/>
        <p:txBody>
          <a:bodyPr wrap="square">
            <a:normAutofit/>
          </a:bodyPr>
          <a:lstStyle/>
          <a:p>
            <a:r>
              <a:rPr sz="2500"/>
              <a:t>Stores the individual components of an MMS message.</a:t>
            </a:r>
          </a:p>
          <a:p>
            <a:r>
              <a:rPr sz="2500"/>
              <a:t>Examples: text/plain, SMIL layout, image/jpeg, audio, or video.</a:t>
            </a:r>
          </a:p>
          <a:p>
            <a:r>
              <a:rPr sz="2500"/>
              <a:t>Forensics value: identifies the actual MMS body and media components.</a:t>
            </a:r>
          </a:p>
        </p:txBody>
      </p:sp>
    </p:spTree>
    <p:extLst>
      <p:ext uri="{BB962C8B-B14F-4D97-AF65-F5344CB8AC3E}">
        <p14:creationId xmlns:p14="http://schemas.microsoft.com/office/powerpoint/2010/main" val="22376362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EF7C8-AB40-5AD6-9185-E9E96DE650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B5D8C-25E1-5619-0C9E-D0AB61841AB5}"/>
              </a:ext>
            </a:extLst>
          </p:cNvPr>
          <p:cNvSpPr>
            <a:spLocks noGrp="1"/>
          </p:cNvSpPr>
          <p:nvPr>
            <p:ph type="title"/>
          </p:nvPr>
        </p:nvSpPr>
        <p:spPr/>
        <p:txBody>
          <a:bodyPr wrap="square">
            <a:normAutofit/>
          </a:bodyPr>
          <a:lstStyle/>
          <a:p>
            <a:r>
              <a:rPr sz="3400"/>
              <a:t>attachments table</a:t>
            </a:r>
          </a:p>
        </p:txBody>
      </p:sp>
      <p:sp>
        <p:nvSpPr>
          <p:cNvPr id="3" name="Content Placeholder 2">
            <a:extLst>
              <a:ext uri="{FF2B5EF4-FFF2-40B4-BE49-F238E27FC236}">
                <a16:creationId xmlns:a16="http://schemas.microsoft.com/office/drawing/2014/main" id="{2D5C09BA-0E4C-3BE7-5574-6711BD37A573}"/>
              </a:ext>
            </a:extLst>
          </p:cNvPr>
          <p:cNvSpPr>
            <a:spLocks noGrp="1"/>
          </p:cNvSpPr>
          <p:nvPr>
            <p:ph idx="1"/>
          </p:nvPr>
        </p:nvSpPr>
        <p:spPr/>
        <p:txBody>
          <a:bodyPr wrap="square">
            <a:normAutofit/>
          </a:bodyPr>
          <a:lstStyle/>
          <a:p>
            <a:r>
              <a:rPr sz="2500"/>
              <a:t>Stores metadata about MMS attachments, such as file paths, MIME types, and sizes.</a:t>
            </a:r>
          </a:p>
          <a:p>
            <a:r>
              <a:rPr sz="2500"/>
              <a:t>Forensics value: helps locate and interpret multimedia evidence associated with MMS messages.</a:t>
            </a:r>
          </a:p>
        </p:txBody>
      </p:sp>
    </p:spTree>
    <p:extLst>
      <p:ext uri="{BB962C8B-B14F-4D97-AF65-F5344CB8AC3E}">
        <p14:creationId xmlns:p14="http://schemas.microsoft.com/office/powerpoint/2010/main" val="2333882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9DA02-9058-3BF6-53F5-9FBCE36657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D46C6-5746-F467-71D0-EFEB0C7B03D7}"/>
              </a:ext>
            </a:extLst>
          </p:cNvPr>
          <p:cNvSpPr>
            <a:spLocks noGrp="1"/>
          </p:cNvSpPr>
          <p:nvPr>
            <p:ph type="title"/>
          </p:nvPr>
        </p:nvSpPr>
        <p:spPr/>
        <p:txBody>
          <a:bodyPr wrap="square">
            <a:normAutofit/>
          </a:bodyPr>
          <a:lstStyle/>
          <a:p>
            <a:r>
              <a:rPr sz="3400"/>
              <a:t>threads table</a:t>
            </a:r>
          </a:p>
        </p:txBody>
      </p:sp>
      <p:sp>
        <p:nvSpPr>
          <p:cNvPr id="3" name="Content Placeholder 2">
            <a:extLst>
              <a:ext uri="{FF2B5EF4-FFF2-40B4-BE49-F238E27FC236}">
                <a16:creationId xmlns:a16="http://schemas.microsoft.com/office/drawing/2014/main" id="{AA7F4D19-8E0B-B842-D9E4-7ED842404023}"/>
              </a:ext>
            </a:extLst>
          </p:cNvPr>
          <p:cNvSpPr>
            <a:spLocks noGrp="1"/>
          </p:cNvSpPr>
          <p:nvPr>
            <p:ph idx="1"/>
          </p:nvPr>
        </p:nvSpPr>
        <p:spPr/>
        <p:txBody>
          <a:bodyPr wrap="square">
            <a:normAutofit/>
          </a:bodyPr>
          <a:lstStyle/>
          <a:p>
            <a:r>
              <a:rPr sz="2500"/>
              <a:t>Groups SMS/MMS messages into conversations.</a:t>
            </a:r>
          </a:p>
          <a:p>
            <a:r>
              <a:rPr sz="2500"/>
              <a:t>Key fields may include thread ID, recipient IDs, message count, date, snippet, and read flag.</a:t>
            </a:r>
          </a:p>
          <a:p>
            <a:r>
              <a:rPr sz="2500"/>
              <a:t>Forensics value: supports conversation-level reconstruction and communication-pattern analysis.</a:t>
            </a:r>
          </a:p>
        </p:txBody>
      </p:sp>
    </p:spTree>
    <p:extLst>
      <p:ext uri="{BB962C8B-B14F-4D97-AF65-F5344CB8AC3E}">
        <p14:creationId xmlns:p14="http://schemas.microsoft.com/office/powerpoint/2010/main" val="38368692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64AEB-65AC-B21B-CE5E-FB5E14680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2C66D6-FA1D-8CEC-1B5B-E09AED8909B3}"/>
              </a:ext>
            </a:extLst>
          </p:cNvPr>
          <p:cNvSpPr>
            <a:spLocks noGrp="1"/>
          </p:cNvSpPr>
          <p:nvPr>
            <p:ph type="title"/>
          </p:nvPr>
        </p:nvSpPr>
        <p:spPr/>
        <p:txBody>
          <a:bodyPr wrap="square">
            <a:normAutofit/>
          </a:bodyPr>
          <a:lstStyle/>
          <a:p>
            <a:r>
              <a:rPr sz="3400"/>
              <a:t>canonical_addresses table</a:t>
            </a:r>
          </a:p>
        </p:txBody>
      </p:sp>
      <p:sp>
        <p:nvSpPr>
          <p:cNvPr id="3" name="Content Placeholder 2">
            <a:extLst>
              <a:ext uri="{FF2B5EF4-FFF2-40B4-BE49-F238E27FC236}">
                <a16:creationId xmlns:a16="http://schemas.microsoft.com/office/drawing/2014/main" id="{5B68DD0F-9C69-E216-DBE7-3E9B201A771E}"/>
              </a:ext>
            </a:extLst>
          </p:cNvPr>
          <p:cNvSpPr>
            <a:spLocks noGrp="1"/>
          </p:cNvSpPr>
          <p:nvPr>
            <p:ph idx="1"/>
          </p:nvPr>
        </p:nvSpPr>
        <p:spPr/>
        <p:txBody>
          <a:bodyPr wrap="square">
            <a:normAutofit/>
          </a:bodyPr>
          <a:lstStyle/>
          <a:p>
            <a:r>
              <a:rPr sz="2500"/>
              <a:t>Normalizes phone numbers and maps them to stable address IDs.</a:t>
            </a:r>
          </a:p>
          <a:p>
            <a:r>
              <a:rPr sz="2500"/>
              <a:t>Other tables reference these IDs rather than repeating raw phone numbers.</a:t>
            </a:r>
          </a:p>
          <a:p>
            <a:r>
              <a:rPr sz="2500"/>
              <a:t>Forensics value: links messages to participants even when number formats vary.</a:t>
            </a:r>
          </a:p>
        </p:txBody>
      </p:sp>
    </p:spTree>
    <p:extLst>
      <p:ext uri="{BB962C8B-B14F-4D97-AF65-F5344CB8AC3E}">
        <p14:creationId xmlns:p14="http://schemas.microsoft.com/office/powerpoint/2010/main" val="17325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4757C-22C3-FD7C-0D29-BA817701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0E93F-30CD-3889-077E-A6842018F474}"/>
              </a:ext>
            </a:extLst>
          </p:cNvPr>
          <p:cNvSpPr>
            <a:spLocks noGrp="1"/>
          </p:cNvSpPr>
          <p:nvPr>
            <p:ph type="title"/>
          </p:nvPr>
        </p:nvSpPr>
        <p:spPr/>
        <p:txBody>
          <a:bodyPr wrap="square">
            <a:normAutofit/>
          </a:bodyPr>
          <a:lstStyle/>
          <a:p>
            <a:r>
              <a:rPr sz="3400"/>
              <a:t>pending_msgs table</a:t>
            </a:r>
          </a:p>
        </p:txBody>
      </p:sp>
      <p:sp>
        <p:nvSpPr>
          <p:cNvPr id="3" name="Content Placeholder 2">
            <a:extLst>
              <a:ext uri="{FF2B5EF4-FFF2-40B4-BE49-F238E27FC236}">
                <a16:creationId xmlns:a16="http://schemas.microsoft.com/office/drawing/2014/main" id="{3B591FA7-8467-4523-7F5D-17FE69A39B67}"/>
              </a:ext>
            </a:extLst>
          </p:cNvPr>
          <p:cNvSpPr>
            <a:spLocks noGrp="1"/>
          </p:cNvSpPr>
          <p:nvPr>
            <p:ph idx="1"/>
          </p:nvPr>
        </p:nvSpPr>
        <p:spPr/>
        <p:txBody>
          <a:bodyPr wrap="square">
            <a:normAutofit/>
          </a:bodyPr>
          <a:lstStyle/>
          <a:p>
            <a:r>
              <a:rPr sz="2500"/>
              <a:t>Stores messages queued for sending or delivery processing.</a:t>
            </a:r>
          </a:p>
          <a:p>
            <a:r>
              <a:rPr sz="2500"/>
              <a:t>Forensics value: may reveal attempted communication, failed delivery, or messages not visible in the normal conversation view.</a:t>
            </a:r>
          </a:p>
        </p:txBody>
      </p:sp>
    </p:spTree>
    <p:extLst>
      <p:ext uri="{BB962C8B-B14F-4D97-AF65-F5344CB8AC3E}">
        <p14:creationId xmlns:p14="http://schemas.microsoft.com/office/powerpoint/2010/main" val="15597872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CD2070-4356-7D0E-EEA2-A9F2732C3D31}"/>
              </a:ext>
            </a:extLst>
          </p:cNvPr>
          <p:cNvSpPr>
            <a:spLocks noGrp="1"/>
          </p:cNvSpPr>
          <p:nvPr>
            <p:ph type="title"/>
          </p:nvPr>
        </p:nvSpPr>
        <p:spPr/>
        <p:txBody>
          <a:bodyPr wrap="square">
            <a:normAutofit/>
          </a:bodyPr>
          <a:lstStyle/>
          <a:p>
            <a:r>
              <a:rPr sz="4200"/>
              <a:t>Investigate the sms table</a:t>
            </a:r>
          </a:p>
        </p:txBody>
      </p:sp>
      <p:sp>
        <p:nvSpPr>
          <p:cNvPr id="5" name="Text Placeholder 4">
            <a:extLst>
              <a:ext uri="{FF2B5EF4-FFF2-40B4-BE49-F238E27FC236}">
                <a16:creationId xmlns:a16="http://schemas.microsoft.com/office/drawing/2014/main" id="{E5AFCD54-3D96-49F8-03E2-A24C9B82C51C}"/>
              </a:ext>
            </a:extLst>
          </p:cNvPr>
          <p:cNvSpPr>
            <a:spLocks noGrp="1"/>
          </p:cNvSpPr>
          <p:nvPr>
            <p:ph type="body" idx="1"/>
          </p:nvPr>
        </p:nvSpPr>
        <p:spPr/>
        <p:txBody>
          <a:bodyPr wrap="square">
            <a:normAutofit/>
          </a:bodyPr>
          <a:lstStyle/>
          <a:p>
            <a:endParaRPr lang="en-US"/>
          </a:p>
        </p:txBody>
      </p:sp>
    </p:spTree>
    <p:extLst>
      <p:ext uri="{BB962C8B-B14F-4D97-AF65-F5344CB8AC3E}">
        <p14:creationId xmlns:p14="http://schemas.microsoft.com/office/powerpoint/2010/main" val="31645561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240" y="320040"/>
            <a:ext cx="10515600" cy="731520"/>
          </a:xfrm>
        </p:spPr>
        <p:txBody>
          <a:bodyPr wrap="square">
            <a:normAutofit/>
          </a:bodyPr>
          <a:lstStyle/>
          <a:p>
            <a:r>
              <a:rPr sz="3400" b="0">
                <a:solidFill>
                  <a:srgbClr val="222222"/>
                </a:solidFill>
              </a:rPr>
              <a:t>Timestamp and direction fields: avoid common mistakes</a:t>
            </a:r>
          </a:p>
        </p:txBody>
      </p:sp>
      <p:sp>
        <p:nvSpPr>
          <p:cNvPr id="3" name="Rectangle 2"/>
          <p:cNvSpPr/>
          <p:nvPr/>
        </p:nvSpPr>
        <p:spPr>
          <a:xfrm>
            <a:off x="685800" y="1417320"/>
            <a:ext cx="1325880" cy="438912"/>
          </a:xfrm>
          <a:prstGeom prst="rect">
            <a:avLst/>
          </a:prstGeom>
          <a:solidFill>
            <a:srgbClr val="DDEBF7"/>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600" b="1">
                <a:solidFill>
                  <a:srgbClr val="222222"/>
                </a:solidFill>
              </a:rPr>
              <a:t>Artifact</a:t>
            </a:r>
          </a:p>
        </p:txBody>
      </p:sp>
      <p:sp>
        <p:nvSpPr>
          <p:cNvPr id="4" name="Rectangle 3"/>
          <p:cNvSpPr/>
          <p:nvPr/>
        </p:nvSpPr>
        <p:spPr>
          <a:xfrm>
            <a:off x="2011680" y="1417320"/>
            <a:ext cx="1508760" cy="438912"/>
          </a:xfrm>
          <a:prstGeom prst="rect">
            <a:avLst/>
          </a:prstGeom>
          <a:solidFill>
            <a:srgbClr val="DDEBF7"/>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600" b="1">
                <a:solidFill>
                  <a:srgbClr val="222222"/>
                </a:solidFill>
              </a:rPr>
              <a:t>Key field</a:t>
            </a:r>
          </a:p>
        </p:txBody>
      </p:sp>
      <p:sp>
        <p:nvSpPr>
          <p:cNvPr id="5" name="Rectangle 4"/>
          <p:cNvSpPr/>
          <p:nvPr/>
        </p:nvSpPr>
        <p:spPr>
          <a:xfrm>
            <a:off x="3520440" y="1417320"/>
            <a:ext cx="3749039" cy="438912"/>
          </a:xfrm>
          <a:prstGeom prst="rect">
            <a:avLst/>
          </a:prstGeom>
          <a:solidFill>
            <a:srgbClr val="DDEBF7"/>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600" b="1">
                <a:solidFill>
                  <a:srgbClr val="222222"/>
                </a:solidFill>
              </a:rPr>
              <a:t>Meaning</a:t>
            </a:r>
          </a:p>
        </p:txBody>
      </p:sp>
      <p:sp>
        <p:nvSpPr>
          <p:cNvPr id="6" name="Rectangle 5"/>
          <p:cNvSpPr/>
          <p:nvPr/>
        </p:nvSpPr>
        <p:spPr>
          <a:xfrm>
            <a:off x="7269479" y="1417320"/>
            <a:ext cx="3886200" cy="438912"/>
          </a:xfrm>
          <a:prstGeom prst="rect">
            <a:avLst/>
          </a:prstGeom>
          <a:solidFill>
            <a:srgbClr val="DDEBF7"/>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600" b="1">
                <a:solidFill>
                  <a:srgbClr val="222222"/>
                </a:solidFill>
              </a:rPr>
              <a:t>Forensic caution</a:t>
            </a:r>
          </a:p>
        </p:txBody>
      </p:sp>
      <p:sp>
        <p:nvSpPr>
          <p:cNvPr id="7" name="Rectangle 6"/>
          <p:cNvSpPr/>
          <p:nvPr/>
        </p:nvSpPr>
        <p:spPr>
          <a:xfrm>
            <a:off x="685800" y="1856232"/>
            <a:ext cx="1325880" cy="585216"/>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SMS</a:t>
            </a:r>
          </a:p>
        </p:txBody>
      </p:sp>
      <p:sp>
        <p:nvSpPr>
          <p:cNvPr id="8" name="Rectangle 7"/>
          <p:cNvSpPr/>
          <p:nvPr/>
        </p:nvSpPr>
        <p:spPr>
          <a:xfrm>
            <a:off x="2011680" y="1856232"/>
            <a:ext cx="1508760" cy="585216"/>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sms.date</a:t>
            </a:r>
          </a:p>
        </p:txBody>
      </p:sp>
      <p:sp>
        <p:nvSpPr>
          <p:cNvPr id="9" name="Rectangle 8"/>
          <p:cNvSpPr/>
          <p:nvPr/>
        </p:nvSpPr>
        <p:spPr>
          <a:xfrm>
            <a:off x="3520440" y="1856232"/>
            <a:ext cx="3749039" cy="585216"/>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Milliseconds since Unix epoch</a:t>
            </a:r>
          </a:p>
        </p:txBody>
      </p:sp>
      <p:sp>
        <p:nvSpPr>
          <p:cNvPr id="10" name="Rectangle 9"/>
          <p:cNvSpPr/>
          <p:nvPr/>
        </p:nvSpPr>
        <p:spPr>
          <a:xfrm>
            <a:off x="7269479" y="1856232"/>
            <a:ext cx="3886200" cy="585216"/>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Convert carefully; verify timezone used by the tool</a:t>
            </a:r>
          </a:p>
        </p:txBody>
      </p:sp>
      <p:sp>
        <p:nvSpPr>
          <p:cNvPr id="11" name="Rectangle 10"/>
          <p:cNvSpPr/>
          <p:nvPr/>
        </p:nvSpPr>
        <p:spPr>
          <a:xfrm>
            <a:off x="685800" y="2441448"/>
            <a:ext cx="1325880" cy="749808"/>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SMS</a:t>
            </a:r>
          </a:p>
        </p:txBody>
      </p:sp>
      <p:sp>
        <p:nvSpPr>
          <p:cNvPr id="12" name="Rectangle 11"/>
          <p:cNvSpPr/>
          <p:nvPr/>
        </p:nvSpPr>
        <p:spPr>
          <a:xfrm>
            <a:off x="2011680" y="2441448"/>
            <a:ext cx="1508760" cy="749808"/>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sms.type</a:t>
            </a:r>
          </a:p>
        </p:txBody>
      </p:sp>
      <p:sp>
        <p:nvSpPr>
          <p:cNvPr id="13" name="Rectangle 12"/>
          <p:cNvSpPr/>
          <p:nvPr/>
        </p:nvSpPr>
        <p:spPr>
          <a:xfrm>
            <a:off x="3520440" y="2441448"/>
            <a:ext cx="3749039" cy="749808"/>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1=inbox, 2=sent, 3=draft, 4=outbox, 5=failed, 6=queued</a:t>
            </a:r>
          </a:p>
        </p:txBody>
      </p:sp>
      <p:sp>
        <p:nvSpPr>
          <p:cNvPr id="14" name="Rectangle 13"/>
          <p:cNvSpPr/>
          <p:nvPr/>
        </p:nvSpPr>
        <p:spPr>
          <a:xfrm>
            <a:off x="7269479" y="2441448"/>
            <a:ext cx="3886200" cy="749808"/>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Do not infer “sent” or “received” from address alone</a:t>
            </a:r>
          </a:p>
        </p:txBody>
      </p:sp>
      <p:sp>
        <p:nvSpPr>
          <p:cNvPr id="15" name="Rectangle 14"/>
          <p:cNvSpPr/>
          <p:nvPr/>
        </p:nvSpPr>
        <p:spPr>
          <a:xfrm>
            <a:off x="685800" y="3191256"/>
            <a:ext cx="1325880" cy="585216"/>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MMS</a:t>
            </a:r>
          </a:p>
        </p:txBody>
      </p:sp>
      <p:sp>
        <p:nvSpPr>
          <p:cNvPr id="16" name="Rectangle 15"/>
          <p:cNvSpPr/>
          <p:nvPr/>
        </p:nvSpPr>
        <p:spPr>
          <a:xfrm>
            <a:off x="2011680" y="3191256"/>
            <a:ext cx="1508760" cy="585216"/>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pdu.date</a:t>
            </a:r>
          </a:p>
        </p:txBody>
      </p:sp>
      <p:sp>
        <p:nvSpPr>
          <p:cNvPr id="17" name="Rectangle 16"/>
          <p:cNvSpPr/>
          <p:nvPr/>
        </p:nvSpPr>
        <p:spPr>
          <a:xfrm>
            <a:off x="3520440" y="3191256"/>
            <a:ext cx="3749039" cy="585216"/>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Seconds since Unix epoch</a:t>
            </a:r>
          </a:p>
        </p:txBody>
      </p:sp>
      <p:sp>
        <p:nvSpPr>
          <p:cNvPr id="18" name="Rectangle 17"/>
          <p:cNvSpPr/>
          <p:nvPr/>
        </p:nvSpPr>
        <p:spPr>
          <a:xfrm>
            <a:off x="7269479" y="3191256"/>
            <a:ext cx="3886200" cy="585216"/>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Different unit than sms.date in this dataset</a:t>
            </a:r>
          </a:p>
        </p:txBody>
      </p:sp>
      <p:sp>
        <p:nvSpPr>
          <p:cNvPr id="19" name="Rectangle 18"/>
          <p:cNvSpPr/>
          <p:nvPr/>
        </p:nvSpPr>
        <p:spPr>
          <a:xfrm>
            <a:off x="685800" y="3776472"/>
            <a:ext cx="1325880" cy="658368"/>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MMS</a:t>
            </a:r>
          </a:p>
        </p:txBody>
      </p:sp>
      <p:sp>
        <p:nvSpPr>
          <p:cNvPr id="20" name="Rectangle 19"/>
          <p:cNvSpPr/>
          <p:nvPr/>
        </p:nvSpPr>
        <p:spPr>
          <a:xfrm>
            <a:off x="2011680" y="3776472"/>
            <a:ext cx="1508760" cy="658368"/>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pdu.msg_box</a:t>
            </a:r>
          </a:p>
        </p:txBody>
      </p:sp>
      <p:sp>
        <p:nvSpPr>
          <p:cNvPr id="21" name="Rectangle 20"/>
          <p:cNvSpPr/>
          <p:nvPr/>
        </p:nvSpPr>
        <p:spPr>
          <a:xfrm>
            <a:off x="3520440" y="3776472"/>
            <a:ext cx="3749039" cy="658368"/>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1=inbox, 2=sent, 3=draft, 4=outbox</a:t>
            </a:r>
          </a:p>
        </p:txBody>
      </p:sp>
      <p:sp>
        <p:nvSpPr>
          <p:cNvPr id="22" name="Rectangle 21"/>
          <p:cNvSpPr/>
          <p:nvPr/>
        </p:nvSpPr>
        <p:spPr>
          <a:xfrm>
            <a:off x="7269479" y="3776472"/>
            <a:ext cx="3886200" cy="658368"/>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Use with addr.type to identify sender and recipient</a:t>
            </a:r>
          </a:p>
        </p:txBody>
      </p:sp>
      <p:sp>
        <p:nvSpPr>
          <p:cNvPr id="23" name="Rectangle 22"/>
          <p:cNvSpPr/>
          <p:nvPr/>
        </p:nvSpPr>
        <p:spPr>
          <a:xfrm>
            <a:off x="685800" y="4434840"/>
            <a:ext cx="1325880" cy="585216"/>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Read state</a:t>
            </a:r>
          </a:p>
        </p:txBody>
      </p:sp>
      <p:sp>
        <p:nvSpPr>
          <p:cNvPr id="24" name="Rectangle 23"/>
          <p:cNvSpPr/>
          <p:nvPr/>
        </p:nvSpPr>
        <p:spPr>
          <a:xfrm>
            <a:off x="2011680" y="4434840"/>
            <a:ext cx="1508760" cy="585216"/>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read / seen</a:t>
            </a:r>
          </a:p>
        </p:txBody>
      </p:sp>
      <p:sp>
        <p:nvSpPr>
          <p:cNvPr id="25" name="Rectangle 24"/>
          <p:cNvSpPr/>
          <p:nvPr/>
        </p:nvSpPr>
        <p:spPr>
          <a:xfrm>
            <a:off x="3520440" y="4434840"/>
            <a:ext cx="3749039" cy="585216"/>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User interaction flags</a:t>
            </a:r>
          </a:p>
        </p:txBody>
      </p:sp>
      <p:sp>
        <p:nvSpPr>
          <p:cNvPr id="26" name="Rectangle 25"/>
          <p:cNvSpPr/>
          <p:nvPr/>
        </p:nvSpPr>
        <p:spPr>
          <a:xfrm>
            <a:off x="7269479" y="4434840"/>
            <a:ext cx="3886200" cy="585216"/>
          </a:xfrm>
          <a:prstGeom prst="rect">
            <a:avLst/>
          </a:prstGeom>
          <a:solidFill>
            <a:srgbClr val="FFFFFF"/>
          </a:solidFill>
          <a:ln w="10160">
            <a:solidFill>
              <a:srgbClr val="6E6E6E"/>
            </a:solidFill>
          </a:ln>
        </p:spPr>
        <p:style>
          <a:lnRef idx="1">
            <a:schemeClr val="accent1"/>
          </a:lnRef>
          <a:fillRef idx="3">
            <a:schemeClr val="accent1"/>
          </a:fillRef>
          <a:effectRef idx="2">
            <a:schemeClr val="accent1"/>
          </a:effectRef>
          <a:fontRef idx="minor">
            <a:schemeClr val="lt1"/>
          </a:fontRef>
        </p:style>
        <p:txBody>
          <a:bodyPr wrap="square" lIns="54864" rIns="54864" rtlCol="0" anchor="ctr">
            <a:normAutofit/>
          </a:bodyPr>
          <a:lstStyle/>
          <a:p>
            <a:pPr algn="ctr"/>
            <a:r>
              <a:rPr sz="1500" b="0">
                <a:solidFill>
                  <a:srgbClr val="222222"/>
                </a:solidFill>
              </a:rPr>
              <a:t>Read and seen are related but not always identical</a:t>
            </a:r>
          </a:p>
        </p:txBody>
      </p:sp>
      <p:sp>
        <p:nvSpPr>
          <p:cNvPr id="27" name="Rectangle 26"/>
          <p:cNvSpPr/>
          <p:nvPr/>
        </p:nvSpPr>
        <p:spPr>
          <a:xfrm>
            <a:off x="868680" y="5623560"/>
            <a:ext cx="10241280" cy="502920"/>
          </a:xfrm>
          <a:prstGeom prst="rect">
            <a:avLst/>
          </a:prstGeom>
          <a:solidFill>
            <a:srgbClr val="FFF2CC"/>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500" b="0">
                <a:solidFill>
                  <a:srgbClr val="222222"/>
                </a:solidFill>
              </a:rPr>
              <a:t>Ask students to show the original value, conversion method, timezone assumption, and final human-readable time.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A30B4ECE-1350-87BC-5262-A2517935B53D}"/>
              </a:ext>
            </a:extLst>
          </p:cNvPr>
          <p:cNvGraphicFramePr>
            <a:graphicFrameLocks noGrp="1"/>
          </p:cNvGraphicFramePr>
          <p:nvPr>
            <p:extLst>
              <p:ext uri="{D42A27DB-BD31-4B8C-83A1-F6EECF244321}">
                <p14:modId xmlns:p14="http://schemas.microsoft.com/office/powerpoint/2010/main" val="545051202"/>
              </p:ext>
            </p:extLst>
          </p:nvPr>
        </p:nvGraphicFramePr>
        <p:xfrm>
          <a:off x="3596640" y="266906"/>
          <a:ext cx="8177250" cy="6170720"/>
        </p:xfrm>
        <a:graphic>
          <a:graphicData uri="http://schemas.openxmlformats.org/drawingml/2006/table">
            <a:tbl>
              <a:tblPr>
                <a:tableStyleId>{5940675A-B579-460E-94D1-54222C63F5DA}</a:tableStyleId>
              </a:tblPr>
              <a:tblGrid>
                <a:gridCol w="1813632">
                  <a:extLst>
                    <a:ext uri="{9D8B030D-6E8A-4147-A177-3AD203B41FA5}">
                      <a16:colId xmlns:a16="http://schemas.microsoft.com/office/drawing/2014/main" val="2482096290"/>
                    </a:ext>
                  </a:extLst>
                </a:gridCol>
                <a:gridCol w="3994984">
                  <a:extLst>
                    <a:ext uri="{9D8B030D-6E8A-4147-A177-3AD203B41FA5}">
                      <a16:colId xmlns:a16="http://schemas.microsoft.com/office/drawing/2014/main" val="2856850924"/>
                    </a:ext>
                  </a:extLst>
                </a:gridCol>
                <a:gridCol w="2368634">
                  <a:extLst>
                    <a:ext uri="{9D8B030D-6E8A-4147-A177-3AD203B41FA5}">
                      <a16:colId xmlns:a16="http://schemas.microsoft.com/office/drawing/2014/main" val="1585616282"/>
                    </a:ext>
                  </a:extLst>
                </a:gridCol>
              </a:tblGrid>
              <a:tr h="118404">
                <a:tc>
                  <a:txBody>
                    <a:bodyPr/>
                    <a:lstStyle/>
                    <a:p>
                      <a:pPr>
                        <a:buNone/>
                      </a:pPr>
                      <a:r>
                        <a:rPr lang="en-US" sz="1600" b="1" dirty="0"/>
                        <a:t>Column Name</a:t>
                      </a:r>
                    </a:p>
                  </a:txBody>
                  <a:tcPr marL="29601" marR="29601" marT="14800" marB="14800" anchor="ctr"/>
                </a:tc>
                <a:tc>
                  <a:txBody>
                    <a:bodyPr/>
                    <a:lstStyle/>
                    <a:p>
                      <a:pPr>
                        <a:buNone/>
                      </a:pPr>
                      <a:r>
                        <a:rPr lang="en-US" sz="1600" b="1"/>
                        <a:t>Description</a:t>
                      </a:r>
                    </a:p>
                  </a:txBody>
                  <a:tcPr marL="29601" marR="29601" marT="14800" marB="14800" anchor="ctr"/>
                </a:tc>
                <a:tc>
                  <a:txBody>
                    <a:bodyPr/>
                    <a:lstStyle/>
                    <a:p>
                      <a:pPr>
                        <a:buNone/>
                      </a:pPr>
                      <a:r>
                        <a:rPr lang="en-US" sz="1600" b="1" dirty="0"/>
                        <a:t>Example / Notes</a:t>
                      </a:r>
                    </a:p>
                  </a:txBody>
                  <a:tcPr marL="29601" marR="29601" marT="14800" marB="14800" anchor="ctr"/>
                </a:tc>
                <a:extLst>
                  <a:ext uri="{0D108BD9-81ED-4DB2-BD59-A6C34878D82A}">
                    <a16:rowId xmlns:a16="http://schemas.microsoft.com/office/drawing/2014/main" val="1582978956"/>
                  </a:ext>
                </a:extLst>
              </a:tr>
              <a:tr h="118404">
                <a:tc>
                  <a:txBody>
                    <a:bodyPr/>
                    <a:lstStyle/>
                    <a:p>
                      <a:pPr>
                        <a:buNone/>
                      </a:pPr>
                      <a:r>
                        <a:rPr lang="en-US" sz="1600" b="1"/>
                        <a:t>_id</a:t>
                      </a:r>
                      <a:endParaRPr lang="en-US" sz="1600"/>
                    </a:p>
                  </a:txBody>
                  <a:tcPr marL="29601" marR="29601" marT="14800" marB="14800" anchor="ctr"/>
                </a:tc>
                <a:tc>
                  <a:txBody>
                    <a:bodyPr/>
                    <a:lstStyle/>
                    <a:p>
                      <a:pPr>
                        <a:buNone/>
                      </a:pPr>
                      <a:r>
                        <a:rPr lang="en-US" sz="1600"/>
                        <a:t>Primary key</a:t>
                      </a:r>
                    </a:p>
                  </a:txBody>
                  <a:tcPr marL="29601" marR="29601" marT="14800" marB="14800" anchor="ctr"/>
                </a:tc>
                <a:tc>
                  <a:txBody>
                    <a:bodyPr/>
                    <a:lstStyle/>
                    <a:p>
                      <a:pPr>
                        <a:buNone/>
                      </a:pPr>
                      <a:r>
                        <a:rPr lang="en-US" sz="1600"/>
                        <a:t>123</a:t>
                      </a:r>
                    </a:p>
                  </a:txBody>
                  <a:tcPr marL="29601" marR="29601" marT="14800" marB="14800" anchor="ctr"/>
                </a:tc>
                <a:extLst>
                  <a:ext uri="{0D108BD9-81ED-4DB2-BD59-A6C34878D82A}">
                    <a16:rowId xmlns:a16="http://schemas.microsoft.com/office/drawing/2014/main" val="832381669"/>
                  </a:ext>
                </a:extLst>
              </a:tr>
              <a:tr h="207207">
                <a:tc>
                  <a:txBody>
                    <a:bodyPr/>
                    <a:lstStyle/>
                    <a:p>
                      <a:pPr>
                        <a:buNone/>
                      </a:pPr>
                      <a:r>
                        <a:rPr lang="en-US" sz="1600" b="1"/>
                        <a:t>thread_id</a:t>
                      </a:r>
                      <a:endParaRPr lang="en-US" sz="1600"/>
                    </a:p>
                  </a:txBody>
                  <a:tcPr marL="29601" marR="29601" marT="14800" marB="14800" anchor="ctr"/>
                </a:tc>
                <a:tc>
                  <a:txBody>
                    <a:bodyPr/>
                    <a:lstStyle/>
                    <a:p>
                      <a:pPr>
                        <a:buNone/>
                      </a:pPr>
                      <a:r>
                        <a:rPr lang="en-GB" sz="1600"/>
                        <a:t>Links to conversation in threads table</a:t>
                      </a:r>
                    </a:p>
                  </a:txBody>
                  <a:tcPr marL="29601" marR="29601" marT="14800" marB="14800" anchor="ctr"/>
                </a:tc>
                <a:tc>
                  <a:txBody>
                    <a:bodyPr/>
                    <a:lstStyle/>
                    <a:p>
                      <a:pPr>
                        <a:buNone/>
                      </a:pPr>
                      <a:r>
                        <a:rPr lang="en-US" sz="1600"/>
                        <a:t>7</a:t>
                      </a:r>
                    </a:p>
                  </a:txBody>
                  <a:tcPr marL="29601" marR="29601" marT="14800" marB="14800" anchor="ctr"/>
                </a:tc>
                <a:extLst>
                  <a:ext uri="{0D108BD9-81ED-4DB2-BD59-A6C34878D82A}">
                    <a16:rowId xmlns:a16="http://schemas.microsoft.com/office/drawing/2014/main" val="2735638313"/>
                  </a:ext>
                </a:extLst>
              </a:tr>
              <a:tr h="207207">
                <a:tc>
                  <a:txBody>
                    <a:bodyPr/>
                    <a:lstStyle/>
                    <a:p>
                      <a:pPr>
                        <a:buNone/>
                      </a:pPr>
                      <a:r>
                        <a:rPr lang="en-US" sz="1600" b="1"/>
                        <a:t>address</a:t>
                      </a:r>
                      <a:endParaRPr lang="en-US" sz="1600"/>
                    </a:p>
                  </a:txBody>
                  <a:tcPr marL="29601" marR="29601" marT="14800" marB="14800" anchor="ctr"/>
                </a:tc>
                <a:tc>
                  <a:txBody>
                    <a:bodyPr/>
                    <a:lstStyle/>
                    <a:p>
                      <a:pPr>
                        <a:buNone/>
                      </a:pPr>
                      <a:r>
                        <a:rPr lang="en-GB" sz="1600"/>
                        <a:t>Phone number of other party (sender or recipient)</a:t>
                      </a:r>
                    </a:p>
                  </a:txBody>
                  <a:tcPr marL="29601" marR="29601" marT="14800" marB="14800" anchor="ctr"/>
                </a:tc>
                <a:tc>
                  <a:txBody>
                    <a:bodyPr/>
                    <a:lstStyle/>
                    <a:p>
                      <a:pPr>
                        <a:buNone/>
                      </a:pPr>
                      <a:r>
                        <a:rPr lang="en-US" sz="1600"/>
                        <a:t>"+14155551234"</a:t>
                      </a:r>
                    </a:p>
                  </a:txBody>
                  <a:tcPr marL="29601" marR="29601" marT="14800" marB="14800" anchor="ctr"/>
                </a:tc>
                <a:extLst>
                  <a:ext uri="{0D108BD9-81ED-4DB2-BD59-A6C34878D82A}">
                    <a16:rowId xmlns:a16="http://schemas.microsoft.com/office/drawing/2014/main" val="3262004786"/>
                  </a:ext>
                </a:extLst>
              </a:tr>
              <a:tr h="118404">
                <a:tc>
                  <a:txBody>
                    <a:bodyPr/>
                    <a:lstStyle/>
                    <a:p>
                      <a:pPr>
                        <a:buNone/>
                      </a:pPr>
                      <a:r>
                        <a:rPr lang="en-US" sz="1600" b="1"/>
                        <a:t>person</a:t>
                      </a:r>
                      <a:endParaRPr lang="en-US" sz="1600"/>
                    </a:p>
                  </a:txBody>
                  <a:tcPr marL="29601" marR="29601" marT="14800" marB="14800" anchor="ctr"/>
                </a:tc>
                <a:tc>
                  <a:txBody>
                    <a:bodyPr/>
                    <a:lstStyle/>
                    <a:p>
                      <a:pPr>
                        <a:buNone/>
                      </a:pPr>
                      <a:r>
                        <a:rPr lang="en-US" sz="1600"/>
                        <a:t>Contact ID (deprecated)</a:t>
                      </a:r>
                    </a:p>
                  </a:txBody>
                  <a:tcPr marL="29601" marR="29601" marT="14800" marB="14800" anchor="ctr"/>
                </a:tc>
                <a:tc>
                  <a:txBody>
                    <a:bodyPr/>
                    <a:lstStyle/>
                    <a:p>
                      <a:pPr>
                        <a:buNone/>
                      </a:pPr>
                      <a:r>
                        <a:rPr lang="en-US" sz="1600"/>
                        <a:t>NULL or 42</a:t>
                      </a:r>
                    </a:p>
                  </a:txBody>
                  <a:tcPr marL="29601" marR="29601" marT="14800" marB="14800" anchor="ctr"/>
                </a:tc>
                <a:extLst>
                  <a:ext uri="{0D108BD9-81ED-4DB2-BD59-A6C34878D82A}">
                    <a16:rowId xmlns:a16="http://schemas.microsoft.com/office/drawing/2014/main" val="4264763304"/>
                  </a:ext>
                </a:extLst>
              </a:tr>
              <a:tr h="207207">
                <a:tc>
                  <a:txBody>
                    <a:bodyPr/>
                    <a:lstStyle/>
                    <a:p>
                      <a:pPr>
                        <a:buNone/>
                      </a:pPr>
                      <a:r>
                        <a:rPr lang="en-US" sz="1600" b="1"/>
                        <a:t>date</a:t>
                      </a:r>
                      <a:endParaRPr lang="en-US" sz="1600"/>
                    </a:p>
                  </a:txBody>
                  <a:tcPr marL="29601" marR="29601" marT="14800" marB="14800" anchor="ctr"/>
                </a:tc>
                <a:tc>
                  <a:txBody>
                    <a:bodyPr/>
                    <a:lstStyle/>
                    <a:p>
                      <a:pPr>
                        <a:buNone/>
                      </a:pPr>
                      <a:r>
                        <a:rPr lang="en-GB" sz="1600"/>
                        <a:t>Timestamp (ms since Unix epoch, UTC)</a:t>
                      </a:r>
                    </a:p>
                  </a:txBody>
                  <a:tcPr marL="29601" marR="29601" marT="14800" marB="14800" anchor="ctr"/>
                </a:tc>
                <a:tc>
                  <a:txBody>
                    <a:bodyPr/>
                    <a:lstStyle/>
                    <a:p>
                      <a:pPr>
                        <a:buNone/>
                      </a:pPr>
                      <a:r>
                        <a:rPr lang="en-US" sz="1600"/>
                        <a:t>1697571600000</a:t>
                      </a:r>
                    </a:p>
                  </a:txBody>
                  <a:tcPr marL="29601" marR="29601" marT="14800" marB="14800" anchor="ctr"/>
                </a:tc>
                <a:extLst>
                  <a:ext uri="{0D108BD9-81ED-4DB2-BD59-A6C34878D82A}">
                    <a16:rowId xmlns:a16="http://schemas.microsoft.com/office/drawing/2014/main" val="2352068870"/>
                  </a:ext>
                </a:extLst>
              </a:tr>
              <a:tr h="207207">
                <a:tc>
                  <a:txBody>
                    <a:bodyPr/>
                    <a:lstStyle/>
                    <a:p>
                      <a:pPr>
                        <a:buNone/>
                      </a:pPr>
                      <a:r>
                        <a:rPr lang="en-US" sz="1600" b="1"/>
                        <a:t>date_sent</a:t>
                      </a:r>
                      <a:endParaRPr lang="en-US" sz="1600"/>
                    </a:p>
                  </a:txBody>
                  <a:tcPr marL="29601" marR="29601" marT="14800" marB="14800" anchor="ctr"/>
                </a:tc>
                <a:tc>
                  <a:txBody>
                    <a:bodyPr/>
                    <a:lstStyle/>
                    <a:p>
                      <a:pPr>
                        <a:buNone/>
                      </a:pPr>
                      <a:r>
                        <a:rPr lang="en-GB" sz="1600"/>
                        <a:t>Timestamp message was sent (ms since epoch)</a:t>
                      </a:r>
                    </a:p>
                  </a:txBody>
                  <a:tcPr marL="29601" marR="29601" marT="14800" marB="14800" anchor="ctr"/>
                </a:tc>
                <a:tc>
                  <a:txBody>
                    <a:bodyPr/>
                    <a:lstStyle/>
                    <a:p>
                      <a:pPr>
                        <a:buNone/>
                      </a:pPr>
                      <a:r>
                        <a:rPr lang="en-US" sz="1600"/>
                        <a:t>1697571500000</a:t>
                      </a:r>
                    </a:p>
                  </a:txBody>
                  <a:tcPr marL="29601" marR="29601" marT="14800" marB="14800" anchor="ctr"/>
                </a:tc>
                <a:extLst>
                  <a:ext uri="{0D108BD9-81ED-4DB2-BD59-A6C34878D82A}">
                    <a16:rowId xmlns:a16="http://schemas.microsoft.com/office/drawing/2014/main" val="1092014605"/>
                  </a:ext>
                </a:extLst>
              </a:tr>
              <a:tr h="207207">
                <a:tc>
                  <a:txBody>
                    <a:bodyPr/>
                    <a:lstStyle/>
                    <a:p>
                      <a:pPr>
                        <a:buNone/>
                      </a:pPr>
                      <a:r>
                        <a:rPr lang="en-US" sz="1600" b="1"/>
                        <a:t>protocol</a:t>
                      </a:r>
                      <a:endParaRPr lang="en-US" sz="1600"/>
                    </a:p>
                  </a:txBody>
                  <a:tcPr marL="29601" marR="29601" marT="14800" marB="14800" anchor="ctr"/>
                </a:tc>
                <a:tc>
                  <a:txBody>
                    <a:bodyPr/>
                    <a:lstStyle/>
                    <a:p>
                      <a:pPr>
                        <a:buNone/>
                      </a:pPr>
                      <a:r>
                        <a:rPr lang="en-US" sz="1600"/>
                        <a:t>Protocol used (e.g., SMS=0, MMS=1)</a:t>
                      </a:r>
                    </a:p>
                  </a:txBody>
                  <a:tcPr marL="29601" marR="29601" marT="14800" marB="14800" anchor="ctr"/>
                </a:tc>
                <a:tc>
                  <a:txBody>
                    <a:bodyPr/>
                    <a:lstStyle/>
                    <a:p>
                      <a:pPr>
                        <a:buNone/>
                      </a:pPr>
                      <a:r>
                        <a:rPr lang="en-US" sz="1600"/>
                        <a:t>0</a:t>
                      </a:r>
                    </a:p>
                  </a:txBody>
                  <a:tcPr marL="29601" marR="29601" marT="14800" marB="14800" anchor="ctr"/>
                </a:tc>
                <a:extLst>
                  <a:ext uri="{0D108BD9-81ED-4DB2-BD59-A6C34878D82A}">
                    <a16:rowId xmlns:a16="http://schemas.microsoft.com/office/drawing/2014/main" val="154661642"/>
                  </a:ext>
                </a:extLst>
              </a:tr>
              <a:tr h="118404">
                <a:tc>
                  <a:txBody>
                    <a:bodyPr/>
                    <a:lstStyle/>
                    <a:p>
                      <a:pPr>
                        <a:buNone/>
                      </a:pPr>
                      <a:r>
                        <a:rPr lang="en-US" sz="1600" b="1"/>
                        <a:t>read</a:t>
                      </a:r>
                      <a:endParaRPr lang="en-US" sz="1600"/>
                    </a:p>
                  </a:txBody>
                  <a:tcPr marL="29601" marR="29601" marT="14800" marB="14800" anchor="ctr"/>
                </a:tc>
                <a:tc>
                  <a:txBody>
                    <a:bodyPr/>
                    <a:lstStyle/>
                    <a:p>
                      <a:pPr>
                        <a:buNone/>
                      </a:pPr>
                      <a:r>
                        <a:rPr lang="en-US" sz="1600"/>
                        <a:t>1 = read, 0 = unread</a:t>
                      </a:r>
                    </a:p>
                  </a:txBody>
                  <a:tcPr marL="29601" marR="29601" marT="14800" marB="14800" anchor="ctr"/>
                </a:tc>
                <a:tc>
                  <a:txBody>
                    <a:bodyPr/>
                    <a:lstStyle/>
                    <a:p>
                      <a:pPr>
                        <a:buNone/>
                      </a:pPr>
                      <a:r>
                        <a:rPr lang="en-US" sz="1600"/>
                        <a:t>1</a:t>
                      </a:r>
                    </a:p>
                  </a:txBody>
                  <a:tcPr marL="29601" marR="29601" marT="14800" marB="14800" anchor="ctr"/>
                </a:tc>
                <a:extLst>
                  <a:ext uri="{0D108BD9-81ED-4DB2-BD59-A6C34878D82A}">
                    <a16:rowId xmlns:a16="http://schemas.microsoft.com/office/drawing/2014/main" val="445695181"/>
                  </a:ext>
                </a:extLst>
              </a:tr>
              <a:tr h="207207">
                <a:tc>
                  <a:txBody>
                    <a:bodyPr/>
                    <a:lstStyle/>
                    <a:p>
                      <a:pPr>
                        <a:buNone/>
                      </a:pPr>
                      <a:r>
                        <a:rPr lang="en-US" sz="1600" b="1"/>
                        <a:t>status</a:t>
                      </a:r>
                      <a:endParaRPr lang="en-US" sz="1600"/>
                    </a:p>
                  </a:txBody>
                  <a:tcPr marL="29601" marR="29601" marT="14800" marB="14800" anchor="ctr"/>
                </a:tc>
                <a:tc>
                  <a:txBody>
                    <a:bodyPr/>
                    <a:lstStyle/>
                    <a:p>
                      <a:pPr>
                        <a:buNone/>
                      </a:pPr>
                      <a:r>
                        <a:rPr lang="en-GB" sz="1600"/>
                        <a:t>Delivery status: 0 = none, 32 = pending, 64 = failed</a:t>
                      </a:r>
                    </a:p>
                  </a:txBody>
                  <a:tcPr marL="29601" marR="29601" marT="14800" marB="14800" anchor="ctr"/>
                </a:tc>
                <a:tc>
                  <a:txBody>
                    <a:bodyPr/>
                    <a:lstStyle/>
                    <a:p>
                      <a:pPr>
                        <a:buNone/>
                      </a:pPr>
                      <a:r>
                        <a:rPr lang="en-US" sz="1600"/>
                        <a:t>0</a:t>
                      </a:r>
                    </a:p>
                  </a:txBody>
                  <a:tcPr marL="29601" marR="29601" marT="14800" marB="14800" anchor="ctr"/>
                </a:tc>
                <a:extLst>
                  <a:ext uri="{0D108BD9-81ED-4DB2-BD59-A6C34878D82A}">
                    <a16:rowId xmlns:a16="http://schemas.microsoft.com/office/drawing/2014/main" val="863914154"/>
                  </a:ext>
                </a:extLst>
              </a:tr>
              <a:tr h="296009">
                <a:tc>
                  <a:txBody>
                    <a:bodyPr/>
                    <a:lstStyle/>
                    <a:p>
                      <a:pPr>
                        <a:buNone/>
                      </a:pPr>
                      <a:r>
                        <a:rPr lang="en-US" sz="1600" b="1"/>
                        <a:t>type</a:t>
                      </a:r>
                      <a:endParaRPr lang="en-US" sz="1600"/>
                    </a:p>
                  </a:txBody>
                  <a:tcPr marL="29601" marR="29601" marT="14800" marB="14800" anchor="ctr"/>
                </a:tc>
                <a:tc>
                  <a:txBody>
                    <a:bodyPr/>
                    <a:lstStyle/>
                    <a:p>
                      <a:pPr>
                        <a:buNone/>
                      </a:pPr>
                      <a:r>
                        <a:rPr lang="en-US" sz="1600" dirty="0"/>
                        <a:t>Message type (direction)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600" dirty="0"/>
                        <a:t>1 = inbox (received) 2 = sent 3 = draft 4 = outbox 5 = failed 6 = queued</a:t>
                      </a:r>
                    </a:p>
                  </a:txBody>
                  <a:tcPr marL="29601" marR="29601" marT="14800" marB="14800" anchor="ctr"/>
                </a:tc>
                <a:tc>
                  <a:txBody>
                    <a:bodyPr/>
                    <a:lstStyle/>
                    <a:p>
                      <a:pPr>
                        <a:buNone/>
                      </a:pPr>
                      <a:r>
                        <a:rPr lang="en-GB" sz="1600" dirty="0"/>
                        <a:t>1 </a:t>
                      </a:r>
                    </a:p>
                  </a:txBody>
                  <a:tcPr marL="29601" marR="29601" marT="14800" marB="14800" anchor="ctr"/>
                </a:tc>
                <a:extLst>
                  <a:ext uri="{0D108BD9-81ED-4DB2-BD59-A6C34878D82A}">
                    <a16:rowId xmlns:a16="http://schemas.microsoft.com/office/drawing/2014/main" val="2652169020"/>
                  </a:ext>
                </a:extLst>
              </a:tr>
              <a:tr h="118404">
                <a:tc>
                  <a:txBody>
                    <a:bodyPr/>
                    <a:lstStyle/>
                    <a:p>
                      <a:pPr>
                        <a:buNone/>
                      </a:pPr>
                      <a:r>
                        <a:rPr lang="en-US" sz="1600" b="1"/>
                        <a:t>reply_path_present</a:t>
                      </a:r>
                      <a:endParaRPr lang="en-US" sz="1600"/>
                    </a:p>
                  </a:txBody>
                  <a:tcPr marL="29601" marR="29601" marT="14800" marB="14800" anchor="ctr"/>
                </a:tc>
                <a:tc>
                  <a:txBody>
                    <a:bodyPr/>
                    <a:lstStyle/>
                    <a:p>
                      <a:pPr>
                        <a:buNone/>
                      </a:pPr>
                      <a:r>
                        <a:rPr lang="en-GB" sz="1600"/>
                        <a:t>Indicates presence of reply path</a:t>
                      </a:r>
                    </a:p>
                  </a:txBody>
                  <a:tcPr marL="29601" marR="29601" marT="14800" marB="14800" anchor="ctr"/>
                </a:tc>
                <a:tc>
                  <a:txBody>
                    <a:bodyPr/>
                    <a:lstStyle/>
                    <a:p>
                      <a:pPr>
                        <a:buNone/>
                      </a:pPr>
                      <a:r>
                        <a:rPr lang="en-US" sz="1600"/>
                        <a:t>0 or 1</a:t>
                      </a:r>
                    </a:p>
                  </a:txBody>
                  <a:tcPr marL="29601" marR="29601" marT="14800" marB="14800" anchor="ctr"/>
                </a:tc>
                <a:extLst>
                  <a:ext uri="{0D108BD9-81ED-4DB2-BD59-A6C34878D82A}">
                    <a16:rowId xmlns:a16="http://schemas.microsoft.com/office/drawing/2014/main" val="2638273386"/>
                  </a:ext>
                </a:extLst>
              </a:tr>
              <a:tr h="207207">
                <a:tc>
                  <a:txBody>
                    <a:bodyPr/>
                    <a:lstStyle/>
                    <a:p>
                      <a:pPr>
                        <a:buNone/>
                      </a:pPr>
                      <a:r>
                        <a:rPr lang="en-US" sz="1600" b="1"/>
                        <a:t>subject</a:t>
                      </a:r>
                      <a:endParaRPr lang="en-US" sz="1600"/>
                    </a:p>
                  </a:txBody>
                  <a:tcPr marL="29601" marR="29601" marT="14800" marB="14800" anchor="ctr"/>
                </a:tc>
                <a:tc>
                  <a:txBody>
                    <a:bodyPr/>
                    <a:lstStyle/>
                    <a:p>
                      <a:pPr>
                        <a:buNone/>
                      </a:pPr>
                      <a:r>
                        <a:rPr lang="en-GB" sz="1600"/>
                        <a:t>Message subject (rarely used in SMS)</a:t>
                      </a:r>
                    </a:p>
                  </a:txBody>
                  <a:tcPr marL="29601" marR="29601" marT="14800" marB="14800" anchor="ctr"/>
                </a:tc>
                <a:tc>
                  <a:txBody>
                    <a:bodyPr/>
                    <a:lstStyle/>
                    <a:p>
                      <a:pPr>
                        <a:buNone/>
                      </a:pPr>
                      <a:r>
                        <a:rPr lang="en-US" sz="1600"/>
                        <a:t>NULL</a:t>
                      </a:r>
                    </a:p>
                  </a:txBody>
                  <a:tcPr marL="29601" marR="29601" marT="14800" marB="14800" anchor="ctr"/>
                </a:tc>
                <a:extLst>
                  <a:ext uri="{0D108BD9-81ED-4DB2-BD59-A6C34878D82A}">
                    <a16:rowId xmlns:a16="http://schemas.microsoft.com/office/drawing/2014/main" val="1618405394"/>
                  </a:ext>
                </a:extLst>
              </a:tr>
              <a:tr h="118404">
                <a:tc>
                  <a:txBody>
                    <a:bodyPr/>
                    <a:lstStyle/>
                    <a:p>
                      <a:pPr>
                        <a:buNone/>
                      </a:pPr>
                      <a:r>
                        <a:rPr lang="en-US" sz="1600" b="1"/>
                        <a:t>body</a:t>
                      </a:r>
                      <a:endParaRPr lang="en-US" sz="1600"/>
                    </a:p>
                  </a:txBody>
                  <a:tcPr marL="29601" marR="29601" marT="14800" marB="14800" anchor="ctr"/>
                </a:tc>
                <a:tc>
                  <a:txBody>
                    <a:bodyPr/>
                    <a:lstStyle/>
                    <a:p>
                      <a:pPr>
                        <a:buNone/>
                      </a:pPr>
                      <a:r>
                        <a:rPr lang="en-US" sz="1600"/>
                        <a:t>Text content of message</a:t>
                      </a:r>
                    </a:p>
                  </a:txBody>
                  <a:tcPr marL="29601" marR="29601" marT="14800" marB="14800" anchor="ctr"/>
                </a:tc>
                <a:tc>
                  <a:txBody>
                    <a:bodyPr/>
                    <a:lstStyle/>
                    <a:p>
                      <a:pPr>
                        <a:buNone/>
                      </a:pPr>
                      <a:r>
                        <a:rPr lang="en-US" sz="1600"/>
                        <a:t>"See you soon!"</a:t>
                      </a:r>
                    </a:p>
                  </a:txBody>
                  <a:tcPr marL="29601" marR="29601" marT="14800" marB="14800" anchor="ctr"/>
                </a:tc>
                <a:extLst>
                  <a:ext uri="{0D108BD9-81ED-4DB2-BD59-A6C34878D82A}">
                    <a16:rowId xmlns:a16="http://schemas.microsoft.com/office/drawing/2014/main" val="932382907"/>
                  </a:ext>
                </a:extLst>
              </a:tr>
              <a:tr h="118404">
                <a:tc>
                  <a:txBody>
                    <a:bodyPr/>
                    <a:lstStyle/>
                    <a:p>
                      <a:pPr>
                        <a:buNone/>
                      </a:pPr>
                      <a:r>
                        <a:rPr lang="en-US" sz="1600" b="1"/>
                        <a:t>service_center</a:t>
                      </a:r>
                      <a:endParaRPr lang="en-US" sz="1600"/>
                    </a:p>
                  </a:txBody>
                  <a:tcPr marL="29601" marR="29601" marT="14800" marB="14800" anchor="ctr"/>
                </a:tc>
                <a:tc>
                  <a:txBody>
                    <a:bodyPr/>
                    <a:lstStyle/>
                    <a:p>
                      <a:pPr>
                        <a:buNone/>
                      </a:pPr>
                      <a:r>
                        <a:rPr lang="en-US" sz="1600"/>
                        <a:t>SMS service center address</a:t>
                      </a:r>
                    </a:p>
                  </a:txBody>
                  <a:tcPr marL="29601" marR="29601" marT="14800" marB="14800" anchor="ctr"/>
                </a:tc>
                <a:tc>
                  <a:txBody>
                    <a:bodyPr/>
                    <a:lstStyle/>
                    <a:p>
                      <a:pPr>
                        <a:buNone/>
                      </a:pPr>
                      <a:r>
                        <a:rPr lang="en-US" sz="1600"/>
                        <a:t>"+12063130004"</a:t>
                      </a:r>
                    </a:p>
                  </a:txBody>
                  <a:tcPr marL="29601" marR="29601" marT="14800" marB="14800" anchor="ctr"/>
                </a:tc>
                <a:extLst>
                  <a:ext uri="{0D108BD9-81ED-4DB2-BD59-A6C34878D82A}">
                    <a16:rowId xmlns:a16="http://schemas.microsoft.com/office/drawing/2014/main" val="2603164585"/>
                  </a:ext>
                </a:extLst>
              </a:tr>
              <a:tr h="207207">
                <a:tc>
                  <a:txBody>
                    <a:bodyPr/>
                    <a:lstStyle/>
                    <a:p>
                      <a:pPr>
                        <a:buNone/>
                      </a:pPr>
                      <a:r>
                        <a:rPr lang="en-US" sz="1600" b="1"/>
                        <a:t>locked</a:t>
                      </a:r>
                      <a:endParaRPr lang="en-US" sz="1600"/>
                    </a:p>
                  </a:txBody>
                  <a:tcPr marL="29601" marR="29601" marT="14800" marB="14800" anchor="ctr"/>
                </a:tc>
                <a:tc>
                  <a:txBody>
                    <a:bodyPr/>
                    <a:lstStyle/>
                    <a:p>
                      <a:pPr>
                        <a:buNone/>
                      </a:pPr>
                      <a:r>
                        <a:rPr lang="en-GB" sz="1600"/>
                        <a:t>1 if locked (protected from deletion)</a:t>
                      </a:r>
                    </a:p>
                  </a:txBody>
                  <a:tcPr marL="29601" marR="29601" marT="14800" marB="14800" anchor="ctr"/>
                </a:tc>
                <a:tc>
                  <a:txBody>
                    <a:bodyPr/>
                    <a:lstStyle/>
                    <a:p>
                      <a:pPr>
                        <a:buNone/>
                      </a:pPr>
                      <a:r>
                        <a:rPr lang="en-US" sz="1600"/>
                        <a:t>0</a:t>
                      </a:r>
                    </a:p>
                  </a:txBody>
                  <a:tcPr marL="29601" marR="29601" marT="14800" marB="14800" anchor="ctr"/>
                </a:tc>
                <a:extLst>
                  <a:ext uri="{0D108BD9-81ED-4DB2-BD59-A6C34878D82A}">
                    <a16:rowId xmlns:a16="http://schemas.microsoft.com/office/drawing/2014/main" val="631360736"/>
                  </a:ext>
                </a:extLst>
              </a:tr>
              <a:tr h="118404">
                <a:tc>
                  <a:txBody>
                    <a:bodyPr/>
                    <a:lstStyle/>
                    <a:p>
                      <a:pPr>
                        <a:buNone/>
                      </a:pPr>
                      <a:r>
                        <a:rPr lang="en-US" sz="1600" b="1"/>
                        <a:t>error_code</a:t>
                      </a:r>
                      <a:endParaRPr lang="en-US" sz="1600"/>
                    </a:p>
                  </a:txBody>
                  <a:tcPr marL="29601" marR="29601" marT="14800" marB="14800" anchor="ctr"/>
                </a:tc>
                <a:tc>
                  <a:txBody>
                    <a:bodyPr/>
                    <a:lstStyle/>
                    <a:p>
                      <a:pPr>
                        <a:buNone/>
                      </a:pPr>
                      <a:r>
                        <a:rPr lang="en-US" sz="1600"/>
                        <a:t>Error code if failed</a:t>
                      </a:r>
                    </a:p>
                  </a:txBody>
                  <a:tcPr marL="29601" marR="29601" marT="14800" marB="14800" anchor="ctr"/>
                </a:tc>
                <a:tc>
                  <a:txBody>
                    <a:bodyPr/>
                    <a:lstStyle/>
                    <a:p>
                      <a:pPr>
                        <a:buNone/>
                      </a:pPr>
                      <a:r>
                        <a:rPr lang="en-US" sz="1600"/>
                        <a:t>0</a:t>
                      </a:r>
                    </a:p>
                  </a:txBody>
                  <a:tcPr marL="29601" marR="29601" marT="14800" marB="14800" anchor="ctr"/>
                </a:tc>
                <a:extLst>
                  <a:ext uri="{0D108BD9-81ED-4DB2-BD59-A6C34878D82A}">
                    <a16:rowId xmlns:a16="http://schemas.microsoft.com/office/drawing/2014/main" val="3445935283"/>
                  </a:ext>
                </a:extLst>
              </a:tr>
              <a:tr h="118404">
                <a:tc>
                  <a:txBody>
                    <a:bodyPr/>
                    <a:lstStyle/>
                    <a:p>
                      <a:pPr>
                        <a:buNone/>
                      </a:pPr>
                      <a:r>
                        <a:rPr lang="en-US" sz="1600" b="1"/>
                        <a:t>seen</a:t>
                      </a:r>
                      <a:endParaRPr lang="en-US" sz="1600"/>
                    </a:p>
                  </a:txBody>
                  <a:tcPr marL="29601" marR="29601" marT="14800" marB="14800" anchor="ctr"/>
                </a:tc>
                <a:tc>
                  <a:txBody>
                    <a:bodyPr/>
                    <a:lstStyle/>
                    <a:p>
                      <a:pPr>
                        <a:buNone/>
                      </a:pPr>
                      <a:r>
                        <a:rPr lang="en-GB" sz="1600"/>
                        <a:t>1 = seen in UI, 0 = unseen</a:t>
                      </a:r>
                    </a:p>
                  </a:txBody>
                  <a:tcPr marL="29601" marR="29601" marT="14800" marB="14800" anchor="ctr"/>
                </a:tc>
                <a:tc>
                  <a:txBody>
                    <a:bodyPr/>
                    <a:lstStyle/>
                    <a:p>
                      <a:pPr>
                        <a:buNone/>
                      </a:pPr>
                      <a:r>
                        <a:rPr lang="en-US" sz="1600"/>
                        <a:t>1</a:t>
                      </a:r>
                    </a:p>
                  </a:txBody>
                  <a:tcPr marL="29601" marR="29601" marT="14800" marB="14800" anchor="ctr"/>
                </a:tc>
                <a:extLst>
                  <a:ext uri="{0D108BD9-81ED-4DB2-BD59-A6C34878D82A}">
                    <a16:rowId xmlns:a16="http://schemas.microsoft.com/office/drawing/2014/main" val="4282675291"/>
                  </a:ext>
                </a:extLst>
              </a:tr>
              <a:tr h="207207">
                <a:tc>
                  <a:txBody>
                    <a:bodyPr/>
                    <a:lstStyle/>
                    <a:p>
                      <a:pPr>
                        <a:buNone/>
                      </a:pPr>
                      <a:r>
                        <a:rPr lang="en-US" sz="1600" b="1"/>
                        <a:t>creator</a:t>
                      </a:r>
                      <a:endParaRPr lang="en-US" sz="1600"/>
                    </a:p>
                  </a:txBody>
                  <a:tcPr marL="29601" marR="29601" marT="14800" marB="14800" anchor="ctr"/>
                </a:tc>
                <a:tc>
                  <a:txBody>
                    <a:bodyPr/>
                    <a:lstStyle/>
                    <a:p>
                      <a:pPr>
                        <a:buNone/>
                      </a:pPr>
                      <a:r>
                        <a:rPr lang="en-GB" sz="1600"/>
                        <a:t>App package that created the message</a:t>
                      </a:r>
                    </a:p>
                  </a:txBody>
                  <a:tcPr marL="29601" marR="29601" marT="14800" marB="14800" anchor="ctr"/>
                </a:tc>
                <a:tc>
                  <a:txBody>
                    <a:bodyPr/>
                    <a:lstStyle/>
                    <a:p>
                      <a:pPr>
                        <a:buNone/>
                      </a:pPr>
                      <a:r>
                        <a:rPr lang="en-US" sz="1600" dirty="0"/>
                        <a:t>"</a:t>
                      </a:r>
                      <a:r>
                        <a:rPr lang="en-US" sz="1600" dirty="0" err="1"/>
                        <a:t>com.android.messaging</a:t>
                      </a:r>
                      <a:r>
                        <a:rPr lang="en-US" sz="1600" dirty="0"/>
                        <a:t>"</a:t>
                      </a:r>
                    </a:p>
                  </a:txBody>
                  <a:tcPr marL="29601" marR="29601" marT="14800" marB="14800" anchor="ctr"/>
                </a:tc>
                <a:extLst>
                  <a:ext uri="{0D108BD9-81ED-4DB2-BD59-A6C34878D82A}">
                    <a16:rowId xmlns:a16="http://schemas.microsoft.com/office/drawing/2014/main" val="3427357580"/>
                  </a:ext>
                </a:extLst>
              </a:tr>
            </a:tbl>
          </a:graphicData>
        </a:graphic>
      </p:graphicFrame>
      <p:pic>
        <p:nvPicPr>
          <p:cNvPr id="4" name="Picture 3">
            <a:extLst>
              <a:ext uri="{FF2B5EF4-FFF2-40B4-BE49-F238E27FC236}">
                <a16:creationId xmlns:a16="http://schemas.microsoft.com/office/drawing/2014/main" id="{98FFB054-93D4-DA53-E970-815E2281D895}"/>
              </a:ext>
            </a:extLst>
          </p:cNvPr>
          <p:cNvPicPr>
            <a:picLocks noChangeAspect="1"/>
          </p:cNvPicPr>
          <p:nvPr/>
        </p:nvPicPr>
        <p:blipFill>
          <a:blip r:embed="rId2"/>
          <a:stretch>
            <a:fillRect/>
          </a:stretch>
        </p:blipFill>
        <p:spPr>
          <a:xfrm>
            <a:off x="130726" y="1504783"/>
            <a:ext cx="3322608" cy="3848433"/>
          </a:xfrm>
          <a:prstGeom prst="rect">
            <a:avLst/>
          </a:prstGeom>
        </p:spPr>
      </p:pic>
    </p:spTree>
    <p:extLst>
      <p:ext uri="{BB962C8B-B14F-4D97-AF65-F5344CB8AC3E}">
        <p14:creationId xmlns:p14="http://schemas.microsoft.com/office/powerpoint/2010/main" val="1159276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2">
            <a:extLst>
              <a:ext uri="{FF2B5EF4-FFF2-40B4-BE49-F238E27FC236}">
                <a16:creationId xmlns:a16="http://schemas.microsoft.com/office/drawing/2014/main" id="{E8D5DC8A-EC77-413F-8CEF-3C11EFF65790}"/>
              </a:ext>
            </a:extLst>
          </p:cNvPr>
          <p:cNvPicPr>
            <a:picLocks noChangeAspect="1"/>
          </p:cNvPicPr>
          <p:nvPr/>
        </p:nvPicPr>
        <p:blipFill>
          <a:blip r:embed="rId2"/>
          <a:stretch>
            <a:fillRect/>
          </a:stretch>
        </p:blipFill>
        <p:spPr>
          <a:xfrm>
            <a:off x="703126" y="1227422"/>
            <a:ext cx="10987695" cy="4403156"/>
          </a:xfrm>
          <a:prstGeom prst="rect">
            <a:avLst/>
          </a:prstGeom>
        </p:spPr>
      </p:pic>
      <p:sp>
        <p:nvSpPr>
          <p:cNvPr id="13" name="Rectangle 12">
            <a:extLst>
              <a:ext uri="{FF2B5EF4-FFF2-40B4-BE49-F238E27FC236}">
                <a16:creationId xmlns:a16="http://schemas.microsoft.com/office/drawing/2014/main" id="{398CF2BD-FA67-487E-AF49-D4FF3B86365D}"/>
              </a:ext>
            </a:extLst>
          </p:cNvPr>
          <p:cNvSpPr/>
          <p:nvPr/>
        </p:nvSpPr>
        <p:spPr>
          <a:xfrm>
            <a:off x="2375878" y="3794787"/>
            <a:ext cx="1339694" cy="320756"/>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92500" lnSpcReduction="20000"/>
          </a:bodyPr>
          <a:lstStyle/>
          <a:p>
            <a:pPr algn="ctr"/>
            <a:endParaRPr lang="en-US"/>
          </a:p>
        </p:txBody>
      </p:sp>
    </p:spTree>
    <p:extLst>
      <p:ext uri="{BB962C8B-B14F-4D97-AF65-F5344CB8AC3E}">
        <p14:creationId xmlns:p14="http://schemas.microsoft.com/office/powerpoint/2010/main" val="2679643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Graphical user interface, text&#10;&#10;Description automatically generated">
            <a:extLst>
              <a:ext uri="{FF2B5EF4-FFF2-40B4-BE49-F238E27FC236}">
                <a16:creationId xmlns:a16="http://schemas.microsoft.com/office/drawing/2014/main" id="{BDE5E9B3-B154-4FFD-8BBC-548E3B620B7D}"/>
              </a:ext>
            </a:extLst>
          </p:cNvPr>
          <p:cNvPicPr>
            <a:picLocks noChangeAspect="1"/>
          </p:cNvPicPr>
          <p:nvPr/>
        </p:nvPicPr>
        <p:blipFill rotWithShape="1">
          <a:blip r:embed="rId2"/>
          <a:srcRect b="21529"/>
          <a:stretch/>
        </p:blipFill>
        <p:spPr>
          <a:xfrm>
            <a:off x="647104" y="3342114"/>
            <a:ext cx="4564250" cy="2993858"/>
          </a:xfrm>
          <a:prstGeom prst="rect">
            <a:avLst/>
          </a:prstGeom>
        </p:spPr>
      </p:pic>
      <p:pic>
        <p:nvPicPr>
          <p:cNvPr id="6" name="Picture 6">
            <a:extLst>
              <a:ext uri="{FF2B5EF4-FFF2-40B4-BE49-F238E27FC236}">
                <a16:creationId xmlns:a16="http://schemas.microsoft.com/office/drawing/2014/main" id="{12166331-9D51-4D81-AC0E-D157F4C18901}"/>
              </a:ext>
            </a:extLst>
          </p:cNvPr>
          <p:cNvPicPr>
            <a:picLocks noChangeAspect="1"/>
          </p:cNvPicPr>
          <p:nvPr/>
        </p:nvPicPr>
        <p:blipFill>
          <a:blip r:embed="rId3"/>
          <a:stretch>
            <a:fillRect/>
          </a:stretch>
        </p:blipFill>
        <p:spPr>
          <a:xfrm>
            <a:off x="5374086" y="3345982"/>
            <a:ext cx="6281979" cy="2993858"/>
          </a:xfrm>
          <a:prstGeom prst="rect">
            <a:avLst/>
          </a:prstGeom>
        </p:spPr>
      </p:pic>
      <p:sp>
        <p:nvSpPr>
          <p:cNvPr id="7" name="Rectangle 6">
            <a:extLst>
              <a:ext uri="{FF2B5EF4-FFF2-40B4-BE49-F238E27FC236}">
                <a16:creationId xmlns:a16="http://schemas.microsoft.com/office/drawing/2014/main" id="{88F97F98-B31E-434A-89B0-884A0AD74668}"/>
              </a:ext>
            </a:extLst>
          </p:cNvPr>
          <p:cNvSpPr/>
          <p:nvPr/>
        </p:nvSpPr>
        <p:spPr>
          <a:xfrm>
            <a:off x="1135299" y="3449354"/>
            <a:ext cx="645762" cy="206645"/>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47500" lnSpcReduction="20000"/>
          </a:bodyPr>
          <a:lstStyle/>
          <a:p>
            <a:pPr algn="ctr"/>
            <a:endParaRPr lang="en-US"/>
          </a:p>
        </p:txBody>
      </p:sp>
      <p:sp>
        <p:nvSpPr>
          <p:cNvPr id="8" name="Rectangle 7">
            <a:extLst>
              <a:ext uri="{FF2B5EF4-FFF2-40B4-BE49-F238E27FC236}">
                <a16:creationId xmlns:a16="http://schemas.microsoft.com/office/drawing/2014/main" id="{96C872F1-6DD9-4E40-94AE-E4433B02396E}"/>
              </a:ext>
            </a:extLst>
          </p:cNvPr>
          <p:cNvSpPr/>
          <p:nvPr/>
        </p:nvSpPr>
        <p:spPr>
          <a:xfrm>
            <a:off x="1897298" y="3449353"/>
            <a:ext cx="645762" cy="2066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47500" lnSpcReduction="20000"/>
          </a:bodyPr>
          <a:lstStyle/>
          <a:p>
            <a:pPr algn="ctr"/>
            <a:endParaRPr lang="en-US"/>
          </a:p>
        </p:txBody>
      </p:sp>
      <p:sp>
        <p:nvSpPr>
          <p:cNvPr id="9" name="Rectangle 8">
            <a:extLst>
              <a:ext uri="{FF2B5EF4-FFF2-40B4-BE49-F238E27FC236}">
                <a16:creationId xmlns:a16="http://schemas.microsoft.com/office/drawing/2014/main" id="{51E7BC8E-4393-43DA-A404-D887C5EA49FF}"/>
              </a:ext>
            </a:extLst>
          </p:cNvPr>
          <p:cNvSpPr/>
          <p:nvPr/>
        </p:nvSpPr>
        <p:spPr>
          <a:xfrm>
            <a:off x="3460044" y="3449353"/>
            <a:ext cx="439118" cy="1937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40000" lnSpcReduction="20000"/>
          </a:bodyPr>
          <a:lstStyle/>
          <a:p>
            <a:pPr algn="ctr"/>
            <a:endParaRPr lang="en-US"/>
          </a:p>
        </p:txBody>
      </p:sp>
      <p:sp>
        <p:nvSpPr>
          <p:cNvPr id="10" name="Rectangle 9">
            <a:extLst>
              <a:ext uri="{FF2B5EF4-FFF2-40B4-BE49-F238E27FC236}">
                <a16:creationId xmlns:a16="http://schemas.microsoft.com/office/drawing/2014/main" id="{D336E10D-73E3-4E46-A73F-0EDC5B146FDF}"/>
              </a:ext>
            </a:extLst>
          </p:cNvPr>
          <p:cNvSpPr/>
          <p:nvPr/>
        </p:nvSpPr>
        <p:spPr>
          <a:xfrm>
            <a:off x="4338280" y="3449352"/>
            <a:ext cx="684507" cy="2195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55000" lnSpcReduction="20000"/>
          </a:bodyPr>
          <a:lstStyle/>
          <a:p>
            <a:pPr algn="ctr"/>
            <a:endParaRPr lang="en-US"/>
          </a:p>
        </p:txBody>
      </p:sp>
      <p:sp>
        <p:nvSpPr>
          <p:cNvPr id="11" name="Rectangle 10">
            <a:extLst>
              <a:ext uri="{FF2B5EF4-FFF2-40B4-BE49-F238E27FC236}">
                <a16:creationId xmlns:a16="http://schemas.microsoft.com/office/drawing/2014/main" id="{89B2B636-2622-4E37-9975-214CA6C0CE46}"/>
              </a:ext>
            </a:extLst>
          </p:cNvPr>
          <p:cNvSpPr/>
          <p:nvPr/>
        </p:nvSpPr>
        <p:spPr>
          <a:xfrm>
            <a:off x="6185162" y="3358945"/>
            <a:ext cx="439118" cy="1937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40000" lnSpcReduction="20000"/>
          </a:bodyPr>
          <a:lstStyle/>
          <a:p>
            <a:pPr algn="ctr"/>
            <a:endParaRPr lang="en-US"/>
          </a:p>
        </p:txBody>
      </p:sp>
      <p:sp>
        <p:nvSpPr>
          <p:cNvPr id="12" name="Rectangle 11">
            <a:extLst>
              <a:ext uri="{FF2B5EF4-FFF2-40B4-BE49-F238E27FC236}">
                <a16:creationId xmlns:a16="http://schemas.microsoft.com/office/drawing/2014/main" id="{85F6ECCF-AEA8-419F-B3FE-5F405F9895CC}"/>
              </a:ext>
            </a:extLst>
          </p:cNvPr>
          <p:cNvSpPr/>
          <p:nvPr/>
        </p:nvSpPr>
        <p:spPr>
          <a:xfrm>
            <a:off x="11286687" y="3346031"/>
            <a:ext cx="361627" cy="19373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40000" lnSpcReduction="20000"/>
          </a:bodyPr>
          <a:lstStyle/>
          <a:p>
            <a:pPr algn="ctr"/>
            <a:endParaRPr lang="en-US"/>
          </a:p>
        </p:txBody>
      </p:sp>
      <p:sp>
        <p:nvSpPr>
          <p:cNvPr id="13" name="Rectangle 12">
            <a:extLst>
              <a:ext uri="{FF2B5EF4-FFF2-40B4-BE49-F238E27FC236}">
                <a16:creationId xmlns:a16="http://schemas.microsoft.com/office/drawing/2014/main" id="{AC974B22-8EA3-4273-B4C4-5573324B312A}"/>
              </a:ext>
            </a:extLst>
          </p:cNvPr>
          <p:cNvSpPr/>
          <p:nvPr/>
        </p:nvSpPr>
        <p:spPr>
          <a:xfrm>
            <a:off x="1574417" y="4142442"/>
            <a:ext cx="264323" cy="206645"/>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47500" lnSpcReduction="20000"/>
          </a:bodyPr>
          <a:lstStyle/>
          <a:p>
            <a:pPr algn="ctr"/>
            <a:endParaRPr lang="en-US"/>
          </a:p>
        </p:txBody>
      </p:sp>
      <p:sp>
        <p:nvSpPr>
          <p:cNvPr id="14" name="Rectangle 13">
            <a:extLst>
              <a:ext uri="{FF2B5EF4-FFF2-40B4-BE49-F238E27FC236}">
                <a16:creationId xmlns:a16="http://schemas.microsoft.com/office/drawing/2014/main" id="{DF22941C-9CAF-49B2-9EDB-0B0BB05C7549}"/>
              </a:ext>
            </a:extLst>
          </p:cNvPr>
          <p:cNvSpPr/>
          <p:nvPr/>
        </p:nvSpPr>
        <p:spPr>
          <a:xfrm>
            <a:off x="1574417" y="5546583"/>
            <a:ext cx="264323" cy="203824"/>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40000" lnSpcReduction="20000"/>
          </a:bodyPr>
          <a:lstStyle/>
          <a:p>
            <a:pPr algn="ctr"/>
            <a:endParaRPr lang="en-US"/>
          </a:p>
        </p:txBody>
      </p:sp>
      <p:cxnSp>
        <p:nvCxnSpPr>
          <p:cNvPr id="15" name="Straight Arrow Connector 14">
            <a:extLst>
              <a:ext uri="{FF2B5EF4-FFF2-40B4-BE49-F238E27FC236}">
                <a16:creationId xmlns:a16="http://schemas.microsoft.com/office/drawing/2014/main" id="{FB86AA65-E918-4DA7-8D0F-E065351FEBE0}"/>
              </a:ext>
            </a:extLst>
          </p:cNvPr>
          <p:cNvCxnSpPr/>
          <p:nvPr/>
        </p:nvCxnSpPr>
        <p:spPr>
          <a:xfrm>
            <a:off x="1574417" y="3655998"/>
            <a:ext cx="85534" cy="417254"/>
          </a:xfrm>
          <a:prstGeom prst="straightConnector1">
            <a:avLst/>
          </a:prstGeom>
          <a:ln>
            <a:solidFill>
              <a:srgbClr val="FFFF00"/>
            </a:solidFill>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35C4E1D5-FC1B-40AF-BD8B-909509654672}"/>
              </a:ext>
            </a:extLst>
          </p:cNvPr>
          <p:cNvCxnSpPr/>
          <p:nvPr/>
        </p:nvCxnSpPr>
        <p:spPr>
          <a:xfrm>
            <a:off x="1310094" y="3668912"/>
            <a:ext cx="264323" cy="187767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74CF4143-11D4-4BD8-A997-A84A57C8CE4A}"/>
              </a:ext>
            </a:extLst>
          </p:cNvPr>
          <p:cNvSpPr/>
          <p:nvPr/>
        </p:nvSpPr>
        <p:spPr>
          <a:xfrm>
            <a:off x="10016837" y="3370579"/>
            <a:ext cx="684507" cy="2195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55000" lnSpcReduction="20000"/>
          </a:bodyPr>
          <a:lstStyle/>
          <a:p>
            <a:pPr algn="ctr"/>
            <a:endParaRPr lang="en-US"/>
          </a:p>
        </p:txBody>
      </p:sp>
      <p:sp>
        <p:nvSpPr>
          <p:cNvPr id="20" name="TextBox 19">
            <a:extLst>
              <a:ext uri="{FF2B5EF4-FFF2-40B4-BE49-F238E27FC236}">
                <a16:creationId xmlns:a16="http://schemas.microsoft.com/office/drawing/2014/main" id="{5AB619D4-176D-4E1E-9E74-A7DB5C204CD2}"/>
              </a:ext>
            </a:extLst>
          </p:cNvPr>
          <p:cNvSpPr txBox="1"/>
          <p:nvPr/>
        </p:nvSpPr>
        <p:spPr>
          <a:xfrm>
            <a:off x="153958" y="1016145"/>
            <a:ext cx="2173873" cy="637520"/>
          </a:xfrm>
          <a:prstGeom prst="rect">
            <a:avLst/>
          </a:prstGeom>
          <a:solidFill>
            <a:schemeClr val="accent4">
              <a:lumMod val="20000"/>
              <a:lumOff val="80000"/>
            </a:schemeClr>
          </a:solidFill>
        </p:spPr>
        <p:txBody>
          <a:bodyPr wrap="square">
            <a:normAutofit/>
          </a:bodyPr>
          <a:lstStyle/>
          <a:p>
            <a:r>
              <a:rPr sz="1300" dirty="0" err="1"/>
              <a:t>thread_id</a:t>
            </a:r>
            <a:r>
              <a:rPr sz="1300" dirty="0"/>
              <a:t>: links this SMS to a conversation in threads.</a:t>
            </a:r>
          </a:p>
        </p:txBody>
      </p:sp>
      <p:cxnSp>
        <p:nvCxnSpPr>
          <p:cNvPr id="22" name="Straight Arrow Connector 21">
            <a:extLst>
              <a:ext uri="{FF2B5EF4-FFF2-40B4-BE49-F238E27FC236}">
                <a16:creationId xmlns:a16="http://schemas.microsoft.com/office/drawing/2014/main" id="{50208EA6-1BB4-4A79-9017-C48F942F8F7F}"/>
              </a:ext>
            </a:extLst>
          </p:cNvPr>
          <p:cNvCxnSpPr>
            <a:cxnSpLocks/>
            <a:stCxn id="20" idx="2"/>
          </p:cNvCxnSpPr>
          <p:nvPr/>
        </p:nvCxnSpPr>
        <p:spPr>
          <a:xfrm>
            <a:off x="1240895" y="1653665"/>
            <a:ext cx="5337" cy="168844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5" name="TextBox 24">
            <a:extLst>
              <a:ext uri="{FF2B5EF4-FFF2-40B4-BE49-F238E27FC236}">
                <a16:creationId xmlns:a16="http://schemas.microsoft.com/office/drawing/2014/main" id="{4E0585F8-1C41-46DE-A383-A99C867D015F}"/>
              </a:ext>
            </a:extLst>
          </p:cNvPr>
          <p:cNvSpPr txBox="1"/>
          <p:nvPr/>
        </p:nvSpPr>
        <p:spPr>
          <a:xfrm>
            <a:off x="1384187" y="2111161"/>
            <a:ext cx="1887290" cy="646331"/>
          </a:xfrm>
          <a:prstGeom prst="rect">
            <a:avLst/>
          </a:prstGeom>
          <a:solidFill>
            <a:schemeClr val="accent4">
              <a:lumMod val="20000"/>
              <a:lumOff val="80000"/>
            </a:schemeClr>
          </a:solidFill>
        </p:spPr>
        <p:txBody>
          <a:bodyPr wrap="square">
            <a:normAutofit/>
          </a:bodyPr>
          <a:lstStyle/>
          <a:p>
            <a:r>
              <a:rPr sz="1300"/>
              <a:t>address: phone number of the other party.</a:t>
            </a:r>
            <a:endParaRPr lang="en-US"/>
          </a:p>
        </p:txBody>
      </p:sp>
      <p:cxnSp>
        <p:nvCxnSpPr>
          <p:cNvPr id="28" name="Straight Arrow Connector 27">
            <a:extLst>
              <a:ext uri="{FF2B5EF4-FFF2-40B4-BE49-F238E27FC236}">
                <a16:creationId xmlns:a16="http://schemas.microsoft.com/office/drawing/2014/main" id="{3585B955-21AC-42A9-82F2-5D3F2E9C6374}"/>
              </a:ext>
            </a:extLst>
          </p:cNvPr>
          <p:cNvCxnSpPr>
            <a:cxnSpLocks/>
            <a:stCxn id="25" idx="2"/>
          </p:cNvCxnSpPr>
          <p:nvPr/>
        </p:nvCxnSpPr>
        <p:spPr>
          <a:xfrm flipH="1">
            <a:off x="2091586" y="2757492"/>
            <a:ext cx="236246" cy="71800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3" name="TextBox 32">
            <a:extLst>
              <a:ext uri="{FF2B5EF4-FFF2-40B4-BE49-F238E27FC236}">
                <a16:creationId xmlns:a16="http://schemas.microsoft.com/office/drawing/2014/main" id="{B6C50C04-45BD-472E-BE2D-1405D376FB3A}"/>
              </a:ext>
            </a:extLst>
          </p:cNvPr>
          <p:cNvSpPr txBox="1"/>
          <p:nvPr/>
        </p:nvSpPr>
        <p:spPr>
          <a:xfrm>
            <a:off x="3679603" y="2111162"/>
            <a:ext cx="1887290" cy="646331"/>
          </a:xfrm>
          <a:prstGeom prst="rect">
            <a:avLst/>
          </a:prstGeom>
          <a:solidFill>
            <a:schemeClr val="accent4">
              <a:lumMod val="20000"/>
              <a:lumOff val="80000"/>
            </a:schemeClr>
          </a:solidFill>
        </p:spPr>
        <p:txBody>
          <a:bodyPr wrap="square">
            <a:normAutofit/>
          </a:bodyPr>
          <a:lstStyle/>
          <a:p>
            <a:r>
              <a:rPr sz="1300"/>
              <a:t>date/date_sent: message timing fields.</a:t>
            </a:r>
          </a:p>
        </p:txBody>
      </p:sp>
      <p:cxnSp>
        <p:nvCxnSpPr>
          <p:cNvPr id="35" name="Straight Arrow Connector 34">
            <a:extLst>
              <a:ext uri="{FF2B5EF4-FFF2-40B4-BE49-F238E27FC236}">
                <a16:creationId xmlns:a16="http://schemas.microsoft.com/office/drawing/2014/main" id="{D5C48AEB-29BA-41DD-B356-1A1AB8432D4B}"/>
              </a:ext>
            </a:extLst>
          </p:cNvPr>
          <p:cNvCxnSpPr>
            <a:stCxn id="33" idx="2"/>
          </p:cNvCxnSpPr>
          <p:nvPr/>
        </p:nvCxnSpPr>
        <p:spPr>
          <a:xfrm>
            <a:off x="4623248" y="2757493"/>
            <a:ext cx="50248" cy="61308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37" name="Straight Arrow Connector 36">
            <a:extLst>
              <a:ext uri="{FF2B5EF4-FFF2-40B4-BE49-F238E27FC236}">
                <a16:creationId xmlns:a16="http://schemas.microsoft.com/office/drawing/2014/main" id="{08305A72-9C08-4D3E-88B2-7E65D9EBE28D}"/>
              </a:ext>
            </a:extLst>
          </p:cNvPr>
          <p:cNvCxnSpPr>
            <a:stCxn id="33" idx="2"/>
          </p:cNvCxnSpPr>
          <p:nvPr/>
        </p:nvCxnSpPr>
        <p:spPr>
          <a:xfrm flipH="1">
            <a:off x="3679603" y="2757493"/>
            <a:ext cx="943645" cy="64633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9" name="TextBox 38">
            <a:extLst>
              <a:ext uri="{FF2B5EF4-FFF2-40B4-BE49-F238E27FC236}">
                <a16:creationId xmlns:a16="http://schemas.microsoft.com/office/drawing/2014/main" id="{94CEAB0D-2F23-4881-8414-D0478019A252}"/>
              </a:ext>
            </a:extLst>
          </p:cNvPr>
          <p:cNvSpPr txBox="1"/>
          <p:nvPr/>
        </p:nvSpPr>
        <p:spPr>
          <a:xfrm>
            <a:off x="4338280" y="1138687"/>
            <a:ext cx="2146853" cy="441732"/>
          </a:xfrm>
          <a:prstGeom prst="rect">
            <a:avLst/>
          </a:prstGeom>
          <a:solidFill>
            <a:schemeClr val="accent4">
              <a:lumMod val="20000"/>
              <a:lumOff val="80000"/>
            </a:schemeClr>
          </a:solidFill>
        </p:spPr>
        <p:txBody>
          <a:bodyPr wrap="square">
            <a:normAutofit/>
          </a:bodyPr>
          <a:lstStyle/>
          <a:p>
            <a:r>
              <a:rPr sz="1300"/>
              <a:t>body: the SMS text content.</a:t>
            </a:r>
            <a:endParaRPr lang="en-US"/>
          </a:p>
        </p:txBody>
      </p:sp>
      <p:cxnSp>
        <p:nvCxnSpPr>
          <p:cNvPr id="41" name="Straight Arrow Connector 40">
            <a:extLst>
              <a:ext uri="{FF2B5EF4-FFF2-40B4-BE49-F238E27FC236}">
                <a16:creationId xmlns:a16="http://schemas.microsoft.com/office/drawing/2014/main" id="{F2166AE7-453C-43BE-8C25-08867E5B0C47}"/>
              </a:ext>
            </a:extLst>
          </p:cNvPr>
          <p:cNvCxnSpPr>
            <a:cxnSpLocks/>
            <a:stCxn id="39" idx="2"/>
            <a:endCxn id="11" idx="0"/>
          </p:cNvCxnSpPr>
          <p:nvPr/>
        </p:nvCxnSpPr>
        <p:spPr>
          <a:xfrm>
            <a:off x="5411707" y="1580419"/>
            <a:ext cx="993014" cy="177852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42" name="TextBox 41">
            <a:extLst>
              <a:ext uri="{FF2B5EF4-FFF2-40B4-BE49-F238E27FC236}">
                <a16:creationId xmlns:a16="http://schemas.microsoft.com/office/drawing/2014/main" id="{EDBF435E-B3F5-4DE2-85E1-66EC61443F69}"/>
              </a:ext>
            </a:extLst>
          </p:cNvPr>
          <p:cNvSpPr txBox="1"/>
          <p:nvPr/>
        </p:nvSpPr>
        <p:spPr>
          <a:xfrm>
            <a:off x="8700877" y="2275524"/>
            <a:ext cx="1693198" cy="646331"/>
          </a:xfrm>
          <a:prstGeom prst="rect">
            <a:avLst/>
          </a:prstGeom>
          <a:solidFill>
            <a:schemeClr val="accent4">
              <a:lumMod val="20000"/>
              <a:lumOff val="80000"/>
            </a:schemeClr>
          </a:solidFill>
        </p:spPr>
        <p:txBody>
          <a:bodyPr wrap="square">
            <a:normAutofit/>
          </a:bodyPr>
          <a:lstStyle/>
          <a:p>
            <a:r>
              <a:rPr sz="1300"/>
              <a:t>creator: app package that inserted the SMS.</a:t>
            </a:r>
            <a:endParaRPr lang="en-US"/>
          </a:p>
        </p:txBody>
      </p:sp>
      <p:cxnSp>
        <p:nvCxnSpPr>
          <p:cNvPr id="44" name="Straight Arrow Connector 43">
            <a:extLst>
              <a:ext uri="{FF2B5EF4-FFF2-40B4-BE49-F238E27FC236}">
                <a16:creationId xmlns:a16="http://schemas.microsoft.com/office/drawing/2014/main" id="{99BB72E0-ED25-47F8-B952-744CDF86169B}"/>
              </a:ext>
            </a:extLst>
          </p:cNvPr>
          <p:cNvCxnSpPr>
            <a:stCxn id="42" idx="2"/>
            <a:endCxn id="18" idx="0"/>
          </p:cNvCxnSpPr>
          <p:nvPr/>
        </p:nvCxnSpPr>
        <p:spPr>
          <a:xfrm>
            <a:off x="9547476" y="2921855"/>
            <a:ext cx="811615" cy="44872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49" name="TextBox 48">
            <a:extLst>
              <a:ext uri="{FF2B5EF4-FFF2-40B4-BE49-F238E27FC236}">
                <a16:creationId xmlns:a16="http://schemas.microsoft.com/office/drawing/2014/main" id="{7F3070FD-6AFF-41A5-9F6B-0923853FABE9}"/>
              </a:ext>
            </a:extLst>
          </p:cNvPr>
          <p:cNvSpPr txBox="1"/>
          <p:nvPr/>
        </p:nvSpPr>
        <p:spPr>
          <a:xfrm>
            <a:off x="9908535" y="1224951"/>
            <a:ext cx="2146853" cy="714524"/>
          </a:xfrm>
          <a:prstGeom prst="rect">
            <a:avLst/>
          </a:prstGeom>
          <a:solidFill>
            <a:schemeClr val="accent4">
              <a:lumMod val="20000"/>
              <a:lumOff val="80000"/>
            </a:schemeClr>
          </a:solidFill>
        </p:spPr>
        <p:txBody>
          <a:bodyPr wrap="square">
            <a:normAutofit/>
          </a:bodyPr>
          <a:lstStyle/>
          <a:p>
            <a:r>
              <a:rPr sz="1300" dirty="0"/>
              <a:t>read flag:</a:t>
            </a:r>
          </a:p>
          <a:p>
            <a:r>
              <a:rPr sz="1300" dirty="0"/>
              <a:t>0 = unread</a:t>
            </a:r>
          </a:p>
          <a:p>
            <a:r>
              <a:rPr sz="1300" dirty="0"/>
              <a:t>1 = read</a:t>
            </a:r>
          </a:p>
        </p:txBody>
      </p:sp>
      <p:cxnSp>
        <p:nvCxnSpPr>
          <p:cNvPr id="51" name="Straight Arrow Connector 50">
            <a:extLst>
              <a:ext uri="{FF2B5EF4-FFF2-40B4-BE49-F238E27FC236}">
                <a16:creationId xmlns:a16="http://schemas.microsoft.com/office/drawing/2014/main" id="{472F3E65-BAA3-4693-AFAE-D843BEB0D937}"/>
              </a:ext>
            </a:extLst>
          </p:cNvPr>
          <p:cNvCxnSpPr>
            <a:cxnSpLocks/>
            <a:stCxn id="49" idx="2"/>
            <a:endCxn id="12" idx="0"/>
          </p:cNvCxnSpPr>
          <p:nvPr/>
        </p:nvCxnSpPr>
        <p:spPr>
          <a:xfrm>
            <a:off x="10981962" y="1939475"/>
            <a:ext cx="485539" cy="140655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0" name="Rectangle 29">
            <a:extLst>
              <a:ext uri="{FF2B5EF4-FFF2-40B4-BE49-F238E27FC236}">
                <a16:creationId xmlns:a16="http://schemas.microsoft.com/office/drawing/2014/main" id="{83B82518-C8F2-4C93-A93C-38A0EA29A923}"/>
              </a:ext>
            </a:extLst>
          </p:cNvPr>
          <p:cNvSpPr/>
          <p:nvPr/>
        </p:nvSpPr>
        <p:spPr>
          <a:xfrm>
            <a:off x="7360342" y="3362628"/>
            <a:ext cx="748547" cy="19004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40000" lnSpcReduction="20000"/>
          </a:bodyPr>
          <a:lstStyle/>
          <a:p>
            <a:pPr algn="ctr"/>
            <a:endParaRPr lang="en-US"/>
          </a:p>
        </p:txBody>
      </p:sp>
      <p:sp>
        <p:nvSpPr>
          <p:cNvPr id="34" name="TextBox 33">
            <a:extLst>
              <a:ext uri="{FF2B5EF4-FFF2-40B4-BE49-F238E27FC236}">
                <a16:creationId xmlns:a16="http://schemas.microsoft.com/office/drawing/2014/main" id="{1980BBE9-E563-4C40-8DA8-69F7E5A843A7}"/>
              </a:ext>
            </a:extLst>
          </p:cNvPr>
          <p:cNvSpPr txBox="1"/>
          <p:nvPr/>
        </p:nvSpPr>
        <p:spPr>
          <a:xfrm>
            <a:off x="6413492" y="1939474"/>
            <a:ext cx="2070008" cy="861343"/>
          </a:xfrm>
          <a:prstGeom prst="rect">
            <a:avLst/>
          </a:prstGeom>
          <a:solidFill>
            <a:schemeClr val="accent4">
              <a:lumMod val="20000"/>
              <a:lumOff val="80000"/>
            </a:schemeClr>
          </a:solidFill>
        </p:spPr>
        <p:txBody>
          <a:bodyPr wrap="square">
            <a:normAutofit/>
          </a:bodyPr>
          <a:lstStyle/>
          <a:p>
            <a:r>
              <a:rPr sz="1300" dirty="0" err="1"/>
              <a:t>service_center</a:t>
            </a:r>
            <a:r>
              <a:rPr sz="1300" dirty="0"/>
              <a:t>: carrier SMSC used to route the message.</a:t>
            </a:r>
            <a:endParaRPr lang="en-US" sz="1600" dirty="0"/>
          </a:p>
        </p:txBody>
      </p:sp>
      <p:cxnSp>
        <p:nvCxnSpPr>
          <p:cNvPr id="36" name="Straight Arrow Connector 35">
            <a:extLst>
              <a:ext uri="{FF2B5EF4-FFF2-40B4-BE49-F238E27FC236}">
                <a16:creationId xmlns:a16="http://schemas.microsoft.com/office/drawing/2014/main" id="{4A106B54-9268-4C90-8C35-2FBBA7BCA9A1}"/>
              </a:ext>
            </a:extLst>
          </p:cNvPr>
          <p:cNvCxnSpPr>
            <a:cxnSpLocks/>
            <a:stCxn id="34" idx="2"/>
            <a:endCxn id="30" idx="0"/>
          </p:cNvCxnSpPr>
          <p:nvPr/>
        </p:nvCxnSpPr>
        <p:spPr>
          <a:xfrm>
            <a:off x="7448496" y="2800817"/>
            <a:ext cx="286120" cy="56181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870654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8FB38-445B-4391-A66B-0BE12A333606}"/>
              </a:ext>
            </a:extLst>
          </p:cNvPr>
          <p:cNvSpPr>
            <a:spLocks noGrp="1"/>
          </p:cNvSpPr>
          <p:nvPr>
            <p:ph type="title"/>
          </p:nvPr>
        </p:nvSpPr>
        <p:spPr/>
        <p:txBody>
          <a:bodyPr wrap="square">
            <a:normAutofit/>
          </a:bodyPr>
          <a:lstStyle/>
          <a:p>
            <a:r>
              <a:rPr sz="3400"/>
              <a:t>How SMS messages are sent and received</a:t>
            </a:r>
          </a:p>
        </p:txBody>
      </p:sp>
      <p:pic>
        <p:nvPicPr>
          <p:cNvPr id="2052" name="Picture 4" descr="Mobiel abonnement vergelijken | Kies jouw telefoon-abonnement">
            <a:extLst>
              <a:ext uri="{FF2B5EF4-FFF2-40B4-BE49-F238E27FC236}">
                <a16:creationId xmlns:a16="http://schemas.microsoft.com/office/drawing/2014/main" id="{A7A02AA9-B40A-48E1-BE87-9885DFBAA7E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8749" y="4171122"/>
            <a:ext cx="1652545" cy="165254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Free Network Tower Icon of Line style - Available in SVG, PNG, EPS, AI &amp;amp;  Icon fonts">
            <a:extLst>
              <a:ext uri="{FF2B5EF4-FFF2-40B4-BE49-F238E27FC236}">
                <a16:creationId xmlns:a16="http://schemas.microsoft.com/office/drawing/2014/main" id="{602062EB-41C1-4750-AEEA-AA35AFB0AE2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89251" y="3075590"/>
            <a:ext cx="1311898" cy="131189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Free Network Tower Icon of Line style - Available in SVG, PNG, EPS, AI &amp;amp;  Icon fonts">
            <a:extLst>
              <a:ext uri="{FF2B5EF4-FFF2-40B4-BE49-F238E27FC236}">
                <a16:creationId xmlns:a16="http://schemas.microsoft.com/office/drawing/2014/main" id="{53BCF766-5F20-4A0A-B9FE-F2221C055A8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3671" y="2160052"/>
            <a:ext cx="1311898" cy="131189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Free Network Tower Icon of Line style - Available in SVG, PNG, EPS, AI &amp;amp;  Icon fonts">
            <a:extLst>
              <a:ext uri="{FF2B5EF4-FFF2-40B4-BE49-F238E27FC236}">
                <a16:creationId xmlns:a16="http://schemas.microsoft.com/office/drawing/2014/main" id="{9C450BD5-11EB-49FD-BD61-C3F2EA8BBD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32228" y="4288452"/>
            <a:ext cx="1311898" cy="1311898"/>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3F0A1C4A-8A38-4616-9540-7980344E36E1}"/>
              </a:ext>
            </a:extLst>
          </p:cNvPr>
          <p:cNvCxnSpPr>
            <a:cxnSpLocks/>
          </p:cNvCxnSpPr>
          <p:nvPr/>
        </p:nvCxnSpPr>
        <p:spPr>
          <a:xfrm flipV="1">
            <a:off x="2254192" y="3908744"/>
            <a:ext cx="655983" cy="665922"/>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F01E849-47E9-4274-B985-F8A3EF0C530B}"/>
              </a:ext>
            </a:extLst>
          </p:cNvPr>
          <p:cNvCxnSpPr>
            <a:cxnSpLocks/>
          </p:cNvCxnSpPr>
          <p:nvPr/>
        </p:nvCxnSpPr>
        <p:spPr>
          <a:xfrm>
            <a:off x="4310932" y="4034468"/>
            <a:ext cx="1421296" cy="818355"/>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70B4DEC-1CE4-4F96-AE24-B1EEDFB5EB2F}"/>
              </a:ext>
            </a:extLst>
          </p:cNvPr>
          <p:cNvCxnSpPr>
            <a:cxnSpLocks/>
          </p:cNvCxnSpPr>
          <p:nvPr/>
        </p:nvCxnSpPr>
        <p:spPr>
          <a:xfrm flipV="1">
            <a:off x="4376862" y="3017991"/>
            <a:ext cx="1049906" cy="360812"/>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F0DF0AF-FBE4-420F-8E88-65E00F25B491}"/>
              </a:ext>
            </a:extLst>
          </p:cNvPr>
          <p:cNvCxnSpPr>
            <a:cxnSpLocks/>
          </p:cNvCxnSpPr>
          <p:nvPr/>
        </p:nvCxnSpPr>
        <p:spPr>
          <a:xfrm flipH="1" flipV="1">
            <a:off x="6303067" y="3429000"/>
            <a:ext cx="260075" cy="737152"/>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18" name="Picture 4" descr="Mobiel abonnement vergelijken | Kies jouw telefoon-abonnement">
            <a:extLst>
              <a:ext uri="{FF2B5EF4-FFF2-40B4-BE49-F238E27FC236}">
                <a16:creationId xmlns:a16="http://schemas.microsoft.com/office/drawing/2014/main" id="{93CD1ABA-17BF-40E5-B63D-A46C38CCB02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4326" y="1690221"/>
            <a:ext cx="1210348" cy="1210348"/>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9E802823-A367-41EA-A782-9A2FC4940842}"/>
              </a:ext>
            </a:extLst>
          </p:cNvPr>
          <p:cNvSpPr txBox="1"/>
          <p:nvPr/>
        </p:nvSpPr>
        <p:spPr>
          <a:xfrm>
            <a:off x="2809461" y="2338051"/>
            <a:ext cx="1975716" cy="923330"/>
          </a:xfrm>
          <a:prstGeom prst="rect">
            <a:avLst/>
          </a:prstGeom>
          <a:noFill/>
        </p:spPr>
        <p:txBody>
          <a:bodyPr wrap="square">
            <a:normAutofit/>
          </a:bodyPr>
          <a:lstStyle/>
          <a:p>
            <a:r>
              <a:rPr sz="1300"/>
              <a:t>SMSC routes outgoing/incoming SMS through the carrier network.</a:t>
            </a:r>
          </a:p>
        </p:txBody>
      </p:sp>
      <p:sp>
        <p:nvSpPr>
          <p:cNvPr id="21" name="TextBox 20">
            <a:extLst>
              <a:ext uri="{FF2B5EF4-FFF2-40B4-BE49-F238E27FC236}">
                <a16:creationId xmlns:a16="http://schemas.microsoft.com/office/drawing/2014/main" id="{4FCEE2F5-7D9F-449F-84B0-189D4D112ABB}"/>
              </a:ext>
            </a:extLst>
          </p:cNvPr>
          <p:cNvSpPr txBox="1"/>
          <p:nvPr/>
        </p:nvSpPr>
        <p:spPr>
          <a:xfrm>
            <a:off x="606467" y="5569545"/>
            <a:ext cx="1975716" cy="923330"/>
          </a:xfrm>
          <a:prstGeom prst="rect">
            <a:avLst/>
          </a:prstGeom>
          <a:noFill/>
        </p:spPr>
        <p:txBody>
          <a:bodyPr wrap="square">
            <a:normAutofit/>
          </a:bodyPr>
          <a:lstStyle/>
          <a:p>
            <a:r>
              <a:rPr lang="en-US"/>
              <a:t>SMS Service Center Number 9811236789</a:t>
            </a:r>
          </a:p>
        </p:txBody>
      </p:sp>
      <p:cxnSp>
        <p:nvCxnSpPr>
          <p:cNvPr id="22" name="Straight Connector 21">
            <a:extLst>
              <a:ext uri="{FF2B5EF4-FFF2-40B4-BE49-F238E27FC236}">
                <a16:creationId xmlns:a16="http://schemas.microsoft.com/office/drawing/2014/main" id="{C1173B00-579C-4971-B278-D0232992E175}"/>
              </a:ext>
            </a:extLst>
          </p:cNvPr>
          <p:cNvCxnSpPr>
            <a:cxnSpLocks/>
          </p:cNvCxnSpPr>
          <p:nvPr/>
        </p:nvCxnSpPr>
        <p:spPr>
          <a:xfrm flipV="1">
            <a:off x="6634202" y="2246231"/>
            <a:ext cx="760511" cy="369933"/>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057B6EE-C42B-475E-BA99-B78DA7EA0768}"/>
              </a:ext>
            </a:extLst>
          </p:cNvPr>
          <p:cNvSpPr txBox="1"/>
          <p:nvPr/>
        </p:nvSpPr>
        <p:spPr>
          <a:xfrm>
            <a:off x="3057775" y="6104963"/>
            <a:ext cx="7223262" cy="369332"/>
          </a:xfrm>
          <a:prstGeom prst="rect">
            <a:avLst/>
          </a:prstGeom>
          <a:noFill/>
        </p:spPr>
        <p:txBody>
          <a:bodyPr wrap="square">
            <a:normAutofit/>
          </a:bodyPr>
          <a:lstStyle/>
          <a:p>
            <a:r>
              <a:rPr lang="en-US"/>
              <a:t>SMS Service Center (SMSC) Number often is associated with your carrier </a:t>
            </a:r>
          </a:p>
        </p:txBody>
      </p:sp>
    </p:spTree>
    <p:extLst>
      <p:ext uri="{BB962C8B-B14F-4D97-AF65-F5344CB8AC3E}">
        <p14:creationId xmlns:p14="http://schemas.microsoft.com/office/powerpoint/2010/main" val="8195626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9E663CC-1833-4FDF-8D9D-F168D7F8ED8B}"/>
              </a:ext>
            </a:extLst>
          </p:cNvPr>
          <p:cNvPicPr>
            <a:picLocks noChangeAspect="1"/>
          </p:cNvPicPr>
          <p:nvPr/>
        </p:nvPicPr>
        <p:blipFill>
          <a:blip r:embed="rId2"/>
          <a:stretch>
            <a:fillRect/>
          </a:stretch>
        </p:blipFill>
        <p:spPr>
          <a:xfrm>
            <a:off x="838199" y="2261478"/>
            <a:ext cx="8575253" cy="2069889"/>
          </a:xfrm>
          <a:prstGeom prst="rect">
            <a:avLst/>
          </a:prstGeom>
        </p:spPr>
      </p:pic>
      <p:sp>
        <p:nvSpPr>
          <p:cNvPr id="2" name="Title 1">
            <a:extLst>
              <a:ext uri="{FF2B5EF4-FFF2-40B4-BE49-F238E27FC236}">
                <a16:creationId xmlns:a16="http://schemas.microsoft.com/office/drawing/2014/main" id="{C665F053-B0D9-4A67-9DE3-E55CB82DE862}"/>
              </a:ext>
            </a:extLst>
          </p:cNvPr>
          <p:cNvSpPr>
            <a:spLocks noGrp="1"/>
          </p:cNvSpPr>
          <p:nvPr>
            <p:ph type="title"/>
          </p:nvPr>
        </p:nvSpPr>
        <p:spPr/>
        <p:txBody>
          <a:bodyPr wrap="square">
            <a:normAutofit/>
          </a:bodyPr>
          <a:lstStyle/>
          <a:p>
            <a:r>
              <a:rPr sz="2800"/>
              <a:t>Exercise: identify the message received around Jan. 29, 2020, 6:20 PM</a:t>
            </a:r>
            <a:endParaRPr lang="en-US"/>
          </a:p>
        </p:txBody>
      </p:sp>
      <p:sp>
        <p:nvSpPr>
          <p:cNvPr id="6" name="TextBox 5">
            <a:extLst>
              <a:ext uri="{FF2B5EF4-FFF2-40B4-BE49-F238E27FC236}">
                <a16:creationId xmlns:a16="http://schemas.microsoft.com/office/drawing/2014/main" id="{C5C91C6C-2CCD-4689-B6A4-0133AADF5FFB}"/>
              </a:ext>
            </a:extLst>
          </p:cNvPr>
          <p:cNvSpPr txBox="1"/>
          <p:nvPr/>
        </p:nvSpPr>
        <p:spPr>
          <a:xfrm>
            <a:off x="838200" y="1827086"/>
            <a:ext cx="6177168" cy="369332"/>
          </a:xfrm>
          <a:prstGeom prst="rect">
            <a:avLst/>
          </a:prstGeom>
          <a:noFill/>
        </p:spPr>
        <p:txBody>
          <a:bodyPr wrap="square">
            <a:normAutofit/>
          </a:bodyPr>
          <a:lstStyle/>
          <a:p>
            <a:r>
              <a:rPr sz="1600"/>
              <a:t>Convert Unix timestamps to local time, then compare rows.</a:t>
            </a:r>
          </a:p>
        </p:txBody>
      </p:sp>
      <p:pic>
        <p:nvPicPr>
          <p:cNvPr id="7" name="Picture 4" descr="Graphical user interface, text&#10;&#10;Description automatically generated">
            <a:extLst>
              <a:ext uri="{FF2B5EF4-FFF2-40B4-BE49-F238E27FC236}">
                <a16:creationId xmlns:a16="http://schemas.microsoft.com/office/drawing/2014/main" id="{4F38006D-A5AB-4D11-B586-E4C137CC30BA}"/>
              </a:ext>
            </a:extLst>
          </p:cNvPr>
          <p:cNvPicPr>
            <a:picLocks noChangeAspect="1"/>
          </p:cNvPicPr>
          <p:nvPr/>
        </p:nvPicPr>
        <p:blipFill rotWithShape="1">
          <a:blip r:embed="rId3"/>
          <a:srcRect l="4569" t="2156" r="-4569" b="57689"/>
          <a:stretch/>
        </p:blipFill>
        <p:spPr>
          <a:xfrm>
            <a:off x="6678935" y="4788568"/>
            <a:ext cx="4564250" cy="1532021"/>
          </a:xfrm>
          <a:prstGeom prst="rect">
            <a:avLst/>
          </a:prstGeom>
        </p:spPr>
      </p:pic>
      <p:sp>
        <p:nvSpPr>
          <p:cNvPr id="8" name="Rectangle 7">
            <a:extLst>
              <a:ext uri="{FF2B5EF4-FFF2-40B4-BE49-F238E27FC236}">
                <a16:creationId xmlns:a16="http://schemas.microsoft.com/office/drawing/2014/main" id="{674B6044-3F55-4E49-B384-F834C836503E}"/>
              </a:ext>
            </a:extLst>
          </p:cNvPr>
          <p:cNvSpPr/>
          <p:nvPr/>
        </p:nvSpPr>
        <p:spPr>
          <a:xfrm>
            <a:off x="8961060" y="5290987"/>
            <a:ext cx="1009108" cy="2114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47500" lnSpcReduction="20000"/>
          </a:bodyPr>
          <a:lstStyle/>
          <a:p>
            <a:pPr algn="ctr"/>
            <a:endParaRPr lang="en-US"/>
          </a:p>
        </p:txBody>
      </p:sp>
      <p:cxnSp>
        <p:nvCxnSpPr>
          <p:cNvPr id="9" name="Straight Arrow Connector 8">
            <a:extLst>
              <a:ext uri="{FF2B5EF4-FFF2-40B4-BE49-F238E27FC236}">
                <a16:creationId xmlns:a16="http://schemas.microsoft.com/office/drawing/2014/main" id="{76ACB3D0-BCCA-40A8-A9F5-8F2DA34967C0}"/>
              </a:ext>
            </a:extLst>
          </p:cNvPr>
          <p:cNvCxnSpPr>
            <a:cxnSpLocks/>
          </p:cNvCxnSpPr>
          <p:nvPr/>
        </p:nvCxnSpPr>
        <p:spPr>
          <a:xfrm>
            <a:off x="3983960" y="3516472"/>
            <a:ext cx="4977100" cy="1774515"/>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B6F6DEB1-4BF1-4D48-9570-D5DA9A4CFB4A}"/>
              </a:ext>
            </a:extLst>
          </p:cNvPr>
          <p:cNvSpPr txBox="1"/>
          <p:nvPr/>
        </p:nvSpPr>
        <p:spPr>
          <a:xfrm>
            <a:off x="1216422" y="5185246"/>
            <a:ext cx="2767538" cy="369332"/>
          </a:xfrm>
          <a:prstGeom prst="rect">
            <a:avLst/>
          </a:prstGeom>
          <a:noFill/>
        </p:spPr>
        <p:txBody>
          <a:bodyPr wrap="square">
            <a:normAutofit/>
          </a:bodyPr>
          <a:lstStyle/>
          <a:p>
            <a:r>
              <a:rPr sz="1600"/>
              <a:t>Next question: who sent it?</a:t>
            </a:r>
          </a:p>
        </p:txBody>
      </p:sp>
      <p:cxnSp>
        <p:nvCxnSpPr>
          <p:cNvPr id="15" name="Straight Arrow Connector 14">
            <a:extLst>
              <a:ext uri="{FF2B5EF4-FFF2-40B4-BE49-F238E27FC236}">
                <a16:creationId xmlns:a16="http://schemas.microsoft.com/office/drawing/2014/main" id="{D09DDDD0-DC4F-4848-9B94-1640E075304D}"/>
              </a:ext>
            </a:extLst>
          </p:cNvPr>
          <p:cNvCxnSpPr>
            <a:cxnSpLocks/>
          </p:cNvCxnSpPr>
          <p:nvPr/>
        </p:nvCxnSpPr>
        <p:spPr>
          <a:xfrm>
            <a:off x="3753853" y="5382126"/>
            <a:ext cx="3529263" cy="0"/>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18" name="Rectangle 17">
            <a:extLst>
              <a:ext uri="{FF2B5EF4-FFF2-40B4-BE49-F238E27FC236}">
                <a16:creationId xmlns:a16="http://schemas.microsoft.com/office/drawing/2014/main" id="{A8274860-0BE5-4F67-AD62-115C27278234}"/>
              </a:ext>
            </a:extLst>
          </p:cNvPr>
          <p:cNvSpPr/>
          <p:nvPr/>
        </p:nvSpPr>
        <p:spPr>
          <a:xfrm>
            <a:off x="7557375" y="5276398"/>
            <a:ext cx="1009108" cy="2114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47500" lnSpcReduction="20000"/>
          </a:bodyPr>
          <a:lstStyle/>
          <a:p>
            <a:pPr algn="ctr"/>
            <a:endParaRPr lang="en-US"/>
          </a:p>
        </p:txBody>
      </p:sp>
      <p:pic>
        <p:nvPicPr>
          <p:cNvPr id="19" name="Picture 6" descr="Text&#10;&#10;Description automatically generated">
            <a:extLst>
              <a:ext uri="{FF2B5EF4-FFF2-40B4-BE49-F238E27FC236}">
                <a16:creationId xmlns:a16="http://schemas.microsoft.com/office/drawing/2014/main" id="{4DFD8402-75D4-4ABD-BEE7-C43D58CBF271}"/>
              </a:ext>
            </a:extLst>
          </p:cNvPr>
          <p:cNvPicPr>
            <a:picLocks noChangeAspect="1"/>
          </p:cNvPicPr>
          <p:nvPr/>
        </p:nvPicPr>
        <p:blipFill>
          <a:blip r:embed="rId4"/>
          <a:stretch>
            <a:fillRect/>
          </a:stretch>
        </p:blipFill>
        <p:spPr>
          <a:xfrm>
            <a:off x="8061929" y="3705830"/>
            <a:ext cx="2951781" cy="910483"/>
          </a:xfrm>
          <a:prstGeom prst="rect">
            <a:avLst/>
          </a:prstGeom>
        </p:spPr>
      </p:pic>
      <p:cxnSp>
        <p:nvCxnSpPr>
          <p:cNvPr id="20" name="Straight Arrow Connector 19">
            <a:extLst>
              <a:ext uri="{FF2B5EF4-FFF2-40B4-BE49-F238E27FC236}">
                <a16:creationId xmlns:a16="http://schemas.microsoft.com/office/drawing/2014/main" id="{24E36C14-B28D-4673-9B1C-9B0DD47955AE}"/>
              </a:ext>
            </a:extLst>
          </p:cNvPr>
          <p:cNvCxnSpPr>
            <a:cxnSpLocks/>
          </p:cNvCxnSpPr>
          <p:nvPr/>
        </p:nvCxnSpPr>
        <p:spPr>
          <a:xfrm flipV="1">
            <a:off x="9617242" y="4243137"/>
            <a:ext cx="0" cy="103326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636799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351F0-5951-44FE-BD84-21247EBCA017}"/>
              </a:ext>
            </a:extLst>
          </p:cNvPr>
          <p:cNvSpPr>
            <a:spLocks noGrp="1"/>
          </p:cNvSpPr>
          <p:nvPr>
            <p:ph type="title"/>
          </p:nvPr>
        </p:nvSpPr>
        <p:spPr/>
        <p:txBody>
          <a:bodyPr wrap="square">
            <a:normAutofit/>
          </a:bodyPr>
          <a:lstStyle/>
          <a:p>
            <a:r>
              <a:rPr sz="3200" dirty="0"/>
              <a:t>What table describes conversations?</a:t>
            </a:r>
          </a:p>
        </p:txBody>
      </p:sp>
      <p:pic>
        <p:nvPicPr>
          <p:cNvPr id="4" name="Picture 4">
            <a:extLst>
              <a:ext uri="{FF2B5EF4-FFF2-40B4-BE49-F238E27FC236}">
                <a16:creationId xmlns:a16="http://schemas.microsoft.com/office/drawing/2014/main" id="{048279A1-1012-4FE6-9F28-F5716B0CAE90}"/>
              </a:ext>
            </a:extLst>
          </p:cNvPr>
          <p:cNvPicPr>
            <a:picLocks noChangeAspect="1"/>
          </p:cNvPicPr>
          <p:nvPr/>
        </p:nvPicPr>
        <p:blipFill>
          <a:blip r:embed="rId2"/>
          <a:stretch>
            <a:fillRect/>
          </a:stretch>
        </p:blipFill>
        <p:spPr>
          <a:xfrm>
            <a:off x="969971" y="2740675"/>
            <a:ext cx="10698996" cy="3182551"/>
          </a:xfrm>
          <a:prstGeom prst="rect">
            <a:avLst/>
          </a:prstGeom>
        </p:spPr>
      </p:pic>
      <p:sp>
        <p:nvSpPr>
          <p:cNvPr id="5" name="Rectangle 4">
            <a:extLst>
              <a:ext uri="{FF2B5EF4-FFF2-40B4-BE49-F238E27FC236}">
                <a16:creationId xmlns:a16="http://schemas.microsoft.com/office/drawing/2014/main" id="{778859F5-47D3-4A10-8708-54BE62C6D958}"/>
              </a:ext>
            </a:extLst>
          </p:cNvPr>
          <p:cNvSpPr/>
          <p:nvPr/>
        </p:nvSpPr>
        <p:spPr>
          <a:xfrm>
            <a:off x="1858540" y="3132123"/>
            <a:ext cx="529526" cy="2195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55000" lnSpcReduction="20000"/>
          </a:bodyPr>
          <a:lstStyle/>
          <a:p>
            <a:pPr algn="ctr"/>
            <a:endParaRPr lang="en-US"/>
          </a:p>
        </p:txBody>
      </p:sp>
      <p:sp>
        <p:nvSpPr>
          <p:cNvPr id="6" name="Rectangle 5">
            <a:extLst>
              <a:ext uri="{FF2B5EF4-FFF2-40B4-BE49-F238E27FC236}">
                <a16:creationId xmlns:a16="http://schemas.microsoft.com/office/drawing/2014/main" id="{A3B8E0C9-E5AF-490A-B1EC-E1C20CFE983F}"/>
              </a:ext>
            </a:extLst>
          </p:cNvPr>
          <p:cNvSpPr/>
          <p:nvPr/>
        </p:nvSpPr>
        <p:spPr>
          <a:xfrm>
            <a:off x="2698031" y="3132122"/>
            <a:ext cx="1149458" cy="2195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55000" lnSpcReduction="20000"/>
          </a:bodyPr>
          <a:lstStyle/>
          <a:p>
            <a:pPr algn="ctr"/>
            <a:endParaRPr lang="en-US"/>
          </a:p>
        </p:txBody>
      </p:sp>
      <p:sp>
        <p:nvSpPr>
          <p:cNvPr id="7" name="Rectangle 6">
            <a:extLst>
              <a:ext uri="{FF2B5EF4-FFF2-40B4-BE49-F238E27FC236}">
                <a16:creationId xmlns:a16="http://schemas.microsoft.com/office/drawing/2014/main" id="{2F6CB5DD-18F1-47C3-BFBA-8D6BED560762}"/>
              </a:ext>
            </a:extLst>
          </p:cNvPr>
          <p:cNvSpPr/>
          <p:nvPr/>
        </p:nvSpPr>
        <p:spPr>
          <a:xfrm>
            <a:off x="6055997" y="3132122"/>
            <a:ext cx="529526" cy="2195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55000" lnSpcReduction="20000"/>
          </a:bodyPr>
          <a:lstStyle/>
          <a:p>
            <a:pPr algn="ctr"/>
            <a:endParaRPr lang="en-US"/>
          </a:p>
        </p:txBody>
      </p:sp>
      <p:sp>
        <p:nvSpPr>
          <p:cNvPr id="8" name="Rectangle 7">
            <a:extLst>
              <a:ext uri="{FF2B5EF4-FFF2-40B4-BE49-F238E27FC236}">
                <a16:creationId xmlns:a16="http://schemas.microsoft.com/office/drawing/2014/main" id="{7957CE06-35FF-4DC9-92E1-CD91A7475F68}"/>
              </a:ext>
            </a:extLst>
          </p:cNvPr>
          <p:cNvSpPr/>
          <p:nvPr/>
        </p:nvSpPr>
        <p:spPr>
          <a:xfrm>
            <a:off x="8600302" y="3132123"/>
            <a:ext cx="374543" cy="2195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55000" lnSpcReduction="20000"/>
          </a:bodyPr>
          <a:lstStyle/>
          <a:p>
            <a:pPr algn="ctr"/>
            <a:endParaRPr lang="en-US"/>
          </a:p>
        </p:txBody>
      </p:sp>
      <p:sp>
        <p:nvSpPr>
          <p:cNvPr id="9" name="Rectangle 8">
            <a:extLst>
              <a:ext uri="{FF2B5EF4-FFF2-40B4-BE49-F238E27FC236}">
                <a16:creationId xmlns:a16="http://schemas.microsoft.com/office/drawing/2014/main" id="{D985D1D0-0718-43C7-9E95-8C742EFF04DA}"/>
              </a:ext>
            </a:extLst>
          </p:cNvPr>
          <p:cNvSpPr/>
          <p:nvPr/>
        </p:nvSpPr>
        <p:spPr>
          <a:xfrm>
            <a:off x="10318031" y="3132123"/>
            <a:ext cx="1226949" cy="2066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47500" lnSpcReduction="20000"/>
          </a:bodyPr>
          <a:lstStyle/>
          <a:p>
            <a:pPr algn="ctr"/>
            <a:endParaRPr lang="en-US"/>
          </a:p>
        </p:txBody>
      </p:sp>
      <p:sp>
        <p:nvSpPr>
          <p:cNvPr id="10" name="Rectangle 9">
            <a:extLst>
              <a:ext uri="{FF2B5EF4-FFF2-40B4-BE49-F238E27FC236}">
                <a16:creationId xmlns:a16="http://schemas.microsoft.com/office/drawing/2014/main" id="{D73BD246-2242-4464-8644-F5A43A6678D1}"/>
              </a:ext>
            </a:extLst>
          </p:cNvPr>
          <p:cNvSpPr/>
          <p:nvPr/>
        </p:nvSpPr>
        <p:spPr>
          <a:xfrm>
            <a:off x="1304924" y="3138487"/>
            <a:ext cx="273845" cy="1905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40000" lnSpcReduction="20000"/>
          </a:bodyPr>
          <a:lstStyle/>
          <a:p>
            <a:pPr algn="ctr"/>
            <a:endParaRPr lang="en-US"/>
          </a:p>
        </p:txBody>
      </p:sp>
      <p:sp>
        <p:nvSpPr>
          <p:cNvPr id="11" name="Rectangle 10">
            <a:extLst>
              <a:ext uri="{FF2B5EF4-FFF2-40B4-BE49-F238E27FC236}">
                <a16:creationId xmlns:a16="http://schemas.microsoft.com/office/drawing/2014/main" id="{A4D6194A-B0A7-4583-AE8B-06C3D7C1F5CC}"/>
              </a:ext>
            </a:extLst>
          </p:cNvPr>
          <p:cNvSpPr/>
          <p:nvPr/>
        </p:nvSpPr>
        <p:spPr>
          <a:xfrm>
            <a:off x="1578769" y="3673733"/>
            <a:ext cx="1119262" cy="219560"/>
          </a:xfrm>
          <a:prstGeom prst="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55000" lnSpcReduction="20000"/>
          </a:bodyPr>
          <a:lstStyle/>
          <a:p>
            <a:pPr algn="ctr"/>
            <a:endParaRPr lang="en-US"/>
          </a:p>
        </p:txBody>
      </p:sp>
      <p:sp>
        <p:nvSpPr>
          <p:cNvPr id="15" name="TextBox 14">
            <a:extLst>
              <a:ext uri="{FF2B5EF4-FFF2-40B4-BE49-F238E27FC236}">
                <a16:creationId xmlns:a16="http://schemas.microsoft.com/office/drawing/2014/main" id="{8485B207-45E8-423C-8E91-11054F079CCA}"/>
              </a:ext>
            </a:extLst>
          </p:cNvPr>
          <p:cNvSpPr txBox="1"/>
          <p:nvPr/>
        </p:nvSpPr>
        <p:spPr>
          <a:xfrm>
            <a:off x="466387" y="1635961"/>
            <a:ext cx="1580724" cy="338554"/>
          </a:xfrm>
          <a:prstGeom prst="rect">
            <a:avLst/>
          </a:prstGeom>
          <a:solidFill>
            <a:schemeClr val="accent4">
              <a:lumMod val="20000"/>
              <a:lumOff val="80000"/>
            </a:schemeClr>
          </a:solidFill>
        </p:spPr>
        <p:txBody>
          <a:bodyPr wrap="square">
            <a:normAutofit fontScale="85000" lnSpcReduction="20000"/>
          </a:bodyPr>
          <a:lstStyle/>
          <a:p>
            <a:r>
              <a:rPr sz="1200"/>
              <a:t>thread _id: conversation ID</a:t>
            </a:r>
          </a:p>
        </p:txBody>
      </p:sp>
      <p:cxnSp>
        <p:nvCxnSpPr>
          <p:cNvPr id="16" name="Straight Arrow Connector 15">
            <a:extLst>
              <a:ext uri="{FF2B5EF4-FFF2-40B4-BE49-F238E27FC236}">
                <a16:creationId xmlns:a16="http://schemas.microsoft.com/office/drawing/2014/main" id="{075C8A8C-6CBB-4A04-8786-AC881E984AE0}"/>
              </a:ext>
            </a:extLst>
          </p:cNvPr>
          <p:cNvCxnSpPr>
            <a:cxnSpLocks/>
          </p:cNvCxnSpPr>
          <p:nvPr/>
        </p:nvCxnSpPr>
        <p:spPr>
          <a:xfrm>
            <a:off x="1289718" y="2043658"/>
            <a:ext cx="152128" cy="98027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1DB0AB06-4DDF-48B9-AB17-959E6EFB942F}"/>
              </a:ext>
            </a:extLst>
          </p:cNvPr>
          <p:cNvCxnSpPr>
            <a:cxnSpLocks/>
          </p:cNvCxnSpPr>
          <p:nvPr/>
        </p:nvCxnSpPr>
        <p:spPr>
          <a:xfrm flipH="1">
            <a:off x="2047111" y="1282991"/>
            <a:ext cx="552017" cy="1472456"/>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5D634276-960F-4204-A9E7-594B4E40F071}"/>
              </a:ext>
            </a:extLst>
          </p:cNvPr>
          <p:cNvSpPr txBox="1"/>
          <p:nvPr/>
        </p:nvSpPr>
        <p:spPr>
          <a:xfrm>
            <a:off x="2599128" y="1966438"/>
            <a:ext cx="1580724" cy="584775"/>
          </a:xfrm>
          <a:prstGeom prst="rect">
            <a:avLst/>
          </a:prstGeom>
          <a:solidFill>
            <a:schemeClr val="accent4">
              <a:lumMod val="20000"/>
              <a:lumOff val="80000"/>
            </a:schemeClr>
          </a:solidFill>
        </p:spPr>
        <p:txBody>
          <a:bodyPr wrap="square">
            <a:normAutofit/>
          </a:bodyPr>
          <a:lstStyle/>
          <a:p>
            <a:r>
              <a:rPr sz="1200" dirty="0"/>
              <a:t>date: last activity time for the thread</a:t>
            </a:r>
          </a:p>
        </p:txBody>
      </p:sp>
      <p:cxnSp>
        <p:nvCxnSpPr>
          <p:cNvPr id="21" name="Straight Arrow Connector 20">
            <a:extLst>
              <a:ext uri="{FF2B5EF4-FFF2-40B4-BE49-F238E27FC236}">
                <a16:creationId xmlns:a16="http://schemas.microsoft.com/office/drawing/2014/main" id="{F00BAEF7-72E0-4BEC-B67B-3EB83DBB6705}"/>
              </a:ext>
            </a:extLst>
          </p:cNvPr>
          <p:cNvCxnSpPr>
            <a:cxnSpLocks/>
            <a:stCxn id="20" idx="2"/>
          </p:cNvCxnSpPr>
          <p:nvPr/>
        </p:nvCxnSpPr>
        <p:spPr>
          <a:xfrm flipH="1">
            <a:off x="2205786" y="2551213"/>
            <a:ext cx="1183704" cy="56217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3" name="TextBox 22">
            <a:extLst>
              <a:ext uri="{FF2B5EF4-FFF2-40B4-BE49-F238E27FC236}">
                <a16:creationId xmlns:a16="http://schemas.microsoft.com/office/drawing/2014/main" id="{B539B026-5FF6-4C35-A126-5D500B443F39}"/>
              </a:ext>
            </a:extLst>
          </p:cNvPr>
          <p:cNvSpPr txBox="1"/>
          <p:nvPr/>
        </p:nvSpPr>
        <p:spPr>
          <a:xfrm>
            <a:off x="6312524" y="1690688"/>
            <a:ext cx="2662321" cy="476764"/>
          </a:xfrm>
          <a:prstGeom prst="rect">
            <a:avLst/>
          </a:prstGeom>
          <a:solidFill>
            <a:schemeClr val="accent4">
              <a:lumMod val="20000"/>
              <a:lumOff val="80000"/>
            </a:schemeClr>
          </a:solidFill>
        </p:spPr>
        <p:txBody>
          <a:bodyPr wrap="square">
            <a:normAutofit/>
          </a:bodyPr>
          <a:lstStyle/>
          <a:p>
            <a:r>
              <a:rPr sz="1200" dirty="0"/>
              <a:t>snippet: preview of the most recent SMS/MMS content</a:t>
            </a:r>
          </a:p>
        </p:txBody>
      </p:sp>
      <p:cxnSp>
        <p:nvCxnSpPr>
          <p:cNvPr id="24" name="Straight Arrow Connector 23">
            <a:extLst>
              <a:ext uri="{FF2B5EF4-FFF2-40B4-BE49-F238E27FC236}">
                <a16:creationId xmlns:a16="http://schemas.microsoft.com/office/drawing/2014/main" id="{100BCBD1-D914-4209-94B7-EE0F9D90B124}"/>
              </a:ext>
            </a:extLst>
          </p:cNvPr>
          <p:cNvCxnSpPr>
            <a:cxnSpLocks/>
            <a:stCxn id="23" idx="2"/>
          </p:cNvCxnSpPr>
          <p:nvPr/>
        </p:nvCxnSpPr>
        <p:spPr>
          <a:xfrm flipH="1">
            <a:off x="6408821" y="2167452"/>
            <a:ext cx="1234864" cy="86319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8" name="TextBox 27">
            <a:extLst>
              <a:ext uri="{FF2B5EF4-FFF2-40B4-BE49-F238E27FC236}">
                <a16:creationId xmlns:a16="http://schemas.microsoft.com/office/drawing/2014/main" id="{1D4B3425-9274-4B5D-8F4B-7770AEFFEF72}"/>
              </a:ext>
            </a:extLst>
          </p:cNvPr>
          <p:cNvSpPr txBox="1"/>
          <p:nvPr/>
        </p:nvSpPr>
        <p:spPr>
          <a:xfrm>
            <a:off x="3882497" y="1419502"/>
            <a:ext cx="2072048" cy="338554"/>
          </a:xfrm>
          <a:prstGeom prst="rect">
            <a:avLst/>
          </a:prstGeom>
          <a:solidFill>
            <a:schemeClr val="accent4">
              <a:lumMod val="20000"/>
              <a:lumOff val="80000"/>
            </a:schemeClr>
          </a:solidFill>
        </p:spPr>
        <p:txBody>
          <a:bodyPr wrap="square">
            <a:normAutofit fontScale="85000" lnSpcReduction="20000"/>
          </a:bodyPr>
          <a:lstStyle/>
          <a:p>
            <a:r>
              <a:rPr sz="1200"/>
              <a:t>message_count: number of messages in the thread</a:t>
            </a:r>
          </a:p>
        </p:txBody>
      </p:sp>
      <p:cxnSp>
        <p:nvCxnSpPr>
          <p:cNvPr id="31" name="Straight Arrow Connector 30">
            <a:extLst>
              <a:ext uri="{FF2B5EF4-FFF2-40B4-BE49-F238E27FC236}">
                <a16:creationId xmlns:a16="http://schemas.microsoft.com/office/drawing/2014/main" id="{D9EAC05A-A212-44E1-B807-A4DD3CC9763B}"/>
              </a:ext>
            </a:extLst>
          </p:cNvPr>
          <p:cNvCxnSpPr>
            <a:cxnSpLocks/>
            <a:stCxn id="28" idx="2"/>
          </p:cNvCxnSpPr>
          <p:nvPr/>
        </p:nvCxnSpPr>
        <p:spPr>
          <a:xfrm flipH="1">
            <a:off x="3847491" y="1758056"/>
            <a:ext cx="1071030" cy="129370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5" name="TextBox 34">
            <a:extLst>
              <a:ext uri="{FF2B5EF4-FFF2-40B4-BE49-F238E27FC236}">
                <a16:creationId xmlns:a16="http://schemas.microsoft.com/office/drawing/2014/main" id="{2B7A30C7-4948-4AD6-B209-98CD849161F0}"/>
              </a:ext>
            </a:extLst>
          </p:cNvPr>
          <p:cNvSpPr txBox="1"/>
          <p:nvPr/>
        </p:nvSpPr>
        <p:spPr>
          <a:xfrm>
            <a:off x="9232938" y="1680665"/>
            <a:ext cx="1034640" cy="830997"/>
          </a:xfrm>
          <a:prstGeom prst="rect">
            <a:avLst/>
          </a:prstGeom>
          <a:solidFill>
            <a:schemeClr val="accent4">
              <a:lumMod val="20000"/>
              <a:lumOff val="80000"/>
            </a:schemeClr>
          </a:solidFill>
        </p:spPr>
        <p:txBody>
          <a:bodyPr wrap="square">
            <a:normAutofit/>
          </a:bodyPr>
          <a:lstStyle/>
          <a:p>
            <a:r>
              <a:rPr sz="1200"/>
              <a:t>read flag:</a:t>
            </a:r>
          </a:p>
          <a:p>
            <a:r>
              <a:rPr sz="1200"/>
              <a:t>0 = unread</a:t>
            </a:r>
          </a:p>
          <a:p>
            <a:r>
              <a:rPr sz="1200"/>
              <a:t>1 = read</a:t>
            </a:r>
          </a:p>
        </p:txBody>
      </p:sp>
      <p:cxnSp>
        <p:nvCxnSpPr>
          <p:cNvPr id="36" name="Straight Arrow Connector 35">
            <a:extLst>
              <a:ext uri="{FF2B5EF4-FFF2-40B4-BE49-F238E27FC236}">
                <a16:creationId xmlns:a16="http://schemas.microsoft.com/office/drawing/2014/main" id="{449F1721-6D50-4FD5-8BB7-BD295833B6AB}"/>
              </a:ext>
            </a:extLst>
          </p:cNvPr>
          <p:cNvCxnSpPr>
            <a:cxnSpLocks/>
          </p:cNvCxnSpPr>
          <p:nvPr/>
        </p:nvCxnSpPr>
        <p:spPr>
          <a:xfrm flipH="1">
            <a:off x="8924902" y="2501366"/>
            <a:ext cx="970863" cy="61202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 name="Rectangle 2">
            <a:extLst>
              <a:ext uri="{FF2B5EF4-FFF2-40B4-BE49-F238E27FC236}">
                <a16:creationId xmlns:a16="http://schemas.microsoft.com/office/drawing/2014/main" id="{515EE217-3D94-9EEE-7DCF-08BF3E3BB400}"/>
              </a:ext>
            </a:extLst>
          </p:cNvPr>
          <p:cNvSpPr/>
          <p:nvPr/>
        </p:nvSpPr>
        <p:spPr>
          <a:xfrm>
            <a:off x="1548573" y="3931439"/>
            <a:ext cx="2298915" cy="2319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2500" lnSpcReduction="20000"/>
          </a:bodyPr>
          <a:lstStyle/>
          <a:p>
            <a:pPr algn="ctr"/>
            <a:endParaRPr lang="en-US"/>
          </a:p>
        </p:txBody>
      </p:sp>
      <p:cxnSp>
        <p:nvCxnSpPr>
          <p:cNvPr id="12" name="Straight Arrow Connector 11">
            <a:extLst>
              <a:ext uri="{FF2B5EF4-FFF2-40B4-BE49-F238E27FC236}">
                <a16:creationId xmlns:a16="http://schemas.microsoft.com/office/drawing/2014/main" id="{56AC6D3C-4AB1-3BD3-8D17-21753ABCD993}"/>
              </a:ext>
            </a:extLst>
          </p:cNvPr>
          <p:cNvCxnSpPr>
            <a:cxnSpLocks/>
            <a:stCxn id="28" idx="2"/>
          </p:cNvCxnSpPr>
          <p:nvPr/>
        </p:nvCxnSpPr>
        <p:spPr>
          <a:xfrm flipH="1">
            <a:off x="3699455" y="1758056"/>
            <a:ext cx="1219066" cy="217338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0469269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7252885-252E-8B10-199F-4FB00B1686BC}"/>
              </a:ext>
            </a:extLst>
          </p:cNvPr>
          <p:cNvPicPr>
            <a:picLocks noChangeAspect="1"/>
          </p:cNvPicPr>
          <p:nvPr/>
        </p:nvPicPr>
        <p:blipFill>
          <a:blip r:embed="rId2"/>
          <a:stretch>
            <a:fillRect/>
          </a:stretch>
        </p:blipFill>
        <p:spPr>
          <a:xfrm>
            <a:off x="925450" y="2484038"/>
            <a:ext cx="10008788" cy="2156542"/>
          </a:xfrm>
          <a:prstGeom prst="rect">
            <a:avLst/>
          </a:prstGeom>
        </p:spPr>
      </p:pic>
      <p:sp>
        <p:nvSpPr>
          <p:cNvPr id="5" name="TextBox 4">
            <a:extLst>
              <a:ext uri="{FF2B5EF4-FFF2-40B4-BE49-F238E27FC236}">
                <a16:creationId xmlns:a16="http://schemas.microsoft.com/office/drawing/2014/main" id="{276D7265-2506-DE65-92F0-2D1FD111EBB3}"/>
              </a:ext>
            </a:extLst>
          </p:cNvPr>
          <p:cNvSpPr txBox="1"/>
          <p:nvPr/>
        </p:nvSpPr>
        <p:spPr>
          <a:xfrm>
            <a:off x="925450" y="2087101"/>
            <a:ext cx="3801825" cy="369332"/>
          </a:xfrm>
          <a:prstGeom prst="rect">
            <a:avLst/>
          </a:prstGeom>
          <a:solidFill>
            <a:schemeClr val="accent4"/>
          </a:solidFill>
        </p:spPr>
        <p:txBody>
          <a:bodyPr wrap="square" rtlCol="0">
            <a:normAutofit/>
          </a:bodyPr>
          <a:lstStyle/>
          <a:p>
            <a:r>
              <a:rPr sz="1400" dirty="0"/>
              <a:t>Review the remaining rows in the threads table</a:t>
            </a:r>
          </a:p>
        </p:txBody>
      </p:sp>
      <p:sp>
        <p:nvSpPr>
          <p:cNvPr id="6" name="Rectangle 5">
            <a:extLst>
              <a:ext uri="{FF2B5EF4-FFF2-40B4-BE49-F238E27FC236}">
                <a16:creationId xmlns:a16="http://schemas.microsoft.com/office/drawing/2014/main" id="{FDD5516B-764B-97C3-52AB-2F7021EDABC7}"/>
              </a:ext>
            </a:extLst>
          </p:cNvPr>
          <p:cNvSpPr/>
          <p:nvPr/>
        </p:nvSpPr>
        <p:spPr>
          <a:xfrm>
            <a:off x="1228533" y="3657118"/>
            <a:ext cx="6543867" cy="24432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2500" lnSpcReduction="20000"/>
          </a:bodyPr>
          <a:lstStyle/>
          <a:p>
            <a:pPr algn="ctr"/>
            <a:endParaRPr lang="en-US"/>
          </a:p>
        </p:txBody>
      </p:sp>
    </p:spTree>
    <p:extLst>
      <p:ext uri="{BB962C8B-B14F-4D97-AF65-F5344CB8AC3E}">
        <p14:creationId xmlns:p14="http://schemas.microsoft.com/office/powerpoint/2010/main" val="4096781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3DBEF7-69BB-FBF8-6E72-769D89E31753}"/>
              </a:ext>
            </a:extLst>
          </p:cNvPr>
          <p:cNvSpPr>
            <a:spLocks noGrp="1"/>
          </p:cNvSpPr>
          <p:nvPr>
            <p:ph type="title"/>
          </p:nvPr>
        </p:nvSpPr>
        <p:spPr/>
        <p:txBody>
          <a:bodyPr wrap="square">
            <a:normAutofit/>
          </a:bodyPr>
          <a:lstStyle/>
          <a:p>
            <a:r>
              <a:rPr sz="3400" dirty="0"/>
              <a:t>Investigate the </a:t>
            </a:r>
            <a:r>
              <a:rPr sz="3400" dirty="0" err="1"/>
              <a:t>pdu</a:t>
            </a:r>
            <a:r>
              <a:rPr sz="3400" dirty="0"/>
              <a:t> table</a:t>
            </a:r>
          </a:p>
        </p:txBody>
      </p:sp>
      <p:sp>
        <p:nvSpPr>
          <p:cNvPr id="4" name="Text Placeholder 3">
            <a:extLst>
              <a:ext uri="{FF2B5EF4-FFF2-40B4-BE49-F238E27FC236}">
                <a16:creationId xmlns:a16="http://schemas.microsoft.com/office/drawing/2014/main" id="{A32E647F-2ADA-BA66-63D3-3E214D1D7503}"/>
              </a:ext>
            </a:extLst>
          </p:cNvPr>
          <p:cNvSpPr>
            <a:spLocks noGrp="1"/>
          </p:cNvSpPr>
          <p:nvPr>
            <p:ph type="body" idx="1"/>
          </p:nvPr>
        </p:nvSpPr>
        <p:spPr/>
        <p:txBody>
          <a:bodyPr wrap="square">
            <a:normAutofit/>
          </a:bodyPr>
          <a:lstStyle/>
          <a:p>
            <a:r>
              <a:rPr sz="1800" dirty="0"/>
              <a:t>Each row represents one MMS message record.</a:t>
            </a:r>
          </a:p>
        </p:txBody>
      </p:sp>
    </p:spTree>
    <p:extLst>
      <p:ext uri="{BB962C8B-B14F-4D97-AF65-F5344CB8AC3E}">
        <p14:creationId xmlns:p14="http://schemas.microsoft.com/office/powerpoint/2010/main" val="32865602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9E8C6F-C834-730A-8D88-19105DB85414}"/>
              </a:ext>
            </a:extLst>
          </p:cNvPr>
          <p:cNvPicPr>
            <a:picLocks noChangeAspect="1"/>
          </p:cNvPicPr>
          <p:nvPr/>
        </p:nvPicPr>
        <p:blipFill>
          <a:blip r:embed="rId2"/>
          <a:stretch>
            <a:fillRect/>
          </a:stretch>
        </p:blipFill>
        <p:spPr>
          <a:xfrm>
            <a:off x="107854" y="0"/>
            <a:ext cx="2784166" cy="6858000"/>
          </a:xfrm>
          <a:prstGeom prst="rect">
            <a:avLst/>
          </a:prstGeom>
        </p:spPr>
      </p:pic>
      <p:graphicFrame>
        <p:nvGraphicFramePr>
          <p:cNvPr id="6" name="Table 5">
            <a:extLst>
              <a:ext uri="{FF2B5EF4-FFF2-40B4-BE49-F238E27FC236}">
                <a16:creationId xmlns:a16="http://schemas.microsoft.com/office/drawing/2014/main" id="{14479305-CAAA-69B0-CD1C-D221879CCC1D}"/>
              </a:ext>
            </a:extLst>
          </p:cNvPr>
          <p:cNvGraphicFramePr>
            <a:graphicFrameLocks noGrp="1"/>
          </p:cNvGraphicFramePr>
          <p:nvPr>
            <p:extLst>
              <p:ext uri="{D42A27DB-BD31-4B8C-83A1-F6EECF244321}">
                <p14:modId xmlns:p14="http://schemas.microsoft.com/office/powerpoint/2010/main" val="37704653"/>
              </p:ext>
            </p:extLst>
          </p:nvPr>
        </p:nvGraphicFramePr>
        <p:xfrm>
          <a:off x="3303351" y="13111"/>
          <a:ext cx="8536783" cy="6831777"/>
        </p:xfrm>
        <a:graphic>
          <a:graphicData uri="http://schemas.openxmlformats.org/drawingml/2006/table">
            <a:tbl>
              <a:tblPr>
                <a:tableStyleId>{5940675A-B579-460E-94D1-54222C63F5DA}</a:tableStyleId>
              </a:tblPr>
              <a:tblGrid>
                <a:gridCol w="1179684">
                  <a:extLst>
                    <a:ext uri="{9D8B030D-6E8A-4147-A177-3AD203B41FA5}">
                      <a16:colId xmlns:a16="http://schemas.microsoft.com/office/drawing/2014/main" val="2219906589"/>
                    </a:ext>
                  </a:extLst>
                </a:gridCol>
                <a:gridCol w="3900253">
                  <a:extLst>
                    <a:ext uri="{9D8B030D-6E8A-4147-A177-3AD203B41FA5}">
                      <a16:colId xmlns:a16="http://schemas.microsoft.com/office/drawing/2014/main" val="2452860942"/>
                    </a:ext>
                  </a:extLst>
                </a:gridCol>
                <a:gridCol w="3456846">
                  <a:extLst>
                    <a:ext uri="{9D8B030D-6E8A-4147-A177-3AD203B41FA5}">
                      <a16:colId xmlns:a16="http://schemas.microsoft.com/office/drawing/2014/main" val="1229793227"/>
                    </a:ext>
                  </a:extLst>
                </a:gridCol>
              </a:tblGrid>
              <a:tr h="101194">
                <a:tc>
                  <a:txBody>
                    <a:bodyPr/>
                    <a:lstStyle/>
                    <a:p>
                      <a:pPr>
                        <a:buNone/>
                      </a:pPr>
                      <a:r>
                        <a:rPr lang="en-US" sz="1100" b="1"/>
                        <a:t>Column</a:t>
                      </a:r>
                    </a:p>
                  </a:txBody>
                  <a:tcPr marL="25298" marR="25298" marT="12649" marB="12649" anchor="ctr"/>
                </a:tc>
                <a:tc>
                  <a:txBody>
                    <a:bodyPr/>
                    <a:lstStyle/>
                    <a:p>
                      <a:pPr>
                        <a:buNone/>
                      </a:pPr>
                      <a:r>
                        <a:rPr lang="en-US" sz="1100" b="1"/>
                        <a:t>Description</a:t>
                      </a:r>
                    </a:p>
                  </a:txBody>
                  <a:tcPr marL="25298" marR="25298" marT="12649" marB="12649" anchor="ctr"/>
                </a:tc>
                <a:tc>
                  <a:txBody>
                    <a:bodyPr/>
                    <a:lstStyle/>
                    <a:p>
                      <a:pPr>
                        <a:buNone/>
                      </a:pPr>
                      <a:r>
                        <a:rPr lang="en-US" sz="1100" b="1" dirty="0"/>
                        <a:t>Example / Notes</a:t>
                      </a:r>
                    </a:p>
                  </a:txBody>
                  <a:tcPr marL="25298" marR="25298" marT="12649" marB="12649" anchor="ctr"/>
                </a:tc>
                <a:extLst>
                  <a:ext uri="{0D108BD9-81ED-4DB2-BD59-A6C34878D82A}">
                    <a16:rowId xmlns:a16="http://schemas.microsoft.com/office/drawing/2014/main" val="2377529299"/>
                  </a:ext>
                </a:extLst>
              </a:tr>
              <a:tr h="101194">
                <a:tc>
                  <a:txBody>
                    <a:bodyPr/>
                    <a:lstStyle/>
                    <a:p>
                      <a:pPr>
                        <a:buNone/>
                      </a:pPr>
                      <a:r>
                        <a:rPr lang="en-US" sz="1100" b="1">
                          <a:highlight>
                            <a:srgbClr val="FFFF00"/>
                          </a:highlight>
                        </a:rPr>
                        <a:t>_id</a:t>
                      </a:r>
                      <a:endParaRPr lang="en-US" sz="1100">
                        <a:highlight>
                          <a:srgbClr val="FFFF00"/>
                        </a:highlight>
                      </a:endParaRPr>
                    </a:p>
                  </a:txBody>
                  <a:tcPr marL="25298" marR="25298" marT="12649" marB="12649" anchor="ctr"/>
                </a:tc>
                <a:tc>
                  <a:txBody>
                    <a:bodyPr/>
                    <a:lstStyle/>
                    <a:p>
                      <a:pPr>
                        <a:buNone/>
                      </a:pPr>
                      <a:r>
                        <a:rPr lang="en-GB" sz="1100">
                          <a:highlight>
                            <a:srgbClr val="FFFF00"/>
                          </a:highlight>
                        </a:rPr>
                        <a:t>Primary key for each MMS message</a:t>
                      </a:r>
                    </a:p>
                  </a:txBody>
                  <a:tcPr marL="25298" marR="25298" marT="12649" marB="12649" anchor="ctr"/>
                </a:tc>
                <a:tc>
                  <a:txBody>
                    <a:bodyPr/>
                    <a:lstStyle/>
                    <a:p>
                      <a:pPr>
                        <a:buNone/>
                      </a:pPr>
                      <a:r>
                        <a:rPr lang="en-US" sz="1100">
                          <a:highlight>
                            <a:srgbClr val="FFFF00"/>
                          </a:highlight>
                        </a:rPr>
                        <a:t>123</a:t>
                      </a:r>
                    </a:p>
                  </a:txBody>
                  <a:tcPr marL="25298" marR="25298" marT="12649" marB="12649" anchor="ctr"/>
                </a:tc>
                <a:extLst>
                  <a:ext uri="{0D108BD9-81ED-4DB2-BD59-A6C34878D82A}">
                    <a16:rowId xmlns:a16="http://schemas.microsoft.com/office/drawing/2014/main" val="4184814779"/>
                  </a:ext>
                </a:extLst>
              </a:tr>
              <a:tr h="177089">
                <a:tc>
                  <a:txBody>
                    <a:bodyPr/>
                    <a:lstStyle/>
                    <a:p>
                      <a:pPr>
                        <a:buNone/>
                      </a:pPr>
                      <a:r>
                        <a:rPr lang="en-US" sz="1100" b="1">
                          <a:highlight>
                            <a:srgbClr val="FFFF00"/>
                          </a:highlight>
                        </a:rPr>
                        <a:t>thread_id</a:t>
                      </a:r>
                      <a:endParaRPr lang="en-US" sz="1100">
                        <a:highlight>
                          <a:srgbClr val="FFFF00"/>
                        </a:highlight>
                      </a:endParaRPr>
                    </a:p>
                  </a:txBody>
                  <a:tcPr marL="25298" marR="25298" marT="12649" marB="12649" anchor="ctr"/>
                </a:tc>
                <a:tc>
                  <a:txBody>
                    <a:bodyPr/>
                    <a:lstStyle/>
                    <a:p>
                      <a:pPr>
                        <a:buNone/>
                      </a:pPr>
                      <a:r>
                        <a:rPr lang="en-GB" sz="1100">
                          <a:highlight>
                            <a:srgbClr val="FFFF00"/>
                          </a:highlight>
                        </a:rPr>
                        <a:t>Conversation ID (links to threads table)</a:t>
                      </a:r>
                    </a:p>
                  </a:txBody>
                  <a:tcPr marL="25298" marR="25298" marT="12649" marB="12649" anchor="ctr"/>
                </a:tc>
                <a:tc>
                  <a:txBody>
                    <a:bodyPr/>
                    <a:lstStyle/>
                    <a:p>
                      <a:pPr>
                        <a:buNone/>
                      </a:pPr>
                      <a:r>
                        <a:rPr lang="en-US" sz="1100" dirty="0">
                          <a:highlight>
                            <a:srgbClr val="FFFF00"/>
                          </a:highlight>
                        </a:rPr>
                        <a:t>7</a:t>
                      </a:r>
                    </a:p>
                  </a:txBody>
                  <a:tcPr marL="25298" marR="25298" marT="12649" marB="12649" anchor="ctr"/>
                </a:tc>
                <a:extLst>
                  <a:ext uri="{0D108BD9-81ED-4DB2-BD59-A6C34878D82A}">
                    <a16:rowId xmlns:a16="http://schemas.microsoft.com/office/drawing/2014/main" val="626626233"/>
                  </a:ext>
                </a:extLst>
              </a:tr>
              <a:tr h="177089">
                <a:tc>
                  <a:txBody>
                    <a:bodyPr/>
                    <a:lstStyle/>
                    <a:p>
                      <a:pPr>
                        <a:buNone/>
                      </a:pPr>
                      <a:r>
                        <a:rPr lang="en-US" sz="1100" b="1">
                          <a:highlight>
                            <a:srgbClr val="FFFF00"/>
                          </a:highlight>
                        </a:rPr>
                        <a:t>date</a:t>
                      </a:r>
                      <a:endParaRPr lang="en-US" sz="1100">
                        <a:highlight>
                          <a:srgbClr val="FFFF00"/>
                        </a:highlight>
                      </a:endParaRPr>
                    </a:p>
                  </a:txBody>
                  <a:tcPr marL="25298" marR="25298" marT="12649" marB="12649" anchor="ctr"/>
                </a:tc>
                <a:tc>
                  <a:txBody>
                    <a:bodyPr/>
                    <a:lstStyle/>
                    <a:p>
                      <a:pPr>
                        <a:buNone/>
                      </a:pPr>
                      <a:r>
                        <a:rPr lang="en-GB" sz="1100">
                          <a:highlight>
                            <a:srgbClr val="FFFF00"/>
                          </a:highlight>
                        </a:rPr>
                        <a:t>Time message was received (seconds since epoch)</a:t>
                      </a:r>
                    </a:p>
                  </a:txBody>
                  <a:tcPr marL="25298" marR="25298" marT="12649" marB="12649" anchor="ctr"/>
                </a:tc>
                <a:tc>
                  <a:txBody>
                    <a:bodyPr/>
                    <a:lstStyle/>
                    <a:p>
                      <a:pPr>
                        <a:buNone/>
                      </a:pPr>
                      <a:r>
                        <a:rPr lang="en-US" sz="1100" dirty="0">
                          <a:highlight>
                            <a:srgbClr val="FFFF00"/>
                          </a:highlight>
                        </a:rPr>
                        <a:t>1697571600</a:t>
                      </a:r>
                    </a:p>
                  </a:txBody>
                  <a:tcPr marL="25298" marR="25298" marT="12649" marB="12649" anchor="ctr"/>
                </a:tc>
                <a:extLst>
                  <a:ext uri="{0D108BD9-81ED-4DB2-BD59-A6C34878D82A}">
                    <a16:rowId xmlns:a16="http://schemas.microsoft.com/office/drawing/2014/main" val="1058803459"/>
                  </a:ext>
                </a:extLst>
              </a:tr>
              <a:tr h="177089">
                <a:tc>
                  <a:txBody>
                    <a:bodyPr/>
                    <a:lstStyle/>
                    <a:p>
                      <a:pPr>
                        <a:buNone/>
                      </a:pPr>
                      <a:r>
                        <a:rPr lang="en-US" sz="1100" b="1"/>
                        <a:t>date_ms_part</a:t>
                      </a:r>
                      <a:endParaRPr lang="en-US" sz="1100"/>
                    </a:p>
                  </a:txBody>
                  <a:tcPr marL="25298" marR="25298" marT="12649" marB="12649" anchor="ctr"/>
                </a:tc>
                <a:tc>
                  <a:txBody>
                    <a:bodyPr/>
                    <a:lstStyle/>
                    <a:p>
                      <a:pPr>
                        <a:buNone/>
                      </a:pPr>
                      <a:r>
                        <a:rPr lang="en-GB" sz="1100"/>
                        <a:t>Millisecond offset (for more precise timing)</a:t>
                      </a:r>
                    </a:p>
                  </a:txBody>
                  <a:tcPr marL="25298" marR="25298" marT="12649" marB="12649" anchor="ctr"/>
                </a:tc>
                <a:tc>
                  <a:txBody>
                    <a:bodyPr/>
                    <a:lstStyle/>
                    <a:p>
                      <a:pPr>
                        <a:buNone/>
                      </a:pPr>
                      <a:r>
                        <a:rPr lang="en-US" sz="1100"/>
                        <a:t>823</a:t>
                      </a:r>
                    </a:p>
                  </a:txBody>
                  <a:tcPr marL="25298" marR="25298" marT="12649" marB="12649" anchor="ctr"/>
                </a:tc>
                <a:extLst>
                  <a:ext uri="{0D108BD9-81ED-4DB2-BD59-A6C34878D82A}">
                    <a16:rowId xmlns:a16="http://schemas.microsoft.com/office/drawing/2014/main" val="2422512969"/>
                  </a:ext>
                </a:extLst>
              </a:tr>
              <a:tr h="252985">
                <a:tc>
                  <a:txBody>
                    <a:bodyPr/>
                    <a:lstStyle/>
                    <a:p>
                      <a:pPr>
                        <a:buNone/>
                      </a:pPr>
                      <a:r>
                        <a:rPr lang="en-US" sz="1100" b="1">
                          <a:highlight>
                            <a:srgbClr val="FFFF00"/>
                          </a:highlight>
                        </a:rPr>
                        <a:t>msg_box</a:t>
                      </a:r>
                      <a:endParaRPr lang="en-US" sz="1100">
                        <a:highlight>
                          <a:srgbClr val="FFFF00"/>
                        </a:highlight>
                      </a:endParaRPr>
                    </a:p>
                  </a:txBody>
                  <a:tcPr marL="25298" marR="25298" marT="12649" marB="12649" anchor="ctr"/>
                </a:tc>
                <a:tc>
                  <a:txBody>
                    <a:bodyPr/>
                    <a:lstStyle/>
                    <a:p>
                      <a:pPr>
                        <a:buNone/>
                      </a:pPr>
                      <a:r>
                        <a:rPr lang="en-GB" sz="1100">
                          <a:highlight>
                            <a:srgbClr val="FFFF00"/>
                          </a:highlight>
                        </a:rPr>
                        <a:t>Message box type:1 = inbox (received)2 = sent3 = draft4 = outbox</a:t>
                      </a:r>
                    </a:p>
                  </a:txBody>
                  <a:tcPr marL="25298" marR="25298" marT="12649" marB="12649" anchor="ctr"/>
                </a:tc>
                <a:tc>
                  <a:txBody>
                    <a:bodyPr/>
                    <a:lstStyle/>
                    <a:p>
                      <a:pPr>
                        <a:buNone/>
                      </a:pPr>
                      <a:r>
                        <a:rPr lang="en-US" sz="1100" dirty="0">
                          <a:highlight>
                            <a:srgbClr val="FFFF00"/>
                          </a:highlight>
                        </a:rPr>
                        <a:t>1</a:t>
                      </a:r>
                    </a:p>
                  </a:txBody>
                  <a:tcPr marL="25298" marR="25298" marT="12649" marB="12649" anchor="ctr"/>
                </a:tc>
                <a:extLst>
                  <a:ext uri="{0D108BD9-81ED-4DB2-BD59-A6C34878D82A}">
                    <a16:rowId xmlns:a16="http://schemas.microsoft.com/office/drawing/2014/main" val="1721327287"/>
                  </a:ext>
                </a:extLst>
              </a:tr>
              <a:tr h="101194">
                <a:tc>
                  <a:txBody>
                    <a:bodyPr/>
                    <a:lstStyle/>
                    <a:p>
                      <a:pPr>
                        <a:buNone/>
                      </a:pPr>
                      <a:r>
                        <a:rPr lang="en-US" sz="1100" b="1"/>
                        <a:t>read</a:t>
                      </a:r>
                      <a:endParaRPr lang="en-US" sz="1100"/>
                    </a:p>
                  </a:txBody>
                  <a:tcPr marL="25298" marR="25298" marT="12649" marB="12649" anchor="ctr"/>
                </a:tc>
                <a:tc>
                  <a:txBody>
                    <a:bodyPr/>
                    <a:lstStyle/>
                    <a:p>
                      <a:pPr>
                        <a:buNone/>
                      </a:pPr>
                      <a:r>
                        <a:rPr lang="en-US" sz="1100"/>
                        <a:t>1 = read, 0 = unread</a:t>
                      </a:r>
                    </a:p>
                  </a:txBody>
                  <a:tcPr marL="25298" marR="25298" marT="12649" marB="12649" anchor="ctr"/>
                </a:tc>
                <a:tc>
                  <a:txBody>
                    <a:bodyPr/>
                    <a:lstStyle/>
                    <a:p>
                      <a:pPr>
                        <a:buNone/>
                      </a:pPr>
                      <a:r>
                        <a:rPr lang="en-US" sz="1100"/>
                        <a:t>1</a:t>
                      </a:r>
                    </a:p>
                  </a:txBody>
                  <a:tcPr marL="25298" marR="25298" marT="12649" marB="12649" anchor="ctr"/>
                </a:tc>
                <a:extLst>
                  <a:ext uri="{0D108BD9-81ED-4DB2-BD59-A6C34878D82A}">
                    <a16:rowId xmlns:a16="http://schemas.microsoft.com/office/drawing/2014/main" val="1969944297"/>
                  </a:ext>
                </a:extLst>
              </a:tr>
              <a:tr h="101194">
                <a:tc>
                  <a:txBody>
                    <a:bodyPr/>
                    <a:lstStyle/>
                    <a:p>
                      <a:pPr>
                        <a:buNone/>
                      </a:pPr>
                      <a:r>
                        <a:rPr lang="en-US" sz="1100" b="1"/>
                        <a:t>m_id</a:t>
                      </a:r>
                      <a:endParaRPr lang="en-US" sz="1100"/>
                    </a:p>
                  </a:txBody>
                  <a:tcPr marL="25298" marR="25298" marT="12649" marB="12649" anchor="ctr"/>
                </a:tc>
                <a:tc>
                  <a:txBody>
                    <a:bodyPr/>
                    <a:lstStyle/>
                    <a:p>
                      <a:pPr>
                        <a:buNone/>
                      </a:pPr>
                      <a:r>
                        <a:rPr lang="en-US" sz="1100"/>
                        <a:t>Message-ID from MMS headers</a:t>
                      </a:r>
                    </a:p>
                  </a:txBody>
                  <a:tcPr marL="25298" marR="25298" marT="12649" marB="12649" anchor="ctr"/>
                </a:tc>
                <a:tc>
                  <a:txBody>
                    <a:bodyPr/>
                    <a:lstStyle/>
                    <a:p>
                      <a:pPr>
                        <a:buNone/>
                      </a:pPr>
                      <a:r>
                        <a:rPr lang="en-US" sz="1100"/>
                        <a:t>&lt;abc123@carrier.com&gt;</a:t>
                      </a:r>
                    </a:p>
                  </a:txBody>
                  <a:tcPr marL="25298" marR="25298" marT="12649" marB="12649" anchor="ctr"/>
                </a:tc>
                <a:extLst>
                  <a:ext uri="{0D108BD9-81ED-4DB2-BD59-A6C34878D82A}">
                    <a16:rowId xmlns:a16="http://schemas.microsoft.com/office/drawing/2014/main" val="965278733"/>
                  </a:ext>
                </a:extLst>
              </a:tr>
              <a:tr h="101194">
                <a:tc>
                  <a:txBody>
                    <a:bodyPr/>
                    <a:lstStyle/>
                    <a:p>
                      <a:pPr>
                        <a:buNone/>
                      </a:pPr>
                      <a:r>
                        <a:rPr lang="en-US" sz="1100" b="1"/>
                        <a:t>sub</a:t>
                      </a:r>
                      <a:endParaRPr lang="en-US" sz="1100"/>
                    </a:p>
                  </a:txBody>
                  <a:tcPr marL="25298" marR="25298" marT="12649" marB="12649" anchor="ctr"/>
                </a:tc>
                <a:tc>
                  <a:txBody>
                    <a:bodyPr/>
                    <a:lstStyle/>
                    <a:p>
                      <a:pPr>
                        <a:buNone/>
                      </a:pPr>
                      <a:r>
                        <a:rPr lang="en-GB" sz="1100"/>
                        <a:t>Subject (encoded, may be null)</a:t>
                      </a:r>
                    </a:p>
                  </a:txBody>
                  <a:tcPr marL="25298" marR="25298" marT="12649" marB="12649" anchor="ctr"/>
                </a:tc>
                <a:tc>
                  <a:txBody>
                    <a:bodyPr/>
                    <a:lstStyle/>
                    <a:p>
                      <a:pPr>
                        <a:buNone/>
                      </a:pPr>
                      <a:r>
                        <a:rPr lang="en-US" sz="1100"/>
                        <a:t>“Photo”</a:t>
                      </a:r>
                    </a:p>
                  </a:txBody>
                  <a:tcPr marL="25298" marR="25298" marT="12649" marB="12649" anchor="ctr"/>
                </a:tc>
                <a:extLst>
                  <a:ext uri="{0D108BD9-81ED-4DB2-BD59-A6C34878D82A}">
                    <a16:rowId xmlns:a16="http://schemas.microsoft.com/office/drawing/2014/main" val="3451710209"/>
                  </a:ext>
                </a:extLst>
              </a:tr>
              <a:tr h="101194">
                <a:tc>
                  <a:txBody>
                    <a:bodyPr/>
                    <a:lstStyle/>
                    <a:p>
                      <a:pPr>
                        <a:buNone/>
                      </a:pPr>
                      <a:r>
                        <a:rPr lang="en-US" sz="1100" b="1"/>
                        <a:t>sub_cs</a:t>
                      </a:r>
                      <a:endParaRPr lang="en-US" sz="1100"/>
                    </a:p>
                  </a:txBody>
                  <a:tcPr marL="25298" marR="25298" marT="12649" marB="12649" anchor="ctr"/>
                </a:tc>
                <a:tc>
                  <a:txBody>
                    <a:bodyPr/>
                    <a:lstStyle/>
                    <a:p>
                      <a:pPr>
                        <a:buNone/>
                      </a:pPr>
                      <a:r>
                        <a:rPr lang="en-US" sz="1100"/>
                        <a:t>Character set for subject</a:t>
                      </a:r>
                    </a:p>
                  </a:txBody>
                  <a:tcPr marL="25298" marR="25298" marT="12649" marB="12649" anchor="ctr"/>
                </a:tc>
                <a:tc>
                  <a:txBody>
                    <a:bodyPr/>
                    <a:lstStyle/>
                    <a:p>
                      <a:pPr>
                        <a:buNone/>
                      </a:pPr>
                      <a:r>
                        <a:rPr lang="en-US" sz="1100" dirty="0"/>
                        <a:t>106</a:t>
                      </a:r>
                    </a:p>
                  </a:txBody>
                  <a:tcPr marL="25298" marR="25298" marT="12649" marB="12649" anchor="ctr"/>
                </a:tc>
                <a:extLst>
                  <a:ext uri="{0D108BD9-81ED-4DB2-BD59-A6C34878D82A}">
                    <a16:rowId xmlns:a16="http://schemas.microsoft.com/office/drawing/2014/main" val="1711094179"/>
                  </a:ext>
                </a:extLst>
              </a:tr>
              <a:tr h="177089">
                <a:tc>
                  <a:txBody>
                    <a:bodyPr/>
                    <a:lstStyle/>
                    <a:p>
                      <a:pPr>
                        <a:buNone/>
                      </a:pPr>
                      <a:r>
                        <a:rPr lang="en-US" sz="1100" b="1"/>
                        <a:t>ct_t</a:t>
                      </a:r>
                      <a:endParaRPr lang="en-US" sz="1100"/>
                    </a:p>
                  </a:txBody>
                  <a:tcPr marL="25298" marR="25298" marT="12649" marB="12649" anchor="ctr"/>
                </a:tc>
                <a:tc>
                  <a:txBody>
                    <a:bodyPr/>
                    <a:lstStyle/>
                    <a:p>
                      <a:pPr>
                        <a:buNone/>
                      </a:pPr>
                      <a:r>
                        <a:rPr lang="en-GB" sz="1100"/>
                        <a:t>Content type (MIME type of whole MMS)</a:t>
                      </a:r>
                    </a:p>
                  </a:txBody>
                  <a:tcPr marL="25298" marR="25298" marT="12649" marB="12649" anchor="ctr"/>
                </a:tc>
                <a:tc>
                  <a:txBody>
                    <a:bodyPr/>
                    <a:lstStyle/>
                    <a:p>
                      <a:pPr>
                        <a:buNone/>
                      </a:pPr>
                      <a:r>
                        <a:rPr lang="en-US" sz="1100"/>
                        <a:t>“application/vnd.wap.multipart.related”</a:t>
                      </a:r>
                    </a:p>
                  </a:txBody>
                  <a:tcPr marL="25298" marR="25298" marT="12649" marB="12649" anchor="ctr"/>
                </a:tc>
                <a:extLst>
                  <a:ext uri="{0D108BD9-81ED-4DB2-BD59-A6C34878D82A}">
                    <a16:rowId xmlns:a16="http://schemas.microsoft.com/office/drawing/2014/main" val="1274125061"/>
                  </a:ext>
                </a:extLst>
              </a:tr>
              <a:tr h="101194">
                <a:tc>
                  <a:txBody>
                    <a:bodyPr/>
                    <a:lstStyle/>
                    <a:p>
                      <a:pPr>
                        <a:buNone/>
                      </a:pPr>
                      <a:r>
                        <a:rPr lang="en-US" sz="1100" b="1"/>
                        <a:t>ct_l</a:t>
                      </a:r>
                      <a:endParaRPr lang="en-US" sz="1100"/>
                    </a:p>
                  </a:txBody>
                  <a:tcPr marL="25298" marR="25298" marT="12649" marB="12649" anchor="ctr"/>
                </a:tc>
                <a:tc>
                  <a:txBody>
                    <a:bodyPr/>
                    <a:lstStyle/>
                    <a:p>
                      <a:pPr>
                        <a:buNone/>
                      </a:pPr>
                      <a:r>
                        <a:rPr lang="en-US" sz="1100"/>
                        <a:t>Content location</a:t>
                      </a:r>
                    </a:p>
                  </a:txBody>
                  <a:tcPr marL="25298" marR="25298" marT="12649" marB="12649" anchor="ctr"/>
                </a:tc>
                <a:tc>
                  <a:txBody>
                    <a:bodyPr/>
                    <a:lstStyle/>
                    <a:p>
                      <a:pPr>
                        <a:buNone/>
                      </a:pPr>
                      <a:r>
                        <a:rPr lang="en-US" sz="1100"/>
                        <a:t>“mms1234.dat”</a:t>
                      </a:r>
                    </a:p>
                  </a:txBody>
                  <a:tcPr marL="25298" marR="25298" marT="12649" marB="12649" anchor="ctr"/>
                </a:tc>
                <a:extLst>
                  <a:ext uri="{0D108BD9-81ED-4DB2-BD59-A6C34878D82A}">
                    <a16:rowId xmlns:a16="http://schemas.microsoft.com/office/drawing/2014/main" val="810877675"/>
                  </a:ext>
                </a:extLst>
              </a:tr>
              <a:tr h="177089">
                <a:tc>
                  <a:txBody>
                    <a:bodyPr/>
                    <a:lstStyle/>
                    <a:p>
                      <a:pPr>
                        <a:buNone/>
                      </a:pPr>
                      <a:r>
                        <a:rPr lang="en-US" sz="1100" b="1"/>
                        <a:t>exp</a:t>
                      </a:r>
                      <a:endParaRPr lang="en-US" sz="1100"/>
                    </a:p>
                  </a:txBody>
                  <a:tcPr marL="25298" marR="25298" marT="12649" marB="12649" anchor="ctr"/>
                </a:tc>
                <a:tc>
                  <a:txBody>
                    <a:bodyPr/>
                    <a:lstStyle/>
                    <a:p>
                      <a:pPr>
                        <a:buNone/>
                      </a:pPr>
                      <a:r>
                        <a:rPr lang="en-GB" sz="1100"/>
                        <a:t>Expiry time (in seconds since epoch)</a:t>
                      </a:r>
                    </a:p>
                  </a:txBody>
                  <a:tcPr marL="25298" marR="25298" marT="12649" marB="12649" anchor="ctr"/>
                </a:tc>
                <a:tc>
                  <a:txBody>
                    <a:bodyPr/>
                    <a:lstStyle/>
                    <a:p>
                      <a:pPr>
                        <a:buNone/>
                      </a:pPr>
                      <a:r>
                        <a:rPr lang="en-US" sz="1100" dirty="0"/>
                        <a:t>1698000000</a:t>
                      </a:r>
                    </a:p>
                  </a:txBody>
                  <a:tcPr marL="25298" marR="25298" marT="12649" marB="12649" anchor="ctr"/>
                </a:tc>
                <a:extLst>
                  <a:ext uri="{0D108BD9-81ED-4DB2-BD59-A6C34878D82A}">
                    <a16:rowId xmlns:a16="http://schemas.microsoft.com/office/drawing/2014/main" val="4272688609"/>
                  </a:ext>
                </a:extLst>
              </a:tr>
              <a:tr h="101194">
                <a:tc>
                  <a:txBody>
                    <a:bodyPr/>
                    <a:lstStyle/>
                    <a:p>
                      <a:pPr>
                        <a:buNone/>
                      </a:pPr>
                      <a:r>
                        <a:rPr lang="en-US" sz="1100" b="1"/>
                        <a:t>m_cls</a:t>
                      </a:r>
                      <a:endParaRPr lang="en-US" sz="1100"/>
                    </a:p>
                  </a:txBody>
                  <a:tcPr marL="25298" marR="25298" marT="12649" marB="12649" anchor="ctr"/>
                </a:tc>
                <a:tc>
                  <a:txBody>
                    <a:bodyPr/>
                    <a:lstStyle/>
                    <a:p>
                      <a:pPr>
                        <a:buNone/>
                      </a:pPr>
                      <a:r>
                        <a:rPr lang="en-US" sz="1100"/>
                        <a:t>Message class</a:t>
                      </a:r>
                    </a:p>
                  </a:txBody>
                  <a:tcPr marL="25298" marR="25298" marT="12649" marB="12649" anchor="ctr"/>
                </a:tc>
                <a:tc>
                  <a:txBody>
                    <a:bodyPr/>
                    <a:lstStyle/>
                    <a:p>
                      <a:pPr>
                        <a:buNone/>
                      </a:pPr>
                      <a:r>
                        <a:rPr lang="en-US" sz="1100"/>
                        <a:t>“personal”, “advertisement”, etc.</a:t>
                      </a:r>
                    </a:p>
                  </a:txBody>
                  <a:tcPr marL="25298" marR="25298" marT="12649" marB="12649" anchor="ctr"/>
                </a:tc>
                <a:extLst>
                  <a:ext uri="{0D108BD9-81ED-4DB2-BD59-A6C34878D82A}">
                    <a16:rowId xmlns:a16="http://schemas.microsoft.com/office/drawing/2014/main" val="4252439748"/>
                  </a:ext>
                </a:extLst>
              </a:tr>
              <a:tr h="404776">
                <a:tc>
                  <a:txBody>
                    <a:bodyPr/>
                    <a:lstStyle/>
                    <a:p>
                      <a:pPr>
                        <a:buNone/>
                      </a:pPr>
                      <a:r>
                        <a:rPr lang="en-US" sz="1100" b="1">
                          <a:highlight>
                            <a:srgbClr val="FFFF00"/>
                          </a:highlight>
                        </a:rPr>
                        <a:t>m_type</a:t>
                      </a:r>
                      <a:endParaRPr lang="en-US" sz="1100">
                        <a:highlight>
                          <a:srgbClr val="FFFF00"/>
                        </a:highlight>
                      </a:endParaRPr>
                    </a:p>
                  </a:txBody>
                  <a:tcPr marL="25298" marR="25298" marT="12649" marB="12649" anchor="ctr"/>
                </a:tc>
                <a:tc>
                  <a:txBody>
                    <a:bodyPr/>
                    <a:lstStyle/>
                    <a:p>
                      <a:pPr>
                        <a:buNone/>
                      </a:pPr>
                      <a:r>
                        <a:rPr lang="en-US" sz="1100" dirty="0">
                          <a:highlight>
                            <a:srgbClr val="FFFF00"/>
                          </a:highlight>
                        </a:rPr>
                        <a:t>Message type:128 = send request 132 = retrieve confirmation 130 = delivery indication134 = notification indication, etc.</a:t>
                      </a:r>
                    </a:p>
                  </a:txBody>
                  <a:tcPr marL="25298" marR="25298" marT="12649" marB="12649" anchor="ctr"/>
                </a:tc>
                <a:tc>
                  <a:txBody>
                    <a:bodyPr/>
                    <a:lstStyle/>
                    <a:p>
                      <a:pPr>
                        <a:buNone/>
                      </a:pPr>
                      <a:r>
                        <a:rPr lang="en-US" sz="1100" dirty="0">
                          <a:highlight>
                            <a:srgbClr val="FFFF00"/>
                          </a:highlight>
                        </a:rPr>
                        <a:t>132</a:t>
                      </a:r>
                    </a:p>
                  </a:txBody>
                  <a:tcPr marL="25298" marR="25298" marT="12649" marB="12649" anchor="ctr"/>
                </a:tc>
                <a:extLst>
                  <a:ext uri="{0D108BD9-81ED-4DB2-BD59-A6C34878D82A}">
                    <a16:rowId xmlns:a16="http://schemas.microsoft.com/office/drawing/2014/main" val="770536148"/>
                  </a:ext>
                </a:extLst>
              </a:tr>
              <a:tr h="101194">
                <a:tc>
                  <a:txBody>
                    <a:bodyPr/>
                    <a:lstStyle/>
                    <a:p>
                      <a:pPr>
                        <a:buNone/>
                      </a:pPr>
                      <a:r>
                        <a:rPr lang="en-US" sz="1100" b="1"/>
                        <a:t>v</a:t>
                      </a:r>
                      <a:endParaRPr lang="en-US" sz="1100"/>
                    </a:p>
                  </a:txBody>
                  <a:tcPr marL="25298" marR="25298" marT="12649" marB="12649" anchor="ctr"/>
                </a:tc>
                <a:tc>
                  <a:txBody>
                    <a:bodyPr/>
                    <a:lstStyle/>
                    <a:p>
                      <a:pPr>
                        <a:buNone/>
                      </a:pPr>
                      <a:r>
                        <a:rPr lang="en-US" sz="1100"/>
                        <a:t>MMS version</a:t>
                      </a:r>
                    </a:p>
                  </a:txBody>
                  <a:tcPr marL="25298" marR="25298" marT="12649" marB="12649" anchor="ctr"/>
                </a:tc>
                <a:tc>
                  <a:txBody>
                    <a:bodyPr/>
                    <a:lstStyle/>
                    <a:p>
                      <a:pPr>
                        <a:buNone/>
                      </a:pPr>
                      <a:r>
                        <a:rPr lang="en-US" sz="1100" dirty="0"/>
                        <a:t>18</a:t>
                      </a:r>
                    </a:p>
                  </a:txBody>
                  <a:tcPr marL="25298" marR="25298" marT="12649" marB="12649" anchor="ctr"/>
                </a:tc>
                <a:extLst>
                  <a:ext uri="{0D108BD9-81ED-4DB2-BD59-A6C34878D82A}">
                    <a16:rowId xmlns:a16="http://schemas.microsoft.com/office/drawing/2014/main" val="3282997933"/>
                  </a:ext>
                </a:extLst>
              </a:tr>
              <a:tr h="101194">
                <a:tc>
                  <a:txBody>
                    <a:bodyPr/>
                    <a:lstStyle/>
                    <a:p>
                      <a:pPr>
                        <a:buNone/>
                      </a:pPr>
                      <a:r>
                        <a:rPr lang="en-US" sz="1100" b="1"/>
                        <a:t>m_size</a:t>
                      </a:r>
                      <a:endParaRPr lang="en-US" sz="1100"/>
                    </a:p>
                  </a:txBody>
                  <a:tcPr marL="25298" marR="25298" marT="12649" marB="12649" anchor="ctr"/>
                </a:tc>
                <a:tc>
                  <a:txBody>
                    <a:bodyPr/>
                    <a:lstStyle/>
                    <a:p>
                      <a:pPr>
                        <a:buNone/>
                      </a:pPr>
                      <a:r>
                        <a:rPr lang="en-US" sz="1100"/>
                        <a:t>Total message size (bytes)</a:t>
                      </a:r>
                    </a:p>
                  </a:txBody>
                  <a:tcPr marL="25298" marR="25298" marT="12649" marB="12649" anchor="ctr"/>
                </a:tc>
                <a:tc>
                  <a:txBody>
                    <a:bodyPr/>
                    <a:lstStyle/>
                    <a:p>
                      <a:pPr>
                        <a:buNone/>
                      </a:pPr>
                      <a:r>
                        <a:rPr lang="en-US" sz="1100"/>
                        <a:t>10240</a:t>
                      </a:r>
                    </a:p>
                  </a:txBody>
                  <a:tcPr marL="25298" marR="25298" marT="12649" marB="12649" anchor="ctr"/>
                </a:tc>
                <a:extLst>
                  <a:ext uri="{0D108BD9-81ED-4DB2-BD59-A6C34878D82A}">
                    <a16:rowId xmlns:a16="http://schemas.microsoft.com/office/drawing/2014/main" val="2182370889"/>
                  </a:ext>
                </a:extLst>
              </a:tr>
              <a:tr h="177089">
                <a:tc>
                  <a:txBody>
                    <a:bodyPr/>
                    <a:lstStyle/>
                    <a:p>
                      <a:pPr>
                        <a:buNone/>
                      </a:pPr>
                      <a:r>
                        <a:rPr lang="en-US" sz="1100" b="1"/>
                        <a:t>pri</a:t>
                      </a:r>
                      <a:endParaRPr lang="en-US" sz="1100"/>
                    </a:p>
                  </a:txBody>
                  <a:tcPr marL="25298" marR="25298" marT="12649" marB="12649" anchor="ctr"/>
                </a:tc>
                <a:tc>
                  <a:txBody>
                    <a:bodyPr/>
                    <a:lstStyle/>
                    <a:p>
                      <a:pPr>
                        <a:buNone/>
                      </a:pPr>
                      <a:r>
                        <a:rPr lang="en-GB" sz="1100"/>
                        <a:t>Priority: 129 = low, 130 = normal, 131 = high</a:t>
                      </a:r>
                    </a:p>
                  </a:txBody>
                  <a:tcPr marL="25298" marR="25298" marT="12649" marB="12649" anchor="ctr"/>
                </a:tc>
                <a:tc>
                  <a:txBody>
                    <a:bodyPr/>
                    <a:lstStyle/>
                    <a:p>
                      <a:pPr>
                        <a:buNone/>
                      </a:pPr>
                      <a:r>
                        <a:rPr lang="en-US" sz="1100"/>
                        <a:t>130</a:t>
                      </a:r>
                    </a:p>
                  </a:txBody>
                  <a:tcPr marL="25298" marR="25298" marT="12649" marB="12649" anchor="ctr"/>
                </a:tc>
                <a:extLst>
                  <a:ext uri="{0D108BD9-81ED-4DB2-BD59-A6C34878D82A}">
                    <a16:rowId xmlns:a16="http://schemas.microsoft.com/office/drawing/2014/main" val="1873483118"/>
                  </a:ext>
                </a:extLst>
              </a:tr>
              <a:tr h="101194">
                <a:tc>
                  <a:txBody>
                    <a:bodyPr/>
                    <a:lstStyle/>
                    <a:p>
                      <a:pPr>
                        <a:buNone/>
                      </a:pPr>
                      <a:r>
                        <a:rPr lang="en-US" sz="1100" b="1"/>
                        <a:t>rr</a:t>
                      </a:r>
                      <a:endParaRPr lang="en-US" sz="1100"/>
                    </a:p>
                  </a:txBody>
                  <a:tcPr marL="25298" marR="25298" marT="12649" marB="12649" anchor="ctr"/>
                </a:tc>
                <a:tc>
                  <a:txBody>
                    <a:bodyPr/>
                    <a:lstStyle/>
                    <a:p>
                      <a:pPr>
                        <a:buNone/>
                      </a:pPr>
                      <a:r>
                        <a:rPr lang="en-GB" sz="1100"/>
                        <a:t>Read report requested (1=yes)</a:t>
                      </a:r>
                    </a:p>
                  </a:txBody>
                  <a:tcPr marL="25298" marR="25298" marT="12649" marB="12649" anchor="ctr"/>
                </a:tc>
                <a:tc>
                  <a:txBody>
                    <a:bodyPr/>
                    <a:lstStyle/>
                    <a:p>
                      <a:pPr>
                        <a:buNone/>
                      </a:pPr>
                      <a:r>
                        <a:rPr lang="en-US" sz="1100"/>
                        <a:t>0</a:t>
                      </a:r>
                    </a:p>
                  </a:txBody>
                  <a:tcPr marL="25298" marR="25298" marT="12649" marB="12649" anchor="ctr"/>
                </a:tc>
                <a:extLst>
                  <a:ext uri="{0D108BD9-81ED-4DB2-BD59-A6C34878D82A}">
                    <a16:rowId xmlns:a16="http://schemas.microsoft.com/office/drawing/2014/main" val="2730109541"/>
                  </a:ext>
                </a:extLst>
              </a:tr>
              <a:tr h="101194">
                <a:tc>
                  <a:txBody>
                    <a:bodyPr/>
                    <a:lstStyle/>
                    <a:p>
                      <a:pPr>
                        <a:buNone/>
                      </a:pPr>
                      <a:r>
                        <a:rPr lang="en-US" sz="1100" b="1"/>
                        <a:t>rpt_a</a:t>
                      </a:r>
                      <a:endParaRPr lang="en-US" sz="1100"/>
                    </a:p>
                  </a:txBody>
                  <a:tcPr marL="25298" marR="25298" marT="12649" marB="12649" anchor="ctr"/>
                </a:tc>
                <a:tc>
                  <a:txBody>
                    <a:bodyPr/>
                    <a:lstStyle/>
                    <a:p>
                      <a:pPr>
                        <a:buNone/>
                      </a:pPr>
                      <a:r>
                        <a:rPr lang="en-US" sz="1100"/>
                        <a:t>Report allowed</a:t>
                      </a:r>
                    </a:p>
                  </a:txBody>
                  <a:tcPr marL="25298" marR="25298" marT="12649" marB="12649" anchor="ctr"/>
                </a:tc>
                <a:tc>
                  <a:txBody>
                    <a:bodyPr/>
                    <a:lstStyle/>
                    <a:p>
                      <a:pPr>
                        <a:buNone/>
                      </a:pPr>
                      <a:r>
                        <a:rPr lang="en-US" sz="1100"/>
                        <a:t>1</a:t>
                      </a:r>
                    </a:p>
                  </a:txBody>
                  <a:tcPr marL="25298" marR="25298" marT="12649" marB="12649" anchor="ctr"/>
                </a:tc>
                <a:extLst>
                  <a:ext uri="{0D108BD9-81ED-4DB2-BD59-A6C34878D82A}">
                    <a16:rowId xmlns:a16="http://schemas.microsoft.com/office/drawing/2014/main" val="1317737556"/>
                  </a:ext>
                </a:extLst>
              </a:tr>
              <a:tr h="101194">
                <a:tc>
                  <a:txBody>
                    <a:bodyPr/>
                    <a:lstStyle/>
                    <a:p>
                      <a:pPr>
                        <a:buNone/>
                      </a:pPr>
                      <a:r>
                        <a:rPr lang="en-US" sz="1100" b="1"/>
                        <a:t>resp_st</a:t>
                      </a:r>
                      <a:endParaRPr lang="en-US" sz="1100"/>
                    </a:p>
                  </a:txBody>
                  <a:tcPr marL="25298" marR="25298" marT="12649" marB="12649" anchor="ctr"/>
                </a:tc>
                <a:tc>
                  <a:txBody>
                    <a:bodyPr/>
                    <a:lstStyle/>
                    <a:p>
                      <a:pPr>
                        <a:buNone/>
                      </a:pPr>
                      <a:r>
                        <a:rPr lang="en-US" sz="1100"/>
                        <a:t>Response status</a:t>
                      </a:r>
                    </a:p>
                  </a:txBody>
                  <a:tcPr marL="25298" marR="25298" marT="12649" marB="12649" anchor="ctr"/>
                </a:tc>
                <a:tc>
                  <a:txBody>
                    <a:bodyPr/>
                    <a:lstStyle/>
                    <a:p>
                      <a:pPr>
                        <a:buNone/>
                      </a:pPr>
                      <a:r>
                        <a:rPr lang="en-US" sz="1100"/>
                        <a:t>128</a:t>
                      </a:r>
                    </a:p>
                  </a:txBody>
                  <a:tcPr marL="25298" marR="25298" marT="12649" marB="12649" anchor="ctr"/>
                </a:tc>
                <a:extLst>
                  <a:ext uri="{0D108BD9-81ED-4DB2-BD59-A6C34878D82A}">
                    <a16:rowId xmlns:a16="http://schemas.microsoft.com/office/drawing/2014/main" val="296175643"/>
                  </a:ext>
                </a:extLst>
              </a:tr>
              <a:tr h="101194">
                <a:tc>
                  <a:txBody>
                    <a:bodyPr/>
                    <a:lstStyle/>
                    <a:p>
                      <a:pPr>
                        <a:buNone/>
                      </a:pPr>
                      <a:r>
                        <a:rPr lang="en-US" sz="1100" b="1"/>
                        <a:t>st</a:t>
                      </a:r>
                      <a:endParaRPr lang="en-US" sz="1100"/>
                    </a:p>
                  </a:txBody>
                  <a:tcPr marL="25298" marR="25298" marT="12649" marB="12649" anchor="ctr"/>
                </a:tc>
                <a:tc>
                  <a:txBody>
                    <a:bodyPr/>
                    <a:lstStyle/>
                    <a:p>
                      <a:pPr>
                        <a:buNone/>
                      </a:pPr>
                      <a:r>
                        <a:rPr lang="en-US" sz="1100"/>
                        <a:t>Message sending status</a:t>
                      </a:r>
                    </a:p>
                  </a:txBody>
                  <a:tcPr marL="25298" marR="25298" marT="12649" marB="12649" anchor="ctr"/>
                </a:tc>
                <a:tc>
                  <a:txBody>
                    <a:bodyPr/>
                    <a:lstStyle/>
                    <a:p>
                      <a:pPr>
                        <a:buNone/>
                      </a:pPr>
                      <a:r>
                        <a:rPr lang="en-US" sz="1100"/>
                        <a:t>128</a:t>
                      </a:r>
                    </a:p>
                  </a:txBody>
                  <a:tcPr marL="25298" marR="25298" marT="12649" marB="12649" anchor="ctr"/>
                </a:tc>
                <a:extLst>
                  <a:ext uri="{0D108BD9-81ED-4DB2-BD59-A6C34878D82A}">
                    <a16:rowId xmlns:a16="http://schemas.microsoft.com/office/drawing/2014/main" val="4083391798"/>
                  </a:ext>
                </a:extLst>
              </a:tr>
              <a:tr h="101194">
                <a:tc>
                  <a:txBody>
                    <a:bodyPr/>
                    <a:lstStyle/>
                    <a:p>
                      <a:pPr>
                        <a:buNone/>
                      </a:pPr>
                      <a:r>
                        <a:rPr lang="en-US" sz="1100" b="1"/>
                        <a:t>tr_id</a:t>
                      </a:r>
                      <a:endParaRPr lang="en-US" sz="1100"/>
                    </a:p>
                  </a:txBody>
                  <a:tcPr marL="25298" marR="25298" marT="12649" marB="12649" anchor="ctr"/>
                </a:tc>
                <a:tc>
                  <a:txBody>
                    <a:bodyPr/>
                    <a:lstStyle/>
                    <a:p>
                      <a:pPr>
                        <a:buNone/>
                      </a:pPr>
                      <a:r>
                        <a:rPr lang="en-US" sz="1100"/>
                        <a:t>Transaction ID (carrier ID)</a:t>
                      </a:r>
                    </a:p>
                  </a:txBody>
                  <a:tcPr marL="25298" marR="25298" marT="12649" marB="12649" anchor="ctr"/>
                </a:tc>
                <a:tc>
                  <a:txBody>
                    <a:bodyPr/>
                    <a:lstStyle/>
                    <a:p>
                      <a:pPr>
                        <a:buNone/>
                      </a:pPr>
                      <a:r>
                        <a:rPr lang="en-US" sz="1100"/>
                        <a:t>“T123456789”</a:t>
                      </a:r>
                    </a:p>
                  </a:txBody>
                  <a:tcPr marL="25298" marR="25298" marT="12649" marB="12649" anchor="ctr"/>
                </a:tc>
                <a:extLst>
                  <a:ext uri="{0D108BD9-81ED-4DB2-BD59-A6C34878D82A}">
                    <a16:rowId xmlns:a16="http://schemas.microsoft.com/office/drawing/2014/main" val="1902561689"/>
                  </a:ext>
                </a:extLst>
              </a:tr>
              <a:tr h="101194">
                <a:tc>
                  <a:txBody>
                    <a:bodyPr/>
                    <a:lstStyle/>
                    <a:p>
                      <a:pPr>
                        <a:buNone/>
                      </a:pPr>
                      <a:r>
                        <a:rPr lang="en-US" sz="1100" b="1"/>
                        <a:t>retr_st</a:t>
                      </a:r>
                      <a:endParaRPr lang="en-US" sz="1100"/>
                    </a:p>
                  </a:txBody>
                  <a:tcPr marL="25298" marR="25298" marT="12649" marB="12649" anchor="ctr"/>
                </a:tc>
                <a:tc>
                  <a:txBody>
                    <a:bodyPr/>
                    <a:lstStyle/>
                    <a:p>
                      <a:pPr>
                        <a:buNone/>
                      </a:pPr>
                      <a:r>
                        <a:rPr lang="en-US" sz="1100"/>
                        <a:t>Retrieval status</a:t>
                      </a:r>
                    </a:p>
                  </a:txBody>
                  <a:tcPr marL="25298" marR="25298" marT="12649" marB="12649" anchor="ctr"/>
                </a:tc>
                <a:tc>
                  <a:txBody>
                    <a:bodyPr/>
                    <a:lstStyle/>
                    <a:p>
                      <a:pPr>
                        <a:buNone/>
                      </a:pPr>
                      <a:r>
                        <a:rPr lang="en-US" sz="1100" dirty="0"/>
                        <a:t>128</a:t>
                      </a:r>
                    </a:p>
                  </a:txBody>
                  <a:tcPr marL="25298" marR="25298" marT="12649" marB="12649" anchor="ctr"/>
                </a:tc>
                <a:extLst>
                  <a:ext uri="{0D108BD9-81ED-4DB2-BD59-A6C34878D82A}">
                    <a16:rowId xmlns:a16="http://schemas.microsoft.com/office/drawing/2014/main" val="3651310684"/>
                  </a:ext>
                </a:extLst>
              </a:tr>
              <a:tr h="101194">
                <a:tc>
                  <a:txBody>
                    <a:bodyPr/>
                    <a:lstStyle/>
                    <a:p>
                      <a:pPr>
                        <a:buNone/>
                      </a:pPr>
                      <a:r>
                        <a:rPr lang="en-US" sz="1100" b="1"/>
                        <a:t>retr_txt</a:t>
                      </a:r>
                      <a:endParaRPr lang="en-US" sz="1100"/>
                    </a:p>
                  </a:txBody>
                  <a:tcPr marL="25298" marR="25298" marT="12649" marB="12649" anchor="ctr"/>
                </a:tc>
                <a:tc>
                  <a:txBody>
                    <a:bodyPr/>
                    <a:lstStyle/>
                    <a:p>
                      <a:pPr>
                        <a:buNone/>
                      </a:pPr>
                      <a:r>
                        <a:rPr lang="en-US" sz="1100"/>
                        <a:t>Retrieval text</a:t>
                      </a:r>
                    </a:p>
                  </a:txBody>
                  <a:tcPr marL="25298" marR="25298" marT="12649" marB="12649" anchor="ctr"/>
                </a:tc>
                <a:tc>
                  <a:txBody>
                    <a:bodyPr/>
                    <a:lstStyle/>
                    <a:p>
                      <a:pPr>
                        <a:buNone/>
                      </a:pPr>
                      <a:r>
                        <a:rPr lang="en-US" sz="1100"/>
                        <a:t>“Download message”</a:t>
                      </a:r>
                    </a:p>
                  </a:txBody>
                  <a:tcPr marL="25298" marR="25298" marT="12649" marB="12649" anchor="ctr"/>
                </a:tc>
                <a:extLst>
                  <a:ext uri="{0D108BD9-81ED-4DB2-BD59-A6C34878D82A}">
                    <a16:rowId xmlns:a16="http://schemas.microsoft.com/office/drawing/2014/main" val="316732289"/>
                  </a:ext>
                </a:extLst>
              </a:tr>
              <a:tr h="101194">
                <a:tc>
                  <a:txBody>
                    <a:bodyPr/>
                    <a:lstStyle/>
                    <a:p>
                      <a:pPr>
                        <a:buNone/>
                      </a:pPr>
                      <a:r>
                        <a:rPr lang="en-US" sz="1100" b="1"/>
                        <a:t>retr_txt_cs</a:t>
                      </a:r>
                      <a:endParaRPr lang="en-US" sz="1100"/>
                    </a:p>
                  </a:txBody>
                  <a:tcPr marL="25298" marR="25298" marT="12649" marB="12649" anchor="ctr"/>
                </a:tc>
                <a:tc>
                  <a:txBody>
                    <a:bodyPr/>
                    <a:lstStyle/>
                    <a:p>
                      <a:pPr>
                        <a:buNone/>
                      </a:pPr>
                      <a:r>
                        <a:rPr lang="en-US" sz="1100"/>
                        <a:t>Char set for retrieval text</a:t>
                      </a:r>
                    </a:p>
                  </a:txBody>
                  <a:tcPr marL="25298" marR="25298" marT="12649" marB="12649" anchor="ctr"/>
                </a:tc>
                <a:tc>
                  <a:txBody>
                    <a:bodyPr/>
                    <a:lstStyle/>
                    <a:p>
                      <a:pPr>
                        <a:buNone/>
                      </a:pPr>
                      <a:r>
                        <a:rPr lang="en-US" sz="1100"/>
                        <a:t>106</a:t>
                      </a:r>
                    </a:p>
                  </a:txBody>
                  <a:tcPr marL="25298" marR="25298" marT="12649" marB="12649" anchor="ctr"/>
                </a:tc>
                <a:extLst>
                  <a:ext uri="{0D108BD9-81ED-4DB2-BD59-A6C34878D82A}">
                    <a16:rowId xmlns:a16="http://schemas.microsoft.com/office/drawing/2014/main" val="2150908613"/>
                  </a:ext>
                </a:extLst>
              </a:tr>
              <a:tr h="101194">
                <a:tc>
                  <a:txBody>
                    <a:bodyPr/>
                    <a:lstStyle/>
                    <a:p>
                      <a:pPr>
                        <a:buNone/>
                      </a:pPr>
                      <a:r>
                        <a:rPr lang="en-US" sz="1100" b="1"/>
                        <a:t>d_tm</a:t>
                      </a:r>
                      <a:endParaRPr lang="en-US" sz="1100"/>
                    </a:p>
                  </a:txBody>
                  <a:tcPr marL="25298" marR="25298" marT="12649" marB="12649" anchor="ctr"/>
                </a:tc>
                <a:tc>
                  <a:txBody>
                    <a:bodyPr/>
                    <a:lstStyle/>
                    <a:p>
                      <a:pPr>
                        <a:buNone/>
                      </a:pPr>
                      <a:r>
                        <a:rPr lang="en-GB" sz="1100"/>
                        <a:t>Delivery time (sec since epoch)</a:t>
                      </a:r>
                    </a:p>
                  </a:txBody>
                  <a:tcPr marL="25298" marR="25298" marT="12649" marB="12649" anchor="ctr"/>
                </a:tc>
                <a:tc>
                  <a:txBody>
                    <a:bodyPr/>
                    <a:lstStyle/>
                    <a:p>
                      <a:pPr>
                        <a:buNone/>
                      </a:pPr>
                      <a:r>
                        <a:rPr lang="en-US" sz="1100"/>
                        <a:t>1697571700</a:t>
                      </a:r>
                    </a:p>
                  </a:txBody>
                  <a:tcPr marL="25298" marR="25298" marT="12649" marB="12649" anchor="ctr"/>
                </a:tc>
                <a:extLst>
                  <a:ext uri="{0D108BD9-81ED-4DB2-BD59-A6C34878D82A}">
                    <a16:rowId xmlns:a16="http://schemas.microsoft.com/office/drawing/2014/main" val="3407961855"/>
                  </a:ext>
                </a:extLst>
              </a:tr>
              <a:tr h="101194">
                <a:tc>
                  <a:txBody>
                    <a:bodyPr/>
                    <a:lstStyle/>
                    <a:p>
                      <a:pPr>
                        <a:buNone/>
                      </a:pPr>
                      <a:r>
                        <a:rPr lang="en-US" sz="1100" b="1"/>
                        <a:t>d_rpt</a:t>
                      </a:r>
                      <a:endParaRPr lang="en-US" sz="1100"/>
                    </a:p>
                  </a:txBody>
                  <a:tcPr marL="25298" marR="25298" marT="12649" marB="12649" anchor="ctr"/>
                </a:tc>
                <a:tc>
                  <a:txBody>
                    <a:bodyPr/>
                    <a:lstStyle/>
                    <a:p>
                      <a:pPr>
                        <a:buNone/>
                      </a:pPr>
                      <a:r>
                        <a:rPr lang="en-GB" sz="1100"/>
                        <a:t>Delivery report requested (1=yes)</a:t>
                      </a:r>
                    </a:p>
                  </a:txBody>
                  <a:tcPr marL="25298" marR="25298" marT="12649" marB="12649" anchor="ctr"/>
                </a:tc>
                <a:tc>
                  <a:txBody>
                    <a:bodyPr/>
                    <a:lstStyle/>
                    <a:p>
                      <a:pPr>
                        <a:buNone/>
                      </a:pPr>
                      <a:r>
                        <a:rPr lang="en-US" sz="1100"/>
                        <a:t>0</a:t>
                      </a:r>
                    </a:p>
                  </a:txBody>
                  <a:tcPr marL="25298" marR="25298" marT="12649" marB="12649" anchor="ctr"/>
                </a:tc>
                <a:extLst>
                  <a:ext uri="{0D108BD9-81ED-4DB2-BD59-A6C34878D82A}">
                    <a16:rowId xmlns:a16="http://schemas.microsoft.com/office/drawing/2014/main" val="411629647"/>
                  </a:ext>
                </a:extLst>
              </a:tr>
              <a:tr h="101194">
                <a:tc>
                  <a:txBody>
                    <a:bodyPr/>
                    <a:lstStyle/>
                    <a:p>
                      <a:pPr>
                        <a:buNone/>
                      </a:pPr>
                      <a:r>
                        <a:rPr lang="en-US" sz="1100" b="1"/>
                        <a:t>locked</a:t>
                      </a:r>
                      <a:endParaRPr lang="en-US" sz="1100"/>
                    </a:p>
                  </a:txBody>
                  <a:tcPr marL="25298" marR="25298" marT="12649" marB="12649" anchor="ctr"/>
                </a:tc>
                <a:tc>
                  <a:txBody>
                    <a:bodyPr/>
                    <a:lstStyle/>
                    <a:p>
                      <a:pPr>
                        <a:buNone/>
                      </a:pPr>
                      <a:r>
                        <a:rPr lang="en-US" sz="1100"/>
                        <a:t>1 = locked (protected)</a:t>
                      </a:r>
                    </a:p>
                  </a:txBody>
                  <a:tcPr marL="25298" marR="25298" marT="12649" marB="12649" anchor="ctr"/>
                </a:tc>
                <a:tc>
                  <a:txBody>
                    <a:bodyPr/>
                    <a:lstStyle/>
                    <a:p>
                      <a:pPr>
                        <a:buNone/>
                      </a:pPr>
                      <a:r>
                        <a:rPr lang="en-US" sz="1100" dirty="0"/>
                        <a:t>0</a:t>
                      </a:r>
                    </a:p>
                  </a:txBody>
                  <a:tcPr marL="25298" marR="25298" marT="12649" marB="12649" anchor="ctr"/>
                </a:tc>
                <a:extLst>
                  <a:ext uri="{0D108BD9-81ED-4DB2-BD59-A6C34878D82A}">
                    <a16:rowId xmlns:a16="http://schemas.microsoft.com/office/drawing/2014/main" val="2885883446"/>
                  </a:ext>
                </a:extLst>
              </a:tr>
              <a:tr h="101194">
                <a:tc>
                  <a:txBody>
                    <a:bodyPr/>
                    <a:lstStyle/>
                    <a:p>
                      <a:pPr>
                        <a:buNone/>
                      </a:pPr>
                      <a:r>
                        <a:rPr lang="en-US" sz="1100" b="1"/>
                        <a:t>seen</a:t>
                      </a:r>
                      <a:endParaRPr lang="en-US" sz="1100"/>
                    </a:p>
                  </a:txBody>
                  <a:tcPr marL="25298" marR="25298" marT="12649" marB="12649" anchor="ctr"/>
                </a:tc>
                <a:tc>
                  <a:txBody>
                    <a:bodyPr/>
                    <a:lstStyle/>
                    <a:p>
                      <a:pPr>
                        <a:buNone/>
                      </a:pPr>
                      <a:r>
                        <a:rPr lang="en-US" sz="1100"/>
                        <a:t>1 = seen, 0 = unseen</a:t>
                      </a:r>
                    </a:p>
                  </a:txBody>
                  <a:tcPr marL="25298" marR="25298" marT="12649" marB="12649" anchor="ctr"/>
                </a:tc>
                <a:tc>
                  <a:txBody>
                    <a:bodyPr/>
                    <a:lstStyle/>
                    <a:p>
                      <a:pPr>
                        <a:buNone/>
                      </a:pPr>
                      <a:r>
                        <a:rPr lang="en-US" sz="1100"/>
                        <a:t>1</a:t>
                      </a:r>
                    </a:p>
                  </a:txBody>
                  <a:tcPr marL="25298" marR="25298" marT="12649" marB="12649" anchor="ctr"/>
                </a:tc>
                <a:extLst>
                  <a:ext uri="{0D108BD9-81ED-4DB2-BD59-A6C34878D82A}">
                    <a16:rowId xmlns:a16="http://schemas.microsoft.com/office/drawing/2014/main" val="1092360355"/>
                  </a:ext>
                </a:extLst>
              </a:tr>
              <a:tr h="101194">
                <a:tc>
                  <a:txBody>
                    <a:bodyPr/>
                    <a:lstStyle/>
                    <a:p>
                      <a:pPr>
                        <a:buNone/>
                      </a:pPr>
                      <a:r>
                        <a:rPr lang="en-US" sz="1100" b="1"/>
                        <a:t>creator</a:t>
                      </a:r>
                      <a:endParaRPr lang="en-US" sz="1100"/>
                    </a:p>
                  </a:txBody>
                  <a:tcPr marL="25298" marR="25298" marT="12649" marB="12649" anchor="ctr"/>
                </a:tc>
                <a:tc>
                  <a:txBody>
                    <a:bodyPr/>
                    <a:lstStyle/>
                    <a:p>
                      <a:pPr>
                        <a:buNone/>
                      </a:pPr>
                      <a:r>
                        <a:rPr lang="en-US" sz="1100"/>
                        <a:t>App that created message</a:t>
                      </a:r>
                    </a:p>
                  </a:txBody>
                  <a:tcPr marL="25298" marR="25298" marT="12649" marB="12649" anchor="ctr"/>
                </a:tc>
                <a:tc>
                  <a:txBody>
                    <a:bodyPr/>
                    <a:lstStyle/>
                    <a:p>
                      <a:pPr>
                        <a:buNone/>
                      </a:pPr>
                      <a:r>
                        <a:rPr lang="en-US" sz="1100"/>
                        <a:t>“com.android.mms”</a:t>
                      </a:r>
                    </a:p>
                  </a:txBody>
                  <a:tcPr marL="25298" marR="25298" marT="12649" marB="12649" anchor="ctr"/>
                </a:tc>
                <a:extLst>
                  <a:ext uri="{0D108BD9-81ED-4DB2-BD59-A6C34878D82A}">
                    <a16:rowId xmlns:a16="http://schemas.microsoft.com/office/drawing/2014/main" val="1152798873"/>
                  </a:ext>
                </a:extLst>
              </a:tr>
              <a:tr h="101194">
                <a:tc>
                  <a:txBody>
                    <a:bodyPr/>
                    <a:lstStyle/>
                    <a:p>
                      <a:pPr>
                        <a:buNone/>
                      </a:pPr>
                      <a:r>
                        <a:rPr lang="en-US" sz="1100" b="1"/>
                        <a:t>text_only</a:t>
                      </a:r>
                      <a:endParaRPr lang="en-US" sz="1100"/>
                    </a:p>
                  </a:txBody>
                  <a:tcPr marL="25298" marR="25298" marT="12649" marB="12649" anchor="ctr"/>
                </a:tc>
                <a:tc>
                  <a:txBody>
                    <a:bodyPr/>
                    <a:lstStyle/>
                    <a:p>
                      <a:pPr>
                        <a:buNone/>
                      </a:pPr>
                      <a:r>
                        <a:rPr lang="en-US" sz="1100"/>
                        <a:t>1 = text-only message</a:t>
                      </a:r>
                    </a:p>
                  </a:txBody>
                  <a:tcPr marL="25298" marR="25298" marT="12649" marB="12649" anchor="ctr"/>
                </a:tc>
                <a:tc>
                  <a:txBody>
                    <a:bodyPr/>
                    <a:lstStyle/>
                    <a:p>
                      <a:pPr>
                        <a:buNone/>
                      </a:pPr>
                      <a:r>
                        <a:rPr lang="en-US" sz="1100"/>
                        <a:t>1</a:t>
                      </a:r>
                    </a:p>
                  </a:txBody>
                  <a:tcPr marL="25298" marR="25298" marT="12649" marB="12649" anchor="ctr"/>
                </a:tc>
                <a:extLst>
                  <a:ext uri="{0D108BD9-81ED-4DB2-BD59-A6C34878D82A}">
                    <a16:rowId xmlns:a16="http://schemas.microsoft.com/office/drawing/2014/main" val="1587806081"/>
                  </a:ext>
                </a:extLst>
              </a:tr>
              <a:tr h="101194">
                <a:tc>
                  <a:txBody>
                    <a:bodyPr/>
                    <a:lstStyle/>
                    <a:p>
                      <a:pPr>
                        <a:buNone/>
                      </a:pPr>
                      <a:r>
                        <a:rPr lang="en-US" sz="1100" b="1"/>
                        <a:t>sub_id</a:t>
                      </a:r>
                      <a:endParaRPr lang="en-US" sz="1100"/>
                    </a:p>
                  </a:txBody>
                  <a:tcPr marL="25298" marR="25298" marT="12649" marB="12649" anchor="ctr"/>
                </a:tc>
                <a:tc>
                  <a:txBody>
                    <a:bodyPr/>
                    <a:lstStyle/>
                    <a:p>
                      <a:pPr>
                        <a:buNone/>
                      </a:pPr>
                      <a:r>
                        <a:rPr lang="en-US" sz="1100"/>
                        <a:t>SIM card ID</a:t>
                      </a:r>
                    </a:p>
                  </a:txBody>
                  <a:tcPr marL="25298" marR="25298" marT="12649" marB="12649" anchor="ctr"/>
                </a:tc>
                <a:tc>
                  <a:txBody>
                    <a:bodyPr/>
                    <a:lstStyle/>
                    <a:p>
                      <a:pPr>
                        <a:buNone/>
                      </a:pPr>
                      <a:r>
                        <a:rPr lang="en-US" sz="1100"/>
                        <a:t>1</a:t>
                      </a:r>
                    </a:p>
                  </a:txBody>
                  <a:tcPr marL="25298" marR="25298" marT="12649" marB="12649" anchor="ctr"/>
                </a:tc>
                <a:extLst>
                  <a:ext uri="{0D108BD9-81ED-4DB2-BD59-A6C34878D82A}">
                    <a16:rowId xmlns:a16="http://schemas.microsoft.com/office/drawing/2014/main" val="3328833384"/>
                  </a:ext>
                </a:extLst>
              </a:tr>
              <a:tr h="101194">
                <a:tc>
                  <a:txBody>
                    <a:bodyPr/>
                    <a:lstStyle/>
                    <a:p>
                      <a:pPr>
                        <a:buNone/>
                      </a:pPr>
                      <a:r>
                        <a:rPr lang="en-US" sz="1100" b="1"/>
                        <a:t>msg_id</a:t>
                      </a:r>
                      <a:endParaRPr lang="en-US" sz="1100"/>
                    </a:p>
                  </a:txBody>
                  <a:tcPr marL="25298" marR="25298" marT="12649" marB="12649" anchor="ctr"/>
                </a:tc>
                <a:tc>
                  <a:txBody>
                    <a:bodyPr/>
                    <a:lstStyle/>
                    <a:p>
                      <a:pPr>
                        <a:buNone/>
                      </a:pPr>
                      <a:r>
                        <a:rPr lang="en-US" sz="1100"/>
                        <a:t>Internal message ID</a:t>
                      </a:r>
                    </a:p>
                  </a:txBody>
                  <a:tcPr marL="25298" marR="25298" marT="12649" marB="12649" anchor="ctr"/>
                </a:tc>
                <a:tc>
                  <a:txBody>
                    <a:bodyPr/>
                    <a:lstStyle/>
                    <a:p>
                      <a:pPr>
                        <a:buNone/>
                      </a:pPr>
                      <a:r>
                        <a:rPr lang="en-US" sz="1100" dirty="0"/>
                        <a:t>“123456”</a:t>
                      </a:r>
                    </a:p>
                  </a:txBody>
                  <a:tcPr marL="25298" marR="25298" marT="12649" marB="12649" anchor="ctr"/>
                </a:tc>
                <a:extLst>
                  <a:ext uri="{0D108BD9-81ED-4DB2-BD59-A6C34878D82A}">
                    <a16:rowId xmlns:a16="http://schemas.microsoft.com/office/drawing/2014/main" val="2312057001"/>
                  </a:ext>
                </a:extLst>
              </a:tr>
            </a:tbl>
          </a:graphicData>
        </a:graphic>
      </p:graphicFrame>
    </p:spTree>
    <p:extLst>
      <p:ext uri="{BB962C8B-B14F-4D97-AF65-F5344CB8AC3E}">
        <p14:creationId xmlns:p14="http://schemas.microsoft.com/office/powerpoint/2010/main" val="17548934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E27F16B-1C66-8E3A-93D0-BBF12153AEAF}"/>
              </a:ext>
            </a:extLst>
          </p:cNvPr>
          <p:cNvPicPr>
            <a:picLocks noChangeAspect="1"/>
          </p:cNvPicPr>
          <p:nvPr/>
        </p:nvPicPr>
        <p:blipFill>
          <a:blip r:embed="rId3"/>
          <a:stretch>
            <a:fillRect/>
          </a:stretch>
        </p:blipFill>
        <p:spPr>
          <a:xfrm>
            <a:off x="703067" y="2524557"/>
            <a:ext cx="10719313" cy="2761176"/>
          </a:xfrm>
          <a:prstGeom prst="rect">
            <a:avLst/>
          </a:prstGeom>
        </p:spPr>
      </p:pic>
      <p:sp>
        <p:nvSpPr>
          <p:cNvPr id="12" name="TextBox 11">
            <a:extLst>
              <a:ext uri="{FF2B5EF4-FFF2-40B4-BE49-F238E27FC236}">
                <a16:creationId xmlns:a16="http://schemas.microsoft.com/office/drawing/2014/main" id="{1E9C9375-3569-B8BA-32F7-2307B0D1A0FA}"/>
              </a:ext>
            </a:extLst>
          </p:cNvPr>
          <p:cNvSpPr txBox="1"/>
          <p:nvPr/>
        </p:nvSpPr>
        <p:spPr>
          <a:xfrm>
            <a:off x="703067" y="1246659"/>
            <a:ext cx="10609836" cy="989131"/>
          </a:xfrm>
          <a:prstGeom prst="rect">
            <a:avLst/>
          </a:prstGeom>
          <a:noFill/>
        </p:spPr>
        <p:txBody>
          <a:bodyPr wrap="square">
            <a:normAutofit lnSpcReduction="10000"/>
          </a:bodyPr>
          <a:lstStyle/>
          <a:p>
            <a:pPr marL="285750" indent="-285750">
              <a:buFont typeface="Arial" panose="020B0604020202020204" pitchFamily="34" charset="0"/>
              <a:buChar char="•"/>
            </a:pPr>
            <a:r>
              <a:rPr sz="2000" dirty="0" err="1"/>
              <a:t>thread_id</a:t>
            </a:r>
            <a:r>
              <a:rPr sz="2000" dirty="0"/>
              <a:t>: links MMS messages to the same conversation.</a:t>
            </a:r>
          </a:p>
          <a:p>
            <a:pPr marL="285750" indent="-285750">
              <a:buFont typeface="Arial" panose="020B0604020202020204" pitchFamily="34" charset="0"/>
              <a:buChar char="•"/>
            </a:pPr>
            <a:r>
              <a:rPr sz="2000" dirty="0" err="1"/>
              <a:t>msg_box</a:t>
            </a:r>
            <a:r>
              <a:rPr sz="2000" dirty="0"/>
              <a:t>: 1 = incoming; 2 = sent.</a:t>
            </a:r>
          </a:p>
          <a:p>
            <a:pPr marL="285750" indent="-285750">
              <a:buFont typeface="Arial" panose="020B0604020202020204" pitchFamily="34" charset="0"/>
              <a:buChar char="•"/>
            </a:pPr>
            <a:r>
              <a:rPr sz="2000" dirty="0" err="1"/>
              <a:t>m_type</a:t>
            </a:r>
            <a:r>
              <a:rPr sz="2000" dirty="0"/>
              <a:t>: 132 = retrieved MMS message</a:t>
            </a:r>
            <a:r>
              <a:rPr lang="en-US" sz="2000" dirty="0"/>
              <a:t> </a:t>
            </a:r>
            <a:r>
              <a:rPr lang="en-US" sz="2000" dirty="0">
                <a:highlight>
                  <a:srgbClr val="FFFF00"/>
                </a:highlight>
              </a:rPr>
              <a:t>confirmation</a:t>
            </a:r>
            <a:r>
              <a:rPr sz="2000" dirty="0"/>
              <a:t>.</a:t>
            </a:r>
          </a:p>
        </p:txBody>
      </p:sp>
      <p:sp>
        <p:nvSpPr>
          <p:cNvPr id="2" name="Rectangle 1">
            <a:extLst>
              <a:ext uri="{FF2B5EF4-FFF2-40B4-BE49-F238E27FC236}">
                <a16:creationId xmlns:a16="http://schemas.microsoft.com/office/drawing/2014/main" id="{366C7342-4FEF-893C-0874-E5D493FC38CA}"/>
              </a:ext>
            </a:extLst>
          </p:cNvPr>
          <p:cNvSpPr/>
          <p:nvPr/>
        </p:nvSpPr>
        <p:spPr>
          <a:xfrm>
            <a:off x="773888" y="3738282"/>
            <a:ext cx="10648492" cy="2286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55000" lnSpcReduction="20000"/>
          </a:bodyPr>
          <a:lstStyle/>
          <a:p>
            <a:pPr algn="ctr"/>
            <a:endParaRPr lang="en-US"/>
          </a:p>
        </p:txBody>
      </p:sp>
      <p:sp>
        <p:nvSpPr>
          <p:cNvPr id="3" name="Rectangle 2">
            <a:extLst>
              <a:ext uri="{FF2B5EF4-FFF2-40B4-BE49-F238E27FC236}">
                <a16:creationId xmlns:a16="http://schemas.microsoft.com/office/drawing/2014/main" id="{92AF3E9F-C08A-3127-4F8E-CB51A6FC6699}"/>
              </a:ext>
            </a:extLst>
          </p:cNvPr>
          <p:cNvSpPr/>
          <p:nvPr/>
        </p:nvSpPr>
        <p:spPr>
          <a:xfrm>
            <a:off x="791814" y="4220144"/>
            <a:ext cx="10648492" cy="2286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fontScale="55000" lnSpcReduction="20000"/>
          </a:bodyPr>
          <a:lstStyle/>
          <a:p>
            <a:pPr algn="ctr"/>
            <a:endParaRPr lang="en-US"/>
          </a:p>
        </p:txBody>
      </p:sp>
      <p:sp>
        <p:nvSpPr>
          <p:cNvPr id="4" name="Rectangle 3">
            <a:extLst>
              <a:ext uri="{FF2B5EF4-FFF2-40B4-BE49-F238E27FC236}">
                <a16:creationId xmlns:a16="http://schemas.microsoft.com/office/drawing/2014/main" id="{4E64A902-294A-B3F9-C611-9DC2799F565B}"/>
              </a:ext>
            </a:extLst>
          </p:cNvPr>
          <p:cNvSpPr/>
          <p:nvPr/>
        </p:nvSpPr>
        <p:spPr>
          <a:xfrm>
            <a:off x="798538" y="4684062"/>
            <a:ext cx="10648492" cy="5468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endParaRPr lang="en-US"/>
          </a:p>
        </p:txBody>
      </p:sp>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42A7A746-9AD0-1DFC-D27A-2251EFA4DC2D}"/>
                  </a:ext>
                </a:extLst>
              </p14:cNvPr>
              <p14:cNvContentPartPr/>
              <p14:nvPr/>
            </p14:nvContentPartPr>
            <p14:xfrm>
              <a:off x="10167463" y="3738208"/>
              <a:ext cx="262080" cy="206640"/>
            </p14:xfrm>
          </p:contentPart>
        </mc:Choice>
        <mc:Fallback xmlns="">
          <p:pic>
            <p:nvPicPr>
              <p:cNvPr id="6" name="Ink 5">
                <a:extLst>
                  <a:ext uri="{FF2B5EF4-FFF2-40B4-BE49-F238E27FC236}">
                    <a16:creationId xmlns:a16="http://schemas.microsoft.com/office/drawing/2014/main" id="{42A7A746-9AD0-1DFC-D27A-2251EFA4DC2D}"/>
                  </a:ext>
                </a:extLst>
              </p:cNvPr>
              <p:cNvPicPr/>
              <p:nvPr/>
            </p:nvPicPr>
            <p:blipFill>
              <a:blip r:embed="rId5"/>
              <a:stretch>
                <a:fillRect/>
              </a:stretch>
            </p:blipFill>
            <p:spPr>
              <a:xfrm>
                <a:off x="10161343" y="3732088"/>
                <a:ext cx="27432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DF3BA980-EA50-5C62-1CEF-5E5589CB0177}"/>
                  </a:ext>
                </a:extLst>
              </p14:cNvPr>
              <p14:cNvContentPartPr/>
              <p14:nvPr/>
            </p14:nvContentPartPr>
            <p14:xfrm>
              <a:off x="10199863" y="4226368"/>
              <a:ext cx="283680" cy="198720"/>
            </p14:xfrm>
          </p:contentPart>
        </mc:Choice>
        <mc:Fallback xmlns="">
          <p:pic>
            <p:nvPicPr>
              <p:cNvPr id="7" name="Ink 6">
                <a:extLst>
                  <a:ext uri="{FF2B5EF4-FFF2-40B4-BE49-F238E27FC236}">
                    <a16:creationId xmlns:a16="http://schemas.microsoft.com/office/drawing/2014/main" id="{DF3BA980-EA50-5C62-1CEF-5E5589CB0177}"/>
                  </a:ext>
                </a:extLst>
              </p:cNvPr>
              <p:cNvPicPr/>
              <p:nvPr/>
            </p:nvPicPr>
            <p:blipFill>
              <a:blip r:embed="rId7"/>
              <a:stretch>
                <a:fillRect/>
              </a:stretch>
            </p:blipFill>
            <p:spPr>
              <a:xfrm>
                <a:off x="10193743" y="4220248"/>
                <a:ext cx="29592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6D367420-6CC6-2824-CE99-101B0D3F2A63}"/>
                  </a:ext>
                </a:extLst>
              </p14:cNvPr>
              <p14:cNvContentPartPr/>
              <p14:nvPr/>
            </p14:nvContentPartPr>
            <p14:xfrm>
              <a:off x="10179703" y="4702288"/>
              <a:ext cx="317880" cy="575280"/>
            </p14:xfrm>
          </p:contentPart>
        </mc:Choice>
        <mc:Fallback xmlns="">
          <p:pic>
            <p:nvPicPr>
              <p:cNvPr id="8" name="Ink 7">
                <a:extLst>
                  <a:ext uri="{FF2B5EF4-FFF2-40B4-BE49-F238E27FC236}">
                    <a16:creationId xmlns:a16="http://schemas.microsoft.com/office/drawing/2014/main" id="{6D367420-6CC6-2824-CE99-101B0D3F2A63}"/>
                  </a:ext>
                </a:extLst>
              </p:cNvPr>
              <p:cNvPicPr/>
              <p:nvPr/>
            </p:nvPicPr>
            <p:blipFill>
              <a:blip r:embed="rId9"/>
              <a:stretch>
                <a:fillRect/>
              </a:stretch>
            </p:blipFill>
            <p:spPr>
              <a:xfrm>
                <a:off x="10173583" y="4696168"/>
                <a:ext cx="330120" cy="587520"/>
              </a:xfrm>
              <a:prstGeom prst="rect">
                <a:avLst/>
              </a:prstGeom>
            </p:spPr>
          </p:pic>
        </mc:Fallback>
      </mc:AlternateContent>
      <p:grpSp>
        <p:nvGrpSpPr>
          <p:cNvPr id="13" name="Group 12">
            <a:extLst>
              <a:ext uri="{FF2B5EF4-FFF2-40B4-BE49-F238E27FC236}">
                <a16:creationId xmlns:a16="http://schemas.microsoft.com/office/drawing/2014/main" id="{2BFD7C0A-C282-AFE2-5C06-CE49D77507C2}"/>
              </a:ext>
            </a:extLst>
          </p:cNvPr>
          <p:cNvGrpSpPr/>
          <p:nvPr/>
        </p:nvGrpSpPr>
        <p:grpSpPr>
          <a:xfrm>
            <a:off x="1896017" y="1817769"/>
            <a:ext cx="8211394" cy="1904400"/>
            <a:chOff x="3039416" y="3247041"/>
            <a:chExt cx="7244640" cy="1904400"/>
          </a:xfrm>
        </p:grpSpPr>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8DAAD15F-6985-F2D2-1CC2-8AAA6363888D}"/>
                    </a:ext>
                  </a:extLst>
                </p14:cNvPr>
                <p14:cNvContentPartPr/>
                <p14:nvPr/>
              </p14:nvContentPartPr>
              <p14:xfrm>
                <a:off x="3039416" y="3247041"/>
                <a:ext cx="2166480" cy="485280"/>
              </p14:xfrm>
            </p:contentPart>
          </mc:Choice>
          <mc:Fallback xmlns="">
            <p:pic>
              <p:nvPicPr>
                <p:cNvPr id="9" name="Ink 8">
                  <a:extLst>
                    <a:ext uri="{FF2B5EF4-FFF2-40B4-BE49-F238E27FC236}">
                      <a16:creationId xmlns:a16="http://schemas.microsoft.com/office/drawing/2014/main" id="{8DAAD15F-6985-F2D2-1CC2-8AAA6363888D}"/>
                    </a:ext>
                  </a:extLst>
                </p:cNvPr>
                <p:cNvPicPr/>
                <p:nvPr/>
              </p:nvPicPr>
              <p:blipFill>
                <a:blip r:embed="rId11"/>
                <a:stretch>
                  <a:fillRect/>
                </a:stretch>
              </p:blipFill>
              <p:spPr>
                <a:xfrm>
                  <a:off x="3033296" y="3240921"/>
                  <a:ext cx="2178720" cy="497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8D854A16-6E23-CF92-C835-1F5A5DDA7EF5}"/>
                    </a:ext>
                  </a:extLst>
                </p14:cNvPr>
                <p14:cNvContentPartPr/>
                <p14:nvPr/>
              </p14:nvContentPartPr>
              <p14:xfrm>
                <a:off x="5284376" y="3441801"/>
                <a:ext cx="4999680" cy="1709640"/>
              </p14:xfrm>
            </p:contentPart>
          </mc:Choice>
          <mc:Fallback xmlns="">
            <p:pic>
              <p:nvPicPr>
                <p:cNvPr id="10" name="Ink 9">
                  <a:extLst>
                    <a:ext uri="{FF2B5EF4-FFF2-40B4-BE49-F238E27FC236}">
                      <a16:creationId xmlns:a16="http://schemas.microsoft.com/office/drawing/2014/main" id="{8D854A16-6E23-CF92-C835-1F5A5DDA7EF5}"/>
                    </a:ext>
                  </a:extLst>
                </p:cNvPr>
                <p:cNvPicPr/>
                <p:nvPr/>
              </p:nvPicPr>
              <p:blipFill>
                <a:blip r:embed="rId13"/>
                <a:stretch>
                  <a:fillRect/>
                </a:stretch>
              </p:blipFill>
              <p:spPr>
                <a:xfrm>
                  <a:off x="5278256" y="3435681"/>
                  <a:ext cx="5011920" cy="1721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6CD02CCB-CBB3-45E1-E70F-F4EBE16D5FFF}"/>
                    </a:ext>
                  </a:extLst>
                </p14:cNvPr>
                <p14:cNvContentPartPr/>
                <p14:nvPr/>
              </p14:nvContentPartPr>
              <p14:xfrm>
                <a:off x="10183976" y="4961721"/>
                <a:ext cx="88920" cy="179280"/>
              </p14:xfrm>
            </p:contentPart>
          </mc:Choice>
          <mc:Fallback xmlns="">
            <p:pic>
              <p:nvPicPr>
                <p:cNvPr id="11" name="Ink 10">
                  <a:extLst>
                    <a:ext uri="{FF2B5EF4-FFF2-40B4-BE49-F238E27FC236}">
                      <a16:creationId xmlns:a16="http://schemas.microsoft.com/office/drawing/2014/main" id="{6CD02CCB-CBB3-45E1-E70F-F4EBE16D5FFF}"/>
                    </a:ext>
                  </a:extLst>
                </p:cNvPr>
                <p:cNvPicPr/>
                <p:nvPr/>
              </p:nvPicPr>
              <p:blipFill>
                <a:blip r:embed="rId15"/>
                <a:stretch>
                  <a:fillRect/>
                </a:stretch>
              </p:blipFill>
              <p:spPr>
                <a:xfrm>
                  <a:off x="10177856" y="4955601"/>
                  <a:ext cx="101160" cy="191520"/>
                </a:xfrm>
                <a:prstGeom prst="rect">
                  <a:avLst/>
                </a:prstGeom>
              </p:spPr>
            </p:pic>
          </mc:Fallback>
        </mc:AlternateContent>
      </p:grpSp>
      <p:sp>
        <p:nvSpPr>
          <p:cNvPr id="15" name="TextBox 14">
            <a:extLst>
              <a:ext uri="{FF2B5EF4-FFF2-40B4-BE49-F238E27FC236}">
                <a16:creationId xmlns:a16="http://schemas.microsoft.com/office/drawing/2014/main" id="{DC27E393-02A1-9C30-7E1F-77643F7C0B90}"/>
              </a:ext>
            </a:extLst>
          </p:cNvPr>
          <p:cNvSpPr txBox="1"/>
          <p:nvPr/>
        </p:nvSpPr>
        <p:spPr>
          <a:xfrm>
            <a:off x="703067" y="5637873"/>
            <a:ext cx="5662448" cy="369332"/>
          </a:xfrm>
          <a:prstGeom prst="rect">
            <a:avLst/>
          </a:prstGeom>
          <a:noFill/>
        </p:spPr>
        <p:txBody>
          <a:bodyPr wrap="square" rtlCol="0">
            <a:normAutofit fontScale="85000" lnSpcReduction="10000"/>
          </a:bodyPr>
          <a:lstStyle/>
          <a:p>
            <a:r>
              <a:rPr sz="1600"/>
              <a:t>Conclusion: the inbox contains four retrieved MMS messages: 2, 4, 6, and 7.</a:t>
            </a:r>
          </a:p>
        </p:txBody>
      </p:sp>
      <mc:AlternateContent xmlns:mc="http://schemas.openxmlformats.org/markup-compatibility/2006" xmlns:p14="http://schemas.microsoft.com/office/powerpoint/2010/main">
        <mc:Choice Requires="p14">
          <p:contentPart p14:bwMode="auto" r:id="rId16">
            <p14:nvContentPartPr>
              <p14:cNvPr id="16" name="Ink 15">
                <a:extLst>
                  <a:ext uri="{FF2B5EF4-FFF2-40B4-BE49-F238E27FC236}">
                    <a16:creationId xmlns:a16="http://schemas.microsoft.com/office/drawing/2014/main" id="{015BC921-6078-193D-C4D0-8BDFA55FF4E0}"/>
                  </a:ext>
                </a:extLst>
              </p14:cNvPr>
              <p14:cNvContentPartPr/>
              <p14:nvPr/>
            </p14:nvContentPartPr>
            <p14:xfrm>
              <a:off x="1110536" y="3751031"/>
              <a:ext cx="214920" cy="156960"/>
            </p14:xfrm>
          </p:contentPart>
        </mc:Choice>
        <mc:Fallback xmlns="">
          <p:pic>
            <p:nvPicPr>
              <p:cNvPr id="16" name="Ink 15">
                <a:extLst>
                  <a:ext uri="{FF2B5EF4-FFF2-40B4-BE49-F238E27FC236}">
                    <a16:creationId xmlns:a16="http://schemas.microsoft.com/office/drawing/2014/main" id="{015BC921-6078-193D-C4D0-8BDFA55FF4E0}"/>
                  </a:ext>
                </a:extLst>
              </p:cNvPr>
              <p:cNvPicPr/>
              <p:nvPr/>
            </p:nvPicPr>
            <p:blipFill>
              <a:blip r:embed="rId17"/>
              <a:stretch>
                <a:fillRect/>
              </a:stretch>
            </p:blipFill>
            <p:spPr>
              <a:xfrm>
                <a:off x="1104416" y="3744911"/>
                <a:ext cx="22716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F5D45417-9934-9E01-52E0-6574B48C64C4}"/>
                  </a:ext>
                </a:extLst>
              </p14:cNvPr>
              <p14:cNvContentPartPr/>
              <p14:nvPr/>
            </p14:nvContentPartPr>
            <p14:xfrm>
              <a:off x="1155176" y="4263671"/>
              <a:ext cx="141840" cy="128160"/>
            </p14:xfrm>
          </p:contentPart>
        </mc:Choice>
        <mc:Fallback xmlns="">
          <p:pic>
            <p:nvPicPr>
              <p:cNvPr id="17" name="Ink 16">
                <a:extLst>
                  <a:ext uri="{FF2B5EF4-FFF2-40B4-BE49-F238E27FC236}">
                    <a16:creationId xmlns:a16="http://schemas.microsoft.com/office/drawing/2014/main" id="{F5D45417-9934-9E01-52E0-6574B48C64C4}"/>
                  </a:ext>
                </a:extLst>
              </p:cNvPr>
              <p:cNvPicPr/>
              <p:nvPr/>
            </p:nvPicPr>
            <p:blipFill>
              <a:blip r:embed="rId19"/>
              <a:stretch>
                <a:fillRect/>
              </a:stretch>
            </p:blipFill>
            <p:spPr>
              <a:xfrm>
                <a:off x="1149056" y="4257551"/>
                <a:ext cx="15408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92A78814-E0ED-DA6B-D29F-B84254F2E036}"/>
                  </a:ext>
                </a:extLst>
              </p14:cNvPr>
              <p14:cNvContentPartPr/>
              <p14:nvPr/>
            </p14:nvContentPartPr>
            <p14:xfrm>
              <a:off x="1115216" y="4753271"/>
              <a:ext cx="243720" cy="464400"/>
            </p14:xfrm>
          </p:contentPart>
        </mc:Choice>
        <mc:Fallback xmlns="">
          <p:pic>
            <p:nvPicPr>
              <p:cNvPr id="19" name="Ink 18">
                <a:extLst>
                  <a:ext uri="{FF2B5EF4-FFF2-40B4-BE49-F238E27FC236}">
                    <a16:creationId xmlns:a16="http://schemas.microsoft.com/office/drawing/2014/main" id="{92A78814-E0ED-DA6B-D29F-B84254F2E036}"/>
                  </a:ext>
                </a:extLst>
              </p:cNvPr>
              <p:cNvPicPr/>
              <p:nvPr/>
            </p:nvPicPr>
            <p:blipFill>
              <a:blip r:embed="rId21"/>
              <a:stretch>
                <a:fillRect/>
              </a:stretch>
            </p:blipFill>
            <p:spPr>
              <a:xfrm>
                <a:off x="1109096" y="4747151"/>
                <a:ext cx="255960" cy="476640"/>
              </a:xfrm>
              <a:prstGeom prst="rect">
                <a:avLst/>
              </a:prstGeom>
            </p:spPr>
          </p:pic>
        </mc:Fallback>
      </mc:AlternateContent>
      <p:grpSp>
        <p:nvGrpSpPr>
          <p:cNvPr id="35" name="Group 34">
            <a:extLst>
              <a:ext uri="{FF2B5EF4-FFF2-40B4-BE49-F238E27FC236}">
                <a16:creationId xmlns:a16="http://schemas.microsoft.com/office/drawing/2014/main" id="{C879B282-01AC-340E-F85A-A1C809A6A413}"/>
              </a:ext>
            </a:extLst>
          </p:cNvPr>
          <p:cNvGrpSpPr/>
          <p:nvPr/>
        </p:nvGrpSpPr>
        <p:grpSpPr>
          <a:xfrm>
            <a:off x="1344536" y="3818711"/>
            <a:ext cx="4542840" cy="1864080"/>
            <a:chOff x="1344536" y="3818711"/>
            <a:chExt cx="4542840" cy="1864080"/>
          </a:xfrm>
        </p:grpSpPr>
        <mc:AlternateContent xmlns:mc="http://schemas.openxmlformats.org/markup-compatibility/2006" xmlns:p14="http://schemas.microsoft.com/office/powerpoint/2010/main">
          <mc:Choice Requires="p14">
            <p:contentPart p14:bwMode="auto" r:id="rId22">
              <p14:nvContentPartPr>
                <p14:cNvPr id="29" name="Ink 28">
                  <a:extLst>
                    <a:ext uri="{FF2B5EF4-FFF2-40B4-BE49-F238E27FC236}">
                      <a16:creationId xmlns:a16="http://schemas.microsoft.com/office/drawing/2014/main" id="{BF348F9E-1C52-16EF-5EF6-D43EFB53F38E}"/>
                    </a:ext>
                  </a:extLst>
                </p14:cNvPr>
                <p14:cNvContentPartPr/>
                <p14:nvPr/>
              </p14:nvContentPartPr>
              <p14:xfrm>
                <a:off x="1398536" y="5035511"/>
                <a:ext cx="4488840" cy="599040"/>
              </p14:xfrm>
            </p:contentPart>
          </mc:Choice>
          <mc:Fallback xmlns="">
            <p:pic>
              <p:nvPicPr>
                <p:cNvPr id="29" name="Ink 28">
                  <a:extLst>
                    <a:ext uri="{FF2B5EF4-FFF2-40B4-BE49-F238E27FC236}">
                      <a16:creationId xmlns:a16="http://schemas.microsoft.com/office/drawing/2014/main" id="{BF348F9E-1C52-16EF-5EF6-D43EFB53F38E}"/>
                    </a:ext>
                  </a:extLst>
                </p:cNvPr>
                <p:cNvPicPr/>
                <p:nvPr/>
              </p:nvPicPr>
              <p:blipFill>
                <a:blip r:embed="rId23"/>
                <a:stretch>
                  <a:fillRect/>
                </a:stretch>
              </p:blipFill>
              <p:spPr>
                <a:xfrm>
                  <a:off x="1392416" y="5029391"/>
                  <a:ext cx="4501080" cy="6112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0" name="Ink 29">
                  <a:extLst>
                    <a:ext uri="{FF2B5EF4-FFF2-40B4-BE49-F238E27FC236}">
                      <a16:creationId xmlns:a16="http://schemas.microsoft.com/office/drawing/2014/main" id="{6BA0910C-8246-3CB4-4237-78E572F0DC46}"/>
                    </a:ext>
                  </a:extLst>
                </p14:cNvPr>
                <p14:cNvContentPartPr/>
                <p14:nvPr/>
              </p14:nvContentPartPr>
              <p14:xfrm>
                <a:off x="5366096" y="5573711"/>
                <a:ext cx="511560" cy="109080"/>
              </p14:xfrm>
            </p:contentPart>
          </mc:Choice>
          <mc:Fallback xmlns="">
            <p:pic>
              <p:nvPicPr>
                <p:cNvPr id="30" name="Ink 29">
                  <a:extLst>
                    <a:ext uri="{FF2B5EF4-FFF2-40B4-BE49-F238E27FC236}">
                      <a16:creationId xmlns:a16="http://schemas.microsoft.com/office/drawing/2014/main" id="{6BA0910C-8246-3CB4-4237-78E572F0DC46}"/>
                    </a:ext>
                  </a:extLst>
                </p:cNvPr>
                <p:cNvPicPr/>
                <p:nvPr/>
              </p:nvPicPr>
              <p:blipFill>
                <a:blip r:embed="rId25"/>
                <a:stretch>
                  <a:fillRect/>
                </a:stretch>
              </p:blipFill>
              <p:spPr>
                <a:xfrm>
                  <a:off x="5359976" y="5567591"/>
                  <a:ext cx="52380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2" name="Ink 31">
                  <a:extLst>
                    <a:ext uri="{FF2B5EF4-FFF2-40B4-BE49-F238E27FC236}">
                      <a16:creationId xmlns:a16="http://schemas.microsoft.com/office/drawing/2014/main" id="{EF4A16DF-97F7-5658-2694-0F9A752BD606}"/>
                    </a:ext>
                  </a:extLst>
                </p14:cNvPr>
                <p14:cNvContentPartPr/>
                <p14:nvPr/>
              </p14:nvContentPartPr>
              <p14:xfrm>
                <a:off x="1344536" y="4356551"/>
                <a:ext cx="4349880" cy="1214280"/>
              </p14:xfrm>
            </p:contentPart>
          </mc:Choice>
          <mc:Fallback xmlns="">
            <p:pic>
              <p:nvPicPr>
                <p:cNvPr id="32" name="Ink 31">
                  <a:extLst>
                    <a:ext uri="{FF2B5EF4-FFF2-40B4-BE49-F238E27FC236}">
                      <a16:creationId xmlns:a16="http://schemas.microsoft.com/office/drawing/2014/main" id="{EF4A16DF-97F7-5658-2694-0F9A752BD606}"/>
                    </a:ext>
                  </a:extLst>
                </p:cNvPr>
                <p:cNvPicPr/>
                <p:nvPr/>
              </p:nvPicPr>
              <p:blipFill>
                <a:blip r:embed="rId27"/>
                <a:stretch>
                  <a:fillRect/>
                </a:stretch>
              </p:blipFill>
              <p:spPr>
                <a:xfrm>
                  <a:off x="1338416" y="4350431"/>
                  <a:ext cx="4362120" cy="1226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4" name="Ink 33">
                  <a:extLst>
                    <a:ext uri="{FF2B5EF4-FFF2-40B4-BE49-F238E27FC236}">
                      <a16:creationId xmlns:a16="http://schemas.microsoft.com/office/drawing/2014/main" id="{2972768F-515C-F35E-430A-07DAABE94A6A}"/>
                    </a:ext>
                  </a:extLst>
                </p14:cNvPr>
                <p14:cNvContentPartPr/>
                <p14:nvPr/>
              </p14:nvContentPartPr>
              <p14:xfrm>
                <a:off x="1357856" y="3818711"/>
                <a:ext cx="4300920" cy="1675080"/>
              </p14:xfrm>
            </p:contentPart>
          </mc:Choice>
          <mc:Fallback xmlns="">
            <p:pic>
              <p:nvPicPr>
                <p:cNvPr id="34" name="Ink 33">
                  <a:extLst>
                    <a:ext uri="{FF2B5EF4-FFF2-40B4-BE49-F238E27FC236}">
                      <a16:creationId xmlns:a16="http://schemas.microsoft.com/office/drawing/2014/main" id="{2972768F-515C-F35E-430A-07DAABE94A6A}"/>
                    </a:ext>
                  </a:extLst>
                </p:cNvPr>
                <p:cNvPicPr/>
                <p:nvPr/>
              </p:nvPicPr>
              <p:blipFill>
                <a:blip r:embed="rId29"/>
                <a:stretch>
                  <a:fillRect/>
                </a:stretch>
              </p:blipFill>
              <p:spPr>
                <a:xfrm>
                  <a:off x="1351736" y="3812591"/>
                  <a:ext cx="4313160" cy="1687320"/>
                </a:xfrm>
                <a:prstGeom prst="rect">
                  <a:avLst/>
                </a:prstGeom>
              </p:spPr>
            </p:pic>
          </mc:Fallback>
        </mc:AlternateContent>
      </p:grpSp>
    </p:spTree>
    <p:extLst>
      <p:ext uri="{BB962C8B-B14F-4D97-AF65-F5344CB8AC3E}">
        <p14:creationId xmlns:p14="http://schemas.microsoft.com/office/powerpoint/2010/main" val="7158805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036B0-F509-2829-17EA-FB742F504A5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7279C2E-27A0-BF71-596B-3B9FCA9B051F}"/>
              </a:ext>
            </a:extLst>
          </p:cNvPr>
          <p:cNvPicPr>
            <a:picLocks noChangeAspect="1"/>
          </p:cNvPicPr>
          <p:nvPr/>
        </p:nvPicPr>
        <p:blipFill>
          <a:blip r:embed="rId3"/>
          <a:stretch>
            <a:fillRect/>
          </a:stretch>
        </p:blipFill>
        <p:spPr>
          <a:xfrm>
            <a:off x="529368" y="3253740"/>
            <a:ext cx="11133264" cy="2474058"/>
          </a:xfrm>
          <a:prstGeom prst="rect">
            <a:avLst/>
          </a:prstGeom>
        </p:spPr>
      </p:pic>
      <p:sp>
        <p:nvSpPr>
          <p:cNvPr id="3" name="TextBox 2">
            <a:extLst>
              <a:ext uri="{FF2B5EF4-FFF2-40B4-BE49-F238E27FC236}">
                <a16:creationId xmlns:a16="http://schemas.microsoft.com/office/drawing/2014/main" id="{CD7ACD3E-CC83-F865-B39B-836C898B1270}"/>
              </a:ext>
            </a:extLst>
          </p:cNvPr>
          <p:cNvSpPr txBox="1"/>
          <p:nvPr/>
        </p:nvSpPr>
        <p:spPr>
          <a:xfrm>
            <a:off x="600635" y="1869342"/>
            <a:ext cx="10416540" cy="951496"/>
          </a:xfrm>
          <a:prstGeom prst="rect">
            <a:avLst/>
          </a:prstGeom>
          <a:noFill/>
        </p:spPr>
        <p:txBody>
          <a:bodyPr wrap="square">
            <a:normAutofit/>
          </a:bodyPr>
          <a:lstStyle/>
          <a:p>
            <a:r>
              <a:rPr dirty="0" err="1"/>
              <a:t>text_only</a:t>
            </a:r>
            <a:r>
              <a:rPr dirty="0"/>
              <a:t> indicates whether an MMS contains only text.</a:t>
            </a:r>
            <a:endParaRPr lang="en-US" sz="1600" dirty="0"/>
          </a:p>
          <a:p>
            <a:r>
              <a:rPr dirty="0"/>
              <a:t>0 = contains multimedia or non-text parts.</a:t>
            </a:r>
          </a:p>
          <a:p>
            <a:r>
              <a:rPr dirty="0"/>
              <a:t>1 = text-only MMS.</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2082D14A-72A3-D19A-8E0E-9D7B0E63BCE3}"/>
                  </a:ext>
                </a:extLst>
              </p14:cNvPr>
              <p14:cNvContentPartPr/>
              <p14:nvPr/>
            </p14:nvContentPartPr>
            <p14:xfrm>
              <a:off x="589256" y="1841591"/>
              <a:ext cx="1153800" cy="446760"/>
            </p14:xfrm>
          </p:contentPart>
        </mc:Choice>
        <mc:Fallback xmlns="">
          <p:pic>
            <p:nvPicPr>
              <p:cNvPr id="2" name="Ink 1">
                <a:extLst>
                  <a:ext uri="{FF2B5EF4-FFF2-40B4-BE49-F238E27FC236}">
                    <a16:creationId xmlns:a16="http://schemas.microsoft.com/office/drawing/2014/main" id="{2082D14A-72A3-D19A-8E0E-9D7B0E63BCE3}"/>
                  </a:ext>
                </a:extLst>
              </p:cNvPr>
              <p:cNvPicPr/>
              <p:nvPr/>
            </p:nvPicPr>
            <p:blipFill>
              <a:blip r:embed="rId5"/>
              <a:stretch>
                <a:fillRect/>
              </a:stretch>
            </p:blipFill>
            <p:spPr>
              <a:xfrm>
                <a:off x="583136" y="1835471"/>
                <a:ext cx="1166040" cy="459000"/>
              </a:xfrm>
              <a:prstGeom prst="rect">
                <a:avLst/>
              </a:prstGeom>
            </p:spPr>
          </p:pic>
        </mc:Fallback>
      </mc:AlternateContent>
      <p:grpSp>
        <p:nvGrpSpPr>
          <p:cNvPr id="10" name="Group 9">
            <a:extLst>
              <a:ext uri="{FF2B5EF4-FFF2-40B4-BE49-F238E27FC236}">
                <a16:creationId xmlns:a16="http://schemas.microsoft.com/office/drawing/2014/main" id="{6251B3DF-1E95-91A3-6050-CD82575921C9}"/>
              </a:ext>
            </a:extLst>
          </p:cNvPr>
          <p:cNvGrpSpPr/>
          <p:nvPr/>
        </p:nvGrpSpPr>
        <p:grpSpPr>
          <a:xfrm>
            <a:off x="1768256" y="2224631"/>
            <a:ext cx="9254880" cy="1562400"/>
            <a:chOff x="1768256" y="2224631"/>
            <a:chExt cx="9254880" cy="1562400"/>
          </a:xfrm>
        </p:grpSpPr>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B1DAD9CD-6C09-1AAF-08A8-DCFB4D056CD2}"/>
                    </a:ext>
                  </a:extLst>
                </p14:cNvPr>
                <p14:cNvContentPartPr/>
                <p14:nvPr/>
              </p14:nvContentPartPr>
              <p14:xfrm>
                <a:off x="1768256" y="2224631"/>
                <a:ext cx="9254880" cy="1308600"/>
              </p14:xfrm>
            </p:contentPart>
          </mc:Choice>
          <mc:Fallback xmlns="">
            <p:pic>
              <p:nvPicPr>
                <p:cNvPr id="4" name="Ink 3">
                  <a:extLst>
                    <a:ext uri="{FF2B5EF4-FFF2-40B4-BE49-F238E27FC236}">
                      <a16:creationId xmlns:a16="http://schemas.microsoft.com/office/drawing/2014/main" id="{B1DAD9CD-6C09-1AAF-08A8-DCFB4D056CD2}"/>
                    </a:ext>
                  </a:extLst>
                </p:cNvPr>
                <p:cNvPicPr/>
                <p:nvPr/>
              </p:nvPicPr>
              <p:blipFill>
                <a:blip r:embed="rId7"/>
                <a:stretch>
                  <a:fillRect/>
                </a:stretch>
              </p:blipFill>
              <p:spPr>
                <a:xfrm>
                  <a:off x="1762136" y="2218511"/>
                  <a:ext cx="9267120" cy="13208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B3D7B6E4-CAC2-D220-2990-9D0C01B300BD}"/>
                    </a:ext>
                  </a:extLst>
                </p14:cNvPr>
                <p14:cNvContentPartPr/>
                <p14:nvPr/>
              </p14:nvContentPartPr>
              <p14:xfrm>
                <a:off x="10959056" y="3596951"/>
                <a:ext cx="47880" cy="190080"/>
              </p14:xfrm>
            </p:contentPart>
          </mc:Choice>
          <mc:Fallback xmlns="">
            <p:pic>
              <p:nvPicPr>
                <p:cNvPr id="5" name="Ink 4">
                  <a:extLst>
                    <a:ext uri="{FF2B5EF4-FFF2-40B4-BE49-F238E27FC236}">
                      <a16:creationId xmlns:a16="http://schemas.microsoft.com/office/drawing/2014/main" id="{B3D7B6E4-CAC2-D220-2990-9D0C01B300BD}"/>
                    </a:ext>
                  </a:extLst>
                </p:cNvPr>
                <p:cNvPicPr/>
                <p:nvPr/>
              </p:nvPicPr>
              <p:blipFill>
                <a:blip r:embed="rId9"/>
                <a:stretch>
                  <a:fillRect/>
                </a:stretch>
              </p:blipFill>
              <p:spPr>
                <a:xfrm>
                  <a:off x="10952936" y="3590831"/>
                  <a:ext cx="60120" cy="202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65BF54CD-54A8-527E-F60E-C39EBFD3310A}"/>
                  </a:ext>
                </a:extLst>
              </p14:cNvPr>
              <p14:cNvContentPartPr/>
              <p14:nvPr/>
            </p14:nvContentPartPr>
            <p14:xfrm>
              <a:off x="11019536" y="3590111"/>
              <a:ext cx="605880" cy="720"/>
            </p14:xfrm>
          </p:contentPart>
        </mc:Choice>
        <mc:Fallback xmlns="">
          <p:pic>
            <p:nvPicPr>
              <p:cNvPr id="8" name="Ink 7">
                <a:extLst>
                  <a:ext uri="{FF2B5EF4-FFF2-40B4-BE49-F238E27FC236}">
                    <a16:creationId xmlns:a16="http://schemas.microsoft.com/office/drawing/2014/main" id="{65BF54CD-54A8-527E-F60E-C39EBFD3310A}"/>
                  </a:ext>
                </a:extLst>
              </p:cNvPr>
              <p:cNvPicPr/>
              <p:nvPr/>
            </p:nvPicPr>
            <p:blipFill>
              <a:blip r:embed="rId11"/>
              <a:stretch>
                <a:fillRect/>
              </a:stretch>
            </p:blipFill>
            <p:spPr>
              <a:xfrm>
                <a:off x="11013416" y="3577871"/>
                <a:ext cx="61812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B33B5980-0A95-3B1B-85C0-2357289DE290}"/>
                  </a:ext>
                </a:extLst>
              </p14:cNvPr>
              <p14:cNvContentPartPr/>
              <p14:nvPr/>
            </p14:nvContentPartPr>
            <p14:xfrm>
              <a:off x="10969136" y="3664271"/>
              <a:ext cx="615960" cy="162360"/>
            </p14:xfrm>
          </p:contentPart>
        </mc:Choice>
        <mc:Fallback xmlns="">
          <p:pic>
            <p:nvPicPr>
              <p:cNvPr id="9" name="Ink 8">
                <a:extLst>
                  <a:ext uri="{FF2B5EF4-FFF2-40B4-BE49-F238E27FC236}">
                    <a16:creationId xmlns:a16="http://schemas.microsoft.com/office/drawing/2014/main" id="{B33B5980-0A95-3B1B-85C0-2357289DE290}"/>
                  </a:ext>
                </a:extLst>
              </p:cNvPr>
              <p:cNvPicPr/>
              <p:nvPr/>
            </p:nvPicPr>
            <p:blipFill>
              <a:blip r:embed="rId13"/>
              <a:stretch>
                <a:fillRect/>
              </a:stretch>
            </p:blipFill>
            <p:spPr>
              <a:xfrm>
                <a:off x="10963016" y="3657791"/>
                <a:ext cx="628200" cy="174600"/>
              </a:xfrm>
              <a:prstGeom prst="rect">
                <a:avLst/>
              </a:prstGeom>
            </p:spPr>
          </p:pic>
        </mc:Fallback>
      </mc:AlternateContent>
    </p:spTree>
    <p:extLst>
      <p:ext uri="{BB962C8B-B14F-4D97-AF65-F5344CB8AC3E}">
        <p14:creationId xmlns:p14="http://schemas.microsoft.com/office/powerpoint/2010/main" val="14998217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002E3-ECB8-FEBC-C01F-803EC38CBD9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7369CF2-CC5C-8A31-9171-0B81BF00BF05}"/>
              </a:ext>
            </a:extLst>
          </p:cNvPr>
          <p:cNvSpPr>
            <a:spLocks noGrp="1"/>
          </p:cNvSpPr>
          <p:nvPr>
            <p:ph type="title"/>
          </p:nvPr>
        </p:nvSpPr>
        <p:spPr/>
        <p:txBody>
          <a:bodyPr wrap="square">
            <a:normAutofit/>
          </a:bodyPr>
          <a:lstStyle/>
          <a:p>
            <a:r>
              <a:rPr sz="3400"/>
              <a:t>Investigate the part table</a:t>
            </a:r>
          </a:p>
        </p:txBody>
      </p:sp>
      <p:sp>
        <p:nvSpPr>
          <p:cNvPr id="4" name="Text Placeholder 3">
            <a:extLst>
              <a:ext uri="{FF2B5EF4-FFF2-40B4-BE49-F238E27FC236}">
                <a16:creationId xmlns:a16="http://schemas.microsoft.com/office/drawing/2014/main" id="{E0BC5D07-6A29-A280-73DA-C512D82E17AC}"/>
              </a:ext>
            </a:extLst>
          </p:cNvPr>
          <p:cNvSpPr>
            <a:spLocks noGrp="1"/>
          </p:cNvSpPr>
          <p:nvPr>
            <p:ph type="body" idx="1"/>
          </p:nvPr>
        </p:nvSpPr>
        <p:spPr/>
        <p:txBody>
          <a:bodyPr wrap="square">
            <a:normAutofit/>
          </a:bodyPr>
          <a:lstStyle/>
          <a:p>
            <a:r>
              <a:rPr sz="1800"/>
              <a:t>The part table stores actual MMS components.</a:t>
            </a:r>
          </a:p>
        </p:txBody>
      </p:sp>
    </p:spTree>
    <p:extLst>
      <p:ext uri="{BB962C8B-B14F-4D97-AF65-F5344CB8AC3E}">
        <p14:creationId xmlns:p14="http://schemas.microsoft.com/office/powerpoint/2010/main" val="23865021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896F1F-140A-9A45-44BE-410B6AE5E59D}"/>
              </a:ext>
            </a:extLst>
          </p:cNvPr>
          <p:cNvSpPr>
            <a:spLocks noGrp="1"/>
          </p:cNvSpPr>
          <p:nvPr>
            <p:ph type="title"/>
          </p:nvPr>
        </p:nvSpPr>
        <p:spPr/>
        <p:txBody>
          <a:bodyPr wrap="square">
            <a:normAutofit/>
          </a:bodyPr>
          <a:lstStyle/>
          <a:p>
            <a:r>
              <a:rPr sz="3400"/>
              <a:t>Example: one MMS, multiple parts</a:t>
            </a:r>
          </a:p>
        </p:txBody>
      </p:sp>
      <p:sp>
        <p:nvSpPr>
          <p:cNvPr id="5" name="Content Placeholder 4">
            <a:extLst>
              <a:ext uri="{FF2B5EF4-FFF2-40B4-BE49-F238E27FC236}">
                <a16:creationId xmlns:a16="http://schemas.microsoft.com/office/drawing/2014/main" id="{6443703E-6C1F-ADB5-8DA0-D574BD37F3CD}"/>
              </a:ext>
            </a:extLst>
          </p:cNvPr>
          <p:cNvSpPr>
            <a:spLocks noGrp="1"/>
          </p:cNvSpPr>
          <p:nvPr>
            <p:ph idx="1"/>
          </p:nvPr>
        </p:nvSpPr>
        <p:spPr/>
        <p:txBody>
          <a:bodyPr wrap="square">
            <a:normAutofit/>
          </a:bodyPr>
          <a:lstStyle/>
          <a:p>
            <a:r>
              <a:rPr sz="2300" dirty="0"/>
              <a:t>Example MMS: </a:t>
            </a:r>
            <a:r>
              <a:rPr lang="en-US" sz="2300" dirty="0"/>
              <a:t>one message, </a:t>
            </a:r>
            <a:r>
              <a:rPr sz="2300" dirty="0"/>
              <a:t>one photo</a:t>
            </a:r>
            <a:r>
              <a:rPr lang="en-US" sz="2300" dirty="0"/>
              <a:t>,</a:t>
            </a:r>
            <a:r>
              <a:rPr sz="2300" dirty="0"/>
              <a:t> and one video.</a:t>
            </a:r>
          </a:p>
          <a:p>
            <a:r>
              <a:rPr sz="2300" dirty="0" err="1"/>
              <a:t>pdu</a:t>
            </a:r>
            <a:r>
              <a:rPr sz="2300" dirty="0"/>
              <a:t>: one row represents the MMS message.</a:t>
            </a:r>
          </a:p>
          <a:p>
            <a:r>
              <a:rPr sz="2300" dirty="0"/>
              <a:t>part: multiple rows represent each component.</a:t>
            </a:r>
          </a:p>
          <a:p>
            <a:r>
              <a:rPr sz="2300" dirty="0"/>
              <a:t>Row 1: text/plain → message body</a:t>
            </a:r>
          </a:p>
          <a:p>
            <a:r>
              <a:rPr sz="2300" dirty="0"/>
              <a:t>Row 2: image/jpeg → image attachment path/data</a:t>
            </a:r>
          </a:p>
          <a:p>
            <a:r>
              <a:rPr sz="2300" dirty="0"/>
              <a:t>Row 3: video/mp4 → video attachment path/data</a:t>
            </a:r>
          </a:p>
        </p:txBody>
      </p:sp>
    </p:spTree>
    <p:extLst>
      <p:ext uri="{BB962C8B-B14F-4D97-AF65-F5344CB8AC3E}">
        <p14:creationId xmlns:p14="http://schemas.microsoft.com/office/powerpoint/2010/main" val="39373316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a:extLst>
              <a:ext uri="{FF2B5EF4-FFF2-40B4-BE49-F238E27FC236}">
                <a16:creationId xmlns:a16="http://schemas.microsoft.com/office/drawing/2014/main" id="{6F5A7B29-626D-B93B-7A86-7832A2CED4A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92500" lnSpcReduction="20000"/>
          </a:bodyPr>
          <a:lstStyle/>
          <a:p>
            <a:endParaRPr lang="en-US"/>
          </a:p>
        </p:txBody>
      </p:sp>
      <p:pic>
        <p:nvPicPr>
          <p:cNvPr id="7" name="Picture 6">
            <a:extLst>
              <a:ext uri="{FF2B5EF4-FFF2-40B4-BE49-F238E27FC236}">
                <a16:creationId xmlns:a16="http://schemas.microsoft.com/office/drawing/2014/main" id="{F030DC72-770E-9A72-2BD5-497839DD77FD}"/>
              </a:ext>
            </a:extLst>
          </p:cNvPr>
          <p:cNvPicPr>
            <a:picLocks noChangeAspect="1"/>
          </p:cNvPicPr>
          <p:nvPr/>
        </p:nvPicPr>
        <p:blipFill>
          <a:blip r:embed="rId2"/>
          <a:stretch>
            <a:fillRect/>
          </a:stretch>
        </p:blipFill>
        <p:spPr>
          <a:xfrm>
            <a:off x="0" y="842818"/>
            <a:ext cx="12192000" cy="5172364"/>
          </a:xfrm>
          <a:prstGeom prst="rect">
            <a:avLst/>
          </a:prstGeom>
        </p:spPr>
      </p:pic>
    </p:spTree>
    <p:extLst>
      <p:ext uri="{BB962C8B-B14F-4D97-AF65-F5344CB8AC3E}">
        <p14:creationId xmlns:p14="http://schemas.microsoft.com/office/powerpoint/2010/main" val="26509417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63ECD-00BE-4819-A018-205CF4AEB8C4}"/>
              </a:ext>
            </a:extLst>
          </p:cNvPr>
          <p:cNvSpPr>
            <a:spLocks noGrp="1"/>
          </p:cNvSpPr>
          <p:nvPr>
            <p:ph type="title"/>
          </p:nvPr>
        </p:nvSpPr>
        <p:spPr>
          <a:xfrm>
            <a:off x="897731" y="174625"/>
            <a:ext cx="7190102" cy="1325563"/>
          </a:xfrm>
        </p:spPr>
        <p:txBody>
          <a:bodyPr wrap="square">
            <a:normAutofit/>
          </a:bodyPr>
          <a:lstStyle/>
          <a:p>
            <a:r>
              <a:rPr sz="3000"/>
              <a:t>The part table contains MMS components</a:t>
            </a:r>
            <a:endParaRPr lang="en-US" dirty="0"/>
          </a:p>
        </p:txBody>
      </p:sp>
      <p:pic>
        <p:nvPicPr>
          <p:cNvPr id="4" name="Picture 4">
            <a:extLst>
              <a:ext uri="{FF2B5EF4-FFF2-40B4-BE49-F238E27FC236}">
                <a16:creationId xmlns:a16="http://schemas.microsoft.com/office/drawing/2014/main" id="{407BFC37-0D15-4B92-ABEC-77E28E4725A2}"/>
              </a:ext>
            </a:extLst>
          </p:cNvPr>
          <p:cNvPicPr>
            <a:picLocks noChangeAspect="1"/>
          </p:cNvPicPr>
          <p:nvPr/>
        </p:nvPicPr>
        <p:blipFill>
          <a:blip r:embed="rId2"/>
          <a:stretch>
            <a:fillRect/>
          </a:stretch>
        </p:blipFill>
        <p:spPr>
          <a:xfrm>
            <a:off x="713757" y="2121753"/>
            <a:ext cx="10172699" cy="1851619"/>
          </a:xfrm>
          <a:prstGeom prst="rect">
            <a:avLst/>
          </a:prstGeom>
        </p:spPr>
      </p:pic>
      <p:sp>
        <p:nvSpPr>
          <p:cNvPr id="7" name="Rectangle 6">
            <a:extLst>
              <a:ext uri="{FF2B5EF4-FFF2-40B4-BE49-F238E27FC236}">
                <a16:creationId xmlns:a16="http://schemas.microsoft.com/office/drawing/2014/main" id="{4E73BF34-3D5E-4757-A44B-4791FFCD6211}"/>
              </a:ext>
            </a:extLst>
          </p:cNvPr>
          <p:cNvSpPr/>
          <p:nvPr/>
        </p:nvSpPr>
        <p:spPr>
          <a:xfrm>
            <a:off x="2498859" y="3519049"/>
            <a:ext cx="1021977" cy="46434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en-US"/>
          </a:p>
        </p:txBody>
      </p:sp>
      <p:sp>
        <p:nvSpPr>
          <p:cNvPr id="9" name="TextBox 8">
            <a:extLst>
              <a:ext uri="{FF2B5EF4-FFF2-40B4-BE49-F238E27FC236}">
                <a16:creationId xmlns:a16="http://schemas.microsoft.com/office/drawing/2014/main" id="{42411764-9368-4AC4-A59F-2FE58310C0C8}"/>
              </a:ext>
            </a:extLst>
          </p:cNvPr>
          <p:cNvSpPr txBox="1"/>
          <p:nvPr/>
        </p:nvSpPr>
        <p:spPr>
          <a:xfrm>
            <a:off x="660417" y="4328267"/>
            <a:ext cx="1067263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p>
            <a:pPr marL="342900" indent="-342900">
              <a:buFont typeface="Arial" panose="020B0604020202020204" pitchFamily="34" charset="0"/>
              <a:buChar char="•"/>
            </a:pPr>
            <a:r>
              <a:rPr sz="1700" dirty="0"/>
              <a:t>If an MMS contains text, a layout file, and media, the part table stores separate rows for those components.</a:t>
            </a:r>
            <a:endParaRPr lang="en-US" dirty="0">
              <a:cs typeface="Calibri"/>
            </a:endParaRPr>
          </a:p>
          <a:p>
            <a:r>
              <a:rPr sz="1700" dirty="0"/>
              <a:t>Important columns:</a:t>
            </a:r>
          </a:p>
          <a:p>
            <a:pPr marL="742950" lvl="1" indent="-285750">
              <a:buFont typeface="Arial" panose="020B0604020202020204" pitchFamily="34" charset="0"/>
              <a:buChar char="•"/>
            </a:pPr>
            <a:r>
              <a:rPr sz="1700" dirty="0"/>
              <a:t>_id: unique component record</a:t>
            </a:r>
          </a:p>
          <a:p>
            <a:pPr marL="742950" lvl="1" indent="-285750">
              <a:buFont typeface="Arial" panose="020B0604020202020204" pitchFamily="34" charset="0"/>
              <a:buChar char="•"/>
            </a:pPr>
            <a:r>
              <a:rPr sz="1700" dirty="0"/>
              <a:t>mid: MMS message ID that links back to </a:t>
            </a:r>
            <a:r>
              <a:rPr sz="1700" dirty="0" err="1"/>
              <a:t>pdu</a:t>
            </a:r>
            <a:r>
              <a:rPr sz="1700" dirty="0"/>
              <a:t>._id</a:t>
            </a:r>
          </a:p>
          <a:p>
            <a:pPr marL="742950" lvl="1" indent="-285750">
              <a:buFont typeface="Arial" panose="020B0604020202020204" pitchFamily="34" charset="0"/>
              <a:buChar char="•"/>
            </a:pPr>
            <a:r>
              <a:rPr sz="1700" dirty="0" err="1"/>
              <a:t>ct</a:t>
            </a:r>
            <a:r>
              <a:rPr sz="1700" dirty="0"/>
              <a:t>: content type, such as text/plain or image/jpeg</a:t>
            </a:r>
          </a:p>
          <a:p>
            <a:pPr marL="742950" lvl="1" indent="-285750">
              <a:buFont typeface="Arial" panose="020B0604020202020204" pitchFamily="34" charset="0"/>
              <a:buChar char="•"/>
            </a:pPr>
            <a:r>
              <a:rPr sz="1700" dirty="0"/>
              <a:t>cl: content-location name, such as image01.jpg or smil.xml</a:t>
            </a:r>
          </a:p>
          <a:p>
            <a:pPr marL="742950" lvl="1" indent="-285750">
              <a:buFont typeface="Arial" panose="020B0604020202020204" pitchFamily="34" charset="0"/>
              <a:buChar char="•"/>
            </a:pPr>
            <a:r>
              <a:rPr sz="1700" dirty="0"/>
              <a:t>text or _data: the body text or media location</a:t>
            </a:r>
          </a:p>
        </p:txBody>
      </p:sp>
      <p:sp>
        <p:nvSpPr>
          <p:cNvPr id="8" name="Rectangle 7">
            <a:extLst>
              <a:ext uri="{FF2B5EF4-FFF2-40B4-BE49-F238E27FC236}">
                <a16:creationId xmlns:a16="http://schemas.microsoft.com/office/drawing/2014/main" id="{DF054C5A-61D5-4D3C-8ED5-09D5491C2E26}"/>
              </a:ext>
            </a:extLst>
          </p:cNvPr>
          <p:cNvSpPr/>
          <p:nvPr/>
        </p:nvSpPr>
        <p:spPr>
          <a:xfrm>
            <a:off x="1103626" y="2221816"/>
            <a:ext cx="684507" cy="2195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55000" lnSpcReduction="20000"/>
          </a:bodyPr>
          <a:lstStyle/>
          <a:p>
            <a:pPr algn="ctr"/>
            <a:endParaRPr lang="en-US"/>
          </a:p>
        </p:txBody>
      </p:sp>
      <p:sp>
        <p:nvSpPr>
          <p:cNvPr id="14" name="Rectangle 13">
            <a:extLst>
              <a:ext uri="{FF2B5EF4-FFF2-40B4-BE49-F238E27FC236}">
                <a16:creationId xmlns:a16="http://schemas.microsoft.com/office/drawing/2014/main" id="{446E0F87-7DA3-4D16-A2F2-CDE594EFC709}"/>
              </a:ext>
            </a:extLst>
          </p:cNvPr>
          <p:cNvSpPr/>
          <p:nvPr/>
        </p:nvSpPr>
        <p:spPr>
          <a:xfrm>
            <a:off x="8245236" y="3519049"/>
            <a:ext cx="2641220" cy="46434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en-US"/>
          </a:p>
        </p:txBody>
      </p:sp>
      <p:sp>
        <p:nvSpPr>
          <p:cNvPr id="5" name="TextBox 4">
            <a:extLst>
              <a:ext uri="{FF2B5EF4-FFF2-40B4-BE49-F238E27FC236}">
                <a16:creationId xmlns:a16="http://schemas.microsoft.com/office/drawing/2014/main" id="{1B7912A6-7897-70F9-4193-C5AC949DEE4F}"/>
              </a:ext>
            </a:extLst>
          </p:cNvPr>
          <p:cNvSpPr txBox="1"/>
          <p:nvPr/>
        </p:nvSpPr>
        <p:spPr>
          <a:xfrm>
            <a:off x="4057262" y="1581532"/>
            <a:ext cx="3952806" cy="369332"/>
          </a:xfrm>
          <a:prstGeom prst="rect">
            <a:avLst/>
          </a:prstGeom>
          <a:solidFill>
            <a:schemeClr val="accent4">
              <a:lumMod val="20000"/>
              <a:lumOff val="80000"/>
            </a:schemeClr>
          </a:solidFill>
        </p:spPr>
        <p:txBody>
          <a:bodyPr wrap="square">
            <a:normAutofit/>
          </a:bodyPr>
          <a:lstStyle/>
          <a:p>
            <a:r>
              <a:rPr sz="1600"/>
              <a:t>part.mid links to pdu._id</a:t>
            </a:r>
          </a:p>
        </p:txBody>
      </p:sp>
      <p:sp>
        <p:nvSpPr>
          <p:cNvPr id="6" name="Rectangle 5">
            <a:extLst>
              <a:ext uri="{FF2B5EF4-FFF2-40B4-BE49-F238E27FC236}">
                <a16:creationId xmlns:a16="http://schemas.microsoft.com/office/drawing/2014/main" id="{318DC70F-E442-25FB-AF81-6F55AED1F6C6}"/>
              </a:ext>
            </a:extLst>
          </p:cNvPr>
          <p:cNvSpPr/>
          <p:nvPr/>
        </p:nvSpPr>
        <p:spPr>
          <a:xfrm>
            <a:off x="1445880" y="2505849"/>
            <a:ext cx="518216" cy="2195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55000" lnSpcReduction="20000"/>
          </a:bodyPr>
          <a:lstStyle/>
          <a:p>
            <a:pPr algn="ctr"/>
            <a:endParaRPr lang="en-US"/>
          </a:p>
        </p:txBody>
      </p:sp>
      <p:grpSp>
        <p:nvGrpSpPr>
          <p:cNvPr id="20" name="Group 19">
            <a:extLst>
              <a:ext uri="{FF2B5EF4-FFF2-40B4-BE49-F238E27FC236}">
                <a16:creationId xmlns:a16="http://schemas.microsoft.com/office/drawing/2014/main" id="{91DC9EE7-F276-1DF1-6AD6-16295C4E6D2F}"/>
              </a:ext>
            </a:extLst>
          </p:cNvPr>
          <p:cNvGrpSpPr/>
          <p:nvPr/>
        </p:nvGrpSpPr>
        <p:grpSpPr>
          <a:xfrm>
            <a:off x="1174741" y="3931175"/>
            <a:ext cx="7431480" cy="2458403"/>
            <a:chOff x="1437011" y="3586331"/>
            <a:chExt cx="7431480" cy="2752200"/>
          </a:xfrm>
        </p:grpSpPr>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9C688AFD-8C52-AA53-2915-136225E79559}"/>
                    </a:ext>
                  </a:extLst>
                </p14:cNvPr>
                <p14:cNvContentPartPr/>
                <p14:nvPr/>
              </p14:nvContentPartPr>
              <p14:xfrm>
                <a:off x="1437011" y="5322971"/>
                <a:ext cx="911160" cy="433440"/>
              </p14:xfrm>
            </p:contentPart>
          </mc:Choice>
          <mc:Fallback xmlns="">
            <p:pic>
              <p:nvPicPr>
                <p:cNvPr id="3" name="Ink 2">
                  <a:extLst>
                    <a:ext uri="{FF2B5EF4-FFF2-40B4-BE49-F238E27FC236}">
                      <a16:creationId xmlns:a16="http://schemas.microsoft.com/office/drawing/2014/main" id="{9C688AFD-8C52-AA53-2915-136225E79559}"/>
                    </a:ext>
                  </a:extLst>
                </p:cNvPr>
                <p:cNvPicPr/>
                <p:nvPr/>
              </p:nvPicPr>
              <p:blipFill>
                <a:blip r:embed="rId4"/>
                <a:stretch>
                  <a:fillRect/>
                </a:stretch>
              </p:blipFill>
              <p:spPr>
                <a:xfrm>
                  <a:off x="1430891" y="5316851"/>
                  <a:ext cx="923400" cy="445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6D46E265-FB5E-A488-FEBA-F01718F3226F}"/>
                    </a:ext>
                  </a:extLst>
                </p14:cNvPr>
                <p14:cNvContentPartPr/>
                <p14:nvPr/>
              </p14:nvContentPartPr>
              <p14:xfrm>
                <a:off x="1494971" y="3612971"/>
                <a:ext cx="1302840" cy="1781640"/>
              </p14:xfrm>
            </p:contentPart>
          </mc:Choice>
          <mc:Fallback xmlns="">
            <p:pic>
              <p:nvPicPr>
                <p:cNvPr id="10" name="Ink 9">
                  <a:extLst>
                    <a:ext uri="{FF2B5EF4-FFF2-40B4-BE49-F238E27FC236}">
                      <a16:creationId xmlns:a16="http://schemas.microsoft.com/office/drawing/2014/main" id="{6D46E265-FB5E-A488-FEBA-F01718F3226F}"/>
                    </a:ext>
                  </a:extLst>
                </p:cNvPr>
                <p:cNvPicPr/>
                <p:nvPr/>
              </p:nvPicPr>
              <p:blipFill>
                <a:blip r:embed="rId6"/>
                <a:stretch>
                  <a:fillRect/>
                </a:stretch>
              </p:blipFill>
              <p:spPr>
                <a:xfrm>
                  <a:off x="1488851" y="3606851"/>
                  <a:ext cx="1315080" cy="1793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0E035EFF-5C94-F776-1389-EEA37BE46287}"/>
                    </a:ext>
                  </a:extLst>
                </p14:cNvPr>
                <p14:cNvContentPartPr/>
                <p14:nvPr/>
              </p14:nvContentPartPr>
              <p14:xfrm>
                <a:off x="2572811" y="3586331"/>
                <a:ext cx="356760" cy="226440"/>
              </p14:xfrm>
            </p:contentPart>
          </mc:Choice>
          <mc:Fallback xmlns="">
            <p:pic>
              <p:nvPicPr>
                <p:cNvPr id="12" name="Ink 11">
                  <a:extLst>
                    <a:ext uri="{FF2B5EF4-FFF2-40B4-BE49-F238E27FC236}">
                      <a16:creationId xmlns:a16="http://schemas.microsoft.com/office/drawing/2014/main" id="{0E035EFF-5C94-F776-1389-EEA37BE46287}"/>
                    </a:ext>
                  </a:extLst>
                </p:cNvPr>
                <p:cNvPicPr/>
                <p:nvPr/>
              </p:nvPicPr>
              <p:blipFill>
                <a:blip r:embed="rId8"/>
                <a:stretch>
                  <a:fillRect/>
                </a:stretch>
              </p:blipFill>
              <p:spPr>
                <a:xfrm>
                  <a:off x="2566691" y="3580211"/>
                  <a:ext cx="36900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00F67FE4-E748-C125-B694-15EC7444464D}"/>
                    </a:ext>
                  </a:extLst>
                </p14:cNvPr>
                <p14:cNvContentPartPr/>
                <p14:nvPr/>
              </p14:nvContentPartPr>
              <p14:xfrm>
                <a:off x="1446371" y="5733731"/>
                <a:ext cx="971640" cy="356040"/>
              </p14:xfrm>
            </p:contentPart>
          </mc:Choice>
          <mc:Fallback xmlns="">
            <p:pic>
              <p:nvPicPr>
                <p:cNvPr id="15" name="Ink 14">
                  <a:extLst>
                    <a:ext uri="{FF2B5EF4-FFF2-40B4-BE49-F238E27FC236}">
                      <a16:creationId xmlns:a16="http://schemas.microsoft.com/office/drawing/2014/main" id="{00F67FE4-E748-C125-B694-15EC7444464D}"/>
                    </a:ext>
                  </a:extLst>
                </p:cNvPr>
                <p:cNvPicPr/>
                <p:nvPr/>
              </p:nvPicPr>
              <p:blipFill>
                <a:blip r:embed="rId10"/>
                <a:stretch>
                  <a:fillRect/>
                </a:stretch>
              </p:blipFill>
              <p:spPr>
                <a:xfrm>
                  <a:off x="1440251" y="5727611"/>
                  <a:ext cx="98388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7" name="Ink 16">
                  <a:extLst>
                    <a:ext uri="{FF2B5EF4-FFF2-40B4-BE49-F238E27FC236}">
                      <a16:creationId xmlns:a16="http://schemas.microsoft.com/office/drawing/2014/main" id="{C83C66BE-A650-E918-8A3D-60E901BEA3DE}"/>
                    </a:ext>
                  </a:extLst>
                </p14:cNvPr>
                <p14:cNvContentPartPr/>
                <p14:nvPr/>
              </p14:nvContentPartPr>
              <p14:xfrm>
                <a:off x="2530331" y="3702251"/>
                <a:ext cx="6218640" cy="2636280"/>
              </p14:xfrm>
            </p:contentPart>
          </mc:Choice>
          <mc:Fallback xmlns="">
            <p:pic>
              <p:nvPicPr>
                <p:cNvPr id="17" name="Ink 16">
                  <a:extLst>
                    <a:ext uri="{FF2B5EF4-FFF2-40B4-BE49-F238E27FC236}">
                      <a16:creationId xmlns:a16="http://schemas.microsoft.com/office/drawing/2014/main" id="{C83C66BE-A650-E918-8A3D-60E901BEA3DE}"/>
                    </a:ext>
                  </a:extLst>
                </p:cNvPr>
                <p:cNvPicPr/>
                <p:nvPr/>
              </p:nvPicPr>
              <p:blipFill>
                <a:blip r:embed="rId12"/>
                <a:stretch>
                  <a:fillRect/>
                </a:stretch>
              </p:blipFill>
              <p:spPr>
                <a:xfrm>
                  <a:off x="2524211" y="3696131"/>
                  <a:ext cx="6230880" cy="2648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E21030F9-B775-A929-C114-847AD9609553}"/>
                    </a:ext>
                  </a:extLst>
                </p14:cNvPr>
                <p14:cNvContentPartPr/>
                <p14:nvPr/>
              </p14:nvContentPartPr>
              <p14:xfrm>
                <a:off x="8640611" y="3652571"/>
                <a:ext cx="227880" cy="252000"/>
              </p14:xfrm>
            </p:contentPart>
          </mc:Choice>
          <mc:Fallback xmlns="">
            <p:pic>
              <p:nvPicPr>
                <p:cNvPr id="19" name="Ink 18">
                  <a:extLst>
                    <a:ext uri="{FF2B5EF4-FFF2-40B4-BE49-F238E27FC236}">
                      <a16:creationId xmlns:a16="http://schemas.microsoft.com/office/drawing/2014/main" id="{E21030F9-B775-A929-C114-847AD9609553}"/>
                    </a:ext>
                  </a:extLst>
                </p:cNvPr>
                <p:cNvPicPr/>
                <p:nvPr/>
              </p:nvPicPr>
              <p:blipFill>
                <a:blip r:embed="rId14"/>
                <a:stretch>
                  <a:fillRect/>
                </a:stretch>
              </p:blipFill>
              <p:spPr>
                <a:xfrm>
                  <a:off x="8634491" y="3646451"/>
                  <a:ext cx="240120" cy="264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21" name="Ink 20">
                <a:extLst>
                  <a:ext uri="{FF2B5EF4-FFF2-40B4-BE49-F238E27FC236}">
                    <a16:creationId xmlns:a16="http://schemas.microsoft.com/office/drawing/2014/main" id="{92465F4B-C93B-F1B2-448E-7EC4FD7295DA}"/>
                  </a:ext>
                </a:extLst>
              </p14:cNvPr>
              <p14:cNvContentPartPr/>
              <p14:nvPr/>
            </p14:nvContentPartPr>
            <p14:xfrm>
              <a:off x="10994101" y="5327615"/>
              <a:ext cx="360" cy="360"/>
            </p14:xfrm>
          </p:contentPart>
        </mc:Choice>
        <mc:Fallback xmlns="">
          <p:pic>
            <p:nvPicPr>
              <p:cNvPr id="21" name="Ink 20">
                <a:extLst>
                  <a:ext uri="{FF2B5EF4-FFF2-40B4-BE49-F238E27FC236}">
                    <a16:creationId xmlns:a16="http://schemas.microsoft.com/office/drawing/2014/main" id="{92465F4B-C93B-F1B2-448E-7EC4FD7295DA}"/>
                  </a:ext>
                </a:extLst>
              </p:cNvPr>
              <p:cNvPicPr/>
              <p:nvPr/>
            </p:nvPicPr>
            <p:blipFill>
              <a:blip r:embed="rId16"/>
              <a:stretch>
                <a:fillRect/>
              </a:stretch>
            </p:blipFill>
            <p:spPr>
              <a:xfrm>
                <a:off x="10987981" y="5321495"/>
                <a:ext cx="12600" cy="12600"/>
              </a:xfrm>
              <a:prstGeom prst="rect">
                <a:avLst/>
              </a:prstGeom>
            </p:spPr>
          </p:pic>
        </mc:Fallback>
      </mc:AlternateContent>
      <p:pic>
        <p:nvPicPr>
          <p:cNvPr id="22" name="Picture 21">
            <a:extLst>
              <a:ext uri="{FF2B5EF4-FFF2-40B4-BE49-F238E27FC236}">
                <a16:creationId xmlns:a16="http://schemas.microsoft.com/office/drawing/2014/main" id="{6D5BCD3A-3A47-DE2B-7C4E-8DB142A07FF5}"/>
              </a:ext>
            </a:extLst>
          </p:cNvPr>
          <p:cNvPicPr>
            <a:picLocks noChangeAspect="1"/>
          </p:cNvPicPr>
          <p:nvPr/>
        </p:nvPicPr>
        <p:blipFill>
          <a:blip r:embed="rId17"/>
          <a:srcRect r="64550" b="39349"/>
          <a:stretch>
            <a:fillRect/>
          </a:stretch>
        </p:blipFill>
        <p:spPr>
          <a:xfrm>
            <a:off x="8307572" y="528315"/>
            <a:ext cx="3412525" cy="1503893"/>
          </a:xfrm>
          <a:prstGeom prst="rect">
            <a:avLst/>
          </a:prstGeom>
        </p:spPr>
      </p:pic>
      <mc:AlternateContent xmlns:mc="http://schemas.openxmlformats.org/markup-compatibility/2006" xmlns:p14="http://schemas.microsoft.com/office/powerpoint/2010/main">
        <mc:Choice Requires="p14">
          <p:contentPart p14:bwMode="auto" r:id="rId18">
            <p14:nvContentPartPr>
              <p14:cNvPr id="25" name="Ink 24">
                <a:extLst>
                  <a:ext uri="{FF2B5EF4-FFF2-40B4-BE49-F238E27FC236}">
                    <a16:creationId xmlns:a16="http://schemas.microsoft.com/office/drawing/2014/main" id="{61E78B04-35E4-6A1E-3298-AD9F7CF46C5D}"/>
                  </a:ext>
                </a:extLst>
              </p14:cNvPr>
              <p14:cNvContentPartPr/>
              <p14:nvPr/>
            </p14:nvContentPartPr>
            <p14:xfrm>
              <a:off x="1735091" y="3440874"/>
              <a:ext cx="350810" cy="508697"/>
            </p14:xfrm>
          </p:contentPart>
        </mc:Choice>
        <mc:Fallback xmlns="">
          <p:pic>
            <p:nvPicPr>
              <p:cNvPr id="25" name="Ink 24">
                <a:extLst>
                  <a:ext uri="{FF2B5EF4-FFF2-40B4-BE49-F238E27FC236}">
                    <a16:creationId xmlns:a16="http://schemas.microsoft.com/office/drawing/2014/main" id="{61E78B04-35E4-6A1E-3298-AD9F7CF46C5D}"/>
                  </a:ext>
                </a:extLst>
              </p:cNvPr>
              <p:cNvPicPr/>
              <p:nvPr/>
            </p:nvPicPr>
            <p:blipFill>
              <a:blip r:embed="rId19"/>
              <a:stretch>
                <a:fillRect/>
              </a:stretch>
            </p:blipFill>
            <p:spPr>
              <a:xfrm>
                <a:off x="1728968" y="3434754"/>
                <a:ext cx="363056" cy="520937"/>
              </a:xfrm>
              <a:prstGeom prst="rect">
                <a:avLst/>
              </a:prstGeom>
            </p:spPr>
          </p:pic>
        </mc:Fallback>
      </mc:AlternateContent>
      <p:grpSp>
        <p:nvGrpSpPr>
          <p:cNvPr id="28" name="Group 27">
            <a:extLst>
              <a:ext uri="{FF2B5EF4-FFF2-40B4-BE49-F238E27FC236}">
                <a16:creationId xmlns:a16="http://schemas.microsoft.com/office/drawing/2014/main" id="{B690649E-FDB8-8CBB-510A-D0FE48705595}"/>
              </a:ext>
            </a:extLst>
          </p:cNvPr>
          <p:cNvGrpSpPr/>
          <p:nvPr/>
        </p:nvGrpSpPr>
        <p:grpSpPr>
          <a:xfrm>
            <a:off x="1991771" y="1849331"/>
            <a:ext cx="6960960" cy="1744560"/>
            <a:chOff x="1991771" y="1849331"/>
            <a:chExt cx="6960960" cy="1744560"/>
          </a:xfrm>
        </p:grpSpPr>
        <mc:AlternateContent xmlns:mc="http://schemas.openxmlformats.org/markup-compatibility/2006" xmlns:p14="http://schemas.microsoft.com/office/powerpoint/2010/main">
          <mc:Choice Requires="p14">
            <p:contentPart p14:bwMode="auto" r:id="rId20">
              <p14:nvContentPartPr>
                <p14:cNvPr id="26" name="Ink 25">
                  <a:extLst>
                    <a:ext uri="{FF2B5EF4-FFF2-40B4-BE49-F238E27FC236}">
                      <a16:creationId xmlns:a16="http://schemas.microsoft.com/office/drawing/2014/main" id="{7CE22F77-BE5F-C2DE-E926-A87F1CBC2AAA}"/>
                    </a:ext>
                  </a:extLst>
                </p14:cNvPr>
                <p14:cNvContentPartPr/>
                <p14:nvPr/>
              </p14:nvContentPartPr>
              <p14:xfrm>
                <a:off x="1991771" y="1911971"/>
                <a:ext cx="6648120" cy="1681920"/>
              </p14:xfrm>
            </p:contentPart>
          </mc:Choice>
          <mc:Fallback xmlns="">
            <p:pic>
              <p:nvPicPr>
                <p:cNvPr id="26" name="Ink 25">
                  <a:extLst>
                    <a:ext uri="{FF2B5EF4-FFF2-40B4-BE49-F238E27FC236}">
                      <a16:creationId xmlns:a16="http://schemas.microsoft.com/office/drawing/2014/main" id="{7CE22F77-BE5F-C2DE-E926-A87F1CBC2AAA}"/>
                    </a:ext>
                  </a:extLst>
                </p:cNvPr>
                <p:cNvPicPr/>
                <p:nvPr/>
              </p:nvPicPr>
              <p:blipFill>
                <a:blip r:embed="rId21"/>
                <a:stretch>
                  <a:fillRect/>
                </a:stretch>
              </p:blipFill>
              <p:spPr>
                <a:xfrm>
                  <a:off x="1985651" y="1905851"/>
                  <a:ext cx="6660360" cy="1694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7" name="Ink 26">
                  <a:extLst>
                    <a:ext uri="{FF2B5EF4-FFF2-40B4-BE49-F238E27FC236}">
                      <a16:creationId xmlns:a16="http://schemas.microsoft.com/office/drawing/2014/main" id="{81D7A224-4E66-2E47-8FAF-BEE0A9251745}"/>
                    </a:ext>
                  </a:extLst>
                </p14:cNvPr>
                <p14:cNvContentPartPr/>
                <p14:nvPr/>
              </p14:nvContentPartPr>
              <p14:xfrm>
                <a:off x="8681291" y="1849331"/>
                <a:ext cx="271440" cy="172800"/>
              </p14:xfrm>
            </p:contentPart>
          </mc:Choice>
          <mc:Fallback xmlns="">
            <p:pic>
              <p:nvPicPr>
                <p:cNvPr id="27" name="Ink 26">
                  <a:extLst>
                    <a:ext uri="{FF2B5EF4-FFF2-40B4-BE49-F238E27FC236}">
                      <a16:creationId xmlns:a16="http://schemas.microsoft.com/office/drawing/2014/main" id="{81D7A224-4E66-2E47-8FAF-BEE0A9251745}"/>
                    </a:ext>
                  </a:extLst>
                </p:cNvPr>
                <p:cNvPicPr/>
                <p:nvPr/>
              </p:nvPicPr>
              <p:blipFill>
                <a:blip r:embed="rId23"/>
                <a:stretch>
                  <a:fillRect/>
                </a:stretch>
              </p:blipFill>
              <p:spPr>
                <a:xfrm>
                  <a:off x="8675171" y="1843211"/>
                  <a:ext cx="283680" cy="185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29" name="Ink 28">
                <a:extLst>
                  <a:ext uri="{FF2B5EF4-FFF2-40B4-BE49-F238E27FC236}">
                    <a16:creationId xmlns:a16="http://schemas.microsoft.com/office/drawing/2014/main" id="{BE5CFF0D-55EB-D683-F65D-C2F620FAA321}"/>
                  </a:ext>
                </a:extLst>
              </p14:cNvPr>
              <p14:cNvContentPartPr/>
              <p14:nvPr/>
            </p14:nvContentPartPr>
            <p14:xfrm>
              <a:off x="11333051" y="1856891"/>
              <a:ext cx="286560" cy="200880"/>
            </p14:xfrm>
          </p:contentPart>
        </mc:Choice>
        <mc:Fallback xmlns="">
          <p:pic>
            <p:nvPicPr>
              <p:cNvPr id="29" name="Ink 28">
                <a:extLst>
                  <a:ext uri="{FF2B5EF4-FFF2-40B4-BE49-F238E27FC236}">
                    <a16:creationId xmlns:a16="http://schemas.microsoft.com/office/drawing/2014/main" id="{BE5CFF0D-55EB-D683-F65D-C2F620FAA321}"/>
                  </a:ext>
                </a:extLst>
              </p:cNvPr>
              <p:cNvPicPr/>
              <p:nvPr/>
            </p:nvPicPr>
            <p:blipFill>
              <a:blip r:embed="rId25"/>
              <a:stretch>
                <a:fillRect/>
              </a:stretch>
            </p:blipFill>
            <p:spPr>
              <a:xfrm>
                <a:off x="11326931" y="1850771"/>
                <a:ext cx="298800" cy="213120"/>
              </a:xfrm>
              <a:prstGeom prst="rect">
                <a:avLst/>
              </a:prstGeom>
            </p:spPr>
          </p:pic>
        </mc:Fallback>
      </mc:AlternateContent>
    </p:spTree>
    <p:extLst>
      <p:ext uri="{BB962C8B-B14F-4D97-AF65-F5344CB8AC3E}">
        <p14:creationId xmlns:p14="http://schemas.microsoft.com/office/powerpoint/2010/main" val="27805481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F6D0AF8-1F0F-2E23-099F-66BD9DE13B1C}"/>
              </a:ext>
            </a:extLst>
          </p:cNvPr>
          <p:cNvSpPr>
            <a:spLocks noGrp="1"/>
          </p:cNvSpPr>
          <p:nvPr>
            <p:ph type="title"/>
          </p:nvPr>
        </p:nvSpPr>
        <p:spPr/>
        <p:txBody>
          <a:bodyPr wrap="square">
            <a:normAutofit/>
          </a:bodyPr>
          <a:lstStyle/>
          <a:p>
            <a:r>
              <a:rPr sz="3400"/>
              <a:t>Reconstruct an MMS message using pdu, part, and addr</a:t>
            </a:r>
          </a:p>
        </p:txBody>
      </p:sp>
      <p:sp>
        <p:nvSpPr>
          <p:cNvPr id="5" name="Text Placeholder 4">
            <a:extLst>
              <a:ext uri="{FF2B5EF4-FFF2-40B4-BE49-F238E27FC236}">
                <a16:creationId xmlns:a16="http://schemas.microsoft.com/office/drawing/2014/main" id="{CF527BC2-6FB2-E42D-146B-8E92DAA853AA}"/>
              </a:ext>
            </a:extLst>
          </p:cNvPr>
          <p:cNvSpPr>
            <a:spLocks noGrp="1"/>
          </p:cNvSpPr>
          <p:nvPr>
            <p:ph type="body" idx="1"/>
          </p:nvPr>
        </p:nvSpPr>
        <p:spPr/>
        <p:txBody>
          <a:bodyPr wrap="square">
            <a:normAutofit/>
          </a:bodyPr>
          <a:lstStyle/>
          <a:p>
            <a:endParaRPr lang="en-US"/>
          </a:p>
        </p:txBody>
      </p:sp>
    </p:spTree>
    <p:extLst>
      <p:ext uri="{BB962C8B-B14F-4D97-AF65-F5344CB8AC3E}">
        <p14:creationId xmlns:p14="http://schemas.microsoft.com/office/powerpoint/2010/main" val="19606536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BE7A1430-269E-AE19-6D45-5078558D8490}"/>
              </a:ext>
            </a:extLst>
          </p:cNvPr>
          <p:cNvPicPr>
            <a:picLocks noChangeAspect="1"/>
          </p:cNvPicPr>
          <p:nvPr/>
        </p:nvPicPr>
        <p:blipFill>
          <a:blip r:embed="rId2"/>
          <a:stretch>
            <a:fillRect/>
          </a:stretch>
        </p:blipFill>
        <p:spPr>
          <a:xfrm>
            <a:off x="0" y="437388"/>
            <a:ext cx="12079224" cy="603961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2A7EE5-84F1-A163-490F-1626DE6451A0}"/>
              </a:ext>
            </a:extLst>
          </p:cNvPr>
          <p:cNvSpPr>
            <a:spLocks noGrp="1"/>
          </p:cNvSpPr>
          <p:nvPr>
            <p:ph type="title"/>
          </p:nvPr>
        </p:nvSpPr>
        <p:spPr/>
        <p:txBody>
          <a:bodyPr wrap="square">
            <a:normAutofit/>
          </a:bodyPr>
          <a:lstStyle/>
          <a:p>
            <a:r>
              <a:rPr sz="3400"/>
              <a:t>MMS reconstruction logic</a:t>
            </a:r>
          </a:p>
        </p:txBody>
      </p:sp>
      <p:sp>
        <p:nvSpPr>
          <p:cNvPr id="5" name="Content Placeholder 4">
            <a:extLst>
              <a:ext uri="{FF2B5EF4-FFF2-40B4-BE49-F238E27FC236}">
                <a16:creationId xmlns:a16="http://schemas.microsoft.com/office/drawing/2014/main" id="{5B00FEB3-0481-E18A-1388-76BE71D3240B}"/>
              </a:ext>
            </a:extLst>
          </p:cNvPr>
          <p:cNvSpPr>
            <a:spLocks noGrp="1"/>
          </p:cNvSpPr>
          <p:nvPr>
            <p:ph idx="1"/>
          </p:nvPr>
        </p:nvSpPr>
        <p:spPr/>
        <p:txBody>
          <a:bodyPr wrap="square">
            <a:normAutofit/>
          </a:bodyPr>
          <a:lstStyle/>
          <a:p>
            <a:r>
              <a:rPr sz="2400"/>
              <a:t>pdu stores message-level metadata: time, direction, type, and status.</a:t>
            </a:r>
          </a:p>
          <a:p>
            <a:r>
              <a:rPr sz="2400"/>
              <a:t>part stores the components of the MMS: text, SMIL layout, and media.</a:t>
            </a:r>
          </a:p>
          <a:p>
            <a:r>
              <a:rPr sz="2400"/>
              <a:t>addr stores sender and recipient records.</a:t>
            </a:r>
          </a:p>
          <a:p>
            <a:r>
              <a:rPr sz="2400"/>
              <a:t>The key join is pdu._id = part.mid, and pdu._id = addr.msg_id.</a:t>
            </a:r>
          </a:p>
        </p:txBody>
      </p:sp>
    </p:spTree>
    <p:extLst>
      <p:ext uri="{BB962C8B-B14F-4D97-AF65-F5344CB8AC3E}">
        <p14:creationId xmlns:p14="http://schemas.microsoft.com/office/powerpoint/2010/main" val="10507205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BE9E-7CCB-5A6F-56D2-D191C7D9D5DE}"/>
              </a:ext>
            </a:extLst>
          </p:cNvPr>
          <p:cNvSpPr>
            <a:spLocks noGrp="1"/>
          </p:cNvSpPr>
          <p:nvPr>
            <p:ph type="title"/>
          </p:nvPr>
        </p:nvSpPr>
        <p:spPr/>
        <p:txBody>
          <a:bodyPr wrap="square">
            <a:normAutofit/>
          </a:bodyPr>
          <a:lstStyle/>
          <a:p>
            <a:r>
              <a:rPr sz="3400"/>
              <a:t>MMS reconstruction steps</a:t>
            </a:r>
          </a:p>
        </p:txBody>
      </p:sp>
      <p:sp>
        <p:nvSpPr>
          <p:cNvPr id="3" name="Content Placeholder 2">
            <a:extLst>
              <a:ext uri="{FF2B5EF4-FFF2-40B4-BE49-F238E27FC236}">
                <a16:creationId xmlns:a16="http://schemas.microsoft.com/office/drawing/2014/main" id="{7AAA83EC-DBDC-2918-C489-5B6C147F648D}"/>
              </a:ext>
            </a:extLst>
          </p:cNvPr>
          <p:cNvSpPr>
            <a:spLocks noGrp="1"/>
          </p:cNvSpPr>
          <p:nvPr>
            <p:ph idx="1"/>
          </p:nvPr>
        </p:nvSpPr>
        <p:spPr/>
        <p:txBody>
          <a:bodyPr wrap="square">
            <a:normAutofit/>
          </a:bodyPr>
          <a:lstStyle/>
          <a:p>
            <a:r>
              <a:rPr sz="2400"/>
              <a:t>Select the MMS message in pdu.</a:t>
            </a:r>
          </a:p>
          <a:p>
            <a:r>
              <a:rPr sz="2400"/>
              <a:t>Join pdu._id to part.mid.</a:t>
            </a:r>
          </a:p>
          <a:p>
            <a:r>
              <a:rPr sz="2400"/>
              <a:t>Use part.seq to order the parts.</a:t>
            </a:r>
          </a:p>
          <a:p>
            <a:r>
              <a:rPr sz="2400"/>
              <a:t>Use part.ct to interpret each component.</a:t>
            </a:r>
          </a:p>
          <a:p>
            <a:r>
              <a:rPr sz="2400"/>
              <a:t>Use part.text or part._data to retrieve content.</a:t>
            </a:r>
          </a:p>
          <a:p>
            <a:r>
              <a:rPr sz="2400"/>
              <a:t>Join addr to identify sender and recipient(s).</a:t>
            </a:r>
          </a:p>
        </p:txBody>
      </p:sp>
    </p:spTree>
    <p:extLst>
      <p:ext uri="{BB962C8B-B14F-4D97-AF65-F5344CB8AC3E}">
        <p14:creationId xmlns:p14="http://schemas.microsoft.com/office/powerpoint/2010/main" val="18845999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32ED9-B74C-E94A-B298-CCB96A55A2AE}"/>
              </a:ext>
            </a:extLst>
          </p:cNvPr>
          <p:cNvSpPr>
            <a:spLocks noGrp="1"/>
          </p:cNvSpPr>
          <p:nvPr>
            <p:ph type="title"/>
          </p:nvPr>
        </p:nvSpPr>
        <p:spPr/>
        <p:txBody>
          <a:bodyPr wrap="square">
            <a:normAutofit/>
          </a:bodyPr>
          <a:lstStyle/>
          <a:p>
            <a:r>
              <a:rPr sz="3200"/>
              <a:t>Example: MMS message _id = 1</a:t>
            </a:r>
            <a:endParaRPr lang="en-US" dirty="0"/>
          </a:p>
        </p:txBody>
      </p:sp>
      <p:sp>
        <p:nvSpPr>
          <p:cNvPr id="3" name="Content Placeholder 2">
            <a:extLst>
              <a:ext uri="{FF2B5EF4-FFF2-40B4-BE49-F238E27FC236}">
                <a16:creationId xmlns:a16="http://schemas.microsoft.com/office/drawing/2014/main" id="{54E641AB-F7EA-4553-8379-94A88C5C6F2F}"/>
              </a:ext>
            </a:extLst>
          </p:cNvPr>
          <p:cNvSpPr>
            <a:spLocks noGrp="1"/>
          </p:cNvSpPr>
          <p:nvPr>
            <p:ph idx="1"/>
          </p:nvPr>
        </p:nvSpPr>
        <p:spPr>
          <a:xfrm>
            <a:off x="838200" y="1825625"/>
            <a:ext cx="10515600" cy="1793875"/>
          </a:xfrm>
        </p:spPr>
        <p:txBody>
          <a:bodyPr wrap="square">
            <a:normAutofit/>
          </a:bodyPr>
          <a:lstStyle/>
          <a:p>
            <a:r>
              <a:rPr sz="2400"/>
              <a:t>pdu._id = 1 has two linked rows in part: a SMIL layout row and a text row.</a:t>
            </a:r>
          </a:p>
          <a:p>
            <a:r>
              <a:rPr sz="2400"/>
              <a:t>A messaging app uses the SMIL layout to display the content correctly.</a:t>
            </a:r>
          </a:p>
          <a:p>
            <a:r>
              <a:rPr sz="2400"/>
              <a:t>seq = -1 → layout/control metadata.</a:t>
            </a:r>
          </a:p>
          <a:p>
            <a:r>
              <a:rPr sz="2400"/>
              <a:t>seq ≥ 0 → actual message components in display order.</a:t>
            </a:r>
          </a:p>
        </p:txBody>
      </p:sp>
      <p:pic>
        <p:nvPicPr>
          <p:cNvPr id="5" name="Picture 4">
            <a:extLst>
              <a:ext uri="{FF2B5EF4-FFF2-40B4-BE49-F238E27FC236}">
                <a16:creationId xmlns:a16="http://schemas.microsoft.com/office/drawing/2014/main" id="{C998D5CA-159A-197C-C88B-D56C01F77AD9}"/>
              </a:ext>
            </a:extLst>
          </p:cNvPr>
          <p:cNvPicPr>
            <a:picLocks noChangeAspect="1"/>
          </p:cNvPicPr>
          <p:nvPr/>
        </p:nvPicPr>
        <p:blipFill>
          <a:blip r:embed="rId2"/>
          <a:stretch>
            <a:fillRect/>
          </a:stretch>
        </p:blipFill>
        <p:spPr>
          <a:xfrm>
            <a:off x="838200" y="3619500"/>
            <a:ext cx="10638442" cy="1150720"/>
          </a:xfrm>
          <a:prstGeom prst="rect">
            <a:avLst/>
          </a:prstGeom>
        </p:spPr>
      </p:pic>
      <p:pic>
        <p:nvPicPr>
          <p:cNvPr id="7" name="Picture 6">
            <a:extLst>
              <a:ext uri="{FF2B5EF4-FFF2-40B4-BE49-F238E27FC236}">
                <a16:creationId xmlns:a16="http://schemas.microsoft.com/office/drawing/2014/main" id="{79D9CC13-D5DD-0549-0B6F-8913FF69B8FA}"/>
              </a:ext>
            </a:extLst>
          </p:cNvPr>
          <p:cNvPicPr>
            <a:picLocks noChangeAspect="1"/>
          </p:cNvPicPr>
          <p:nvPr/>
        </p:nvPicPr>
        <p:blipFill>
          <a:blip r:embed="rId3"/>
          <a:stretch>
            <a:fillRect/>
          </a:stretch>
        </p:blipFill>
        <p:spPr>
          <a:xfrm>
            <a:off x="1401657" y="5036768"/>
            <a:ext cx="9754445" cy="1204064"/>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2B328E8B-A346-529A-1F00-4A066AA16295}"/>
                  </a:ext>
                </a:extLst>
              </p14:cNvPr>
              <p14:cNvContentPartPr/>
              <p14:nvPr/>
            </p14:nvContentPartPr>
            <p14:xfrm>
              <a:off x="1156380" y="4555680"/>
              <a:ext cx="214200" cy="222840"/>
            </p14:xfrm>
          </p:contentPart>
        </mc:Choice>
        <mc:Fallback xmlns="">
          <p:pic>
            <p:nvPicPr>
              <p:cNvPr id="9" name="Ink 8">
                <a:extLst>
                  <a:ext uri="{FF2B5EF4-FFF2-40B4-BE49-F238E27FC236}">
                    <a16:creationId xmlns:a16="http://schemas.microsoft.com/office/drawing/2014/main" id="{2B328E8B-A346-529A-1F00-4A066AA16295}"/>
                  </a:ext>
                </a:extLst>
              </p:cNvPr>
              <p:cNvPicPr/>
              <p:nvPr/>
            </p:nvPicPr>
            <p:blipFill>
              <a:blip r:embed="rId5"/>
              <a:stretch>
                <a:fillRect/>
              </a:stretch>
            </p:blipFill>
            <p:spPr>
              <a:xfrm>
                <a:off x="1147740" y="4546680"/>
                <a:ext cx="231840" cy="240480"/>
              </a:xfrm>
              <a:prstGeom prst="rect">
                <a:avLst/>
              </a:prstGeom>
            </p:spPr>
          </p:pic>
        </mc:Fallback>
      </mc:AlternateContent>
      <p:grpSp>
        <p:nvGrpSpPr>
          <p:cNvPr id="12" name="Group 11">
            <a:extLst>
              <a:ext uri="{FF2B5EF4-FFF2-40B4-BE49-F238E27FC236}">
                <a16:creationId xmlns:a16="http://schemas.microsoft.com/office/drawing/2014/main" id="{765BF820-421D-A9FC-D0DC-724DD0D71C2E}"/>
              </a:ext>
            </a:extLst>
          </p:cNvPr>
          <p:cNvGrpSpPr/>
          <p:nvPr/>
        </p:nvGrpSpPr>
        <p:grpSpPr>
          <a:xfrm>
            <a:off x="1301100" y="4777440"/>
            <a:ext cx="1033920" cy="1207800"/>
            <a:chOff x="1301100" y="4777440"/>
            <a:chExt cx="1033920" cy="1207800"/>
          </a:xfrm>
        </p:grpSpPr>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750DF079-68E6-8223-778F-0BA8D78E1087}"/>
                    </a:ext>
                  </a:extLst>
                </p14:cNvPr>
                <p14:cNvContentPartPr/>
                <p14:nvPr/>
              </p14:nvContentPartPr>
              <p14:xfrm>
                <a:off x="1301100" y="4777440"/>
                <a:ext cx="993240" cy="1158480"/>
              </p14:xfrm>
            </p:contentPart>
          </mc:Choice>
          <mc:Fallback xmlns="">
            <p:pic>
              <p:nvPicPr>
                <p:cNvPr id="10" name="Ink 9">
                  <a:extLst>
                    <a:ext uri="{FF2B5EF4-FFF2-40B4-BE49-F238E27FC236}">
                      <a16:creationId xmlns:a16="http://schemas.microsoft.com/office/drawing/2014/main" id="{750DF079-68E6-8223-778F-0BA8D78E1087}"/>
                    </a:ext>
                  </a:extLst>
                </p:cNvPr>
                <p:cNvPicPr/>
                <p:nvPr/>
              </p:nvPicPr>
              <p:blipFill>
                <a:blip r:embed="rId7"/>
                <a:stretch>
                  <a:fillRect/>
                </a:stretch>
              </p:blipFill>
              <p:spPr>
                <a:xfrm>
                  <a:off x="1292100" y="4768800"/>
                  <a:ext cx="1010880" cy="1176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2A4C5EC2-3C2D-DDC9-6529-2CC18B235EBF}"/>
                    </a:ext>
                  </a:extLst>
                </p14:cNvPr>
                <p14:cNvContentPartPr/>
                <p14:nvPr/>
              </p14:nvContentPartPr>
              <p14:xfrm>
                <a:off x="2247900" y="5821440"/>
                <a:ext cx="87120" cy="163800"/>
              </p14:xfrm>
            </p:contentPart>
          </mc:Choice>
          <mc:Fallback xmlns="">
            <p:pic>
              <p:nvPicPr>
                <p:cNvPr id="11" name="Ink 10">
                  <a:extLst>
                    <a:ext uri="{FF2B5EF4-FFF2-40B4-BE49-F238E27FC236}">
                      <a16:creationId xmlns:a16="http://schemas.microsoft.com/office/drawing/2014/main" id="{2A4C5EC2-3C2D-DDC9-6529-2CC18B235EBF}"/>
                    </a:ext>
                  </a:extLst>
                </p:cNvPr>
                <p:cNvPicPr/>
                <p:nvPr/>
              </p:nvPicPr>
              <p:blipFill>
                <a:blip r:embed="rId9"/>
                <a:stretch>
                  <a:fillRect/>
                </a:stretch>
              </p:blipFill>
              <p:spPr>
                <a:xfrm>
                  <a:off x="2238900" y="5812800"/>
                  <a:ext cx="104760" cy="181440"/>
                </a:xfrm>
                <a:prstGeom prst="rect">
                  <a:avLst/>
                </a:prstGeom>
              </p:spPr>
            </p:pic>
          </mc:Fallback>
        </mc:AlternateContent>
      </p:grpSp>
    </p:spTree>
    <p:extLst>
      <p:ext uri="{BB962C8B-B14F-4D97-AF65-F5344CB8AC3E}">
        <p14:creationId xmlns:p14="http://schemas.microsoft.com/office/powerpoint/2010/main" val="22836389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48A97-2161-4848-CD51-06E4D49E7B67}"/>
              </a:ext>
            </a:extLst>
          </p:cNvPr>
          <p:cNvSpPr>
            <a:spLocks noGrp="1"/>
          </p:cNvSpPr>
          <p:nvPr>
            <p:ph type="title"/>
          </p:nvPr>
        </p:nvSpPr>
        <p:spPr/>
        <p:txBody>
          <a:bodyPr wrap="square">
            <a:normAutofit/>
          </a:bodyPr>
          <a:lstStyle/>
          <a:p>
            <a:r>
              <a:rPr sz="3000"/>
              <a:t>Retrieve text bodies of received MMS messages using SQL</a:t>
            </a:r>
            <a:endParaRPr lang="en-US" dirty="0"/>
          </a:p>
        </p:txBody>
      </p:sp>
      <p:pic>
        <p:nvPicPr>
          <p:cNvPr id="5" name="Picture 4">
            <a:extLst>
              <a:ext uri="{FF2B5EF4-FFF2-40B4-BE49-F238E27FC236}">
                <a16:creationId xmlns:a16="http://schemas.microsoft.com/office/drawing/2014/main" id="{56F04EC6-B811-0FE3-7187-CBBF1EC6D76B}"/>
              </a:ext>
            </a:extLst>
          </p:cNvPr>
          <p:cNvPicPr>
            <a:picLocks noChangeAspect="1"/>
          </p:cNvPicPr>
          <p:nvPr/>
        </p:nvPicPr>
        <p:blipFill>
          <a:blip r:embed="rId3"/>
          <a:stretch>
            <a:fillRect/>
          </a:stretch>
        </p:blipFill>
        <p:spPr>
          <a:xfrm>
            <a:off x="928651" y="2327814"/>
            <a:ext cx="10606331" cy="2613154"/>
          </a:xfrm>
          <a:prstGeom prst="rect">
            <a:avLst/>
          </a:prstGeom>
        </p:spPr>
      </p:pic>
      <p:sp>
        <p:nvSpPr>
          <p:cNvPr id="6" name="TextBox 5">
            <a:extLst>
              <a:ext uri="{FF2B5EF4-FFF2-40B4-BE49-F238E27FC236}">
                <a16:creationId xmlns:a16="http://schemas.microsoft.com/office/drawing/2014/main" id="{55D7A5E7-3479-907E-934F-937876A5EB81}"/>
              </a:ext>
            </a:extLst>
          </p:cNvPr>
          <p:cNvSpPr txBox="1"/>
          <p:nvPr/>
        </p:nvSpPr>
        <p:spPr>
          <a:xfrm>
            <a:off x="985455" y="5393428"/>
            <a:ext cx="5999015" cy="369332"/>
          </a:xfrm>
          <a:prstGeom prst="rect">
            <a:avLst/>
          </a:prstGeom>
          <a:noFill/>
        </p:spPr>
        <p:txBody>
          <a:bodyPr wrap="square" rtlCol="0">
            <a:normAutofit fontScale="92500"/>
          </a:bodyPr>
          <a:lstStyle/>
          <a:p>
            <a:r>
              <a:rPr sz="1400"/>
              <a:t>Conclusion: text content is available for the four inbox MMS records: 2, 4, 6, and 7.</a:t>
            </a:r>
          </a:p>
        </p:txBody>
      </p:sp>
      <p:sp>
        <p:nvSpPr>
          <p:cNvPr id="7" name="TextBox 6">
            <a:extLst>
              <a:ext uri="{FF2B5EF4-FFF2-40B4-BE49-F238E27FC236}">
                <a16:creationId xmlns:a16="http://schemas.microsoft.com/office/drawing/2014/main" id="{9B736F5B-89A4-A7C3-1715-EC9485BFEB7B}"/>
              </a:ext>
            </a:extLst>
          </p:cNvPr>
          <p:cNvSpPr txBox="1"/>
          <p:nvPr/>
        </p:nvSpPr>
        <p:spPr>
          <a:xfrm>
            <a:off x="8557260" y="3162300"/>
            <a:ext cx="2050433" cy="369332"/>
          </a:xfrm>
          <a:prstGeom prst="rect">
            <a:avLst/>
          </a:prstGeom>
          <a:noFill/>
        </p:spPr>
        <p:txBody>
          <a:bodyPr wrap="square" rtlCol="0">
            <a:normAutofit fontScale="85000" lnSpcReduction="10000"/>
          </a:bodyPr>
          <a:lstStyle/>
          <a:p>
            <a:r>
              <a:rPr sz="1400"/>
              <a:t>JOIN defaults to INNER JOIN.</a:t>
            </a:r>
          </a:p>
        </p:txBody>
      </p:sp>
    </p:spTree>
    <p:extLst>
      <p:ext uri="{BB962C8B-B14F-4D97-AF65-F5344CB8AC3E}">
        <p14:creationId xmlns:p14="http://schemas.microsoft.com/office/powerpoint/2010/main" val="18989343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AB3AC-7285-AA41-50A8-2E2180BD55B4}"/>
              </a:ext>
            </a:extLst>
          </p:cNvPr>
          <p:cNvSpPr>
            <a:spLocks noGrp="1"/>
          </p:cNvSpPr>
          <p:nvPr>
            <p:ph type="title"/>
          </p:nvPr>
        </p:nvSpPr>
        <p:spPr/>
        <p:txBody>
          <a:bodyPr wrap="square">
            <a:normAutofit/>
          </a:bodyPr>
          <a:lstStyle/>
          <a:p>
            <a:r>
              <a:rPr sz="3400"/>
              <a:t>Identify MMS sender and receiver(s)</a:t>
            </a:r>
          </a:p>
        </p:txBody>
      </p:sp>
      <p:sp>
        <p:nvSpPr>
          <p:cNvPr id="3" name="Content Placeholder 2">
            <a:extLst>
              <a:ext uri="{FF2B5EF4-FFF2-40B4-BE49-F238E27FC236}">
                <a16:creationId xmlns:a16="http://schemas.microsoft.com/office/drawing/2014/main" id="{CB450A2A-7F57-B7D3-AEF8-97A7DC0BD057}"/>
              </a:ext>
            </a:extLst>
          </p:cNvPr>
          <p:cNvSpPr>
            <a:spLocks noGrp="1"/>
          </p:cNvSpPr>
          <p:nvPr>
            <p:ph idx="1"/>
          </p:nvPr>
        </p:nvSpPr>
        <p:spPr>
          <a:xfrm>
            <a:off x="838200" y="1825624"/>
            <a:ext cx="4346275" cy="4473328"/>
          </a:xfrm>
        </p:spPr>
        <p:txBody>
          <a:bodyPr wrap="square">
            <a:normAutofit/>
          </a:bodyPr>
          <a:lstStyle/>
          <a:p>
            <a:r>
              <a:rPr sz="2300"/>
              <a:t>Use the addr table to identify MMS participants.</a:t>
            </a:r>
          </a:p>
          <a:p>
            <a:r>
              <a:rPr sz="2300"/>
              <a:t>Join key: addr.msg_id = pdu._id.</a:t>
            </a:r>
          </a:p>
          <a:p>
            <a:r>
              <a:rPr sz="2300"/>
              <a:t>addr.type codes:</a:t>
            </a:r>
          </a:p>
          <a:p>
            <a:r>
              <a:rPr sz="2300"/>
              <a:t>137 → FROM (sender)</a:t>
            </a:r>
          </a:p>
          <a:p>
            <a:r>
              <a:rPr sz="2300"/>
              <a:t>151 → TO (primary recipient)</a:t>
            </a:r>
          </a:p>
          <a:p>
            <a:r>
              <a:rPr sz="2300"/>
              <a:t>130 → CC</a:t>
            </a:r>
          </a:p>
          <a:p>
            <a:r>
              <a:rPr sz="2300"/>
              <a:t>129 → BCC</a:t>
            </a:r>
          </a:p>
        </p:txBody>
      </p:sp>
      <p:pic>
        <p:nvPicPr>
          <p:cNvPr id="5" name="Picture 4">
            <a:extLst>
              <a:ext uri="{FF2B5EF4-FFF2-40B4-BE49-F238E27FC236}">
                <a16:creationId xmlns:a16="http://schemas.microsoft.com/office/drawing/2014/main" id="{8C3F6543-A7C2-A6E9-45EF-5D05B28000B9}"/>
              </a:ext>
            </a:extLst>
          </p:cNvPr>
          <p:cNvPicPr>
            <a:picLocks noChangeAspect="1"/>
          </p:cNvPicPr>
          <p:nvPr/>
        </p:nvPicPr>
        <p:blipFill>
          <a:blip r:embed="rId2"/>
          <a:stretch>
            <a:fillRect/>
          </a:stretch>
        </p:blipFill>
        <p:spPr>
          <a:xfrm>
            <a:off x="6287847" y="1825624"/>
            <a:ext cx="3756986" cy="4473328"/>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EB7DB9B2-6645-7E2A-0F30-FAB476F2A3ED}"/>
                  </a:ext>
                </a:extLst>
              </p14:cNvPr>
              <p14:cNvContentPartPr/>
              <p14:nvPr/>
            </p14:nvContentPartPr>
            <p14:xfrm>
              <a:off x="1122205" y="3507919"/>
              <a:ext cx="638387" cy="357472"/>
            </p14:xfrm>
          </p:contentPart>
        </mc:Choice>
        <mc:Fallback xmlns="">
          <p:pic>
            <p:nvPicPr>
              <p:cNvPr id="6" name="Ink 5">
                <a:extLst>
                  <a:ext uri="{FF2B5EF4-FFF2-40B4-BE49-F238E27FC236}">
                    <a16:creationId xmlns:a16="http://schemas.microsoft.com/office/drawing/2014/main" id="{EB7DB9B2-6645-7E2A-0F30-FAB476F2A3ED}"/>
                  </a:ext>
                </a:extLst>
              </p:cNvPr>
              <p:cNvPicPr/>
              <p:nvPr/>
            </p:nvPicPr>
            <p:blipFill>
              <a:blip r:embed="rId4"/>
              <a:stretch>
                <a:fillRect/>
              </a:stretch>
            </p:blipFill>
            <p:spPr>
              <a:xfrm>
                <a:off x="1113203" y="3498928"/>
                <a:ext cx="656030" cy="375094"/>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68C314F5-9608-9E58-4168-A3CC76D7A303}"/>
                  </a:ext>
                </a:extLst>
              </p14:cNvPr>
              <p14:cNvContentPartPr/>
              <p14:nvPr/>
            </p14:nvContentPartPr>
            <p14:xfrm>
              <a:off x="8583860" y="3182821"/>
              <a:ext cx="342000" cy="149040"/>
            </p14:xfrm>
          </p:contentPart>
        </mc:Choice>
        <mc:Fallback xmlns="">
          <p:pic>
            <p:nvPicPr>
              <p:cNvPr id="7" name="Ink 6">
                <a:extLst>
                  <a:ext uri="{FF2B5EF4-FFF2-40B4-BE49-F238E27FC236}">
                    <a16:creationId xmlns:a16="http://schemas.microsoft.com/office/drawing/2014/main" id="{68C314F5-9608-9E58-4168-A3CC76D7A303}"/>
                  </a:ext>
                </a:extLst>
              </p:cNvPr>
              <p:cNvPicPr/>
              <p:nvPr/>
            </p:nvPicPr>
            <p:blipFill>
              <a:blip r:embed="rId6"/>
              <a:stretch>
                <a:fillRect/>
              </a:stretch>
            </p:blipFill>
            <p:spPr>
              <a:xfrm>
                <a:off x="8574860" y="3174181"/>
                <a:ext cx="359640" cy="166680"/>
              </a:xfrm>
              <a:prstGeom prst="rect">
                <a:avLst/>
              </a:prstGeom>
            </p:spPr>
          </p:pic>
        </mc:Fallback>
      </mc:AlternateContent>
      <p:grpSp>
        <p:nvGrpSpPr>
          <p:cNvPr id="10" name="Group 9">
            <a:extLst>
              <a:ext uri="{FF2B5EF4-FFF2-40B4-BE49-F238E27FC236}">
                <a16:creationId xmlns:a16="http://schemas.microsoft.com/office/drawing/2014/main" id="{AFD38000-882B-AD6C-0677-FB2338E6131F}"/>
              </a:ext>
            </a:extLst>
          </p:cNvPr>
          <p:cNvGrpSpPr/>
          <p:nvPr/>
        </p:nvGrpSpPr>
        <p:grpSpPr>
          <a:xfrm>
            <a:off x="4056605" y="3257341"/>
            <a:ext cx="4455493" cy="506695"/>
            <a:chOff x="4381940" y="3321061"/>
            <a:chExt cx="4183920" cy="1234440"/>
          </a:xfrm>
        </p:grpSpPr>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F942F4D9-8952-9829-A378-C60DFEF1DF27}"/>
                    </a:ext>
                  </a:extLst>
                </p14:cNvPr>
                <p14:cNvContentPartPr/>
                <p14:nvPr/>
              </p14:nvContentPartPr>
              <p14:xfrm>
                <a:off x="4469780" y="3321061"/>
                <a:ext cx="4096080" cy="1102680"/>
              </p14:xfrm>
            </p:contentPart>
          </mc:Choice>
          <mc:Fallback xmlns="">
            <p:pic>
              <p:nvPicPr>
                <p:cNvPr id="8" name="Ink 7">
                  <a:extLst>
                    <a:ext uri="{FF2B5EF4-FFF2-40B4-BE49-F238E27FC236}">
                      <a16:creationId xmlns:a16="http://schemas.microsoft.com/office/drawing/2014/main" id="{F942F4D9-8952-9829-A378-C60DFEF1DF27}"/>
                    </a:ext>
                  </a:extLst>
                </p:cNvPr>
                <p:cNvPicPr/>
                <p:nvPr/>
              </p:nvPicPr>
              <p:blipFill>
                <a:blip r:embed="rId8"/>
                <a:stretch>
                  <a:fillRect/>
                </a:stretch>
              </p:blipFill>
              <p:spPr>
                <a:xfrm>
                  <a:off x="4461140" y="3312421"/>
                  <a:ext cx="4113720" cy="1120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3E0FDC8-C0AA-85A6-3E93-4FCA3A911220}"/>
                    </a:ext>
                  </a:extLst>
                </p14:cNvPr>
                <p14:cNvContentPartPr/>
                <p14:nvPr/>
              </p14:nvContentPartPr>
              <p14:xfrm>
                <a:off x="4381940" y="4244101"/>
                <a:ext cx="163440" cy="311400"/>
              </p14:xfrm>
            </p:contentPart>
          </mc:Choice>
          <mc:Fallback xmlns="">
            <p:pic>
              <p:nvPicPr>
                <p:cNvPr id="9" name="Ink 8">
                  <a:extLst>
                    <a:ext uri="{FF2B5EF4-FFF2-40B4-BE49-F238E27FC236}">
                      <a16:creationId xmlns:a16="http://schemas.microsoft.com/office/drawing/2014/main" id="{63E0FDC8-C0AA-85A6-3E93-4FCA3A911220}"/>
                    </a:ext>
                  </a:extLst>
                </p:cNvPr>
                <p:cNvPicPr/>
                <p:nvPr/>
              </p:nvPicPr>
              <p:blipFill>
                <a:blip r:embed="rId10"/>
                <a:stretch>
                  <a:fillRect/>
                </a:stretch>
              </p:blipFill>
              <p:spPr>
                <a:xfrm>
                  <a:off x="4372940" y="4235461"/>
                  <a:ext cx="181080" cy="329040"/>
                </a:xfrm>
                <a:prstGeom prst="rect">
                  <a:avLst/>
                </a:prstGeom>
              </p:spPr>
            </p:pic>
          </mc:Fallback>
        </mc:AlternateContent>
      </p:grpSp>
    </p:spTree>
    <p:extLst>
      <p:ext uri="{BB962C8B-B14F-4D97-AF65-F5344CB8AC3E}">
        <p14:creationId xmlns:p14="http://schemas.microsoft.com/office/powerpoint/2010/main" val="15819049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240" y="320040"/>
            <a:ext cx="10515600" cy="731520"/>
          </a:xfrm>
        </p:spPr>
        <p:txBody>
          <a:bodyPr wrap="square">
            <a:normAutofit/>
          </a:bodyPr>
          <a:lstStyle/>
          <a:p>
            <a:r>
              <a:rPr sz="3400" b="0">
                <a:solidFill>
                  <a:srgbClr val="222222"/>
                </a:solidFill>
              </a:rPr>
              <a:t>SQL scaffold: include MMS participants</a:t>
            </a:r>
          </a:p>
        </p:txBody>
      </p:sp>
      <p:sp>
        <p:nvSpPr>
          <p:cNvPr id="3" name="TextBox 2"/>
          <p:cNvSpPr txBox="1"/>
          <p:nvPr/>
        </p:nvSpPr>
        <p:spPr>
          <a:xfrm>
            <a:off x="868680" y="1417320"/>
            <a:ext cx="6537960" cy="2834640"/>
          </a:xfrm>
          <a:prstGeom prst="rect">
            <a:avLst/>
          </a:prstGeom>
          <a:noFill/>
        </p:spPr>
        <p:txBody>
          <a:bodyPr wrap="square">
            <a:normAutofit/>
          </a:bodyPr>
          <a:lstStyle/>
          <a:p>
            <a:r>
              <a:rPr sz="1800" b="0">
                <a:solidFill>
                  <a:srgbClr val="222222"/>
                </a:solidFill>
                <a:latin typeface="Consolas"/>
              </a:rPr>
              <a:t>SELECT pdu._id, pdu.date, pdu.msg_box, part.ct, part.text,</a:t>
            </a:r>
          </a:p>
          <a:p>
            <a:r>
              <a:rPr sz="1800" b="0">
                <a:solidFill>
                  <a:srgbClr val="222222"/>
                </a:solidFill>
                <a:latin typeface="Consolas"/>
              </a:rPr>
              <a:t>       addr.address, addr.type</a:t>
            </a:r>
          </a:p>
          <a:p>
            <a:r>
              <a:rPr sz="1800" b="0">
                <a:solidFill>
                  <a:srgbClr val="222222"/>
                </a:solidFill>
                <a:latin typeface="Consolas"/>
              </a:rPr>
              <a:t>FROM pdu</a:t>
            </a:r>
          </a:p>
          <a:p>
            <a:r>
              <a:rPr sz="1800" b="0">
                <a:solidFill>
                  <a:srgbClr val="222222"/>
                </a:solidFill>
                <a:latin typeface="Consolas"/>
              </a:rPr>
              <a:t>JOIN part ON pdu._id = part.mid</a:t>
            </a:r>
          </a:p>
          <a:p>
            <a:r>
              <a:rPr sz="1800" b="0">
                <a:solidFill>
                  <a:srgbClr val="222222"/>
                </a:solidFill>
                <a:latin typeface="Consolas"/>
              </a:rPr>
              <a:t>JOIN addr ON pdu._id = addr.msg_id</a:t>
            </a:r>
          </a:p>
          <a:p>
            <a:r>
              <a:rPr sz="1800" b="0">
                <a:solidFill>
                  <a:srgbClr val="222222"/>
                </a:solidFill>
                <a:latin typeface="Consolas"/>
              </a:rPr>
              <a:t>WHERE pdu.msg_box = 1</a:t>
            </a:r>
          </a:p>
          <a:p>
            <a:r>
              <a:rPr sz="1800" b="0">
                <a:solidFill>
                  <a:srgbClr val="222222"/>
                </a:solidFill>
                <a:latin typeface="Consolas"/>
              </a:rPr>
              <a:t>  AND part.ct LIKE 'text/%';</a:t>
            </a:r>
          </a:p>
        </p:txBody>
      </p:sp>
      <p:sp>
        <p:nvSpPr>
          <p:cNvPr id="4" name="Rounded Rectangle 3"/>
          <p:cNvSpPr/>
          <p:nvPr/>
        </p:nvSpPr>
        <p:spPr>
          <a:xfrm>
            <a:off x="7818120" y="1417320"/>
            <a:ext cx="2545080" cy="68580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900" b="1">
                <a:solidFill>
                  <a:srgbClr val="222222"/>
                </a:solidFill>
              </a:rPr>
              <a:t>addr.type codes</a:t>
            </a:r>
          </a:p>
        </p:txBody>
      </p:sp>
      <p:sp>
        <p:nvSpPr>
          <p:cNvPr id="5" name="TextBox 4"/>
          <p:cNvSpPr txBox="1"/>
          <p:nvPr/>
        </p:nvSpPr>
        <p:spPr>
          <a:xfrm>
            <a:off x="7955279" y="2240280"/>
            <a:ext cx="3017520" cy="1828800"/>
          </a:xfrm>
          <a:prstGeom prst="rect">
            <a:avLst/>
          </a:prstGeom>
          <a:noFill/>
        </p:spPr>
        <p:txBody>
          <a:bodyPr wrap="square">
            <a:normAutofit/>
          </a:bodyPr>
          <a:lstStyle/>
          <a:p>
            <a:r>
              <a:rPr sz="1800">
                <a:solidFill>
                  <a:srgbClr val="222222"/>
                </a:solidFill>
              </a:rPr>
              <a:t>• 137 = FROM</a:t>
            </a:r>
          </a:p>
          <a:p>
            <a:r>
              <a:rPr sz="1800">
                <a:solidFill>
                  <a:srgbClr val="222222"/>
                </a:solidFill>
              </a:rPr>
              <a:t>• 151 = TO</a:t>
            </a:r>
          </a:p>
          <a:p>
            <a:r>
              <a:rPr sz="1800">
                <a:solidFill>
                  <a:srgbClr val="222222"/>
                </a:solidFill>
              </a:rPr>
              <a:t>• 130 = CC</a:t>
            </a:r>
          </a:p>
          <a:p>
            <a:r>
              <a:rPr sz="1800">
                <a:solidFill>
                  <a:srgbClr val="222222"/>
                </a:solidFill>
              </a:rPr>
              <a:t>• 129 = BCC</a:t>
            </a:r>
          </a:p>
        </p:txBody>
      </p:sp>
      <p:sp>
        <p:nvSpPr>
          <p:cNvPr id="6" name="Rectangle 5"/>
          <p:cNvSpPr/>
          <p:nvPr/>
        </p:nvSpPr>
        <p:spPr>
          <a:xfrm>
            <a:off x="868680" y="4846320"/>
            <a:ext cx="10149840" cy="640080"/>
          </a:xfrm>
          <a:prstGeom prst="rect">
            <a:avLst/>
          </a:prstGeom>
          <a:solidFill>
            <a:srgbClr val="F2F2F2"/>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500" b="0">
                <a:solidFill>
                  <a:srgbClr val="222222"/>
                </a:solidFill>
              </a:rPr>
              <a:t>Instructor note: students can extend this by using CASE expressions to label sender/receiver roles and by converting timestamps.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42631-964E-4A87-B9EE-8CEBA93FC6DA}"/>
              </a:ext>
            </a:extLst>
          </p:cNvPr>
          <p:cNvSpPr>
            <a:spLocks noGrp="1"/>
          </p:cNvSpPr>
          <p:nvPr>
            <p:ph type="title"/>
          </p:nvPr>
        </p:nvSpPr>
        <p:spPr/>
        <p:txBody>
          <a:bodyPr wrap="square">
            <a:normAutofit/>
          </a:bodyPr>
          <a:lstStyle/>
          <a:p>
            <a:r>
              <a:rPr sz="3200"/>
              <a:t>Summary: AOSP messaging forensic workflow</a:t>
            </a:r>
            <a:endParaRPr lang="en-US" dirty="0"/>
          </a:p>
        </p:txBody>
      </p:sp>
      <p:sp>
        <p:nvSpPr>
          <p:cNvPr id="3" name="Content Placeholder 2">
            <a:extLst>
              <a:ext uri="{FF2B5EF4-FFF2-40B4-BE49-F238E27FC236}">
                <a16:creationId xmlns:a16="http://schemas.microsoft.com/office/drawing/2014/main" id="{EE640661-5FDB-4729-BEC6-5DCC4C879F07}"/>
              </a:ext>
            </a:extLst>
          </p:cNvPr>
          <p:cNvSpPr>
            <a:spLocks noGrp="1"/>
          </p:cNvSpPr>
          <p:nvPr>
            <p:ph idx="1"/>
          </p:nvPr>
        </p:nvSpPr>
        <p:spPr/>
        <p:txBody>
          <a:bodyPr vert="horz" wrap="square" lIns="91440" tIns="45720" rIns="91440" bIns="45720" rtlCol="0" anchor="t">
            <a:normAutofit/>
          </a:bodyPr>
          <a:lstStyle/>
          <a:p>
            <a:r>
              <a:rPr sz="2300"/>
              <a:t>Start with the service: com.android.providers.telephony.</a:t>
            </a:r>
            <a:endParaRPr lang="en-US" dirty="0">
              <a:ea typeface="+mn-lt"/>
              <a:cs typeface="+mn-lt"/>
            </a:endParaRPr>
          </a:p>
          <a:p>
            <a:r>
              <a:rPr sz="2300"/>
              <a:t>Locate the data path: data/data/.../databases/mmssms.db.</a:t>
            </a:r>
          </a:p>
          <a:p>
            <a:r>
              <a:rPr sz="2300"/>
              <a:t>Use sms and threads to analyze SMS conversations.</a:t>
            </a:r>
          </a:p>
          <a:p>
            <a:r>
              <a:rPr sz="2300"/>
              <a:t>Use pdu, part, and addr to reconstruct MMS messages.</a:t>
            </a:r>
          </a:p>
          <a:p>
            <a:r>
              <a:rPr sz="2300"/>
              <a:t>Interpret timestamps, direction fields, read/seen flags, and creator fields.</a:t>
            </a:r>
          </a:p>
          <a:p>
            <a:r>
              <a:rPr sz="2300"/>
              <a:t>Correlate database records with attachments and file-system artifacts.</a:t>
            </a:r>
          </a:p>
        </p:txBody>
      </p:sp>
    </p:spTree>
    <p:extLst>
      <p:ext uri="{BB962C8B-B14F-4D97-AF65-F5344CB8AC3E}">
        <p14:creationId xmlns:p14="http://schemas.microsoft.com/office/powerpoint/2010/main" val="31882436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7240" y="320040"/>
            <a:ext cx="10515600" cy="731520"/>
          </a:xfrm>
        </p:spPr>
        <p:txBody>
          <a:bodyPr wrap="square">
            <a:normAutofit/>
          </a:bodyPr>
          <a:lstStyle/>
          <a:p>
            <a:r>
              <a:rPr sz="3400" b="0">
                <a:solidFill>
                  <a:srgbClr val="222222"/>
                </a:solidFill>
              </a:rPr>
              <a:t>Investigator checklist: turn records into evidence</a:t>
            </a:r>
          </a:p>
        </p:txBody>
      </p:sp>
      <p:sp>
        <p:nvSpPr>
          <p:cNvPr id="3" name="Rounded Rectangle 2"/>
          <p:cNvSpPr/>
          <p:nvPr/>
        </p:nvSpPr>
        <p:spPr>
          <a:xfrm>
            <a:off x="777240" y="1417320"/>
            <a:ext cx="5166360" cy="502920"/>
          </a:xfrm>
          <a:prstGeom prst="roundRect">
            <a:avLst/>
          </a:prstGeom>
          <a:solidFill>
            <a:srgbClr val="DDEBF7"/>
          </a:solidFill>
          <a:ln w="19050">
            <a:solidFill>
              <a:srgbClr val="1F4E79"/>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2000" b="1">
                <a:solidFill>
                  <a:srgbClr val="222222"/>
                </a:solidFill>
              </a:rPr>
              <a:t>What to document</a:t>
            </a:r>
          </a:p>
        </p:txBody>
      </p:sp>
      <p:sp>
        <p:nvSpPr>
          <p:cNvPr id="4" name="Rounded Rectangle 3"/>
          <p:cNvSpPr/>
          <p:nvPr/>
        </p:nvSpPr>
        <p:spPr>
          <a:xfrm>
            <a:off x="6263640" y="1417320"/>
            <a:ext cx="5166360" cy="502920"/>
          </a:xfrm>
          <a:prstGeom prst="roundRect">
            <a:avLst/>
          </a:prstGeom>
          <a:solidFill>
            <a:srgbClr val="FFE6E6"/>
          </a:solidFill>
          <a:ln w="19050">
            <a:solidFill>
              <a:srgbClr val="C00000"/>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2000" b="1">
                <a:solidFill>
                  <a:srgbClr val="222222"/>
                </a:solidFill>
              </a:rPr>
              <a:t>What to avoid</a:t>
            </a:r>
          </a:p>
        </p:txBody>
      </p:sp>
      <p:sp>
        <p:nvSpPr>
          <p:cNvPr id="5" name="TextBox 4"/>
          <p:cNvSpPr txBox="1"/>
          <p:nvPr/>
        </p:nvSpPr>
        <p:spPr>
          <a:xfrm>
            <a:off x="914400" y="2057400"/>
            <a:ext cx="4846320" cy="2834640"/>
          </a:xfrm>
          <a:prstGeom prst="rect">
            <a:avLst/>
          </a:prstGeom>
          <a:noFill/>
        </p:spPr>
        <p:txBody>
          <a:bodyPr wrap="square">
            <a:normAutofit/>
          </a:bodyPr>
          <a:lstStyle/>
          <a:p>
            <a:r>
              <a:rPr sz="1700">
                <a:solidFill>
                  <a:srgbClr val="222222"/>
                </a:solidFill>
              </a:rPr>
              <a:t>• Identify source path and database name</a:t>
            </a:r>
          </a:p>
          <a:p>
            <a:r>
              <a:rPr sz="1700">
                <a:solidFill>
                  <a:srgbClr val="222222"/>
                </a:solidFill>
              </a:rPr>
              <a:t>• Document table and row identifiers</a:t>
            </a:r>
          </a:p>
          <a:p>
            <a:r>
              <a:rPr sz="1700">
                <a:solidFill>
                  <a:srgbClr val="222222"/>
                </a:solidFill>
              </a:rPr>
              <a:t>• Convert timestamps with timezone stated</a:t>
            </a:r>
          </a:p>
          <a:p>
            <a:r>
              <a:rPr sz="1700">
                <a:solidFill>
                  <a:srgbClr val="222222"/>
                </a:solidFill>
              </a:rPr>
              <a:t>• Separate SMS from MMS logic</a:t>
            </a:r>
          </a:p>
          <a:p>
            <a:r>
              <a:rPr sz="1700">
                <a:solidFill>
                  <a:srgbClr val="222222"/>
                </a:solidFill>
              </a:rPr>
              <a:t>• Join pdu, part, and addr for MMS</a:t>
            </a:r>
          </a:p>
          <a:p>
            <a:r>
              <a:rPr sz="1700">
                <a:solidFill>
                  <a:srgbClr val="222222"/>
                </a:solidFill>
              </a:rPr>
              <a:t>• Preserve original values before interpretation</a:t>
            </a:r>
          </a:p>
        </p:txBody>
      </p:sp>
      <p:sp>
        <p:nvSpPr>
          <p:cNvPr id="6" name="TextBox 5"/>
          <p:cNvSpPr txBox="1"/>
          <p:nvPr/>
        </p:nvSpPr>
        <p:spPr>
          <a:xfrm>
            <a:off x="6400800" y="2057400"/>
            <a:ext cx="4846320" cy="2834640"/>
          </a:xfrm>
          <a:prstGeom prst="rect">
            <a:avLst/>
          </a:prstGeom>
          <a:noFill/>
        </p:spPr>
        <p:txBody>
          <a:bodyPr wrap="square">
            <a:normAutofit/>
          </a:bodyPr>
          <a:lstStyle/>
          <a:p>
            <a:r>
              <a:rPr sz="1700">
                <a:solidFill>
                  <a:srgbClr val="222222"/>
                </a:solidFill>
              </a:rPr>
              <a:t>• Do not treat NULL as “not important”</a:t>
            </a:r>
          </a:p>
          <a:p>
            <a:r>
              <a:rPr sz="1700">
                <a:solidFill>
                  <a:srgbClr val="222222"/>
                </a:solidFill>
              </a:rPr>
              <a:t>• Do not assume one MMS has one row only</a:t>
            </a:r>
          </a:p>
          <a:p>
            <a:r>
              <a:rPr sz="1700">
                <a:solidFill>
                  <a:srgbClr val="222222"/>
                </a:solidFill>
              </a:rPr>
              <a:t>• Do not confuse read and seen flags</a:t>
            </a:r>
          </a:p>
          <a:p>
            <a:r>
              <a:rPr sz="1700">
                <a:solidFill>
                  <a:srgbClr val="222222"/>
                </a:solidFill>
              </a:rPr>
              <a:t>• Do not infer sender/receiver without addr.type</a:t>
            </a:r>
          </a:p>
          <a:p>
            <a:r>
              <a:rPr sz="1700">
                <a:solidFill>
                  <a:srgbClr val="222222"/>
                </a:solidFill>
              </a:rPr>
              <a:t>• Validate with screenshots or exported artifacts</a:t>
            </a:r>
          </a:p>
          <a:p>
            <a:r>
              <a:rPr sz="1700">
                <a:solidFill>
                  <a:srgbClr val="222222"/>
                </a:solidFill>
              </a:rPr>
              <a:t>• Report uncertainty when fields conflict</a:t>
            </a:r>
          </a:p>
        </p:txBody>
      </p:sp>
      <p:sp>
        <p:nvSpPr>
          <p:cNvPr id="7" name="Rectangle 6"/>
          <p:cNvSpPr/>
          <p:nvPr/>
        </p:nvSpPr>
        <p:spPr>
          <a:xfrm>
            <a:off x="868680" y="5349240"/>
            <a:ext cx="10241280" cy="594360"/>
          </a:xfrm>
          <a:prstGeom prst="rect">
            <a:avLst/>
          </a:prstGeom>
          <a:solidFill>
            <a:srgbClr val="FFF2CC"/>
          </a:solidFill>
          <a:ln>
            <a:solidFill>
              <a:srgbClr val="B4B4B4"/>
            </a:solidFill>
          </a:ln>
        </p:spPr>
        <p:style>
          <a:lnRef idx="1">
            <a:schemeClr val="accent1"/>
          </a:lnRef>
          <a:fillRef idx="3">
            <a:schemeClr val="accent1"/>
          </a:fillRef>
          <a:effectRef idx="2">
            <a:schemeClr val="accent1"/>
          </a:effectRef>
          <a:fontRef idx="minor">
            <a:schemeClr val="lt1"/>
          </a:fontRef>
        </p:style>
        <p:txBody>
          <a:bodyPr wrap="square" lIns="73152" rIns="73152" rtlCol="0" anchor="ctr">
            <a:normAutofit/>
          </a:bodyPr>
          <a:lstStyle/>
          <a:p>
            <a:pPr algn="ctr"/>
            <a:r>
              <a:rPr sz="1500" b="0">
                <a:solidFill>
                  <a:srgbClr val="222222"/>
                </a:solidFill>
              </a:rPr>
              <a:t>Forensic takeaway: an artifact is strongest when the database row, table relationship, timestamp conversion, and user-facing meaning are all explained.</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A46F6-A817-12EF-F7F7-EF1AE6DDA770}"/>
              </a:ext>
            </a:extLst>
          </p:cNvPr>
          <p:cNvSpPr>
            <a:spLocks noGrp="1"/>
          </p:cNvSpPr>
          <p:nvPr>
            <p:ph type="title"/>
          </p:nvPr>
        </p:nvSpPr>
        <p:spPr/>
        <p:txBody>
          <a:bodyPr wrap="square">
            <a:normAutofit/>
          </a:bodyPr>
          <a:lstStyle/>
          <a:p>
            <a:r>
              <a:rPr sz="3600"/>
              <a:t>Assignment</a:t>
            </a:r>
          </a:p>
        </p:txBody>
      </p:sp>
      <p:sp>
        <p:nvSpPr>
          <p:cNvPr id="3" name="Content Placeholder 2">
            <a:extLst>
              <a:ext uri="{FF2B5EF4-FFF2-40B4-BE49-F238E27FC236}">
                <a16:creationId xmlns:a16="http://schemas.microsoft.com/office/drawing/2014/main" id="{CB815D21-D34E-8411-E162-D6B740695A95}"/>
              </a:ext>
            </a:extLst>
          </p:cNvPr>
          <p:cNvSpPr>
            <a:spLocks noGrp="1"/>
          </p:cNvSpPr>
          <p:nvPr>
            <p:ph idx="1"/>
          </p:nvPr>
        </p:nvSpPr>
        <p:spPr>
          <a:xfrm>
            <a:off x="838200" y="1825625"/>
            <a:ext cx="10515600" cy="775808"/>
          </a:xfrm>
        </p:spPr>
        <p:txBody>
          <a:bodyPr wrap="square">
            <a:normAutofit fontScale="92500"/>
          </a:bodyPr>
          <a:lstStyle/>
          <a:p>
            <a:r>
              <a:rPr sz="2600"/>
              <a:t>Update the SQL query to include sender and receiver phone numbers. Use pdu, part, and addr; clearly explain each join condition and each selected field.</a:t>
            </a:r>
          </a:p>
        </p:txBody>
      </p:sp>
      <p:pic>
        <p:nvPicPr>
          <p:cNvPr id="4" name="Picture 3">
            <a:extLst>
              <a:ext uri="{FF2B5EF4-FFF2-40B4-BE49-F238E27FC236}">
                <a16:creationId xmlns:a16="http://schemas.microsoft.com/office/drawing/2014/main" id="{64AC9A7C-B063-D126-D79E-453CFC52C008}"/>
              </a:ext>
            </a:extLst>
          </p:cNvPr>
          <p:cNvPicPr>
            <a:picLocks noChangeAspect="1"/>
          </p:cNvPicPr>
          <p:nvPr/>
        </p:nvPicPr>
        <p:blipFill>
          <a:blip r:embed="rId2"/>
          <a:stretch>
            <a:fillRect/>
          </a:stretch>
        </p:blipFill>
        <p:spPr>
          <a:xfrm>
            <a:off x="838200" y="2738687"/>
            <a:ext cx="10606331" cy="2613154"/>
          </a:xfrm>
          <a:prstGeom prst="rect">
            <a:avLst/>
          </a:prstGeom>
        </p:spPr>
      </p:pic>
    </p:spTree>
    <p:extLst>
      <p:ext uri="{BB962C8B-B14F-4D97-AF65-F5344CB8AC3E}">
        <p14:creationId xmlns:p14="http://schemas.microsoft.com/office/powerpoint/2010/main" val="24836915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2524</TotalTime>
  <Words>20409</Words>
  <Application>Microsoft Office PowerPoint</Application>
  <PresentationFormat>Widescreen</PresentationFormat>
  <Paragraphs>1417</Paragraphs>
  <Slides>57</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57</vt:i4>
      </vt:variant>
    </vt:vector>
  </HeadingPairs>
  <TitlesOfParts>
    <vt:vector size="64" baseType="lpstr">
      <vt:lpstr>Spectral</vt:lpstr>
      <vt:lpstr>Arial</vt:lpstr>
      <vt:lpstr>Arial Narrow</vt:lpstr>
      <vt:lpstr>Calibri</vt:lpstr>
      <vt:lpstr>Calibri Light</vt:lpstr>
      <vt:lpstr>Consolas</vt:lpstr>
      <vt:lpstr>Office Theme</vt:lpstr>
      <vt:lpstr>AOSP App Investigations</vt:lpstr>
      <vt:lpstr>Why phone messaging matters in investigations</vt:lpstr>
      <vt:lpstr>AOSP Application/Services</vt:lpstr>
      <vt:lpstr>What is an AOSP application or service?</vt:lpstr>
      <vt:lpstr>AOSP Apps/Services: com.android.*</vt:lpstr>
      <vt:lpstr>Core AOSP services to investigate</vt:lpstr>
      <vt:lpstr>Messaging services</vt:lpstr>
      <vt:lpstr>Messaging service is a core AOSP evidence source</vt:lpstr>
      <vt:lpstr>Messaging service implementation</vt:lpstr>
      <vt:lpstr>Messaging service can be used by other apps</vt:lpstr>
      <vt:lpstr>Check which apps use messaging services</vt:lpstr>
      <vt:lpstr>Messaging services in digital forensics</vt:lpstr>
      <vt:lpstr>Why messaging services matter</vt:lpstr>
      <vt:lpstr>Sample forensic questions</vt:lpstr>
      <vt:lpstr>Strategy: move from service to storage</vt:lpstr>
      <vt:lpstr>Forensic workflow: AOSP messaging evidence</vt:lpstr>
      <vt:lpstr>Messaging service folder structure</vt:lpstr>
      <vt:lpstr>Investigating mmssms.db</vt:lpstr>
      <vt:lpstr>Locate mmssms.db</vt:lpstr>
      <vt:lpstr>Most valuable mmssms.db tables</vt:lpstr>
      <vt:lpstr>Key concept: reconstruct conversations from linked tables</vt:lpstr>
      <vt:lpstr>Evidence map: mmssms.db tables</vt:lpstr>
      <vt:lpstr>sms table</vt:lpstr>
      <vt:lpstr>pdu table</vt:lpstr>
      <vt:lpstr>part table</vt:lpstr>
      <vt:lpstr>attachments table</vt:lpstr>
      <vt:lpstr>threads table</vt:lpstr>
      <vt:lpstr>canonical_addresses table</vt:lpstr>
      <vt:lpstr>pending_msgs table</vt:lpstr>
      <vt:lpstr>Investigate the sms table</vt:lpstr>
      <vt:lpstr>Timestamp and direction fields: avoid common mistakes</vt:lpstr>
      <vt:lpstr>PowerPoint Presentation</vt:lpstr>
      <vt:lpstr>PowerPoint Presentation</vt:lpstr>
      <vt:lpstr>PowerPoint Presentation</vt:lpstr>
      <vt:lpstr>How SMS messages are sent and received</vt:lpstr>
      <vt:lpstr>Exercise: identify the message received around Jan. 29, 2020, 6:20 PM</vt:lpstr>
      <vt:lpstr>What table describes conversations?</vt:lpstr>
      <vt:lpstr>PowerPoint Presentation</vt:lpstr>
      <vt:lpstr>Investigate the pdu table</vt:lpstr>
      <vt:lpstr>PowerPoint Presentation</vt:lpstr>
      <vt:lpstr>PowerPoint Presentation</vt:lpstr>
      <vt:lpstr>PowerPoint Presentation</vt:lpstr>
      <vt:lpstr>Investigate the part table</vt:lpstr>
      <vt:lpstr>Example: one MMS, multiple parts</vt:lpstr>
      <vt:lpstr>PowerPoint Presentation</vt:lpstr>
      <vt:lpstr>The part table contains MMS components</vt:lpstr>
      <vt:lpstr>Reconstruct an MMS message using pdu, part, and addr</vt:lpstr>
      <vt:lpstr>PowerPoint Presentation</vt:lpstr>
      <vt:lpstr>MMS reconstruction logic</vt:lpstr>
      <vt:lpstr>MMS reconstruction steps</vt:lpstr>
      <vt:lpstr>Example: MMS message _id = 1</vt:lpstr>
      <vt:lpstr>Retrieve text bodies of received MMS messages using SQL</vt:lpstr>
      <vt:lpstr>Identify MMS sender and receiver(s)</vt:lpstr>
      <vt:lpstr>SQL scaffold: include MMS participants</vt:lpstr>
      <vt:lpstr>Summary: AOSP messaging forensic workflow</vt:lpstr>
      <vt:lpstr>Investigator checklist: turn records into evidence</vt:lpstr>
      <vt:lpstr>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Installing Visual Studio Code</dc:title>
  <dc:creator>Weifeng Xu</dc:creator>
  <cp:lastModifiedBy>Weifeng Xu</cp:lastModifiedBy>
  <cp:revision>295</cp:revision>
  <dcterms:created xsi:type="dcterms:W3CDTF">2021-01-18T02:02:41Z</dcterms:created>
  <dcterms:modified xsi:type="dcterms:W3CDTF">2026-10-27T15:25:19Z</dcterms:modified>
</cp:coreProperties>
</file>