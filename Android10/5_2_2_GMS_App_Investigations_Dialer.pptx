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547" r:id="rId3"/>
    <p:sldId id="568" r:id="rId4"/>
    <p:sldId id="548" r:id="rId5"/>
    <p:sldId id="521" r:id="rId6"/>
    <p:sldId id="522" r:id="rId7"/>
    <p:sldId id="567" r:id="rId8"/>
    <p:sldId id="575" r:id="rId9"/>
    <p:sldId id="580" r:id="rId10"/>
    <p:sldId id="578" r:id="rId11"/>
    <p:sldId id="576" r:id="rId12"/>
    <p:sldId id="560" r:id="rId13"/>
    <p:sldId id="569" r:id="rId14"/>
    <p:sldId id="579" r:id="rId15"/>
    <p:sldId id="577" r:id="rId16"/>
    <p:sldId id="561" r:id="rId17"/>
    <p:sldId id="523" r:id="rId18"/>
    <p:sldId id="570" r:id="rId19"/>
    <p:sldId id="540" r:id="rId20"/>
    <p:sldId id="541" r:id="rId21"/>
    <p:sldId id="542" r:id="rId22"/>
    <p:sldId id="571" r:id="rId23"/>
    <p:sldId id="581" r:id="rId24"/>
    <p:sldId id="563" r:id="rId25"/>
    <p:sldId id="564" r:id="rId26"/>
    <p:sldId id="552" r:id="rId27"/>
    <p:sldId id="524" r:id="rId28"/>
    <p:sldId id="525" r:id="rId29"/>
    <p:sldId id="527" r:id="rId30"/>
    <p:sldId id="530" r:id="rId31"/>
    <p:sldId id="556" r:id="rId32"/>
    <p:sldId id="557" r:id="rId33"/>
    <p:sldId id="562" r:id="rId34"/>
    <p:sldId id="572" r:id="rId35"/>
    <p:sldId id="551" r:id="rId36"/>
    <p:sldId id="543" r:id="rId37"/>
    <p:sldId id="544" r:id="rId38"/>
    <p:sldId id="553" r:id="rId39"/>
    <p:sldId id="545" r:id="rId40"/>
    <p:sldId id="533" r:id="rId41"/>
    <p:sldId id="566" r:id="rId42"/>
    <p:sldId id="554" r:id="rId43"/>
    <p:sldId id="538" r:id="rId44"/>
    <p:sldId id="539" r:id="rId45"/>
    <p:sldId id="558" r:id="rId46"/>
    <p:sldId id="573" r:id="rId47"/>
    <p:sldId id="559" r:id="rId48"/>
    <p:sldId id="555" r:id="rId49"/>
    <p:sldId id="535" r:id="rId50"/>
    <p:sldId id="536" r:id="rId51"/>
    <p:sldId id="526" r:id="rId52"/>
    <p:sldId id="574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feng Xu" initials="WX" lastIdx="3" clrIdx="0">
    <p:extLst>
      <p:ext uri="{19B8F6BF-5375-455C-9EA6-DF929625EA0E}">
        <p15:presenceInfo xmlns:p15="http://schemas.microsoft.com/office/powerpoint/2012/main" userId="Weifeng X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AEAE"/>
    <a:srgbClr val="AB51D6"/>
    <a:srgbClr val="FF9A00"/>
    <a:srgbClr val="D81E00"/>
    <a:srgbClr val="00AAD6"/>
    <a:srgbClr val="318EFD"/>
    <a:srgbClr val="007DB5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3986A8-D257-46D5-A932-87F105AEF0C6}" v="99" dt="2025-11-10T14:26:58.14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69" autoAdjust="0"/>
    <p:restoredTop sz="93607" autoAdjust="0"/>
  </p:normalViewPr>
  <p:slideViewPr>
    <p:cSldViewPr snapToGrid="0">
      <p:cViewPr varScale="1">
        <p:scale>
          <a:sx n="97" d="100"/>
          <a:sy n="97" d="100"/>
        </p:scale>
        <p:origin x="125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custSel addSld delSld modSld">
      <pc:chgData name="Weifeng Xu" userId="e7aed605-a3dd-4d5a-a692-a87037af107b" providerId="ADAL" clId="{F99F8FFF-BA20-43EA-924B-4DF5D2A785F3}" dt="2025-11-10T15:51:49.366" v="715" actId="47"/>
      <pc:docMkLst>
        <pc:docMk/>
      </pc:docMkLst>
      <pc:sldChg chg="addSp modSp mod">
        <pc:chgData name="Weifeng Xu" userId="e7aed605-a3dd-4d5a-a692-a87037af107b" providerId="ADAL" clId="{F99F8FFF-BA20-43EA-924B-4DF5D2A785F3}" dt="2025-11-08T16:55:42.751" v="445" actId="1076"/>
        <pc:sldMkLst>
          <pc:docMk/>
          <pc:sldMk cId="76325081" sldId="533"/>
        </pc:sldMkLst>
        <pc:graphicFrameChg chg="add mod modGraphic">
          <ac:chgData name="Weifeng Xu" userId="e7aed605-a3dd-4d5a-a692-a87037af107b" providerId="ADAL" clId="{F99F8FFF-BA20-43EA-924B-4DF5D2A785F3}" dt="2025-11-08T16:55:42.751" v="445" actId="1076"/>
          <ac:graphicFrameMkLst>
            <pc:docMk/>
            <pc:sldMk cId="76325081" sldId="533"/>
            <ac:graphicFrameMk id="2" creationId="{943ED3CF-04DA-01D9-5070-FD80BA9A231B}"/>
          </ac:graphicFrameMkLst>
        </pc:graphicFrameChg>
        <pc:picChg chg="mod">
          <ac:chgData name="Weifeng Xu" userId="e7aed605-a3dd-4d5a-a692-a87037af107b" providerId="ADAL" clId="{F99F8FFF-BA20-43EA-924B-4DF5D2A785F3}" dt="2025-11-08T16:54:56.600" v="432" actId="1076"/>
          <ac:picMkLst>
            <pc:docMk/>
            <pc:sldMk cId="76325081" sldId="533"/>
            <ac:picMk id="7" creationId="{81948891-9473-453B-9BA1-3E792311A3A6}"/>
          </ac:picMkLst>
        </pc:picChg>
        <pc:picChg chg="mod">
          <ac:chgData name="Weifeng Xu" userId="e7aed605-a3dd-4d5a-a692-a87037af107b" providerId="ADAL" clId="{F99F8FFF-BA20-43EA-924B-4DF5D2A785F3}" dt="2025-11-08T16:55:24.764" v="441" actId="14100"/>
          <ac:picMkLst>
            <pc:docMk/>
            <pc:sldMk cId="76325081" sldId="533"/>
            <ac:picMk id="9" creationId="{6DD4813B-5125-4D6A-A084-E6DA8E69E478}"/>
          </ac:picMkLst>
        </pc:picChg>
      </pc:sldChg>
      <pc:sldChg chg="modSp mod">
        <pc:chgData name="Weifeng Xu" userId="e7aed605-a3dd-4d5a-a692-a87037af107b" providerId="ADAL" clId="{F99F8FFF-BA20-43EA-924B-4DF5D2A785F3}" dt="2025-11-10T13:31:38.626" v="623" actId="20577"/>
        <pc:sldMkLst>
          <pc:docMk/>
          <pc:sldMk cId="1733187922" sldId="548"/>
        </pc:sldMkLst>
        <pc:spChg chg="mod">
          <ac:chgData name="Weifeng Xu" userId="e7aed605-a3dd-4d5a-a692-a87037af107b" providerId="ADAL" clId="{F99F8FFF-BA20-43EA-924B-4DF5D2A785F3}" dt="2025-11-10T13:31:38.626" v="623" actId="20577"/>
          <ac:spMkLst>
            <pc:docMk/>
            <pc:sldMk cId="1733187922" sldId="548"/>
            <ac:spMk id="5" creationId="{20DDCBC4-14FB-923A-366B-E476346C9C41}"/>
          </ac:spMkLst>
        </pc:spChg>
      </pc:sldChg>
      <pc:sldChg chg="modSp mod">
        <pc:chgData name="Weifeng Xu" userId="e7aed605-a3dd-4d5a-a692-a87037af107b" providerId="ADAL" clId="{F99F8FFF-BA20-43EA-924B-4DF5D2A785F3}" dt="2025-11-10T15:45:47.946" v="714" actId="6549"/>
        <pc:sldMkLst>
          <pc:docMk/>
          <pc:sldMk cId="2185650768" sldId="549"/>
        </pc:sldMkLst>
        <pc:spChg chg="mod">
          <ac:chgData name="Weifeng Xu" userId="e7aed605-a3dd-4d5a-a692-a87037af107b" providerId="ADAL" clId="{F99F8FFF-BA20-43EA-924B-4DF5D2A785F3}" dt="2025-11-10T15:45:47.946" v="714" actId="6549"/>
          <ac:spMkLst>
            <pc:docMk/>
            <pc:sldMk cId="2185650768" sldId="549"/>
            <ac:spMk id="4" creationId="{7E995024-C1B7-6FA8-4151-B87FFD958D19}"/>
          </ac:spMkLst>
        </pc:spChg>
      </pc:sldChg>
      <pc:sldChg chg="addSp delSp modSp mod modClrScheme chgLayout">
        <pc:chgData name="Weifeng Xu" userId="e7aed605-a3dd-4d5a-a692-a87037af107b" providerId="ADAL" clId="{F99F8FFF-BA20-43EA-924B-4DF5D2A785F3}" dt="2025-11-08T16:52:30.841" v="429" actId="13926"/>
        <pc:sldMkLst>
          <pc:docMk/>
          <pc:sldMk cId="2135567668" sldId="552"/>
        </pc:sldMkLst>
        <pc:graphicFrameChg chg="add mod modGraphic">
          <ac:chgData name="Weifeng Xu" userId="e7aed605-a3dd-4d5a-a692-a87037af107b" providerId="ADAL" clId="{F99F8FFF-BA20-43EA-924B-4DF5D2A785F3}" dt="2025-11-08T16:52:30.841" v="429" actId="13926"/>
          <ac:graphicFrameMkLst>
            <pc:docMk/>
            <pc:sldMk cId="2135567668" sldId="552"/>
            <ac:graphicFrameMk id="7" creationId="{7CDFFFE1-D793-6554-7DB4-AE53792F54DC}"/>
          </ac:graphicFrameMkLst>
        </pc:graphicFrameChg>
      </pc:sldChg>
      <pc:sldChg chg="modSp mod">
        <pc:chgData name="Weifeng Xu" userId="e7aed605-a3dd-4d5a-a692-a87037af107b" providerId="ADAL" clId="{F99F8FFF-BA20-43EA-924B-4DF5D2A785F3}" dt="2025-11-08T16:01:05.910" v="199" actId="20577"/>
        <pc:sldMkLst>
          <pc:docMk/>
          <pc:sldMk cId="792115356" sldId="557"/>
        </pc:sldMkLst>
        <pc:spChg chg="mod">
          <ac:chgData name="Weifeng Xu" userId="e7aed605-a3dd-4d5a-a692-a87037af107b" providerId="ADAL" clId="{F99F8FFF-BA20-43EA-924B-4DF5D2A785F3}" dt="2025-11-08T16:01:05.910" v="199" actId="20577"/>
          <ac:spMkLst>
            <pc:docMk/>
            <pc:sldMk cId="792115356" sldId="557"/>
            <ac:spMk id="3" creationId="{68FDF470-BF87-92FD-26B4-CF9CE27F9631}"/>
          </ac:spMkLst>
        </pc:spChg>
      </pc:sldChg>
      <pc:sldChg chg="addSp delSp modSp new mod">
        <pc:chgData name="Weifeng Xu" userId="e7aed605-a3dd-4d5a-a692-a87037af107b" providerId="ADAL" clId="{F99F8FFF-BA20-43EA-924B-4DF5D2A785F3}" dt="2025-11-10T14:26:58.141" v="712"/>
        <pc:sldMkLst>
          <pc:docMk/>
          <pc:sldMk cId="1305747800" sldId="560"/>
        </pc:sldMkLst>
        <pc:spChg chg="add mod">
          <ac:chgData name="Weifeng Xu" userId="e7aed605-a3dd-4d5a-a692-a87037af107b" providerId="ADAL" clId="{F99F8FFF-BA20-43EA-924B-4DF5D2A785F3}" dt="2025-11-10T13:49:19.667" v="655" actId="14100"/>
          <ac:spMkLst>
            <pc:docMk/>
            <pc:sldMk cId="1305747800" sldId="560"/>
            <ac:spMk id="2" creationId="{84335AD4-C0E7-9784-A7D5-1BD55437193F}"/>
          </ac:spMkLst>
        </pc:spChg>
        <pc:spChg chg="add mod">
          <ac:chgData name="Weifeng Xu" userId="e7aed605-a3dd-4d5a-a692-a87037af107b" providerId="ADAL" clId="{F99F8FFF-BA20-43EA-924B-4DF5D2A785F3}" dt="2025-11-10T13:50:02.575" v="697" actId="1076"/>
          <ac:spMkLst>
            <pc:docMk/>
            <pc:sldMk cId="1305747800" sldId="560"/>
            <ac:spMk id="3" creationId="{B70C3E57-1262-D78B-B89C-B47AE3A00859}"/>
          </ac:spMkLst>
        </pc:spChg>
        <pc:spChg chg="add">
          <ac:chgData name="Weifeng Xu" userId="e7aed605-a3dd-4d5a-a692-a87037af107b" providerId="ADAL" clId="{F99F8FFF-BA20-43EA-924B-4DF5D2A785F3}" dt="2025-11-10T14:23:12.130" v="699"/>
          <ac:spMkLst>
            <pc:docMk/>
            <pc:sldMk cId="1305747800" sldId="560"/>
            <ac:spMk id="4" creationId="{C92FC6DB-966E-756B-A4B6-33614507277B}"/>
          </ac:spMkLst>
        </pc:spChg>
        <pc:spChg chg="add mod">
          <ac:chgData name="Weifeng Xu" userId="e7aed605-a3dd-4d5a-a692-a87037af107b" providerId="ADAL" clId="{F99F8FFF-BA20-43EA-924B-4DF5D2A785F3}" dt="2025-11-08T15:51:54.065" v="164" actId="208"/>
          <ac:spMkLst>
            <pc:docMk/>
            <pc:sldMk cId="1305747800" sldId="560"/>
            <ac:spMk id="12" creationId="{840A719E-2858-6150-D65C-04867F687A87}"/>
          </ac:spMkLst>
        </pc:spChg>
        <pc:spChg chg="add mod">
          <ac:chgData name="Weifeng Xu" userId="e7aed605-a3dd-4d5a-a692-a87037af107b" providerId="ADAL" clId="{F99F8FFF-BA20-43EA-924B-4DF5D2A785F3}" dt="2025-11-08T15:55:54.702" v="195" actId="14100"/>
          <ac:spMkLst>
            <pc:docMk/>
            <pc:sldMk cId="1305747800" sldId="560"/>
            <ac:spMk id="13" creationId="{3F637FF7-F9FD-D358-2771-F2E0B498E68F}"/>
          </ac:spMkLst>
        </pc:spChg>
        <pc:spChg chg="add mod">
          <ac:chgData name="Weifeng Xu" userId="e7aed605-a3dd-4d5a-a692-a87037af107b" providerId="ADAL" clId="{F99F8FFF-BA20-43EA-924B-4DF5D2A785F3}" dt="2025-11-08T15:55:47.560" v="192" actId="14100"/>
          <ac:spMkLst>
            <pc:docMk/>
            <pc:sldMk cId="1305747800" sldId="560"/>
            <ac:spMk id="14" creationId="{433B3167-8DAF-7223-DA10-C14F955C2B1E}"/>
          </ac:spMkLst>
        </pc:spChg>
        <pc:grpChg chg="mod">
          <ac:chgData name="Weifeng Xu" userId="e7aed605-a3dd-4d5a-a692-a87037af107b" providerId="ADAL" clId="{F99F8FFF-BA20-43EA-924B-4DF5D2A785F3}" dt="2025-11-10T14:26:58.141" v="712"/>
          <ac:grpSpMkLst>
            <pc:docMk/>
            <pc:sldMk cId="1305747800" sldId="560"/>
            <ac:grpSpMk id="17" creationId="{8A4D109C-395B-B5E6-62CC-9BB24D413ECD}"/>
          </ac:grpSpMkLst>
        </pc:grpChg>
        <pc:graphicFrameChg chg="add mod modGraphic">
          <ac:chgData name="Weifeng Xu" userId="e7aed605-a3dd-4d5a-a692-a87037af107b" providerId="ADAL" clId="{F99F8FFF-BA20-43EA-924B-4DF5D2A785F3}" dt="2025-11-10T13:39:05.036" v="651" actId="20577"/>
          <ac:graphicFrameMkLst>
            <pc:docMk/>
            <pc:sldMk cId="1305747800" sldId="560"/>
            <ac:graphicFrameMk id="7" creationId="{7269E31B-54C2-FAE9-868F-4B63013243BF}"/>
          </ac:graphicFrameMkLst>
        </pc:graphicFrameChg>
        <pc:picChg chg="add del mod">
          <ac:chgData name="Weifeng Xu" userId="e7aed605-a3dd-4d5a-a692-a87037af107b" providerId="ADAL" clId="{F99F8FFF-BA20-43EA-924B-4DF5D2A785F3}" dt="2025-11-10T14:23:31.331" v="703" actId="478"/>
          <ac:picMkLst>
            <pc:docMk/>
            <pc:sldMk cId="1305747800" sldId="560"/>
            <ac:picMk id="5" creationId="{B77CD0F9-706E-A4D9-7A37-9C0C9B56BE1B}"/>
          </ac:picMkLst>
        </pc:picChg>
        <pc:picChg chg="add mod">
          <ac:chgData name="Weifeng Xu" userId="e7aed605-a3dd-4d5a-a692-a87037af107b" providerId="ADAL" clId="{F99F8FFF-BA20-43EA-924B-4DF5D2A785F3}" dt="2025-11-08T15:50:15.444" v="136" actId="1076"/>
          <ac:picMkLst>
            <pc:docMk/>
            <pc:sldMk cId="1305747800" sldId="560"/>
            <ac:picMk id="8" creationId="{321B2A6E-BBA4-B5F7-EF60-D296B5CE9572}"/>
          </ac:picMkLst>
        </pc:picChg>
        <pc:picChg chg="add mod">
          <ac:chgData name="Weifeng Xu" userId="e7aed605-a3dd-4d5a-a692-a87037af107b" providerId="ADAL" clId="{F99F8FFF-BA20-43EA-924B-4DF5D2A785F3}" dt="2025-11-10T14:26:39.961" v="709" actId="1076"/>
          <ac:picMkLst>
            <pc:docMk/>
            <pc:sldMk cId="1305747800" sldId="560"/>
            <ac:picMk id="9" creationId="{B3E7D9B2-363D-E9FB-3DB0-51A27A8A8938}"/>
          </ac:picMkLst>
        </pc:picChg>
        <pc:inkChg chg="add mod">
          <ac:chgData name="Weifeng Xu" userId="e7aed605-a3dd-4d5a-a692-a87037af107b" providerId="ADAL" clId="{F99F8FFF-BA20-43EA-924B-4DF5D2A785F3}" dt="2025-11-10T14:26:58.141" v="712"/>
          <ac:inkMkLst>
            <pc:docMk/>
            <pc:sldMk cId="1305747800" sldId="560"/>
            <ac:inkMk id="10" creationId="{414A73BC-16AD-37EE-C6D3-9A47F5818FC4}"/>
          </ac:inkMkLst>
        </pc:inkChg>
        <pc:inkChg chg="add mod">
          <ac:chgData name="Weifeng Xu" userId="e7aed605-a3dd-4d5a-a692-a87037af107b" providerId="ADAL" clId="{F99F8FFF-BA20-43EA-924B-4DF5D2A785F3}" dt="2025-11-10T14:26:58.141" v="712"/>
          <ac:inkMkLst>
            <pc:docMk/>
            <pc:sldMk cId="1305747800" sldId="560"/>
            <ac:inkMk id="11" creationId="{7732EC9B-12F3-B2D6-4808-5A3EC929C889}"/>
          </ac:inkMkLst>
        </pc:inkChg>
        <pc:inkChg chg="add">
          <ac:chgData name="Weifeng Xu" userId="e7aed605-a3dd-4d5a-a692-a87037af107b" providerId="ADAL" clId="{F99F8FFF-BA20-43EA-924B-4DF5D2A785F3}" dt="2025-11-08T16:03:18.411" v="200" actId="9405"/>
          <ac:inkMkLst>
            <pc:docMk/>
            <pc:sldMk cId="1305747800" sldId="560"/>
            <ac:inkMk id="15" creationId="{271EEC37-2A52-EA73-431E-722C91965FE8}"/>
          </ac:inkMkLst>
        </pc:inkChg>
        <pc:inkChg chg="add">
          <ac:chgData name="Weifeng Xu" userId="e7aed605-a3dd-4d5a-a692-a87037af107b" providerId="ADAL" clId="{F99F8FFF-BA20-43EA-924B-4DF5D2A785F3}" dt="2025-11-08T16:03:25.353" v="201" actId="9405"/>
          <ac:inkMkLst>
            <pc:docMk/>
            <pc:sldMk cId="1305747800" sldId="560"/>
            <ac:inkMk id="16" creationId="{77B8B280-CAB0-F06B-DFF4-8D1DE987FD3C}"/>
          </ac:inkMkLst>
        </pc:inkChg>
      </pc:sldChg>
      <pc:sldChg chg="addSp delSp modSp new mod">
        <pc:chgData name="Weifeng Xu" userId="e7aed605-a3dd-4d5a-a692-a87037af107b" providerId="ADAL" clId="{F99F8FFF-BA20-43EA-924B-4DF5D2A785F3}" dt="2025-11-10T13:51:41.141" v="698" actId="20577"/>
        <pc:sldMkLst>
          <pc:docMk/>
          <pc:sldMk cId="3691765158" sldId="561"/>
        </pc:sldMkLst>
        <pc:graphicFrameChg chg="add mod modGraphic">
          <ac:chgData name="Weifeng Xu" userId="e7aed605-a3dd-4d5a-a692-a87037af107b" providerId="ADAL" clId="{F99F8FFF-BA20-43EA-924B-4DF5D2A785F3}" dt="2025-11-10T13:51:41.141" v="698" actId="20577"/>
          <ac:graphicFrameMkLst>
            <pc:docMk/>
            <pc:sldMk cId="3691765158" sldId="561"/>
            <ac:graphicFrameMk id="3" creationId="{9923AA65-F61F-16D4-1E21-E8BA59F365F0}"/>
          </ac:graphicFrameMkLst>
        </pc:graphicFrameChg>
      </pc:sldChg>
      <pc:sldChg chg="addSp modSp new mod">
        <pc:chgData name="Weifeng Xu" userId="e7aed605-a3dd-4d5a-a692-a87037af107b" providerId="ADAL" clId="{F99F8FFF-BA20-43EA-924B-4DF5D2A785F3}" dt="2025-11-08T16:27:41.071" v="312" actId="20577"/>
        <pc:sldMkLst>
          <pc:docMk/>
          <pc:sldMk cId="2266040173" sldId="562"/>
        </pc:sldMkLst>
        <pc:spChg chg="mod">
          <ac:chgData name="Weifeng Xu" userId="e7aed605-a3dd-4d5a-a692-a87037af107b" providerId="ADAL" clId="{F99F8FFF-BA20-43EA-924B-4DF5D2A785F3}" dt="2025-11-08T16:14:15.838" v="214" actId="20577"/>
          <ac:spMkLst>
            <pc:docMk/>
            <pc:sldMk cId="2266040173" sldId="562"/>
            <ac:spMk id="2" creationId="{DC080299-8B00-3C39-26E1-74F8B629A042}"/>
          </ac:spMkLst>
        </pc:spChg>
        <pc:spChg chg="mod">
          <ac:chgData name="Weifeng Xu" userId="e7aed605-a3dd-4d5a-a692-a87037af107b" providerId="ADAL" clId="{F99F8FFF-BA20-43EA-924B-4DF5D2A785F3}" dt="2025-11-08T16:27:41.071" v="312" actId="20577"/>
          <ac:spMkLst>
            <pc:docMk/>
            <pc:sldMk cId="2266040173" sldId="562"/>
            <ac:spMk id="3" creationId="{725F1913-78BE-C322-810F-DCFB5350F9C0}"/>
          </ac:spMkLst>
        </pc:spChg>
        <pc:graphicFrameChg chg="add mod modGraphic">
          <ac:chgData name="Weifeng Xu" userId="e7aed605-a3dd-4d5a-a692-a87037af107b" providerId="ADAL" clId="{F99F8FFF-BA20-43EA-924B-4DF5D2A785F3}" dt="2025-11-08T16:26:58.793" v="302" actId="1076"/>
          <ac:graphicFrameMkLst>
            <pc:docMk/>
            <pc:sldMk cId="2266040173" sldId="562"/>
            <ac:graphicFrameMk id="4" creationId="{8792EA6A-F6FD-C87F-2D79-E38024D746A0}"/>
          </ac:graphicFrameMkLst>
        </pc:graphicFrameChg>
      </pc:sldChg>
      <pc:sldChg chg="addSp delSp modSp new mod modClrScheme chgLayout">
        <pc:chgData name="Weifeng Xu" userId="e7aed605-a3dd-4d5a-a692-a87037af107b" providerId="ADAL" clId="{F99F8FFF-BA20-43EA-924B-4DF5D2A785F3}" dt="2025-11-08T16:50:43.008" v="428" actId="1076"/>
        <pc:sldMkLst>
          <pc:docMk/>
          <pc:sldMk cId="3352020335" sldId="563"/>
        </pc:sldMkLst>
        <pc:picChg chg="add mod">
          <ac:chgData name="Weifeng Xu" userId="e7aed605-a3dd-4d5a-a692-a87037af107b" providerId="ADAL" clId="{F99F8FFF-BA20-43EA-924B-4DF5D2A785F3}" dt="2025-11-08T16:50:43.008" v="428" actId="1076"/>
          <ac:picMkLst>
            <pc:docMk/>
            <pc:sldMk cId="3352020335" sldId="563"/>
            <ac:picMk id="6" creationId="{39914C1E-078D-0607-9DC7-DF03AB17AA3E}"/>
          </ac:picMkLst>
        </pc:picChg>
      </pc:sldChg>
      <pc:sldChg chg="addSp modSp new mod">
        <pc:chgData name="Weifeng Xu" userId="e7aed605-a3dd-4d5a-a692-a87037af107b" providerId="ADAL" clId="{F99F8FFF-BA20-43EA-924B-4DF5D2A785F3}" dt="2025-11-08T16:50:36.817" v="427" actId="1076"/>
        <pc:sldMkLst>
          <pc:docMk/>
          <pc:sldMk cId="4053790065" sldId="564"/>
        </pc:sldMkLst>
        <pc:picChg chg="add mod">
          <ac:chgData name="Weifeng Xu" userId="e7aed605-a3dd-4d5a-a692-a87037af107b" providerId="ADAL" clId="{F99F8FFF-BA20-43EA-924B-4DF5D2A785F3}" dt="2025-11-08T16:50:36.817" v="427" actId="1076"/>
          <ac:picMkLst>
            <pc:docMk/>
            <pc:sldMk cId="4053790065" sldId="564"/>
            <ac:picMk id="8" creationId="{6DC86807-F942-D476-B36E-D8A18153055B}"/>
          </ac:picMkLst>
        </pc:picChg>
      </pc:sldChg>
      <pc:sldChg chg="new del">
        <pc:chgData name="Weifeng Xu" userId="e7aed605-a3dd-4d5a-a692-a87037af107b" providerId="ADAL" clId="{F99F8FFF-BA20-43EA-924B-4DF5D2A785F3}" dt="2025-11-10T15:51:49.366" v="715" actId="47"/>
        <pc:sldMkLst>
          <pc:docMk/>
          <pc:sldMk cId="1489374902" sldId="565"/>
        </pc:sldMkLst>
      </pc:sldChg>
      <pc:sldChg chg="addSp modSp new mod modClrScheme chgLayout">
        <pc:chgData name="Weifeng Xu" userId="e7aed605-a3dd-4d5a-a692-a87037af107b" providerId="ADAL" clId="{F99F8FFF-BA20-43EA-924B-4DF5D2A785F3}" dt="2025-11-08T17:03:29.774" v="599" actId="207"/>
        <pc:sldMkLst>
          <pc:docMk/>
          <pc:sldMk cId="3653455229" sldId="566"/>
        </pc:sldMkLst>
        <pc:spChg chg="add mod">
          <ac:chgData name="Weifeng Xu" userId="e7aed605-a3dd-4d5a-a692-a87037af107b" providerId="ADAL" clId="{F99F8FFF-BA20-43EA-924B-4DF5D2A785F3}" dt="2025-11-08T17:03:29.774" v="599" actId="207"/>
          <ac:spMkLst>
            <pc:docMk/>
            <pc:sldMk cId="3653455229" sldId="566"/>
            <ac:spMk id="2" creationId="{9CFCA92A-C2E3-A5CF-9CA2-AEEA80D760FA}"/>
          </ac:spMkLst>
        </pc:spChg>
        <pc:spChg chg="add mod">
          <ac:chgData name="Weifeng Xu" userId="e7aed605-a3dd-4d5a-a692-a87037af107b" providerId="ADAL" clId="{F99F8FFF-BA20-43EA-924B-4DF5D2A785F3}" dt="2025-11-08T17:02:34.968" v="566" actId="207"/>
          <ac:spMkLst>
            <pc:docMk/>
            <pc:sldMk cId="3653455229" sldId="566"/>
            <ac:spMk id="3" creationId="{529BC1CC-DBC8-1117-EFFF-85BE2B2DE832}"/>
          </ac:spMkLst>
        </pc:spChg>
        <pc:graphicFrameChg chg="add mod modGraphic">
          <ac:chgData name="Weifeng Xu" userId="e7aed605-a3dd-4d5a-a692-a87037af107b" providerId="ADAL" clId="{F99F8FFF-BA20-43EA-924B-4DF5D2A785F3}" dt="2025-11-08T17:00:21.015" v="542" actId="113"/>
          <ac:graphicFrameMkLst>
            <pc:docMk/>
            <pc:sldMk cId="3653455229" sldId="566"/>
            <ac:graphicFrameMk id="4" creationId="{897B08F6-5ACC-F457-4B14-D4B00C4C802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55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digraph </a:t>
            </a:r>
            <a:r>
              <a:rPr lang="en-US" dirty="0" err="1"/>
              <a:t>GoogleDialerArchitecture</a:t>
            </a:r>
            <a:r>
              <a:rPr lang="en-US" dirty="0"/>
              <a:t> {</a:t>
            </a:r>
          </a:p>
          <a:p>
            <a:r>
              <a:rPr lang="en-US" dirty="0"/>
              <a:t>  </a:t>
            </a:r>
            <a:r>
              <a:rPr lang="en-US" dirty="0" err="1"/>
              <a:t>rankdir</a:t>
            </a:r>
            <a:r>
              <a:rPr lang="en-US" dirty="0"/>
              <a:t>=TB;</a:t>
            </a:r>
          </a:p>
          <a:p>
            <a:r>
              <a:rPr lang="en-US" dirty="0"/>
              <a:t>  node [shape=box, style=filled, </a:t>
            </a:r>
            <a:r>
              <a:rPr lang="en-US" dirty="0" err="1"/>
              <a:t>fillcolor</a:t>
            </a:r>
            <a:r>
              <a:rPr lang="en-US" dirty="0"/>
              <a:t>=white];</a:t>
            </a:r>
          </a:p>
          <a:p>
            <a:endParaRPr lang="en-US" dirty="0"/>
          </a:p>
          <a:p>
            <a:r>
              <a:rPr lang="en-US" dirty="0"/>
              <a:t>  subgraph </a:t>
            </a:r>
            <a:r>
              <a:rPr lang="en-US" dirty="0" err="1"/>
              <a:t>cluster_app</a:t>
            </a:r>
            <a:r>
              <a:rPr lang="en-US" dirty="0"/>
              <a:t> {</a:t>
            </a:r>
          </a:p>
          <a:p>
            <a:r>
              <a:rPr lang="en-US" dirty="0"/>
              <a:t>    label="App Layer (User-Facing)";</a:t>
            </a:r>
          </a:p>
          <a:p>
            <a:r>
              <a:rPr lang="en-US" dirty="0"/>
              <a:t>    color=</a:t>
            </a:r>
            <a:r>
              <a:rPr lang="en-US" dirty="0" err="1"/>
              <a:t>lightblue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GoogleDialer</a:t>
            </a:r>
            <a:r>
              <a:rPr lang="en-US" dirty="0"/>
              <a:t> [label="Google Dialer\n(</a:t>
            </a:r>
            <a:r>
              <a:rPr lang="en-US" dirty="0" err="1"/>
              <a:t>com.google.android.dialer</a:t>
            </a:r>
            <a:r>
              <a:rPr lang="en-US" dirty="0"/>
              <a:t>)\n- </a:t>
            </a:r>
            <a:r>
              <a:rPr lang="en-US" dirty="0" err="1"/>
              <a:t>dialer.db</a:t>
            </a:r>
            <a:r>
              <a:rPr lang="en-US" dirty="0"/>
              <a:t>\n- </a:t>
            </a:r>
            <a:r>
              <a:rPr lang="en-US" dirty="0" err="1"/>
              <a:t>annotated_call_log.db</a:t>
            </a:r>
            <a:r>
              <a:rPr lang="en-US" dirty="0"/>
              <a:t>\n- Spam, Caller ID, Screening"];</a:t>
            </a:r>
          </a:p>
          <a:p>
            <a:r>
              <a:rPr lang="en-US" dirty="0"/>
              <a:t>    </a:t>
            </a:r>
            <a:r>
              <a:rPr lang="en-US" dirty="0" err="1"/>
              <a:t>ContactsApp</a:t>
            </a:r>
            <a:r>
              <a:rPr lang="en-US" dirty="0"/>
              <a:t> [label="Google Contacts\n(</a:t>
            </a:r>
            <a:r>
              <a:rPr lang="en-US" dirty="0" err="1"/>
              <a:t>com.google.android.contacts</a:t>
            </a:r>
            <a:r>
              <a:rPr lang="en-US" dirty="0"/>
              <a:t>)\n- contacts2.db"];</a:t>
            </a:r>
          </a:p>
          <a:p>
            <a:r>
              <a:rPr lang="en-US" dirty="0"/>
              <a:t>    Messaging [label="Google Messages\n(</a:t>
            </a:r>
            <a:r>
              <a:rPr lang="en-US" dirty="0" err="1"/>
              <a:t>com.google.android.apps.messaging</a:t>
            </a:r>
            <a:r>
              <a:rPr lang="en-US" dirty="0"/>
              <a:t>)\n- </a:t>
            </a:r>
            <a:r>
              <a:rPr lang="en-US" dirty="0" err="1"/>
              <a:t>bugle_db</a:t>
            </a:r>
            <a:r>
              <a:rPr lang="en-US" dirty="0"/>
              <a:t>"];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subgraph </a:t>
            </a:r>
            <a:r>
              <a:rPr lang="en-US" dirty="0" err="1"/>
              <a:t>cluster_provider</a:t>
            </a:r>
            <a:r>
              <a:rPr lang="en-US" dirty="0"/>
              <a:t> {</a:t>
            </a:r>
          </a:p>
          <a:p>
            <a:r>
              <a:rPr lang="en-US" dirty="0"/>
              <a:t>    label="Content Provider Layer";</a:t>
            </a:r>
          </a:p>
          <a:p>
            <a:r>
              <a:rPr lang="en-US" dirty="0"/>
              <a:t>    color=</a:t>
            </a:r>
            <a:r>
              <a:rPr lang="en-US" dirty="0" err="1"/>
              <a:t>lightyellow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ContactsProvider</a:t>
            </a:r>
            <a:r>
              <a:rPr lang="en-US" dirty="0"/>
              <a:t> [label="Contacts Provider\n(</a:t>
            </a:r>
            <a:r>
              <a:rPr lang="en-US" dirty="0" err="1"/>
              <a:t>com.android.providers.contacts</a:t>
            </a:r>
            <a:r>
              <a:rPr lang="en-US" dirty="0"/>
              <a:t>)\n- contacts2.db, </a:t>
            </a:r>
            <a:r>
              <a:rPr lang="en-US" dirty="0" err="1"/>
              <a:t>calllog.db</a:t>
            </a:r>
            <a:r>
              <a:rPr lang="en-US" dirty="0"/>
              <a:t>\n- exposes contacts &amp; call log URIs"];</a:t>
            </a:r>
          </a:p>
          <a:p>
            <a:r>
              <a:rPr lang="en-US" dirty="0"/>
              <a:t>    </a:t>
            </a:r>
            <a:r>
              <a:rPr lang="en-US" dirty="0" err="1"/>
              <a:t>CallLogProvider</a:t>
            </a:r>
            <a:r>
              <a:rPr lang="en-US" dirty="0"/>
              <a:t> [label="</a:t>
            </a:r>
            <a:r>
              <a:rPr lang="en-US" dirty="0" err="1"/>
              <a:t>CallLog</a:t>
            </a:r>
            <a:r>
              <a:rPr lang="en-US" dirty="0"/>
              <a:t> Provider\n(content://call_log/calls)\n(sub-provider of </a:t>
            </a:r>
            <a:r>
              <a:rPr lang="en-US" dirty="0" err="1"/>
              <a:t>ContactsProvider</a:t>
            </a:r>
            <a:r>
              <a:rPr lang="en-US" dirty="0"/>
              <a:t>)"];</a:t>
            </a:r>
          </a:p>
          <a:p>
            <a:r>
              <a:rPr lang="en-US" dirty="0"/>
              <a:t>    </a:t>
            </a:r>
            <a:r>
              <a:rPr lang="en-US" dirty="0" err="1"/>
              <a:t>TelephonyProvider</a:t>
            </a:r>
            <a:r>
              <a:rPr lang="en-US" dirty="0"/>
              <a:t> [label="Telephony Provider\n(</a:t>
            </a:r>
            <a:r>
              <a:rPr lang="en-US" dirty="0" err="1"/>
              <a:t>com.android.providers.telephony</a:t>
            </a:r>
            <a:r>
              <a:rPr lang="en-US" dirty="0"/>
              <a:t>)\n- content://sms, content://mms"];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subgraph </a:t>
            </a:r>
            <a:r>
              <a:rPr lang="en-US" dirty="0" err="1"/>
              <a:t>cluster_system</a:t>
            </a:r>
            <a:r>
              <a:rPr lang="en-US" dirty="0"/>
              <a:t> {</a:t>
            </a:r>
          </a:p>
          <a:p>
            <a:r>
              <a:rPr lang="en-US" dirty="0"/>
              <a:t>    label="System Service Layer";</a:t>
            </a:r>
          </a:p>
          <a:p>
            <a:r>
              <a:rPr lang="en-US" dirty="0"/>
              <a:t>    color=</a:t>
            </a:r>
            <a:r>
              <a:rPr lang="en-US" dirty="0" err="1"/>
              <a:t>lightgray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TelephonyService</a:t>
            </a:r>
            <a:r>
              <a:rPr lang="en-US" dirty="0"/>
              <a:t> [label="Telephony Service\n(</a:t>
            </a:r>
            <a:r>
              <a:rPr lang="en-US" dirty="0" err="1"/>
              <a:t>android.telephony</a:t>
            </a:r>
            <a:r>
              <a:rPr lang="en-US" dirty="0"/>
              <a:t>)\n- SIM, radio, call &amp; SMS routing"];</a:t>
            </a:r>
          </a:p>
          <a:p>
            <a:r>
              <a:rPr lang="en-US" dirty="0"/>
              <a:t>    </a:t>
            </a:r>
            <a:r>
              <a:rPr lang="en-US" dirty="0" err="1"/>
              <a:t>IMSService</a:t>
            </a:r>
            <a:r>
              <a:rPr lang="en-US" dirty="0"/>
              <a:t> [label="IMS / Carrier Service\n(</a:t>
            </a:r>
            <a:r>
              <a:rPr lang="en-US" dirty="0" err="1"/>
              <a:t>com.google.android.ims</a:t>
            </a:r>
            <a:r>
              <a:rPr lang="en-US" dirty="0"/>
              <a:t>)\n- VoLTE, VoWiFi, RCS\n- </a:t>
            </a:r>
            <a:r>
              <a:rPr lang="en-US" dirty="0" err="1"/>
              <a:t>rcs.db</a:t>
            </a:r>
            <a:r>
              <a:rPr lang="en-US" dirty="0"/>
              <a:t>"];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// App → Provider relationships</a:t>
            </a:r>
          </a:p>
          <a:p>
            <a:r>
              <a:rPr lang="en-US" dirty="0"/>
              <a:t>  </a:t>
            </a:r>
            <a:r>
              <a:rPr lang="en-US" dirty="0" err="1"/>
              <a:t>GoogleDialer</a:t>
            </a:r>
            <a:r>
              <a:rPr lang="en-US" dirty="0"/>
              <a:t> -&gt; </a:t>
            </a:r>
            <a:r>
              <a:rPr lang="en-US" dirty="0" err="1"/>
              <a:t>CallLogProvider</a:t>
            </a:r>
            <a:r>
              <a:rPr lang="en-US" dirty="0"/>
              <a:t> [label="Query / Insert Calls", color=blue];</a:t>
            </a:r>
          </a:p>
          <a:p>
            <a:r>
              <a:rPr lang="en-US" dirty="0"/>
              <a:t>  </a:t>
            </a:r>
            <a:r>
              <a:rPr lang="en-US" dirty="0" err="1"/>
              <a:t>GoogleDialer</a:t>
            </a:r>
            <a:r>
              <a:rPr lang="en-US" dirty="0"/>
              <a:t> -&gt; </a:t>
            </a:r>
            <a:r>
              <a:rPr lang="en-US" dirty="0" err="1"/>
              <a:t>ContactsProvider</a:t>
            </a:r>
            <a:r>
              <a:rPr lang="en-US" dirty="0"/>
              <a:t> [label="Lookup / Update Contacts", color=blue];</a:t>
            </a:r>
          </a:p>
          <a:p>
            <a:r>
              <a:rPr lang="en-US" dirty="0"/>
              <a:t>  </a:t>
            </a:r>
            <a:r>
              <a:rPr lang="en-US" dirty="0" err="1"/>
              <a:t>ContactsApp</a:t>
            </a:r>
            <a:r>
              <a:rPr lang="en-US" dirty="0"/>
              <a:t> -&gt; </a:t>
            </a:r>
            <a:r>
              <a:rPr lang="en-US" dirty="0" err="1"/>
              <a:t>ContactsProvider</a:t>
            </a:r>
            <a:r>
              <a:rPr lang="en-US" dirty="0"/>
              <a:t> [label="CRUD via </a:t>
            </a:r>
            <a:r>
              <a:rPr lang="en-US" dirty="0" err="1"/>
              <a:t>ContentResolver</a:t>
            </a:r>
            <a:r>
              <a:rPr lang="en-US" dirty="0"/>
              <a:t>", color=blue];</a:t>
            </a:r>
          </a:p>
          <a:p>
            <a:r>
              <a:rPr lang="en-US" dirty="0"/>
              <a:t>  Messaging -&gt; </a:t>
            </a:r>
            <a:r>
              <a:rPr lang="en-US" dirty="0" err="1"/>
              <a:t>TelephonyProvider</a:t>
            </a:r>
            <a:r>
              <a:rPr lang="en-US" dirty="0"/>
              <a:t> [label="Read / Write SMS &amp; MMS", color=blue];</a:t>
            </a:r>
          </a:p>
          <a:p>
            <a:endParaRPr lang="en-US" dirty="0"/>
          </a:p>
          <a:p>
            <a:r>
              <a:rPr lang="en-US" dirty="0"/>
              <a:t>  // Provider → System Services</a:t>
            </a:r>
          </a:p>
          <a:p>
            <a:r>
              <a:rPr lang="en-US" dirty="0"/>
              <a:t>  </a:t>
            </a:r>
            <a:r>
              <a:rPr lang="en-US" dirty="0" err="1"/>
              <a:t>CallLogProvider</a:t>
            </a:r>
            <a:r>
              <a:rPr lang="en-US" dirty="0"/>
              <a:t> -&gt; </a:t>
            </a:r>
            <a:r>
              <a:rPr lang="en-US" dirty="0" err="1"/>
              <a:t>TelephonyService</a:t>
            </a:r>
            <a:r>
              <a:rPr lang="en-US" dirty="0"/>
              <a:t> [label="Retrieve call state", color=gray];</a:t>
            </a:r>
          </a:p>
          <a:p>
            <a:r>
              <a:rPr lang="en-US" dirty="0"/>
              <a:t>  </a:t>
            </a:r>
            <a:r>
              <a:rPr lang="en-US" dirty="0" err="1"/>
              <a:t>TelephonyService</a:t>
            </a:r>
            <a:r>
              <a:rPr lang="en-US" dirty="0"/>
              <a:t> -&gt; </a:t>
            </a:r>
            <a:r>
              <a:rPr lang="en-US" dirty="0" err="1"/>
              <a:t>IMSService</a:t>
            </a:r>
            <a:r>
              <a:rPr lang="en-US" dirty="0"/>
              <a:t> [label="Forward to IMS (VoLTE/RCS)", color=gray, style=dashed];</a:t>
            </a:r>
          </a:p>
          <a:p>
            <a:endParaRPr lang="en-US" dirty="0"/>
          </a:p>
          <a:p>
            <a:r>
              <a:rPr lang="en-US" dirty="0"/>
              <a:t>  // Provider hierarchy</a:t>
            </a:r>
          </a:p>
          <a:p>
            <a:r>
              <a:rPr lang="en-US" dirty="0"/>
              <a:t>  </a:t>
            </a:r>
            <a:r>
              <a:rPr lang="en-US" dirty="0" err="1"/>
              <a:t>ContactsProvider</a:t>
            </a:r>
            <a:r>
              <a:rPr lang="en-US" dirty="0"/>
              <a:t> -&gt; </a:t>
            </a:r>
            <a:r>
              <a:rPr lang="en-US" dirty="0" err="1"/>
              <a:t>CallLogProvider</a:t>
            </a:r>
            <a:r>
              <a:rPr lang="en-US" dirty="0"/>
              <a:t> [label="same package\n(</a:t>
            </a:r>
            <a:r>
              <a:rPr lang="en-US" dirty="0" err="1"/>
              <a:t>com.android.providers.contacts</a:t>
            </a:r>
            <a:r>
              <a:rPr lang="en-US" dirty="0"/>
              <a:t>)", style=dotted, color=gray];</a:t>
            </a:r>
          </a:p>
          <a:p>
            <a:endParaRPr lang="en-US" dirty="0"/>
          </a:p>
          <a:p>
            <a:r>
              <a:rPr lang="en-US" dirty="0"/>
              <a:t>  // Shared RCS linkage</a:t>
            </a:r>
          </a:p>
          <a:p>
            <a:r>
              <a:rPr lang="en-US" dirty="0"/>
              <a:t>  </a:t>
            </a:r>
            <a:r>
              <a:rPr lang="en-US" dirty="0" err="1"/>
              <a:t>IMSService</a:t>
            </a:r>
            <a:r>
              <a:rPr lang="en-US" dirty="0"/>
              <a:t> -&gt; Messaging [label="</a:t>
            </a:r>
            <a:r>
              <a:rPr lang="en-US" dirty="0" err="1"/>
              <a:t>rcs.db</a:t>
            </a:r>
            <a:r>
              <a:rPr lang="en-US" dirty="0"/>
              <a:t> ↔ </a:t>
            </a:r>
            <a:r>
              <a:rPr lang="en-US" dirty="0" err="1"/>
              <a:t>bugle_db</a:t>
            </a:r>
            <a:r>
              <a:rPr lang="en-US" dirty="0"/>
              <a:t> (RCS transport)", color=</a:t>
            </a:r>
            <a:r>
              <a:rPr lang="en-US" dirty="0" err="1"/>
              <a:t>darkgreen</a:t>
            </a:r>
            <a:r>
              <a:rPr lang="en-US" dirty="0"/>
              <a:t>, style=dotted];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96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 'Pixel 3/data/data/</a:t>
            </a:r>
            <a:r>
              <a:rPr lang="en-US" dirty="0" err="1"/>
              <a:t>com.google.android.dialer</a:t>
            </a:r>
            <a:r>
              <a:rPr lang="en-US" dirty="0"/>
              <a:t>/databases/'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54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sqlitebrowser</a:t>
            </a:r>
            <a:r>
              <a:rPr lang="en-US" dirty="0"/>
              <a:t> 'Pixel 3/data/data/</a:t>
            </a:r>
            <a:r>
              <a:rPr lang="en-US" dirty="0" err="1"/>
              <a:t>com.google.android.dialer</a:t>
            </a:r>
            <a:r>
              <a:rPr lang="en-US" dirty="0"/>
              <a:t>/databases/</a:t>
            </a:r>
            <a:r>
              <a:rPr lang="en-US" dirty="0" err="1"/>
              <a:t>annotated_call_log.db</a:t>
            </a:r>
            <a:r>
              <a:rPr lang="en-US" dirty="0"/>
              <a:t>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62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 -d '@1581691278’ –u</a:t>
            </a:r>
          </a:p>
          <a:p>
            <a:r>
              <a:rPr lang="en-US" dirty="0"/>
              <a:t>https://developer.android.com/reference/android/provider/CallLog.Calls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46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https://developer.android.com/reference/android/provider/CallLog.Calls.html#TYPE</a:t>
            </a:r>
          </a:p>
          <a:p>
            <a:r>
              <a:rPr lang="en-US" dirty="0"/>
              <a:t>https://android.googlesource.com/platform/packages/apps/Dialer/+/5d01ebb84a25c097a58ea8a3e1b4a521456e6f17/java/com/android/dialer/calllogutils/PhoneCallDetails.java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16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sqlite3</a:t>
            </a:r>
          </a:p>
          <a:p>
            <a:endParaRPr lang="en-US" dirty="0"/>
          </a:p>
          <a:p>
            <a:r>
              <a:rPr lang="en-US" dirty="0"/>
              <a:t># Connect to the database</a:t>
            </a:r>
          </a:p>
          <a:p>
            <a:r>
              <a:rPr lang="en-US" dirty="0"/>
              <a:t>conn = sqlite3.connect('</a:t>
            </a:r>
            <a:r>
              <a:rPr lang="en-US" dirty="0" err="1"/>
              <a:t>phone_lookup_history.db</a:t>
            </a:r>
            <a:r>
              <a:rPr lang="en-US" dirty="0"/>
              <a:t>')</a:t>
            </a:r>
          </a:p>
          <a:p>
            <a:r>
              <a:rPr lang="en-US" dirty="0"/>
              <a:t>cursor = </a:t>
            </a:r>
            <a:r>
              <a:rPr lang="en-US" dirty="0" err="1"/>
              <a:t>conn.cursor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# Query the BLOB data</a:t>
            </a:r>
          </a:p>
          <a:p>
            <a:r>
              <a:rPr lang="en-US" dirty="0" err="1"/>
              <a:t>cursor.execute</a:t>
            </a:r>
            <a:r>
              <a:rPr lang="en-US" dirty="0"/>
              <a:t>("SELECT </a:t>
            </a:r>
            <a:r>
              <a:rPr lang="en-US" dirty="0" err="1"/>
              <a:t>normalized_number</a:t>
            </a:r>
            <a:r>
              <a:rPr lang="en-US" dirty="0"/>
              <a:t>, </a:t>
            </a:r>
            <a:r>
              <a:rPr lang="en-US" dirty="0" err="1"/>
              <a:t>phone_lookup_info</a:t>
            </a:r>
            <a:r>
              <a:rPr lang="en-US" dirty="0"/>
              <a:t> FROM </a:t>
            </a:r>
            <a:r>
              <a:rPr lang="en-US" dirty="0" err="1"/>
              <a:t>PhoneLookupHistory</a:t>
            </a:r>
            <a:r>
              <a:rPr lang="en-US" dirty="0"/>
              <a:t> WHERE </a:t>
            </a:r>
            <a:r>
              <a:rPr lang="en-US" dirty="0" err="1"/>
              <a:t>normalized_number</a:t>
            </a:r>
            <a:r>
              <a:rPr lang="en-US" dirty="0"/>
              <a:t> = '+13269243087'")</a:t>
            </a:r>
          </a:p>
          <a:p>
            <a:r>
              <a:rPr lang="en-US" dirty="0"/>
              <a:t>row = </a:t>
            </a:r>
            <a:r>
              <a:rPr lang="en-US" dirty="0" err="1"/>
              <a:t>cursor.fetchone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if row:</a:t>
            </a:r>
          </a:p>
          <a:p>
            <a:r>
              <a:rPr lang="en-US" dirty="0"/>
              <a:t>    </a:t>
            </a:r>
            <a:r>
              <a:rPr lang="en-US" dirty="0" err="1"/>
              <a:t>normalized_number</a:t>
            </a:r>
            <a:r>
              <a:rPr lang="en-US" dirty="0"/>
              <a:t>, </a:t>
            </a:r>
            <a:r>
              <a:rPr lang="en-US" dirty="0" err="1"/>
              <a:t>blob_data</a:t>
            </a:r>
            <a:r>
              <a:rPr lang="en-US" dirty="0"/>
              <a:t> = row</a:t>
            </a:r>
          </a:p>
          <a:p>
            <a:r>
              <a:rPr lang="en-US" dirty="0"/>
              <a:t>    print(</a:t>
            </a:r>
            <a:r>
              <a:rPr lang="en-US" dirty="0" err="1"/>
              <a:t>f"Phone</a:t>
            </a:r>
            <a:r>
              <a:rPr lang="en-US" dirty="0"/>
              <a:t> Number: {</a:t>
            </a:r>
            <a:r>
              <a:rPr lang="en-US" dirty="0" err="1"/>
              <a:t>normalized_number</a:t>
            </a:r>
            <a:r>
              <a:rPr lang="en-US" dirty="0"/>
              <a:t>}")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# Save the BLOB to a file for further processing</a:t>
            </a:r>
          </a:p>
          <a:p>
            <a:r>
              <a:rPr lang="en-US" dirty="0"/>
              <a:t>    with open('</a:t>
            </a:r>
            <a:r>
              <a:rPr lang="en-US" dirty="0" err="1"/>
              <a:t>phone_lookup_info.blob</a:t>
            </a:r>
            <a:r>
              <a:rPr lang="en-US" dirty="0"/>
              <a:t>', '</a:t>
            </a:r>
            <a:r>
              <a:rPr lang="en-US" dirty="0" err="1"/>
              <a:t>wb</a:t>
            </a:r>
            <a:r>
              <a:rPr lang="en-US" dirty="0"/>
              <a:t>') as f:</a:t>
            </a:r>
          </a:p>
          <a:p>
            <a:r>
              <a:rPr lang="en-US" dirty="0"/>
              <a:t>        </a:t>
            </a:r>
            <a:r>
              <a:rPr lang="en-US" dirty="0" err="1"/>
              <a:t>f.write</a:t>
            </a:r>
            <a:r>
              <a:rPr lang="en-US" dirty="0"/>
              <a:t>(</a:t>
            </a:r>
            <a:r>
              <a:rPr lang="en-US" dirty="0" err="1"/>
              <a:t>blob_data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Close the connection</a:t>
            </a:r>
          </a:p>
          <a:p>
            <a:r>
              <a:rPr lang="en-US" dirty="0" err="1"/>
              <a:t>conn.close</a:t>
            </a:r>
            <a:r>
              <a:rPr lang="en-US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57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BAF9-88AC-4600-B511-347782B9C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400" b="0" dirty="0">
                <a:solidFill>
                  <a:srgbClr val="000000"/>
                </a:solidFill>
                <a:latin typeface="Arial"/>
              </a:rPr>
              <a:t>GMS Apps Investigations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D3106-2EE0-40F4-8C0B-042135FF9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b="0" dirty="0">
                <a:solidFill>
                  <a:srgbClr val="000000"/>
                </a:solidFill>
                <a:latin typeface="Arial"/>
              </a:rPr>
              <a:t>Part 2: GMS Google Phone Dialer App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262B5C9-4EF0-4D9F-8C90-13FFFFC62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064" y="4649693"/>
            <a:ext cx="6713802" cy="21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4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E1AA29-01DE-9CBD-3C97-E32587C7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>
                <a:solidFill>
                  <a:srgbClr val="000000"/>
                </a:solidFill>
                <a:latin typeface="Arial"/>
              </a:rPr>
              <a:t>Phone Dialer App?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48658-C1FA-0E07-4439-328FE2A6E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05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dirty="0">
                <a:solidFill>
                  <a:srgbClr val="000000"/>
                </a:solidFill>
                <a:latin typeface="Arial"/>
              </a:rPr>
              <a:t>Roadmap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4A7725-A028-1A6F-8672-75A096001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88" y="2038229"/>
            <a:ext cx="10188823" cy="27815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393BBA-17D4-EA19-3412-C672C9C0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>
                <a:solidFill>
                  <a:srgbClr val="000000"/>
                </a:solidFill>
                <a:latin typeface="Arial"/>
              </a:rPr>
              <a:t>What is Phone Dialer App?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DDCBC4-14FB-923A-366B-E476346C9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400" b="0" dirty="0">
                <a:solidFill>
                  <a:srgbClr val="000000"/>
                </a:solidFill>
                <a:latin typeface="Arial"/>
              </a:rPr>
              <a:t>Google Phone is the default dialer on Pixel devices and some other Android phones.</a:t>
            </a:r>
          </a:p>
          <a:p>
            <a:r>
              <a:rPr sz="2400" b="0" dirty="0">
                <a:solidFill>
                  <a:srgbClr val="000000"/>
                </a:solidFill>
                <a:latin typeface="Arial"/>
              </a:rPr>
              <a:t>Primary evidence functions:</a:t>
            </a:r>
          </a:p>
          <a:p>
            <a:pPr lvl="1"/>
            <a:r>
              <a:rPr sz="1800" b="0" dirty="0">
                <a:solidFill>
                  <a:srgbClr val="000000"/>
                </a:solidFill>
                <a:latin typeface="Arial"/>
              </a:rPr>
              <a:t>place and receive calls</a:t>
            </a:r>
          </a:p>
          <a:p>
            <a:pPr lvl="1"/>
            <a:r>
              <a:rPr sz="1800" b="0" dirty="0">
                <a:solidFill>
                  <a:srgbClr val="000000"/>
                </a:solidFill>
                <a:latin typeface="Arial"/>
              </a:rPr>
              <a:t>display call history</a:t>
            </a:r>
          </a:p>
          <a:p>
            <a:pPr lvl="1"/>
            <a:r>
              <a:rPr sz="1800" b="0" dirty="0">
                <a:solidFill>
                  <a:srgbClr val="000000"/>
                </a:solidFill>
                <a:latin typeface="Arial"/>
              </a:rPr>
              <a:t>resolve numbers through contacts/caller ID</a:t>
            </a:r>
          </a:p>
          <a:p>
            <a:pPr lvl="1"/>
            <a:r>
              <a:rPr sz="1800" b="0" dirty="0">
                <a:solidFill>
                  <a:srgbClr val="000000"/>
                </a:solidFill>
                <a:latin typeface="Arial"/>
              </a:rPr>
              <a:t>support spam filtering, visual voicemail, and call screening when enabled</a:t>
            </a:r>
          </a:p>
          <a:p>
            <a:r>
              <a:rPr sz="2400" b="0" dirty="0">
                <a:solidFill>
                  <a:srgbClr val="000000"/>
                </a:solidFill>
                <a:latin typeface="Arial"/>
              </a:rPr>
              <a:t>Package: </a:t>
            </a:r>
            <a:r>
              <a:rPr sz="2400" b="0" dirty="0" err="1">
                <a:solidFill>
                  <a:srgbClr val="000000"/>
                </a:solidFill>
                <a:latin typeface="Arial"/>
              </a:rPr>
              <a:t>com.google.android.dialer</a:t>
            </a:r>
            <a:endParaRPr sz="2400" b="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318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7A71BE9-17B4-4AEA-A0D5-196DEE53A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98" y="1037586"/>
            <a:ext cx="2580791" cy="4631635"/>
          </a:xfrm>
          <a:prstGeom prst="rect">
            <a:avLst/>
          </a:prstGeom>
        </p:spPr>
      </p:pic>
      <p:pic>
        <p:nvPicPr>
          <p:cNvPr id="10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51823AA-25C4-458E-B5BB-50993074C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618" y="1037586"/>
            <a:ext cx="2563984" cy="4552122"/>
          </a:xfrm>
          <a:prstGeom prst="rect">
            <a:avLst/>
          </a:prstGeom>
        </p:spPr>
      </p:pic>
      <p:pic>
        <p:nvPicPr>
          <p:cNvPr id="13" name="Picture 1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7A649AC0-1747-4D88-9E55-C4C85B54A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931" y="1037586"/>
            <a:ext cx="2597030" cy="4782827"/>
          </a:xfrm>
          <a:prstGeom prst="rect">
            <a:avLst/>
          </a:prstGeom>
        </p:spPr>
      </p:pic>
      <p:pic>
        <p:nvPicPr>
          <p:cNvPr id="15" name="Picture 1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336CA6AB-D86A-48EC-8321-33CBF151A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496" y="1037586"/>
            <a:ext cx="2698002" cy="512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88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B8F3327-07A8-49FA-B852-37D0C25E4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9" y="725555"/>
            <a:ext cx="2715137" cy="5128592"/>
          </a:xfrm>
          <a:prstGeom prst="rect">
            <a:avLst/>
          </a:prstGeom>
        </p:spPr>
      </p:pic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37DF157-3A8A-4F22-AABF-267A0A00C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355" y="725555"/>
            <a:ext cx="2737935" cy="5317435"/>
          </a:xfrm>
          <a:prstGeom prst="rect">
            <a:avLst/>
          </a:prstGeom>
        </p:spPr>
      </p:pic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1E22AC2-C962-40CB-9DD2-3A0381AAE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818" y="725555"/>
            <a:ext cx="2790470" cy="4890052"/>
          </a:xfrm>
          <a:prstGeom prst="rect">
            <a:avLst/>
          </a:prstGeom>
        </p:spPr>
      </p:pic>
      <p:pic>
        <p:nvPicPr>
          <p:cNvPr id="10" name="Picture 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43E33DB-651F-4A7E-B066-BAB60AE11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816" y="725555"/>
            <a:ext cx="3022480" cy="570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4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Android call-log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rial"/>
              </a:rPr>
              <a:t>Separate the user-facing Dialer app from system call-log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194560" cy="109728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Google Phone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User-facing app</a:t>
            </a:r>
            <a:br/>
            <a:r>
              <a:rPr sz="1100" b="0">
                <a:solidFill>
                  <a:srgbClr val="000000"/>
                </a:solidFill>
                <a:latin typeface="Arial"/>
              </a:rPr>
              <a:t>Package: com.google.android.dialer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2286000" cy="109728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Android Telecom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Manages call lifecycle</a:t>
            </a:r>
            <a:br/>
            <a:r>
              <a:rPr sz="1400" b="0">
                <a:solidFill>
                  <a:srgbClr val="000000"/>
                </a:solidFill>
                <a:latin typeface="Arial"/>
              </a:rPr>
              <a:t>and phone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2194560" cy="1097280"/>
          </a:xfrm>
          <a:prstGeom prst="roundRect">
            <a:avLst/>
          </a:prstGeom>
          <a:solidFill>
            <a:srgbClr val="EADDF2"/>
          </a:solidFill>
          <a:ln w="152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Call Log Provider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Authority: call_log</a:t>
            </a:r>
            <a:br/>
            <a:r>
              <a:rPr sz="1100" b="0">
                <a:solidFill>
                  <a:srgbClr val="000000"/>
                </a:solidFill>
                <a:latin typeface="Arial"/>
              </a:rPr>
              <a:t>API: CallLog.Calls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645920"/>
            <a:ext cx="2377440" cy="10972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calllog.db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System call-history</a:t>
            </a:r>
            <a:br/>
            <a:r>
              <a:rPr sz="1400" b="0">
                <a:solidFill>
                  <a:srgbClr val="000000"/>
                </a:solidFill>
                <a:latin typeface="Arial"/>
              </a:rPr>
              <a:t>backing SQLite DB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0" y="1965960"/>
            <a:ext cx="411480" cy="320040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5486400" y="1965960"/>
            <a:ext cx="411480" cy="320040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8138160" y="1965960"/>
            <a:ext cx="411480" cy="320040"/>
          </a:xfrm>
          <a:prstGeom prst="rightArrow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212080" cy="123444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Key distinction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The Dialer does not own the authoritative system call log. It queries and manages call-history records through Android APIs/providers.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212080" cy="1234440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Forensic rule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Start with system calllog.db for call events. Then use Google Dialer databases to enrich and corroborate caller ID, spam, voicemail, and screening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BA1B35-750E-CDF7-7B28-E05DC3D43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86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48CA-FE9C-BD8C-14E1-21B9430E2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Three layers of Call-Log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E4CB1-515A-CF9A-61AE-B06197C28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74875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 Layer — User-Facing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contains applications the user directly interacts with.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 Provider Layer — Shared Data Access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Android's standardized interface for accessing structured data shared between apps and the operating system.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 Service Layer — Call Processing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Android OS services that perform the actual low-level phone and communication operations.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939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6F08C-4F55-67F6-EBB7-EAF39E28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Google </a:t>
            </a:r>
            <a:r>
              <a:rPr lang="en-GB" sz="3200" dirty="0" err="1">
                <a:latin typeface="Arial" panose="020B0604020202020204" pitchFamily="34" charset="0"/>
                <a:cs typeface="Arial" panose="020B0604020202020204" pitchFamily="34" charset="0"/>
              </a:rPr>
              <a:t>Dialer</a:t>
            </a: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 and Android Call-Log Architecture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76079-3D4D-561D-18BE-BC4DC44E0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89275"/>
          </a:xfrm>
        </p:spPr>
        <p:txBody>
          <a:bodyPr>
            <a:normAutofit fontScale="92500" lnSpcReduction="10000"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Google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Dialer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is the user-facing interface for making calls, viewing call history, caller ID, spam filtering, screening, and voicemail. 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Apps access shared Android data through Content Providers rather than directly manipulating system databases. </a:t>
            </a:r>
          </a:p>
          <a:p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CallLogProvider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uses the authority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call_log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and exposes call history through content://call_log/calls.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Thinks of authority as the unique name Android uses to identify a Content Provider.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Android Telecom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records completed call events through the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CallLog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API/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CallLogManager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system call history is stored in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calllog.db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, separate from Google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Dialer’s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app-private databases.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D2600-0A59-7383-6433-3B0CC484F9C2}"/>
              </a:ext>
            </a:extLst>
          </p:cNvPr>
          <p:cNvSpPr txBox="1"/>
          <p:nvPr/>
        </p:nvSpPr>
        <p:spPr>
          <a:xfrm>
            <a:off x="1069522" y="4988289"/>
            <a:ext cx="968284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Google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Dialer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uses Android Telecom to make/manage calls, but uses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CallLogProvider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to access call history. When a call completes, Android Telecom writes the call event through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CallLogProvider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calllog.db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4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966D73-5D62-9B57-B656-0AE6FD392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0"/>
            <a:ext cx="8878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72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69E31B-54C2-FAE9-868F-4B6301324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585015"/>
              </p:ext>
            </p:extLst>
          </p:nvPr>
        </p:nvGraphicFramePr>
        <p:xfrm>
          <a:off x="1018707" y="2084374"/>
          <a:ext cx="9550427" cy="2966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3668">
                  <a:extLst>
                    <a:ext uri="{9D8B030D-6E8A-4147-A177-3AD203B41FA5}">
                      <a16:colId xmlns:a16="http://schemas.microsoft.com/office/drawing/2014/main" val="1691498740"/>
                    </a:ext>
                  </a:extLst>
                </a:gridCol>
                <a:gridCol w="1813646">
                  <a:extLst>
                    <a:ext uri="{9D8B030D-6E8A-4147-A177-3AD203B41FA5}">
                      <a16:colId xmlns:a16="http://schemas.microsoft.com/office/drawing/2014/main" val="3310534687"/>
                    </a:ext>
                  </a:extLst>
                </a:gridCol>
                <a:gridCol w="2146762">
                  <a:extLst>
                    <a:ext uri="{9D8B030D-6E8A-4147-A177-3AD203B41FA5}">
                      <a16:colId xmlns:a16="http://schemas.microsoft.com/office/drawing/2014/main" val="3131595482"/>
                    </a:ext>
                  </a:extLst>
                </a:gridCol>
                <a:gridCol w="4196351">
                  <a:extLst>
                    <a:ext uri="{9D8B030D-6E8A-4147-A177-3AD203B41FA5}">
                      <a16:colId xmlns:a16="http://schemas.microsoft.com/office/drawing/2014/main" val="3415884563"/>
                    </a:ext>
                  </a:extLst>
                </a:gridCol>
              </a:tblGrid>
              <a:tr h="276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"/>
                        </a:rPr>
                        <a:t>Provider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"/>
                        </a:rPr>
                        <a:t>Authority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Arial"/>
                        </a:rPr>
                        <a:t>Backing Package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79213502"/>
                  </a:ext>
                </a:extLst>
              </a:tr>
              <a:tr h="45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Contacts Provider</a:t>
                      </a:r>
                      <a:endParaRPr lang="en-US" sz="2000"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com.android.contacts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com.android.providers.contacts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Manages contacts, raw contacts, data rows (emails, phones, etc.)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625474170"/>
                  </a:ext>
                </a:extLst>
              </a:tr>
              <a:tr h="649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CallLog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 Provider</a:t>
                      </a:r>
                      <a:endParaRPr lang="en-US" sz="2000" dirty="0"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call_log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com.android.providers.contacts</a:t>
                      </a:r>
                      <a:endParaRPr lang="en-US" sz="2000" dirty="0"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Exposes call-history records through content://call_log/calls; backing SQLite database is calllog.db.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879367498"/>
                  </a:ext>
                </a:extLst>
              </a:tr>
              <a:tr h="649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IMS Service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com.google.android.ims</a:t>
                      </a:r>
                      <a:endParaRPr lang="en-US" sz="2000" dirty="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Supports VoLTE/VoWiFi and other IMS features; exact artifacts are device and version dependent.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208283282"/>
                  </a:ext>
                </a:extLst>
              </a:tr>
              <a:tr h="459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Telephony Service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com.android.phone</a:t>
                      </a:r>
                      <a:endParaRPr lang="en-US" sz="2000" dirty="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Arial"/>
                        </a:rPr>
                        <a:t>System telephony stack for SIM/radio state, call routing, and related phone services.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84997617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6DAEABFC-F14C-5FD6-3742-CEB5A07C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Sample Service Providers at System Service Layer </a:t>
            </a:r>
          </a:p>
        </p:txBody>
      </p:sp>
    </p:spTree>
    <p:extLst>
      <p:ext uri="{BB962C8B-B14F-4D97-AF65-F5344CB8AC3E}">
        <p14:creationId xmlns:p14="http://schemas.microsoft.com/office/powerpoint/2010/main" val="1305747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dirty="0">
                <a:solidFill>
                  <a:srgbClr val="000000"/>
                </a:solidFill>
                <a:latin typeface="Arial"/>
              </a:rPr>
              <a:t>Section 1 — </a:t>
            </a:r>
            <a:r>
              <a:rPr lang="en-US" sz="3400" b="0" dirty="0">
                <a:solidFill>
                  <a:srgbClr val="000000"/>
                </a:solidFill>
                <a:latin typeface="Arial"/>
              </a:rPr>
              <a:t>Google </a:t>
            </a:r>
            <a:r>
              <a:rPr lang="en-US" sz="3400" dirty="0">
                <a:solidFill>
                  <a:srgbClr val="000000"/>
                </a:solidFill>
                <a:latin typeface="Arial"/>
              </a:rPr>
              <a:t>dialer vs. system call-log overview</a:t>
            </a:r>
            <a:endParaRPr sz="34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2588698"/>
            <a:ext cx="10241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dirty="0">
                <a:solidFill>
                  <a:srgbClr val="464646"/>
                </a:solidFill>
                <a:latin typeface="Arial"/>
              </a:rPr>
              <a:t>what is app-private cache/enrichment.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657600"/>
            <a:ext cx="102412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6E50-2ACE-901D-CC79-17C13E41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Google Dialer Evidence Sources and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79F6C-4D4C-0E5E-85BC-56F28D43B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65727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calllog.db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the primary system source for call events: number, call type, time, duration, and phone-account information. </a:t>
            </a:r>
          </a:p>
          <a:p>
            <a:pPr lvl="0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annotated_call_log.db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contains Google Dialer–specific enrichment such as caller labels, spam information, and other annotations when available. </a:t>
            </a:r>
          </a:p>
          <a:p>
            <a:pPr lvl="0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dialer.db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related Dialer databases provide secondary evidence such as Smart Dial, lookup, and app-specific state. </a:t>
            </a:r>
          </a:p>
          <a:p>
            <a:pPr lv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contacts2.db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helps resolve phone numbers to contacts and account/source information. </a:t>
            </a:r>
          </a:p>
          <a:p>
            <a:pPr lvl="0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bugle_db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belongs to Google Messages and should be treated only as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cross-app corroboration source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not as a Dialer database. </a:t>
            </a:r>
          </a:p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Google app-private schemas are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version-dependent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so always inspect the extracted schema before interpreting fields.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126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E0B681-6F66-A75D-5094-F0B9A81F9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79" y="0"/>
            <a:ext cx="9127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2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23AA65-F61F-16D4-1E21-E8BA59F36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433185"/>
              </p:ext>
            </p:extLst>
          </p:nvPr>
        </p:nvGraphicFramePr>
        <p:xfrm>
          <a:off x="1194167" y="1727200"/>
          <a:ext cx="9416027" cy="3403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9878">
                  <a:extLst>
                    <a:ext uri="{9D8B030D-6E8A-4147-A177-3AD203B41FA5}">
                      <a16:colId xmlns:a16="http://schemas.microsoft.com/office/drawing/2014/main" val="1233378947"/>
                    </a:ext>
                  </a:extLst>
                </a:gridCol>
                <a:gridCol w="3350500">
                  <a:extLst>
                    <a:ext uri="{9D8B030D-6E8A-4147-A177-3AD203B41FA5}">
                      <a16:colId xmlns:a16="http://schemas.microsoft.com/office/drawing/2014/main" val="2568455382"/>
                    </a:ext>
                  </a:extLst>
                </a:gridCol>
                <a:gridCol w="4595649">
                  <a:extLst>
                    <a:ext uri="{9D8B030D-6E8A-4147-A177-3AD203B41FA5}">
                      <a16:colId xmlns:a16="http://schemas.microsoft.com/office/drawing/2014/main" val="572741745"/>
                    </a:ext>
                  </a:extLst>
                </a:gridCol>
              </a:tblGrid>
              <a:tr h="270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Arial"/>
                        </a:rPr>
                        <a:t>Concept</a:t>
                      </a:r>
                      <a:endParaRPr lang="en-US" sz="24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Arial"/>
                        </a:rPr>
                        <a:t>calllog.db.calls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/>
                        </a:rPr>
                        <a:t> (📁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Arial"/>
                        </a:rPr>
                        <a:t>com.android.providers.contacts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 err="1">
                          <a:solidFill>
                            <a:srgbClr val="000000"/>
                          </a:solidFill>
                          <a:latin typeface="Arial"/>
                        </a:rPr>
                        <a:t>annotated_call_log.db.annotatedcalllog</a:t>
                      </a:r>
                      <a:r>
                        <a:rPr lang="en-GB" sz="1600" b="1" dirty="0">
                          <a:solidFill>
                            <a:srgbClr val="000000"/>
                          </a:solidFill>
                          <a:latin typeface="Arial"/>
                        </a:rPr>
                        <a:t> (📁 </a:t>
                      </a:r>
                      <a:r>
                        <a:rPr lang="en-GB" sz="1600" b="1" dirty="0" err="1">
                          <a:solidFill>
                            <a:srgbClr val="000000"/>
                          </a:solidFill>
                          <a:latin typeface="Arial"/>
                        </a:rPr>
                        <a:t>com.google.android.dialer</a:t>
                      </a:r>
                      <a:r>
                        <a:rPr lang="en-GB" sz="1600" b="1" dirty="0">
                          <a:solidFill>
                            <a:srgbClr val="000000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752185851"/>
                  </a:ext>
                </a:extLst>
              </a:tr>
              <a:tr h="351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Origin</a:t>
                      </a:r>
                      <a:endParaRPr lang="en-US" sz="24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Contacts Provider (system-level) - authoritative call log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Google Dialer app — app-level cache / enriched view for UI display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4165497288"/>
                  </a:ext>
                </a:extLst>
              </a:tr>
              <a:tr h="189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Link key</a:t>
                      </a:r>
                      <a:endParaRPr lang="en-US" sz="24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_id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Correlation key must be verified from extracted schema; do not assume a database-enforced foreign key.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851351129"/>
                  </a:ext>
                </a:extLst>
              </a:tr>
              <a:tr h="189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Data type</a:t>
                      </a:r>
                      <a:endParaRPr lang="en-US" sz="24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>
                          <a:solidFill>
                            <a:srgbClr val="000000"/>
                          </a:solidFill>
                          <a:latin typeface="Arial"/>
                        </a:rPr>
                        <a:t>Raw call event (date, number, type, duration, SIM info)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Enriched/cache record: caller ID labels, spam/screening metadata, voicemail/call-screening fields when present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947188456"/>
                  </a:ext>
                </a:extLst>
              </a:tr>
              <a:tr h="189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Sync direction</a:t>
                      </a:r>
                      <a:endParaRPr lang="en-US" sz="24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>
                          <a:solidFill>
                            <a:srgbClr val="000000"/>
                          </a:solidFill>
                          <a:latin typeface="Arial"/>
                        </a:rPr>
                        <a:t>Contacts Provider → Dialer (read-only copy)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Updated by Google Dialer application logic or observers; not a two-way database sync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027777365"/>
                  </a:ext>
                </a:extLst>
              </a:tr>
              <a:tr h="189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Persistence</a:t>
                      </a:r>
                      <a:endParaRPr lang="en-US" sz="24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System-persistent (survives app resets)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App-private; may be lost if Google Dialer app data is cleared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104945902"/>
                  </a:ext>
                </a:extLst>
              </a:tr>
              <a:tr h="351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Extra fields</a:t>
                      </a:r>
                      <a:endParaRPr lang="en-US" sz="24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is_spam</a:t>
                      </a:r>
                      <a:r>
                        <a:rPr lang="en-GB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, label, </a:t>
                      </a:r>
                      <a:r>
                        <a:rPr lang="en-GB" sz="14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business_name</a:t>
                      </a:r>
                      <a:r>
                        <a:rPr lang="en-GB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lang="en-GB" sz="14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call_screening_status</a:t>
                      </a:r>
                      <a:r>
                        <a:rPr lang="en-GB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, transcription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12926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765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A87F37-BAB2-178C-EBDF-EEB48956F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07" y="1537964"/>
            <a:ext cx="7574936" cy="44733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DD42E-FA7D-C19A-747C-D3D84678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Arial"/>
              </a:rPr>
              <a:t>Phone Dialer Databases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57585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Section 2 — High-value Google Dialer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464646"/>
                </a:solidFill>
                <a:latin typeface="Arial"/>
              </a:rPr>
              <a:t>Identify which databases can enrich or corroborate system call logs.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657600"/>
            <a:ext cx="102412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4EDD-C7BC-95D0-61BC-C933AEC0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0" dirty="0">
                <a:solidFill>
                  <a:srgbClr val="000000"/>
                </a:solidFill>
                <a:latin typeface="Arial"/>
              </a:rPr>
              <a:t>High-Value Google Dialer Artifacts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DD39F-AA11-B44D-9E18-32778265B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annotated_call_log.db</a:t>
            </a:r>
            <a:endParaRPr lang="en-GB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 App-level enriched call-log cache used by Google Dialer UI. It can contain caller ID labels, spam/screening annotations, voicemail-related fields, and cached display data.</a:t>
            </a: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case: Enrich system call-log records; do not treat it as the authoritative call source.</a:t>
            </a:r>
          </a:p>
          <a:p>
            <a:endParaRPr sz="16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dialer.db</a:t>
            </a:r>
            <a:endParaRPr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 Stores Google Dialer app data such as smart-dial/search support, contact-association caches, and filtering/blocking-related data.</a:t>
            </a: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case: Corroborate numbers and contact relationships; not a replacement for system </a:t>
            </a:r>
            <a:r>
              <a:rPr sz="16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calllog.db</a:t>
            </a:r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suggest_contact_database</a:t>
            </a:r>
            <a:endParaRPr lang="en-GB" sz="1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Arial"/>
              </a:rPr>
              <a:t>Why? Supports contact suggestions and ranking used by Google apps/features.  It may reflect frequent or recent interaction patterns.</a:t>
            </a:r>
          </a:p>
          <a:p>
            <a:r>
              <a:rPr lang="en-GB" sz="1600" dirty="0">
                <a:solidFill>
                  <a:srgbClr val="000000"/>
                </a:solidFill>
                <a:latin typeface="Arial"/>
              </a:rPr>
              <a:t>Use case: Identify high-priority contacts and possible residual interaction traces. Interpret scores as app-generated ranking values, not direct counts.</a:t>
            </a:r>
          </a:p>
          <a:p>
            <a:endParaRPr sz="16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753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31C3-1814-0B6F-B2B7-16B7ECBF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43EB-F407-1D19-C005-E1425EFA3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0" dirty="0">
                <a:solidFill>
                  <a:srgbClr val="000000"/>
                </a:solidFill>
                <a:latin typeface="Arial"/>
              </a:rPr>
              <a:t>High-Value Google Dialer Artifacts (</a:t>
            </a:r>
            <a:r>
              <a:rPr lang="en-US" sz="3400" b="0" dirty="0">
                <a:solidFill>
                  <a:srgbClr val="000000"/>
                </a:solidFill>
                <a:latin typeface="Arial"/>
              </a:rPr>
              <a:t>2</a:t>
            </a:r>
            <a:r>
              <a:rPr sz="3400" b="0" dirty="0">
                <a:solidFill>
                  <a:srgbClr val="000000"/>
                </a:solidFill>
                <a:latin typeface="Arial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390EF-709E-BFDF-FD22-0C2C0F3AE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voicemail.db</a:t>
            </a:r>
            <a:endParaRPr lang="en-GB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 May contain voicemail metadata, greetings, transcriptions, or references to voicemail content depending on carrier, device, and app configuration.</a:t>
            </a: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case: Determine whether voicemail artifacts exist and correlate them with call-log records.</a:t>
            </a:r>
          </a:p>
          <a:p>
            <a:endParaRPr sz="16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phone_lookup_history.db</a:t>
            </a:r>
            <a:endParaRPr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 Caches phone-number lookup results used for caller ID/spam/caller information.</a:t>
            </a: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case: Corroborate unknown-number identification and cached lookup metadata.</a:t>
            </a:r>
          </a:p>
        </p:txBody>
      </p:sp>
    </p:spTree>
    <p:extLst>
      <p:ext uri="{BB962C8B-B14F-4D97-AF65-F5344CB8AC3E}">
        <p14:creationId xmlns:p14="http://schemas.microsoft.com/office/powerpoint/2010/main" val="747876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DEEC-B1A5-DA79-AA6D-923ADCB4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2C99-33FF-6666-DF71-1CD1BA2B7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0" dirty="0">
                <a:solidFill>
                  <a:srgbClr val="000000"/>
                </a:solidFill>
                <a:latin typeface="Arial"/>
              </a:rPr>
              <a:t>High-Value Google Dialer Artifacts (</a:t>
            </a:r>
            <a:r>
              <a:rPr lang="en-US" sz="3400" b="0" dirty="0">
                <a:solidFill>
                  <a:srgbClr val="000000"/>
                </a:solidFill>
                <a:latin typeface="Arial"/>
              </a:rPr>
              <a:t>3</a:t>
            </a:r>
            <a:r>
              <a:rPr sz="3400" b="0" dirty="0">
                <a:solidFill>
                  <a:srgbClr val="000000"/>
                </a:solidFill>
                <a:latin typeface="Arial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73B7E-4B8F-4067-4420-1D17DC2FB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rtt_transcript.db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 May preserve Real-Time Text call transcripts if RTT was used and supported.</a:t>
            </a: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case: Recover text exchanged during calls; correlate with call-log timestamps and numbers.</a:t>
            </a:r>
          </a:p>
          <a:p>
            <a:endParaRPr sz="16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callscreen_transcripts</a:t>
            </a:r>
            <a:endParaRPr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 May contain Google Call Screen interaction text and metadata.</a:t>
            </a:r>
          </a:p>
          <a:p>
            <a:r>
              <a:rPr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case: Examine interactions with unknown or suspicious callers when call screening was used.</a:t>
            </a:r>
          </a:p>
        </p:txBody>
      </p:sp>
    </p:spTree>
    <p:extLst>
      <p:ext uri="{BB962C8B-B14F-4D97-AF65-F5344CB8AC3E}">
        <p14:creationId xmlns:p14="http://schemas.microsoft.com/office/powerpoint/2010/main" val="1556875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Section 3 — Annotated call-log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464646"/>
                </a:solidFill>
                <a:latin typeface="Arial"/>
              </a:rPr>
              <a:t>Interpret timestamps, numbers, call type, phone-account fields, voicemail, and caller-ID metadata.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657600"/>
            <a:ext cx="102412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8239-0D68-ED7F-113C-44293DDF1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 dirty="0" err="1">
                <a:solidFill>
                  <a:srgbClr val="000000"/>
                </a:solidFill>
                <a:latin typeface="Arial"/>
              </a:rPr>
              <a:t>annotated_call_log.db</a:t>
            </a:r>
            <a:endParaRPr lang="en-US" sz="3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2C9B-2A1B-A4E5-3747-4CF9AC04C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3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914C1E-078D-0607-9DC7-DF03AB17A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665" y="2213541"/>
            <a:ext cx="10033458" cy="150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20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C86807-F942-D476-B36E-D8A181530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020" y="887468"/>
            <a:ext cx="4049875" cy="540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90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DFFFE1-D793-6554-7DB4-AE53792F5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175129"/>
              </p:ext>
            </p:extLst>
          </p:nvPr>
        </p:nvGraphicFramePr>
        <p:xfrm>
          <a:off x="198121" y="502002"/>
          <a:ext cx="11612879" cy="60084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63139">
                  <a:extLst>
                    <a:ext uri="{9D8B030D-6E8A-4147-A177-3AD203B41FA5}">
                      <a16:colId xmlns:a16="http://schemas.microsoft.com/office/drawing/2014/main" val="2652576918"/>
                    </a:ext>
                  </a:extLst>
                </a:gridCol>
                <a:gridCol w="1168441">
                  <a:extLst>
                    <a:ext uri="{9D8B030D-6E8A-4147-A177-3AD203B41FA5}">
                      <a16:colId xmlns:a16="http://schemas.microsoft.com/office/drawing/2014/main" val="2367620707"/>
                    </a:ext>
                  </a:extLst>
                </a:gridCol>
                <a:gridCol w="8181299">
                  <a:extLst>
                    <a:ext uri="{9D8B030D-6E8A-4147-A177-3AD203B41FA5}">
                      <a16:colId xmlns:a16="http://schemas.microsoft.com/office/drawing/2014/main" val="1908267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/>
                        </a:rPr>
                        <a:t>Column (</a:t>
                      </a:r>
                      <a:r>
                        <a:rPr lang="en-US" sz="1150" b="1" dirty="0" err="1">
                          <a:solidFill>
                            <a:srgbClr val="000000"/>
                          </a:solidFill>
                          <a:latin typeface="Arial"/>
                        </a:rPr>
                        <a:t>AnnotatedCallLog</a:t>
                      </a: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>
                          <a:solidFill>
                            <a:srgbClr val="000000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>
                          <a:solidFill>
                            <a:srgbClr val="000000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590372091"/>
                  </a:ext>
                </a:extLst>
              </a:tr>
              <a:tr h="195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_id</a:t>
                      </a:r>
                      <a:endParaRPr lang="en-US" sz="1200"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PRIMARY KEY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Local unique identifier for the cached call entry in this table (not necessarily equal to _id in </a:t>
                      </a:r>
                      <a:r>
                        <a:rPr lang="en-GB" sz="1050" b="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calllog.db</a:t>
                      </a:r>
                      <a:r>
                        <a:rPr lang="en-GB" sz="105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).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752297758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timestamp</a:t>
                      </a:r>
                      <a:endParaRPr lang="en-US" sz="1200"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INTEGER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UNIX epoch time (milliseconds) when the call occurred (maps to date in system call log).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4131588772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number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Raw phone number as stored from the system call log (</a:t>
                      </a:r>
                      <a:r>
                        <a:rPr lang="en-GB" sz="105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Calls.NUMBER</a:t>
                      </a: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).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026930406"/>
                  </a:ext>
                </a:extLst>
              </a:tr>
              <a:tr h="195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formatted_number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Human-readable formatted version (with country code and spacing). Derived using Google’s </a:t>
                      </a:r>
                      <a:r>
                        <a:rPr lang="en-GB" sz="1050" b="0" dirty="0" err="1">
                          <a:solidFill>
                            <a:srgbClr val="000000"/>
                          </a:solidFill>
                          <a:latin typeface="Arial"/>
                        </a:rPr>
                        <a:t>libphonenumber</a:t>
                      </a: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634413920"/>
                  </a:ext>
                </a:extLst>
              </a:tr>
              <a:tr h="240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presentation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INTEGER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How the number was presented: 1 = allowed, 2 = restricted, 3 = unknown, 4 = payphone (see </a:t>
                      </a:r>
                      <a:r>
                        <a:rPr lang="en-GB" sz="105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CallLog.Calls.PRESENTATION</a:t>
                      </a: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_*).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297837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duration</a:t>
                      </a:r>
                      <a:endParaRPr lang="en-US" sz="1200"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INTEGER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Length of call in seconds.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620716936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data_usage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INTEGER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Bytes used for data-based calls (VoIP, RCS, Duo, etc.). Often 0 for normal cellular calls.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832420183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is_read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INTEGER (0/1)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Whether the user has viewed this call entry (affects “new call” badge in the Dialer).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209792432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new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INTEGER (0/1)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Same logic as in system log – 1 if the call is new/unread, 0 otherwise.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447972417"/>
                  </a:ext>
                </a:extLst>
              </a:tr>
              <a:tr h="195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geocoded_location</a:t>
                      </a:r>
                      <a:endParaRPr lang="en-US" sz="1200"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Location string inferred from number prefix (e.g., “Maryland, USA”). Added by </a:t>
                      </a:r>
                      <a:r>
                        <a:rPr lang="en-GB" sz="1050" b="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Dialer’s</a:t>
                      </a:r>
                      <a:r>
                        <a:rPr lang="en-GB" sz="105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 number lookup service.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867586237"/>
                  </a:ext>
                </a:extLst>
              </a:tr>
              <a:tr h="195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 err="1">
                          <a:solidFill>
                            <a:srgbClr val="000000"/>
                          </a:solidFill>
                          <a:latin typeface="Arial"/>
                        </a:rPr>
                        <a:t>phone_account_component_name</a:t>
                      </a:r>
                      <a:endParaRPr lang="en-US" sz="1200" dirty="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Component name of the telephony account (e.g., SIM or VoIP package). Helps distinguish SIM1 vs SIM2 vs Wi-Fi call.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154063469"/>
                  </a:ext>
                </a:extLst>
              </a:tr>
              <a:tr h="10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phone_account_id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Identifier of the phone account (e.g., IMSI or account tag).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262127076"/>
                  </a:ext>
                </a:extLst>
              </a:tr>
              <a:tr h="240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features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INTEGER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Bitmask flags for call features (e.g., video call, Wi-Fi call, RTT, etc.) matching </a:t>
                      </a:r>
                      <a:r>
                        <a:rPr lang="en-GB" sz="105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CallLog.Calls.FEATURES</a:t>
                      </a: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_*.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595082235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voicemail_uri</a:t>
                      </a:r>
                      <a:endParaRPr lang="en-US" sz="1200"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URI to the voicemail content if this was a voicemail entry (content://voicemail/…).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439924160"/>
                  </a:ext>
                </a:extLst>
              </a:tr>
              <a:tr h="240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call_type</a:t>
                      </a:r>
                      <a:endParaRPr lang="en-US" sz="1200"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INTEGER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Type of call: 1=INCOMING, 2=OUTGOING, 3=MISSED, 4=VOICEMAIL, 5=REJECTED, 6=BLOCKED, 7=ANSWERED_EXTERNALLY.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621057366"/>
                  </a:ext>
                </a:extLst>
              </a:tr>
              <a:tr h="195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number_attributes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INTEGER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Encoded attributes such as IS_BUSINESS, IS_EMERGENCY, IS_TOLL_FREE. Used for UI badges.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163340104"/>
                  </a:ext>
                </a:extLst>
              </a:tr>
              <a:tr h="10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is_voicemail_call</a:t>
                      </a:r>
                      <a:endParaRPr lang="en-US" sz="1200">
                        <a:highlight>
                          <a:srgbClr val="FFFF00"/>
                        </a:highlight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INTEGER (0/1)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Flag indicating if this call is a voicemail entry.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4011862006"/>
                  </a:ext>
                </a:extLst>
              </a:tr>
              <a:tr h="10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voicemail_call_tag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Optional tag describing voicemail call source or type.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4219831849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transcription_state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INTEGER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State of voicemail transcription: 0=none, 1=pending, 2=complete, 3=failed.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153226796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call_mapping_id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INTEGER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Mapping key linking this annotated entry to the corresponding calls._id in calllog.db.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970467320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spam_status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INTEGER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Spam evaluation result: 0=not spam, 1=suspected spam, 2=confirmed spam.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64525941"/>
                  </a:ext>
                </a:extLst>
              </a:tr>
              <a:tr h="10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voicemail_transcription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Full text transcription of a voicemail, if available.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341951117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callee_id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Cached display name or lookup key (e.g., contact name, business name, or Google caller ID).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234402409"/>
                  </a:ext>
                </a:extLst>
              </a:tr>
              <a:tr h="105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raw_number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Unformatted original dialed number before normalization.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4030679196"/>
                  </a:ext>
                </a:extLst>
              </a:tr>
              <a:tr h="195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atlas_call_details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TEXT (JSON)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Internal JSON field used for analytics and metrics (“Atlas” is Google’s internal dialer analytics module).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959198140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call_screen_details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TEXT (JSON)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>
                          <a:solidFill>
                            <a:srgbClr val="000000"/>
                          </a:solidFill>
                          <a:latin typeface="Arial"/>
                        </a:rPr>
                        <a:t>JSON-encoded metadata for Google’s Call Screen feature (e.g., transcript, reason, outcome).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755900034"/>
                  </a:ext>
                </a:extLst>
              </a:tr>
              <a:tr h="15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call_recording_details</a:t>
                      </a:r>
                      <a:endParaRPr lang="en-US" sz="12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TEXT (JSON)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Metadata for recorded calls (if supported in that region). Contains file path, duration, mime type, etc.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748358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567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creenshot, screen&#10;&#10;Description automatically generated">
            <a:extLst>
              <a:ext uri="{FF2B5EF4-FFF2-40B4-BE49-F238E27FC236}">
                <a16:creationId xmlns:a16="http://schemas.microsoft.com/office/drawing/2014/main" id="{36F87AEA-0D8B-4AA7-89DA-D39AD65D27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 t="29470"/>
          <a:stretch/>
        </p:blipFill>
        <p:spPr>
          <a:xfrm>
            <a:off x="838200" y="2203810"/>
            <a:ext cx="10809451" cy="3192640"/>
          </a:xfrm>
          <a:prstGeom prst="rect">
            <a:avLst/>
          </a:prstGeom>
        </p:spPr>
      </p:pic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FAD0020-226C-4E2B-9A9C-7F569E71C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004" y="3800130"/>
            <a:ext cx="1463167" cy="121930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3EA3-6D82-4D19-DC06-61D86AC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 err="1">
                <a:solidFill>
                  <a:srgbClr val="000000"/>
                </a:solidFill>
                <a:latin typeface="Arial"/>
              </a:rPr>
              <a:t>AnnotatedCallLog</a:t>
            </a:r>
            <a:r>
              <a:rPr lang="en-US" sz="3400" b="0" dirty="0">
                <a:solidFill>
                  <a:srgbClr val="000000"/>
                </a:solidFill>
                <a:latin typeface="Arial"/>
              </a:rPr>
              <a:t> table content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995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041685F1-539E-44DF-A3C3-97263FAC77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546"/>
          <a:stretch/>
        </p:blipFill>
        <p:spPr>
          <a:xfrm>
            <a:off x="157740" y="682839"/>
            <a:ext cx="11876520" cy="3740074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84DFF599-B16E-48F8-A188-0EE139E32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8" y="5809343"/>
            <a:ext cx="2766300" cy="67061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73B353-A21E-42AC-B885-1E102267C09F}"/>
              </a:ext>
            </a:extLst>
          </p:cNvPr>
          <p:cNvCxnSpPr>
            <a:cxnSpLocks/>
          </p:cNvCxnSpPr>
          <p:nvPr/>
        </p:nvCxnSpPr>
        <p:spPr>
          <a:xfrm flipH="1">
            <a:off x="1219200" y="4347411"/>
            <a:ext cx="184485" cy="1092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70C465C-3261-40FF-8FD7-CD918CC664DF}"/>
              </a:ext>
            </a:extLst>
          </p:cNvPr>
          <p:cNvSpPr txBox="1"/>
          <p:nvPr/>
        </p:nvSpPr>
        <p:spPr>
          <a:xfrm>
            <a:off x="274320" y="4754880"/>
            <a:ext cx="1874519" cy="6001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100" b="1" dirty="0">
                <a:solidFill>
                  <a:srgbClr val="000000"/>
                </a:solidFill>
                <a:latin typeface="Arial"/>
              </a:rPr>
              <a:t>Call timestamp</a:t>
            </a:r>
            <a:endParaRPr lang="en-US" b="1" dirty="0"/>
          </a:p>
          <a:p>
            <a:r>
              <a:rPr sz="1100" b="0" dirty="0">
                <a:solidFill>
                  <a:srgbClr val="000000"/>
                </a:solidFill>
                <a:latin typeface="Arial"/>
              </a:rPr>
              <a:t>(epoch </a:t>
            </a:r>
            <a:r>
              <a:rPr sz="1100" b="0" dirty="0" err="1">
                <a:solidFill>
                  <a:srgbClr val="000000"/>
                </a:solidFill>
                <a:latin typeface="Arial"/>
              </a:rPr>
              <a:t>ms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; divide by 1000 for date -d @seconds)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D1D9C4-A681-4CAB-8E69-06B6DBA4330C}"/>
              </a:ext>
            </a:extLst>
          </p:cNvPr>
          <p:cNvSpPr txBox="1"/>
          <p:nvPr/>
        </p:nvSpPr>
        <p:spPr>
          <a:xfrm>
            <a:off x="2117086" y="4654416"/>
            <a:ext cx="1691640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100" b="1" dirty="0">
                <a:solidFill>
                  <a:srgbClr val="000000"/>
                </a:solidFill>
                <a:latin typeface="Arial"/>
              </a:rPr>
              <a:t>Stored number</a:t>
            </a:r>
          </a:p>
          <a:p>
            <a:r>
              <a:rPr sz="1100" b="0" dirty="0">
                <a:solidFill>
                  <a:srgbClr val="000000"/>
                </a:solidFill>
                <a:latin typeface="Arial"/>
              </a:rPr>
              <a:t>(raw caller/callee value)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03F9B7-1040-4CF9-8E5A-A2806F972466}"/>
              </a:ext>
            </a:extLst>
          </p:cNvPr>
          <p:cNvCxnSpPr>
            <a:cxnSpLocks/>
          </p:cNvCxnSpPr>
          <p:nvPr/>
        </p:nvCxnSpPr>
        <p:spPr>
          <a:xfrm flipH="1">
            <a:off x="3195693" y="4380649"/>
            <a:ext cx="370630" cy="3529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B79D08-80A5-4485-A31D-58DBB9B7DDCD}"/>
              </a:ext>
            </a:extLst>
          </p:cNvPr>
          <p:cNvSpPr txBox="1"/>
          <p:nvPr/>
        </p:nvSpPr>
        <p:spPr>
          <a:xfrm>
            <a:off x="3017520" y="5452623"/>
            <a:ext cx="2468880" cy="9387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100" b="1" dirty="0">
                <a:solidFill>
                  <a:srgbClr val="000000"/>
                </a:solidFill>
                <a:latin typeface="Arial"/>
              </a:rPr>
              <a:t>Number presentation</a:t>
            </a:r>
          </a:p>
          <a:p>
            <a:r>
              <a:rPr sz="1100" b="0" dirty="0">
                <a:solidFill>
                  <a:srgbClr val="000000"/>
                </a:solidFill>
                <a:latin typeface="Arial"/>
              </a:rPr>
              <a:t>1 = allowed</a:t>
            </a:r>
          </a:p>
          <a:p>
            <a:r>
              <a:rPr sz="1100" b="0" dirty="0">
                <a:solidFill>
                  <a:srgbClr val="000000"/>
                </a:solidFill>
                <a:latin typeface="Arial"/>
              </a:rPr>
              <a:t>2 = restricted/private</a:t>
            </a:r>
          </a:p>
          <a:p>
            <a:r>
              <a:rPr sz="1100" b="0" dirty="0">
                <a:solidFill>
                  <a:srgbClr val="000000"/>
                </a:solidFill>
                <a:latin typeface="Arial"/>
              </a:rPr>
              <a:t>3 = unknown</a:t>
            </a:r>
          </a:p>
          <a:p>
            <a:r>
              <a:rPr sz="1100" b="0" dirty="0">
                <a:solidFill>
                  <a:srgbClr val="000000"/>
                </a:solidFill>
                <a:latin typeface="Arial"/>
              </a:rPr>
              <a:t>4 = payphone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2F7C2A-9891-40C6-A852-E53D6E881165}"/>
              </a:ext>
            </a:extLst>
          </p:cNvPr>
          <p:cNvCxnSpPr>
            <a:cxnSpLocks/>
          </p:cNvCxnSpPr>
          <p:nvPr/>
        </p:nvCxnSpPr>
        <p:spPr>
          <a:xfrm>
            <a:off x="4609283" y="4234597"/>
            <a:ext cx="32669" cy="14740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1D0C155-49F2-46FA-A33A-194EFED6CB4A}"/>
              </a:ext>
            </a:extLst>
          </p:cNvPr>
          <p:cNvSpPr txBox="1"/>
          <p:nvPr/>
        </p:nvSpPr>
        <p:spPr>
          <a:xfrm>
            <a:off x="4924094" y="4960620"/>
            <a:ext cx="1097280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100" b="1" dirty="0">
                <a:solidFill>
                  <a:srgbClr val="000000"/>
                </a:solidFill>
                <a:latin typeface="Arial"/>
              </a:rPr>
              <a:t>Duration</a:t>
            </a:r>
            <a:endParaRPr lang="en-US" b="1" dirty="0"/>
          </a:p>
          <a:p>
            <a:r>
              <a:rPr sz="1100" b="0" dirty="0">
                <a:solidFill>
                  <a:srgbClr val="000000"/>
                </a:solidFill>
                <a:latin typeface="Arial"/>
              </a:rPr>
              <a:t>91 seconds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6E48947-85CF-4A35-92BD-BD217C39E269}"/>
              </a:ext>
            </a:extLst>
          </p:cNvPr>
          <p:cNvCxnSpPr>
            <a:cxnSpLocks/>
          </p:cNvCxnSpPr>
          <p:nvPr/>
        </p:nvCxnSpPr>
        <p:spPr>
          <a:xfrm flipH="1">
            <a:off x="5235033" y="4281444"/>
            <a:ext cx="167900" cy="7420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4B26475-4005-4212-9870-E00FE8DF3079}"/>
              </a:ext>
            </a:extLst>
          </p:cNvPr>
          <p:cNvSpPr txBox="1"/>
          <p:nvPr/>
        </p:nvSpPr>
        <p:spPr>
          <a:xfrm>
            <a:off x="6233715" y="4976704"/>
            <a:ext cx="1215245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100" b="1" dirty="0">
                <a:solidFill>
                  <a:srgbClr val="000000"/>
                </a:solidFill>
                <a:latin typeface="Arial"/>
              </a:rPr>
              <a:t>New/read flags</a:t>
            </a:r>
          </a:p>
          <a:p>
            <a:r>
              <a:rPr sz="1100" b="0" dirty="0">
                <a:solidFill>
                  <a:srgbClr val="000000"/>
                </a:solidFill>
                <a:latin typeface="Arial"/>
              </a:rPr>
              <a:t>0/1 values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A8AF233-2D76-4174-85C8-153B83478728}"/>
              </a:ext>
            </a:extLst>
          </p:cNvPr>
          <p:cNvCxnSpPr>
            <a:cxnSpLocks/>
          </p:cNvCxnSpPr>
          <p:nvPr/>
        </p:nvCxnSpPr>
        <p:spPr>
          <a:xfrm flipH="1">
            <a:off x="6888547" y="4347411"/>
            <a:ext cx="167900" cy="7420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B366BEE-F7E4-4EB5-8D19-070D547CB6B1}"/>
              </a:ext>
            </a:extLst>
          </p:cNvPr>
          <p:cNvSpPr txBox="1"/>
          <p:nvPr/>
        </p:nvSpPr>
        <p:spPr>
          <a:xfrm>
            <a:off x="7056447" y="5809343"/>
            <a:ext cx="2235298" cy="6001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000000"/>
                </a:solidFill>
                <a:latin typeface="Arial"/>
              </a:rPr>
              <a:t>Phone account component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Identifies the service/component that handled the call.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8D97C6-E794-403A-BFCF-B31537AF694E}"/>
              </a:ext>
            </a:extLst>
          </p:cNvPr>
          <p:cNvSpPr txBox="1"/>
          <p:nvPr/>
        </p:nvSpPr>
        <p:spPr>
          <a:xfrm>
            <a:off x="7360920" y="137160"/>
            <a:ext cx="3840480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"/>
              </a:rPr>
              <a:t>phone_account_component_name</a:t>
            </a:r>
            <a:endParaRPr lang="en-GB" sz="1400" dirty="0">
              <a:solidFill>
                <a:srgbClr val="FF0000"/>
              </a:solidFill>
            </a:endParaRPr>
          </a:p>
          <a:p>
            <a:r>
              <a:rPr sz="1000" b="0">
                <a:solidFill>
                  <a:srgbClr val="000000"/>
                </a:solidFill>
                <a:latin typeface="Arial"/>
              </a:rPr>
              <a:t>(com.android.phone / TelephonyConnectionService)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B3DC9EA-284E-410E-8888-21D4FEA20671}"/>
              </a:ext>
            </a:extLst>
          </p:cNvPr>
          <p:cNvCxnSpPr>
            <a:cxnSpLocks/>
          </p:cNvCxnSpPr>
          <p:nvPr/>
        </p:nvCxnSpPr>
        <p:spPr>
          <a:xfrm flipH="1">
            <a:off x="8209941" y="4280231"/>
            <a:ext cx="1591785" cy="16031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199B20D-4246-4652-B9E5-2E69428D4A1E}"/>
              </a:ext>
            </a:extLst>
          </p:cNvPr>
          <p:cNvSpPr txBox="1"/>
          <p:nvPr/>
        </p:nvSpPr>
        <p:spPr>
          <a:xfrm>
            <a:off x="9766250" y="5022871"/>
            <a:ext cx="215143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100" b="1" dirty="0">
                <a:solidFill>
                  <a:srgbClr val="000000"/>
                </a:solidFill>
                <a:latin typeface="Arial"/>
              </a:rPr>
              <a:t>Phone account ID</a:t>
            </a:r>
          </a:p>
          <a:p>
            <a:r>
              <a:rPr sz="1100" b="0" dirty="0">
                <a:solidFill>
                  <a:srgbClr val="000000"/>
                </a:solidFill>
                <a:latin typeface="Arial"/>
              </a:rPr>
              <a:t>Account identifier; do not assume IMSI without corroboration.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1E99F9B-C57D-4C65-B88A-C421CB8B2C24}"/>
              </a:ext>
            </a:extLst>
          </p:cNvPr>
          <p:cNvCxnSpPr>
            <a:cxnSpLocks/>
          </p:cNvCxnSpPr>
          <p:nvPr/>
        </p:nvCxnSpPr>
        <p:spPr>
          <a:xfrm flipH="1">
            <a:off x="10937064" y="4347411"/>
            <a:ext cx="167900" cy="7420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589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1ADB842-E305-44B1-A6CA-AC73C8139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12" y="719922"/>
            <a:ext cx="11941575" cy="3276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ED4E29-9966-4EC5-9D18-35DA53AF83B9}"/>
              </a:ext>
            </a:extLst>
          </p:cNvPr>
          <p:cNvSpPr txBox="1"/>
          <p:nvPr/>
        </p:nvSpPr>
        <p:spPr>
          <a:xfrm>
            <a:off x="2165712" y="4469704"/>
            <a:ext cx="1610130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rial"/>
              </a:rPr>
              <a:t>Call type</a:t>
            </a:r>
          </a:p>
          <a:p>
            <a:r>
              <a:rPr sz="1600" b="0" dirty="0">
                <a:solidFill>
                  <a:srgbClr val="000000"/>
                </a:solidFill>
                <a:latin typeface="Arial"/>
              </a:rPr>
              <a:t>1 = incoming</a:t>
            </a:r>
          </a:p>
          <a:p>
            <a:r>
              <a:rPr sz="1600" b="0" dirty="0">
                <a:solidFill>
                  <a:srgbClr val="000000"/>
                </a:solidFill>
                <a:latin typeface="Arial"/>
              </a:rPr>
              <a:t>2 = outgoing</a:t>
            </a:r>
          </a:p>
          <a:p>
            <a:r>
              <a:rPr sz="1600" b="0" dirty="0">
                <a:solidFill>
                  <a:srgbClr val="000000"/>
                </a:solidFill>
                <a:latin typeface="Arial"/>
              </a:rPr>
              <a:t>3 = missed</a:t>
            </a:r>
          </a:p>
          <a:p>
            <a:r>
              <a:rPr sz="1600" b="0" dirty="0">
                <a:solidFill>
                  <a:srgbClr val="000000"/>
                </a:solidFill>
                <a:latin typeface="Arial"/>
              </a:rPr>
              <a:t>4 = voicemail</a:t>
            </a:r>
          </a:p>
          <a:p>
            <a:r>
              <a:rPr sz="1600" b="0" dirty="0">
                <a:solidFill>
                  <a:srgbClr val="000000"/>
                </a:solidFill>
                <a:latin typeface="Arial"/>
              </a:rPr>
              <a:t>5 = rejected</a:t>
            </a:r>
          </a:p>
          <a:p>
            <a:r>
              <a:rPr sz="1600" b="0" dirty="0">
                <a:solidFill>
                  <a:srgbClr val="000000"/>
                </a:solidFill>
                <a:latin typeface="Arial"/>
              </a:rPr>
              <a:t>6 = blocked</a:t>
            </a:r>
          </a:p>
          <a:p>
            <a:r>
              <a:rPr sz="1600" b="0" dirty="0">
                <a:solidFill>
                  <a:srgbClr val="000000"/>
                </a:solidFill>
                <a:latin typeface="Arial"/>
              </a:rPr>
              <a:t>7 = answered externally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16F241-8028-4BDE-A77C-67601B67F77C}"/>
              </a:ext>
            </a:extLst>
          </p:cNvPr>
          <p:cNvCxnSpPr>
            <a:cxnSpLocks/>
          </p:cNvCxnSpPr>
          <p:nvPr/>
        </p:nvCxnSpPr>
        <p:spPr>
          <a:xfrm>
            <a:off x="1312715" y="3996806"/>
            <a:ext cx="989051" cy="378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A043C6C-7BBB-4C2D-92E2-5D47F7729A3F}"/>
              </a:ext>
            </a:extLst>
          </p:cNvPr>
          <p:cNvSpPr txBox="1"/>
          <p:nvPr/>
        </p:nvSpPr>
        <p:spPr>
          <a:xfrm>
            <a:off x="5950664" y="4923991"/>
            <a:ext cx="3114508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rial"/>
              </a:rPr>
              <a:t>Voicemail transcription state</a:t>
            </a:r>
            <a:endParaRPr lang="en-US" b="1" dirty="0"/>
          </a:p>
          <a:p>
            <a:r>
              <a:rPr sz="1600" b="0" dirty="0">
                <a:solidFill>
                  <a:srgbClr val="000000"/>
                </a:solidFill>
                <a:latin typeface="Arial"/>
              </a:rPr>
              <a:t>Interpret as app/provider-specific status for transcription processing.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E96038-3758-4B84-8B15-50BDBAC899B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210947" y="3902776"/>
            <a:ext cx="2296971" cy="10212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4AB74A-8891-42CD-87A9-9DE1519C26F3}"/>
              </a:ext>
            </a:extLst>
          </p:cNvPr>
          <p:cNvSpPr txBox="1"/>
          <p:nvPr/>
        </p:nvSpPr>
        <p:spPr>
          <a:xfrm>
            <a:off x="3965042" y="4931368"/>
            <a:ext cx="1828785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Arial"/>
              </a:rPr>
              <a:t>Voicemail indicator</a:t>
            </a:r>
            <a:endParaRPr lang="en-US" b="1" dirty="0"/>
          </a:p>
          <a:p>
            <a:r>
              <a:rPr sz="1600" b="0" dirty="0">
                <a:solidFill>
                  <a:srgbClr val="000000"/>
                </a:solidFill>
                <a:latin typeface="Arial"/>
              </a:rPr>
              <a:t>Use with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call_type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and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voicemail_uri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2E17B2-7257-49C5-AAE4-635750C9015B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059051" y="3996806"/>
            <a:ext cx="1820384" cy="9345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FB35279-31C4-48F5-85E2-12B0562C4A34}"/>
              </a:ext>
            </a:extLst>
          </p:cNvPr>
          <p:cNvSpPr txBox="1"/>
          <p:nvPr/>
        </p:nvSpPr>
        <p:spPr>
          <a:xfrm>
            <a:off x="304162" y="4931368"/>
            <a:ext cx="1672350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600" b="1" dirty="0" err="1">
                <a:solidFill>
                  <a:srgbClr val="000000"/>
                </a:solidFill>
                <a:latin typeface="Arial"/>
              </a:rPr>
              <a:t>voicemail_uri</a:t>
            </a:r>
            <a:endParaRPr lang="en-US" b="1" dirty="0"/>
          </a:p>
          <a:p>
            <a:r>
              <a:rPr sz="1600" b="0" dirty="0">
                <a:solidFill>
                  <a:srgbClr val="000000"/>
                </a:solidFill>
                <a:latin typeface="Arial"/>
              </a:rPr>
              <a:t>Pointer to voicemail content/metadata when present.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AAEE42-EBEF-4539-88F4-1C807E23AA62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537160" y="3946102"/>
            <a:ext cx="603177" cy="9852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013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E2EDE-E25A-4A70-8F62-F08545045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>
                <a:solidFill>
                  <a:srgbClr val="000000"/>
                </a:solidFill>
                <a:latin typeface="Arial"/>
              </a:rPr>
              <a:t>Sample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E3A0C-68A5-4030-881D-4851A929E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sz="2000" b="0" dirty="0">
                <a:solidFill>
                  <a:srgbClr val="000000"/>
                </a:solidFill>
                <a:latin typeface="Arial"/>
              </a:rPr>
              <a:t>List all incoming calls</a:t>
            </a:r>
          </a:p>
          <a:p>
            <a:pPr lvl="1"/>
            <a:r>
              <a:rPr lang="en-US" sz="2000" b="0" dirty="0">
                <a:solidFill>
                  <a:srgbClr val="000000"/>
                </a:solidFill>
                <a:latin typeface="Arial"/>
              </a:rPr>
              <a:t>2</a:t>
            </a:r>
          </a:p>
          <a:p>
            <a:r>
              <a:rPr lang="en-US" sz="2000" b="0" dirty="0">
                <a:solidFill>
                  <a:srgbClr val="000000"/>
                </a:solidFill>
                <a:latin typeface="Arial"/>
              </a:rPr>
              <a:t>Did any callers leave voice mails?</a:t>
            </a:r>
          </a:p>
          <a:p>
            <a:pPr lvl="1"/>
            <a:r>
              <a:rPr lang="en-US" sz="2000" b="0" dirty="0">
                <a:solidFill>
                  <a:srgbClr val="000000"/>
                </a:solidFill>
                <a:latin typeface="Arial"/>
              </a:rPr>
              <a:t>none</a:t>
            </a:r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AC563A-0C7A-4745-9EA8-00309E17868F}"/>
              </a:ext>
            </a:extLst>
          </p:cNvPr>
          <p:cNvCxnSpPr>
            <a:cxnSpLocks/>
          </p:cNvCxnSpPr>
          <p:nvPr/>
        </p:nvCxnSpPr>
        <p:spPr>
          <a:xfrm>
            <a:off x="4672170" y="2041358"/>
            <a:ext cx="2318259" cy="4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4A30D0C-07CD-45C1-812B-2130942E6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429" y="1818311"/>
            <a:ext cx="2751058" cy="716342"/>
          </a:xfrm>
          <a:prstGeom prst="rect">
            <a:avLst/>
          </a:prstGeom>
        </p:spPr>
      </p:pic>
      <p:pic>
        <p:nvPicPr>
          <p:cNvPr id="14" name="Picture 1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89BD017A-4B99-40BB-A5CB-41D74821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429" y="2912014"/>
            <a:ext cx="2751058" cy="369756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31149FF-3D96-4005-A505-75D0D98A026F}"/>
              </a:ext>
            </a:extLst>
          </p:cNvPr>
          <p:cNvCxnSpPr>
            <a:cxnSpLocks/>
          </p:cNvCxnSpPr>
          <p:nvPr/>
        </p:nvCxnSpPr>
        <p:spPr>
          <a:xfrm>
            <a:off x="4546274" y="2912014"/>
            <a:ext cx="2444155" cy="842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8" name="Picture 17" descr="A picture containing table&#10;&#10;Description automatically generated">
            <a:extLst>
              <a:ext uri="{FF2B5EF4-FFF2-40B4-BE49-F238E27FC236}">
                <a16:creationId xmlns:a16="http://schemas.microsoft.com/office/drawing/2014/main" id="{98C926AE-2129-4418-AFDC-9D7B66D4C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548" y="3429000"/>
            <a:ext cx="904210" cy="337246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238454-30F9-4597-8411-6A7D09635243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4408653" y="3064414"/>
            <a:ext cx="290022" cy="364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38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69BCC3-98E6-D667-4594-F40A6AA28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73" y="626865"/>
            <a:ext cx="8400939" cy="578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275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75B0-C8A1-C69F-6DC3-CC0976DA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0">
                <a:solidFill>
                  <a:srgbClr val="000000"/>
                </a:solidFill>
                <a:latin typeface="Arial"/>
              </a:rPr>
              <a:t>System call log vs. Google Dialer annotated cache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DF470-BF87-92FD-26B4-CF9CE27F9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1800" b="1" dirty="0">
                <a:solidFill>
                  <a:srgbClr val="000000"/>
                </a:solidFill>
                <a:latin typeface="Arial"/>
              </a:rPr>
              <a:t>Key distinction:</a:t>
            </a:r>
          </a:p>
          <a:p>
            <a:r>
              <a:rPr sz="1800" b="0" dirty="0" err="1">
                <a:solidFill>
                  <a:srgbClr val="000000"/>
                </a:solidFill>
                <a:latin typeface="Arial"/>
              </a:rPr>
              <a:t>calllog.db.calls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is the system-level call-history source.</a:t>
            </a:r>
          </a:p>
          <a:p>
            <a:r>
              <a:rPr sz="1800" b="0" dirty="0" err="1">
                <a:solidFill>
                  <a:srgbClr val="000000"/>
                </a:solidFill>
                <a:latin typeface="Arial"/>
              </a:rPr>
              <a:t>annotated_call_log.db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is a Google Dialer app-private cache/enrichment layer.</a:t>
            </a:r>
          </a:p>
          <a:p>
            <a:endParaRPr sz="1800" b="0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r>
              <a:rPr sz="1800" b="1" dirty="0">
                <a:solidFill>
                  <a:srgbClr val="000000"/>
                </a:solidFill>
                <a:latin typeface="Arial"/>
              </a:rPr>
              <a:t>Correlation: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Do not assume a database-enforced foreign key between the two databases.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Verify the extracted schema and use timestamps, numbers, call type, phone account fields, and app-specific mapping columns when present.</a:t>
            </a:r>
          </a:p>
          <a:p>
            <a:endParaRPr sz="1800" b="0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r>
              <a:rPr sz="1800" b="1" dirty="0">
                <a:solidFill>
                  <a:srgbClr val="000000"/>
                </a:solidFill>
                <a:latin typeface="Arial"/>
              </a:rPr>
              <a:t>Forensic rule: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Start with the system call event, then use Dialer artifacts to enrich and corroborate it.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Treat caches as supporting evidence unless independently verified.</a:t>
            </a:r>
          </a:p>
        </p:txBody>
      </p:sp>
    </p:spTree>
    <p:extLst>
      <p:ext uri="{BB962C8B-B14F-4D97-AF65-F5344CB8AC3E}">
        <p14:creationId xmlns:p14="http://schemas.microsoft.com/office/powerpoint/2010/main" val="792115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0299-8B00-3C39-26E1-74F8B629A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0">
                <a:solidFill>
                  <a:srgbClr val="000000"/>
                </a:solidFill>
                <a:latin typeface="Arial"/>
              </a:rPr>
              <a:t>Deleted call-log recovery: forensic caveats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F1913-78BE-C322-810F-DCFB5350F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862203"/>
          </a:xfrm>
        </p:spPr>
        <p:txBody>
          <a:bodyPr wrap="square">
            <a:normAutofit/>
          </a:bodyPr>
          <a:lstStyle/>
          <a:p>
            <a:r>
              <a:rPr sz="2000" b="0" dirty="0">
                <a:solidFill>
                  <a:srgbClr val="000000"/>
                </a:solidFill>
                <a:latin typeface="Arial"/>
              </a:rPr>
              <a:t>Question</a:t>
            </a:r>
            <a:r>
              <a:rPr lang="en-US" sz="2000" b="0" dirty="0">
                <a:solidFill>
                  <a:srgbClr val="000000"/>
                </a:solidFill>
                <a:latin typeface="Arial"/>
              </a:rPr>
              <a:t>: 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Can a deleted call-log record still be recovered?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Answer</a:t>
            </a:r>
            <a:r>
              <a:rPr lang="en-US" sz="2000" b="0" dirty="0">
                <a:solidFill>
                  <a:srgbClr val="000000"/>
                </a:solidFill>
                <a:latin typeface="Arial"/>
              </a:rPr>
              <a:t>: </a:t>
            </a:r>
            <a:endParaRPr sz="2000" b="0" dirty="0">
              <a:solidFill>
                <a:srgbClr val="000000"/>
              </a:solidFill>
              <a:latin typeface="Arial"/>
            </a:endParaRPr>
          </a:p>
          <a:p>
            <a:pPr lvl="1"/>
            <a:r>
              <a:rPr sz="1400" b="0" dirty="0">
                <a:solidFill>
                  <a:srgbClr val="000000"/>
                </a:solidFill>
                <a:latin typeface="Arial"/>
              </a:rPr>
              <a:t>Possibly — but there is no fixed recovery window. Recovery depends on SQLite state, WAL/journal files, free pages, backups, and subsequent writes.</a:t>
            </a:r>
          </a:p>
          <a:p>
            <a:pPr lvl="1"/>
            <a:r>
              <a:rPr sz="1400" b="0" dirty="0">
                <a:solidFill>
                  <a:srgbClr val="000000"/>
                </a:solidFill>
                <a:latin typeface="Arial"/>
              </a:rPr>
              <a:t>Do not rely on Google Dialer caches alone; correlate system </a:t>
            </a:r>
            <a:r>
              <a:rPr sz="1400" b="0" dirty="0" err="1">
                <a:solidFill>
                  <a:srgbClr val="000000"/>
                </a:solidFill>
                <a:latin typeface="Arial"/>
              </a:rPr>
              <a:t>calllog.db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, -</a:t>
            </a:r>
            <a:r>
              <a:rPr sz="1400" b="0" dirty="0" err="1">
                <a:solidFill>
                  <a:srgbClr val="000000"/>
                </a:solidFill>
                <a:latin typeface="Arial"/>
              </a:rPr>
              <a:t>wal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/-journal, </a:t>
            </a:r>
            <a:r>
              <a:rPr sz="1400" b="0" dirty="0" err="1">
                <a:solidFill>
                  <a:srgbClr val="000000"/>
                </a:solidFill>
                <a:latin typeface="Arial"/>
              </a:rPr>
              <a:t>annotated_call_log.db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, voicemail, lookup history, and contact artifacts.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92EA6A-F6FD-C87F-2D79-E38024D74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325914"/>
              </p:ext>
            </p:extLst>
          </p:nvPr>
        </p:nvGraphicFramePr>
        <p:xfrm>
          <a:off x="838200" y="3820597"/>
          <a:ext cx="10515600" cy="1727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96015">
                  <a:extLst>
                    <a:ext uri="{9D8B030D-6E8A-4147-A177-3AD203B41FA5}">
                      <a16:colId xmlns:a16="http://schemas.microsoft.com/office/drawing/2014/main" val="2938270274"/>
                    </a:ext>
                  </a:extLst>
                </a:gridCol>
                <a:gridCol w="6819585">
                  <a:extLst>
                    <a:ext uri="{9D8B030D-6E8A-4147-A177-3AD203B41FA5}">
                      <a16:colId xmlns:a16="http://schemas.microsoft.com/office/drawing/2014/main" val="2440915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Arial"/>
                        </a:rPr>
                        <a:t>Answer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406838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>
                          <a:solidFill>
                            <a:srgbClr val="000000"/>
                          </a:solidFill>
                          <a:latin typeface="Arial"/>
                        </a:rPr>
                        <a:t>Does deleting a call in Google Dialer remove it from calllog.db?</a:t>
                      </a:r>
                      <a:endParaRPr lang="en-GB" sz="28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Often yes — if the deletion is performed through the Dialer UI, it normally propagates through Android APIs to the system call log.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787383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>
                          <a:solidFill>
                            <a:srgbClr val="000000"/>
                          </a:solidFill>
                          <a:latin typeface="Arial"/>
                        </a:rPr>
                        <a:t>Can it be recovered later?</a:t>
                      </a:r>
                      <a:endParaRPr lang="en-GB" sz="28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Possibly. Deleted rows may remain in WAL/journal/free pages or correlated caches, but later writes can overwrite them.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219727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>
                          <a:solidFill>
                            <a:srgbClr val="000000"/>
                          </a:solidFill>
                          <a:latin typeface="Arial"/>
                        </a:rPr>
                        <a:t>Where to focus in forensics?</a:t>
                      </a:r>
                      <a:endParaRPr lang="en-GB" sz="28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000000"/>
                          </a:solidFill>
                          <a:latin typeface="Arial"/>
                        </a:rPr>
                        <a:t>Prioritize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calllog.db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rial"/>
                        </a:rPr>
                        <a:t> and its WAL/journal, then corroborate with Google Dialer caches, voicemail, lookup history, and contacts.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659018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0401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Section 4 — Smart Dial and suggested contacts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464646"/>
                </a:solidFill>
                <a:latin typeface="Arial"/>
              </a:rPr>
              <a:t>Use ranking and suggestion artifacts as supporting evidence, not direct call counts.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657600"/>
            <a:ext cx="102412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60024-3B11-A57D-08D1-0BA714BE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3F1245-FE95-FDD1-FA2E-BAD1E2107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 err="1">
                <a:solidFill>
                  <a:srgbClr val="000000"/>
                </a:solidFill>
                <a:latin typeface="Arial"/>
              </a:rPr>
              <a:t>dialer.db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D0DB52-2704-4364-2784-569575739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482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6A5203-A9FD-66C1-E0A2-9F6CA7F4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 b="0" dirty="0" err="1">
                <a:solidFill>
                  <a:srgbClr val="000000"/>
                </a:solidFill>
                <a:latin typeface="Arial"/>
              </a:rPr>
              <a:t>smart_dial_table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62B4CC-C8A3-E596-5B4C-B8E7DDAF1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431" y="1825625"/>
            <a:ext cx="6461369" cy="4351338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000" b="0" dirty="0">
                <a:solidFill>
                  <a:srgbClr val="000000"/>
                </a:solidFill>
                <a:latin typeface="Arial"/>
              </a:rPr>
              <a:t>Smart Dial supports fast contact/number search as the user types.</a:t>
            </a:r>
          </a:p>
          <a:p>
            <a:endParaRPr sz="2000" b="0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  <a:latin typeface="Arial"/>
              </a:rPr>
              <a:t>Forensic value: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can link numbers to cached contact identifiers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may reflect frequently used or important contacts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should be interpreted as a Dialer app artifact, not a complete call log</a:t>
            </a:r>
          </a:p>
          <a:p>
            <a:endParaRPr sz="2000" b="0" dirty="0">
              <a:solidFill>
                <a:srgbClr val="000000"/>
              </a:solidFill>
              <a:latin typeface="Arial"/>
            </a:endParaRP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Corroborate with contacts2.db, </a:t>
            </a:r>
            <a:r>
              <a:rPr sz="2000" b="0" dirty="0" err="1">
                <a:solidFill>
                  <a:srgbClr val="000000"/>
                </a:solidFill>
                <a:latin typeface="Arial"/>
              </a:rPr>
              <a:t>calllog.db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, and </a:t>
            </a:r>
            <a:r>
              <a:rPr sz="2000" b="0" dirty="0" err="1">
                <a:solidFill>
                  <a:srgbClr val="000000"/>
                </a:solidFill>
                <a:latin typeface="Arial"/>
              </a:rPr>
              <a:t>annotated_call_log.db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BA693B-F3DC-A556-CB54-147E0A52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944"/>
          <a:stretch/>
        </p:blipFill>
        <p:spPr>
          <a:xfrm>
            <a:off x="1254556" y="2538214"/>
            <a:ext cx="3009261" cy="260323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E557D2-59A7-FF7E-26F6-0E9D10A3AB09}"/>
              </a:ext>
            </a:extLst>
          </p:cNvPr>
          <p:cNvCxnSpPr/>
          <p:nvPr/>
        </p:nvCxnSpPr>
        <p:spPr>
          <a:xfrm flipH="1">
            <a:off x="3575957" y="2114451"/>
            <a:ext cx="1690007" cy="2351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69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B1DCDE-C125-2F8A-8A40-14DE7D76B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24" y="1842899"/>
            <a:ext cx="10198611" cy="1607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81DD33-245D-3949-4A5D-34BD40E20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24" y="4178121"/>
            <a:ext cx="7128840" cy="14647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CA8700-8A72-F9B0-199D-8DB49D896527}"/>
              </a:ext>
            </a:extLst>
          </p:cNvPr>
          <p:cNvSpPr txBox="1"/>
          <p:nvPr/>
        </p:nvSpPr>
        <p:spPr>
          <a:xfrm>
            <a:off x="766023" y="1445079"/>
            <a:ext cx="367196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000000"/>
                </a:solidFill>
                <a:latin typeface="Arial"/>
              </a:rPr>
              <a:t>Two phone numbers are found</a:t>
            </a:r>
          </a:p>
        </p:txBody>
      </p:sp>
    </p:spTree>
    <p:extLst>
      <p:ext uri="{BB962C8B-B14F-4D97-AF65-F5344CB8AC3E}">
        <p14:creationId xmlns:p14="http://schemas.microsoft.com/office/powerpoint/2010/main" val="11612101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39AD6-79CA-975C-4B64-42C012F7F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44D7BE-74C7-672C-4626-FC538C96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 b="0" dirty="0" err="1">
                <a:solidFill>
                  <a:srgbClr val="000000"/>
                </a:solidFill>
                <a:latin typeface="Arial"/>
              </a:rPr>
              <a:t>suggest_contact_database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9052C-81E2-5E43-C497-D2439A284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47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DC75-BF47-96E7-9542-847C2056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AFAE7-F693-F564-6C72-5B4B238D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 b="0" dirty="0">
                <a:solidFill>
                  <a:srgbClr val="000000"/>
                </a:solidFill>
                <a:latin typeface="Arial"/>
              </a:rPr>
              <a:t>Understand user’s interactions with contacts, not just </a:t>
            </a:r>
            <a:r>
              <a:rPr lang="en-GB" sz="3400" b="0" dirty="0" err="1">
                <a:solidFill>
                  <a:srgbClr val="000000"/>
                </a:solidFill>
                <a:latin typeface="Arial"/>
              </a:rPr>
              <a:t>dialing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CE302-37ED-9A51-52E7-1DB1AC1C0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65443" cy="4351338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sz="2200" b="0" dirty="0">
                <a:solidFill>
                  <a:srgbClr val="000000"/>
                </a:solidFill>
                <a:latin typeface="Arial"/>
              </a:rPr>
              <a:t>Suggested-contact artifacts may reflect app-generated ranking used for contact suggestions, sharing targets, or communication shortcuts.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sz="2200" b="1" dirty="0">
                <a:solidFill>
                  <a:srgbClr val="000000"/>
                </a:solidFill>
                <a:latin typeface="Arial"/>
              </a:rPr>
              <a:t>Forensic interpretation:</a:t>
            </a:r>
          </a:p>
          <a:p>
            <a:r>
              <a:rPr sz="2200" b="0" dirty="0">
                <a:solidFill>
                  <a:srgbClr val="000000"/>
                </a:solidFill>
                <a:latin typeface="Arial"/>
              </a:rPr>
              <a:t>useful for identifying contacts that may be important to the user</a:t>
            </a:r>
          </a:p>
          <a:p>
            <a:r>
              <a:rPr sz="2200" b="0" dirty="0">
                <a:solidFill>
                  <a:srgbClr val="000000"/>
                </a:solidFill>
                <a:latin typeface="Arial"/>
              </a:rPr>
              <a:t>not a direct count of calls or messages</a:t>
            </a:r>
          </a:p>
          <a:p>
            <a:r>
              <a:rPr sz="2200" b="0" dirty="0">
                <a:solidFill>
                  <a:srgbClr val="000000"/>
                </a:solidFill>
                <a:latin typeface="Arial"/>
              </a:rPr>
              <a:t>ranking logic is app/version dependent and should be described cautiously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1DB44BAA-0D10-E24D-F7C3-5B02CBBD2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542" y="1938014"/>
            <a:ext cx="7127078" cy="357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16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E8D264-4C74-474A-A296-BB94A94F3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11" y="1464422"/>
            <a:ext cx="10386378" cy="588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948891-9473-453B-9BA1-3E792311A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11" y="2062391"/>
            <a:ext cx="10386377" cy="1063478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6DD4813B-5125-4D6A-A084-E6DA8E69E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811" y="3741134"/>
            <a:ext cx="3943509" cy="13939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7F070B-1F7C-4E84-8ECE-5AEC9881D33C}"/>
              </a:ext>
            </a:extLst>
          </p:cNvPr>
          <p:cNvSpPr txBox="1"/>
          <p:nvPr/>
        </p:nvSpPr>
        <p:spPr>
          <a:xfrm>
            <a:off x="902810" y="1095090"/>
            <a:ext cx="3330231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Open </a:t>
            </a:r>
            <a:r>
              <a:rPr lang="en-US" sz="1600" b="0" i="1" dirty="0" err="1">
                <a:solidFill>
                  <a:srgbClr val="000000"/>
                </a:solidFill>
                <a:latin typeface="Arial"/>
              </a:rPr>
              <a:t>suggest_contact_database</a:t>
            </a:r>
            <a:endParaRPr lang="en-US" sz="1400" i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B459A9-0ECB-4DD7-AF6C-9594EE7D9625}"/>
              </a:ext>
            </a:extLst>
          </p:cNvPr>
          <p:cNvSpPr txBox="1"/>
          <p:nvPr/>
        </p:nvSpPr>
        <p:spPr>
          <a:xfrm>
            <a:off x="902811" y="3371802"/>
            <a:ext cx="4961961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600" dirty="0">
                <a:solidFill>
                  <a:srgbClr val="000000"/>
                </a:solidFill>
                <a:latin typeface="Arial"/>
              </a:rPr>
              <a:t>Find frequently suggested / ranked phone numbers  </a:t>
            </a:r>
            <a:endParaRPr lang="en-US" sz="1600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3ED3CF-04DA-01D9-5070-FD80BA9A2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46079"/>
              </p:ext>
            </p:extLst>
          </p:nvPr>
        </p:nvGraphicFramePr>
        <p:xfrm>
          <a:off x="5331250" y="4179522"/>
          <a:ext cx="5957938" cy="1676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61169">
                  <a:extLst>
                    <a:ext uri="{9D8B030D-6E8A-4147-A177-3AD203B41FA5}">
                      <a16:colId xmlns:a16="http://schemas.microsoft.com/office/drawing/2014/main" val="131163528"/>
                    </a:ext>
                  </a:extLst>
                </a:gridCol>
                <a:gridCol w="814403">
                  <a:extLst>
                    <a:ext uri="{9D8B030D-6E8A-4147-A177-3AD203B41FA5}">
                      <a16:colId xmlns:a16="http://schemas.microsoft.com/office/drawing/2014/main" val="2937814532"/>
                    </a:ext>
                  </a:extLst>
                </a:gridCol>
                <a:gridCol w="3882366">
                  <a:extLst>
                    <a:ext uri="{9D8B030D-6E8A-4147-A177-3AD203B41FA5}">
                      <a16:colId xmlns:a16="http://schemas.microsoft.com/office/drawing/2014/main" val="1921666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241402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Normalized Number</a:t>
                      </a:r>
                      <a:endParaRPr lang="en-US" sz="2800" dirty="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TEXT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The phone number in normalized E.164 format (for example +13015551234). Acts as the primary key.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89946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  <a:endParaRPr lang="en-US" sz="2800"/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REAL (float)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A computed weight representing how “important” or “frequently used” the number is to the user.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37160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250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A92A-C2E3-A5CF-9CA2-AEEA80D7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>
                <a:solidFill>
                  <a:srgbClr val="000000"/>
                </a:solidFill>
                <a:latin typeface="Arial"/>
              </a:rPr>
              <a:t>score in </a:t>
            </a:r>
            <a:r>
              <a:rPr lang="en-US" sz="3400" b="0" dirty="0" err="1">
                <a:solidFill>
                  <a:srgbClr val="000000"/>
                </a:solidFill>
                <a:latin typeface="Arial"/>
              </a:rPr>
              <a:t>ContactScore</a:t>
            </a:r>
            <a:r>
              <a:rPr lang="en-US" sz="3400" b="0" dirty="0">
                <a:solidFill>
                  <a:srgbClr val="000000"/>
                </a:solidFill>
                <a:latin typeface="Arial"/>
              </a:rPr>
              <a:t>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C1CC-DBC8-1117-EFFF-85BE2B2DE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4195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700" b="1" dirty="0">
                <a:solidFill>
                  <a:srgbClr val="000000"/>
                </a:solidFill>
                <a:latin typeface="Arial"/>
              </a:rPr>
              <a:t>How should the score be interpreted?</a:t>
            </a:r>
          </a:p>
          <a:p>
            <a:r>
              <a:rPr sz="1700" b="0" dirty="0">
                <a:solidFill>
                  <a:srgbClr val="000000"/>
                </a:solidFill>
                <a:latin typeface="Arial"/>
              </a:rPr>
              <a:t>Score is an app-generated ranking/weight, not a direct event count.</a:t>
            </a:r>
          </a:p>
          <a:p>
            <a:r>
              <a:rPr sz="1700" b="0" dirty="0">
                <a:solidFill>
                  <a:srgbClr val="000000"/>
                </a:solidFill>
                <a:latin typeface="Arial"/>
              </a:rPr>
              <a:t>Higher values may suggest greater contact importance or interaction frequency/recency.</a:t>
            </a:r>
          </a:p>
          <a:p>
            <a:r>
              <a:rPr sz="1700" b="0" dirty="0">
                <a:solidFill>
                  <a:srgbClr val="000000"/>
                </a:solidFill>
                <a:latin typeface="Arial"/>
              </a:rPr>
              <a:t>The exact algorithm is app-version dependent.</a:t>
            </a:r>
          </a:p>
          <a:p>
            <a:endParaRPr sz="1700" b="0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r>
              <a:rPr sz="1700" b="1" dirty="0">
                <a:solidFill>
                  <a:srgbClr val="000000"/>
                </a:solidFill>
                <a:latin typeface="Arial"/>
              </a:rPr>
              <a:t>Forensic value</a:t>
            </a:r>
          </a:p>
          <a:p>
            <a:r>
              <a:rPr sz="1700" b="0" dirty="0">
                <a:solidFill>
                  <a:srgbClr val="000000"/>
                </a:solidFill>
                <a:latin typeface="Arial"/>
              </a:rPr>
              <a:t>Can corroborate communication patterns even when individual call-log rows are missing.</a:t>
            </a:r>
          </a:p>
          <a:p>
            <a:r>
              <a:rPr sz="1700" b="0" dirty="0">
                <a:solidFill>
                  <a:srgbClr val="000000"/>
                </a:solidFill>
                <a:latin typeface="Arial"/>
              </a:rPr>
              <a:t>Treat as supporting evidence and compare with call logs, contacts, and messages.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7B08F6-5ACC-F457-4B14-D4B00C4C8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6996"/>
              </p:ext>
            </p:extLst>
          </p:nvPr>
        </p:nvGraphicFramePr>
        <p:xfrm>
          <a:off x="8397240" y="197168"/>
          <a:ext cx="2956560" cy="858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10740">
                  <a:extLst>
                    <a:ext uri="{9D8B030D-6E8A-4147-A177-3AD203B41FA5}">
                      <a16:colId xmlns:a16="http://schemas.microsoft.com/office/drawing/2014/main" val="113170215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707838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>
                          <a:solidFill>
                            <a:srgbClr val="000000"/>
                          </a:solidFill>
                          <a:latin typeface="Arial"/>
                        </a:rPr>
                        <a:t>normalizedNumber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85562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+13015551234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0.94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74727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+12405550000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0.78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528868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solidFill>
                            <a:srgbClr val="000000"/>
                          </a:solidFill>
                          <a:latin typeface="Arial"/>
                        </a:rPr>
                        <a:t>+18005550123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>
                          <a:solidFill>
                            <a:srgbClr val="000000"/>
                          </a:solidFill>
                          <a:latin typeface="Arial"/>
                        </a:rPr>
                        <a:t>0.45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589905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4552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4349-1A02-A652-56D8-30719EE8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CE59F5-A742-EE5F-5490-F4587F362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 b="0" dirty="0" err="1">
                <a:solidFill>
                  <a:srgbClr val="000000"/>
                </a:solidFill>
                <a:latin typeface="Arial"/>
              </a:rPr>
              <a:t>phone_lookup_history.db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7905B-03BD-B5A7-8ACD-0D67691A6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853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195F-7102-4A8A-9EB1-A1496331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>
                <a:solidFill>
                  <a:srgbClr val="000000"/>
                </a:solidFill>
                <a:latin typeface="Arial"/>
              </a:rPr>
              <a:t>What is the phone lookup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843C1-37EF-48E2-BABB-BC35C0982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194779" cy="4605403"/>
          </a:xfrm>
        </p:spPr>
        <p:txBody>
          <a:bodyPr wrap="square">
            <a:normAutofit fontScale="92500" lnSpcReduction="20000"/>
          </a:bodyPr>
          <a:lstStyle/>
          <a:p>
            <a:r>
              <a:rPr sz="2000" b="0" dirty="0">
                <a:solidFill>
                  <a:srgbClr val="000000"/>
                </a:solidFill>
                <a:latin typeface="Arial"/>
              </a:rPr>
              <a:t>Phone lookup supports caller ID, spam labeling, and enriched number display.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Google Dialer may cache lookup results locally in </a:t>
            </a:r>
            <a:r>
              <a:rPr sz="2000" b="0" dirty="0" err="1">
                <a:solidFill>
                  <a:srgbClr val="000000"/>
                </a:solidFill>
                <a:latin typeface="Arial"/>
              </a:rPr>
              <a:t>phone_lookup_history.db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 so repeated calls can be resolved quickly.</a:t>
            </a:r>
          </a:p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  <a:latin typeface="Arial"/>
              </a:rPr>
              <a:t>Forensic interpretation: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a cached lookup can show that the app had lookup information for a number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the cache does not, by itself, prove the user manually searched for the number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lookup sources and formats are app/version dependent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744FB812-8BF0-440C-B7DF-844E2376C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648" y="1995609"/>
            <a:ext cx="6425018" cy="320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985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C9D4A2-1A29-419B-8CF3-FA31B4B46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554" y="2312011"/>
            <a:ext cx="9999538" cy="58179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390BE3CF-794C-4B41-85D5-B314048A8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54" y="2893802"/>
            <a:ext cx="7866620" cy="15766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963192-A564-4C49-BA1C-22C3F488DFF0}"/>
              </a:ext>
            </a:extLst>
          </p:cNvPr>
          <p:cNvSpPr txBox="1"/>
          <p:nvPr/>
        </p:nvSpPr>
        <p:spPr>
          <a:xfrm>
            <a:off x="1176554" y="1929904"/>
            <a:ext cx="3844763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000000"/>
                </a:solidFill>
                <a:latin typeface="Arial"/>
              </a:rPr>
              <a:t>Open </a:t>
            </a:r>
            <a:r>
              <a:rPr lang="en-US" sz="2000" b="0" i="1" dirty="0" err="1">
                <a:solidFill>
                  <a:srgbClr val="000000"/>
                </a:solidFill>
                <a:latin typeface="Arial"/>
              </a:rPr>
              <a:t>phone_lookup_history.db</a:t>
            </a:r>
            <a:endParaRPr lang="en-US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6990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BED3-F245-F70A-74E7-D1521024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AD71472D-94CF-FDF2-3A98-2B1BA51E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208"/>
          <a:stretch/>
        </p:blipFill>
        <p:spPr>
          <a:xfrm>
            <a:off x="6772242" y="2296712"/>
            <a:ext cx="4247854" cy="2264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662BB-5E19-1844-09CE-C040110E0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 err="1">
                <a:solidFill>
                  <a:srgbClr val="000000"/>
                </a:solidFill>
                <a:latin typeface="Arial"/>
              </a:rPr>
              <a:t>PhoneLookupHistory</a:t>
            </a:r>
            <a:r>
              <a:rPr lang="en-US" sz="3400" b="0" dirty="0">
                <a:solidFill>
                  <a:srgbClr val="000000"/>
                </a:solidFill>
                <a:latin typeface="Arial"/>
              </a:rPr>
              <a:t> table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5851A-A011-5D7C-F84D-94BC70EEB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9538" cy="3589830"/>
          </a:xfrm>
        </p:spPr>
        <p:txBody>
          <a:bodyPr wrap="square">
            <a:normAutofit/>
          </a:bodyPr>
          <a:lstStyle/>
          <a:p>
            <a:r>
              <a:rPr sz="1800" b="0" dirty="0" err="1">
                <a:solidFill>
                  <a:srgbClr val="000000"/>
                </a:solidFill>
                <a:latin typeface="Arial"/>
              </a:rPr>
              <a:t>normalized_number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: standardized phone number, usually in normalized/E.164-like form.</a:t>
            </a:r>
            <a:endParaRPr lang="en-US" dirty="0"/>
          </a:p>
          <a:p>
            <a:r>
              <a:rPr sz="1800" b="0" dirty="0" err="1">
                <a:solidFill>
                  <a:srgbClr val="000000"/>
                </a:solidFill>
                <a:latin typeface="Arial"/>
              </a:rPr>
              <a:t>phone_lookup_info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: serialized lookup payload stored as a BLOB.</a:t>
            </a:r>
          </a:p>
          <a:p>
            <a:endParaRPr sz="1800" b="0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r>
              <a:rPr sz="1800" b="1" dirty="0">
                <a:solidFill>
                  <a:srgbClr val="000000"/>
                </a:solidFill>
                <a:latin typeface="Arial"/>
              </a:rPr>
              <a:t>Interpretation rule: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do not assume JSON; the payload may use Protocol Buffers or another serialized format.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export the BLOB and identify its structure before interpreting names, labels, or confidence values.</a:t>
            </a:r>
          </a:p>
        </p:txBody>
      </p:sp>
    </p:spTree>
    <p:extLst>
      <p:ext uri="{BB962C8B-B14F-4D97-AF65-F5344CB8AC3E}">
        <p14:creationId xmlns:p14="http://schemas.microsoft.com/office/powerpoint/2010/main" val="2044700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dirty="0">
                <a:solidFill>
                  <a:srgbClr val="000000"/>
                </a:solidFill>
                <a:latin typeface="Arial"/>
              </a:rPr>
              <a:t>Section 5 — Lookup, voicemail, and other app-private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464646"/>
                </a:solidFill>
                <a:latin typeface="Arial"/>
              </a:rPr>
              <a:t>Inspect serialized lookup payloads, voicemail artifacts, screening data, RTT, and spam/blocking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657600"/>
            <a:ext cx="102412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E545-9371-FF9B-EA3E-4174C4CC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>
                <a:solidFill>
                  <a:srgbClr val="000000"/>
                </a:solidFill>
                <a:latin typeface="Arial"/>
              </a:rPr>
              <a:t>Access the BLOB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A6942E-2A56-F267-AB97-7F74E477F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057281"/>
            <a:ext cx="6124207" cy="1735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5BAD6F-2674-8233-4621-42AEBD982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159870"/>
            <a:ext cx="5427373" cy="173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8973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65620-7871-5B67-797F-4D7F6F643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C29BEA-A4BA-50A6-F384-78E18FAC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 b="0" dirty="0" err="1">
                <a:solidFill>
                  <a:srgbClr val="000000"/>
                </a:solidFill>
                <a:latin typeface="Arial"/>
              </a:rPr>
              <a:t>voicemail.db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18FC7F-0826-79A1-93FE-29328D546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164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D71E-1D63-4FE9-8A2D-A3C04021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>
                <a:solidFill>
                  <a:srgbClr val="000000"/>
                </a:solidFill>
                <a:latin typeface="Arial"/>
              </a:rPr>
              <a:t>What is the greeting message?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96ACB-A16D-4162-A340-47BFCF3CA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917576"/>
          </a:xfrm>
        </p:spPr>
        <p:txBody>
          <a:bodyPr wrap="square">
            <a:normAutofit/>
          </a:bodyPr>
          <a:lstStyle/>
          <a:p>
            <a:r>
              <a:rPr sz="1600" dirty="0">
                <a:solidFill>
                  <a:srgbClr val="000000"/>
                </a:solidFill>
                <a:latin typeface="Arial"/>
              </a:rPr>
              <a:t>Voicemail artifacts may include greeting metadata, voicemail entries, transcription state, and content references.</a:t>
            </a:r>
          </a:p>
          <a:p>
            <a:r>
              <a:rPr sz="1600" b="1" dirty="0">
                <a:solidFill>
                  <a:srgbClr val="000000"/>
                </a:solidFill>
                <a:latin typeface="Arial"/>
              </a:rPr>
              <a:t>Question to ask:</a:t>
            </a:r>
            <a:r>
              <a:rPr lang="en-US" sz="16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Did the user configure or store a custom voicemail greeting, and can it be correlated with voicemail/call-log records?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E102491-6098-4C0F-8CDF-2ECB8C93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619" y="2845537"/>
            <a:ext cx="6411353" cy="314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2521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EA8EB7-DDDE-4C16-931E-F9A7987D4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08" y="1636675"/>
            <a:ext cx="8615321" cy="5450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E4ABD7-D69C-4C99-9BE2-56C6B3508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08" y="2181726"/>
            <a:ext cx="10227646" cy="12472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06A49F-3704-4C72-8AA0-D2C68E05B539}"/>
              </a:ext>
            </a:extLst>
          </p:cNvPr>
          <p:cNvSpPr txBox="1"/>
          <p:nvPr/>
        </p:nvSpPr>
        <p:spPr>
          <a:xfrm>
            <a:off x="1078508" y="1248525"/>
            <a:ext cx="245296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/>
              </a:rPr>
              <a:t>Open </a:t>
            </a:r>
            <a:r>
              <a:rPr lang="en-US" b="0" i="1" dirty="0" err="1">
                <a:solidFill>
                  <a:srgbClr val="000000"/>
                </a:solidFill>
                <a:latin typeface="Arial"/>
              </a:rPr>
              <a:t>voicemail.db</a:t>
            </a:r>
            <a:endParaRPr lang="en-US" sz="1600" i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D41B2A-F30C-4E00-8119-B876095B7795}"/>
              </a:ext>
            </a:extLst>
          </p:cNvPr>
          <p:cNvSpPr txBox="1"/>
          <p:nvPr/>
        </p:nvSpPr>
        <p:spPr>
          <a:xfrm>
            <a:off x="1078508" y="3789385"/>
            <a:ext cx="685943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dirty="0">
                <a:solidFill>
                  <a:srgbClr val="000000"/>
                </a:solidFill>
                <a:latin typeface="Arial"/>
              </a:rPr>
              <a:t>Open </a:t>
            </a:r>
            <a:r>
              <a:rPr dirty="0" err="1">
                <a:solidFill>
                  <a:srgbClr val="000000"/>
                </a:solidFill>
                <a:latin typeface="Arial"/>
              </a:rPr>
              <a:t>voicemail.db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: </a:t>
            </a:r>
            <a:r>
              <a:rPr dirty="0">
                <a:solidFill>
                  <a:srgbClr val="000000"/>
                </a:solidFill>
                <a:latin typeface="Arial"/>
              </a:rPr>
              <a:t>Inspect greeting and voicemail-related tables</a:t>
            </a:r>
          </a:p>
        </p:txBody>
      </p:sp>
      <p:pic>
        <p:nvPicPr>
          <p:cNvPr id="13" name="Picture 1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F7066E2-440B-4F32-95D1-704B50D06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508" y="4211651"/>
            <a:ext cx="6610356" cy="139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399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FA00-0A4C-4B33-ABBF-39EF68ED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>
                <a:solidFill>
                  <a:srgbClr val="000000"/>
                </a:solidFill>
                <a:latin typeface="Arial"/>
              </a:rPr>
              <a:t>Other valuable information in databases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D267A1B-3ED7-4E12-9D94-E5AC8F5EB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43" y="1458913"/>
            <a:ext cx="7966774" cy="4802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820783-1DC5-4602-9E36-878E3BF4ECA9}"/>
              </a:ext>
            </a:extLst>
          </p:cNvPr>
          <p:cNvSpPr txBox="1"/>
          <p:nvPr/>
        </p:nvSpPr>
        <p:spPr>
          <a:xfrm>
            <a:off x="5526505" y="2927684"/>
            <a:ext cx="3262771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sz="1400" b="1" dirty="0">
                <a:solidFill>
                  <a:srgbClr val="000000"/>
                </a:solidFill>
                <a:latin typeface="Arial"/>
              </a:rPr>
              <a:t>Other artifacts to check</a:t>
            </a:r>
          </a:p>
          <a:p>
            <a:r>
              <a:rPr sz="1400" b="0" dirty="0">
                <a:solidFill>
                  <a:srgbClr val="000000"/>
                </a:solidFill>
                <a:latin typeface="Arial"/>
              </a:rPr>
              <a:t>• speed-dial entries</a:t>
            </a:r>
          </a:p>
          <a:p>
            <a:r>
              <a:rPr sz="1400" b="0" dirty="0">
                <a:solidFill>
                  <a:srgbClr val="000000"/>
                </a:solidFill>
                <a:latin typeface="Arial"/>
              </a:rPr>
              <a:t>• spam/blocking databases</a:t>
            </a:r>
          </a:p>
          <a:p>
            <a:r>
              <a:rPr sz="1400" b="0" dirty="0">
                <a:solidFill>
                  <a:srgbClr val="000000"/>
                </a:solidFill>
                <a:latin typeface="Arial"/>
              </a:rPr>
              <a:t>• call-screen transcripts</a:t>
            </a:r>
          </a:p>
          <a:p>
            <a:r>
              <a:rPr sz="1400" b="0" dirty="0">
                <a:solidFill>
                  <a:srgbClr val="000000"/>
                </a:solidFill>
                <a:latin typeface="Arial"/>
              </a:rPr>
              <a:t>• RTT transcripts</a:t>
            </a:r>
          </a:p>
          <a:p>
            <a:r>
              <a:rPr sz="1400" b="0" dirty="0">
                <a:solidFill>
                  <a:srgbClr val="000000"/>
                </a:solidFill>
                <a:latin typeface="Arial"/>
              </a:rPr>
              <a:t>• voicemail references and transcriptions</a:t>
            </a:r>
          </a:p>
          <a:p>
            <a:endParaRPr sz="1400" b="0" dirty="0">
              <a:solidFill>
                <a:srgbClr val="000000"/>
              </a:solidFill>
              <a:latin typeface="Arial"/>
            </a:endParaRPr>
          </a:p>
          <a:p>
            <a:r>
              <a:rPr sz="1400" b="0" dirty="0">
                <a:solidFill>
                  <a:srgbClr val="000000"/>
                </a:solidFill>
                <a:latin typeface="Arial"/>
              </a:rPr>
              <a:t>Use these as corroborating artifacts, not replacements for the system call log.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02ED8B-0EE6-4BA9-88BB-7E9A16164462}"/>
              </a:ext>
            </a:extLst>
          </p:cNvPr>
          <p:cNvCxnSpPr/>
          <p:nvPr/>
        </p:nvCxnSpPr>
        <p:spPr>
          <a:xfrm flipH="1" flipV="1">
            <a:off x="3433011" y="2863516"/>
            <a:ext cx="2101515" cy="240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CB8B6F-9909-4AD6-BA9D-4C254EC4CD4B}"/>
              </a:ext>
            </a:extLst>
          </p:cNvPr>
          <p:cNvCxnSpPr>
            <a:cxnSpLocks/>
          </p:cNvCxnSpPr>
          <p:nvPr/>
        </p:nvCxnSpPr>
        <p:spPr>
          <a:xfrm flipH="1">
            <a:off x="3641559" y="3429000"/>
            <a:ext cx="1884946" cy="926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3160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48640" y="2207172"/>
            <a:ext cx="5394960" cy="199906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Core concepts</a:t>
            </a:r>
          </a:p>
          <a:p>
            <a:pPr algn="l"/>
            <a:r>
              <a:rPr sz="1400" b="0">
                <a:solidFill>
                  <a:srgbClr val="141414"/>
                </a:solidFill>
                <a:latin typeface="Arial"/>
              </a:rPr>
              <a:t>• System calllog.db is the authoritative call-history source.</a:t>
            </a:r>
            <a:br/>
            <a:r>
              <a:rPr sz="1400" b="0">
                <a:solidFill>
                  <a:srgbClr val="141414"/>
                </a:solidFill>
                <a:latin typeface="Arial"/>
              </a:rPr>
              <a:t>• Google Dialer databases enrich/corroborate call events.</a:t>
            </a:r>
            <a:br/>
            <a:r>
              <a:rPr sz="1400" b="0">
                <a:solidFill>
                  <a:srgbClr val="141414"/>
                </a:solidFill>
                <a:latin typeface="Arial"/>
              </a:rPr>
              <a:t>• App-private caches are schema- and version-dependent.</a:t>
            </a:r>
            <a:br/>
            <a:r>
              <a:rPr sz="1400" b="0">
                <a:solidFill>
                  <a:srgbClr val="141414"/>
                </a:solidFill>
                <a:latin typeface="Arial"/>
              </a:rPr>
              <a:t>• Distinguish observed database values from forensic interpretation.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2207172"/>
            <a:ext cx="5029200" cy="1999068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  <a:latin typeface="Arial"/>
              </a:rPr>
              <a:t>Investigation sequence</a:t>
            </a:r>
          </a:p>
          <a:p>
            <a:pPr algn="l"/>
            <a:r>
              <a:rPr sz="1400" b="0" dirty="0">
                <a:solidFill>
                  <a:srgbClr val="141414"/>
                </a:solidFill>
                <a:latin typeface="Arial"/>
              </a:rPr>
              <a:t>1. Start with </a:t>
            </a:r>
            <a:r>
              <a:rPr sz="1400" b="0" dirty="0" err="1">
                <a:solidFill>
                  <a:srgbClr val="141414"/>
                </a:solidFill>
                <a:latin typeface="Arial"/>
              </a:rPr>
              <a:t>calllog.db.calls</a:t>
            </a:r>
            <a:r>
              <a:rPr sz="1400" b="0" dirty="0">
                <a:solidFill>
                  <a:srgbClr val="141414"/>
                </a:solidFill>
                <a:latin typeface="Arial"/>
              </a:rPr>
              <a:t>.</a:t>
            </a:r>
            <a:br>
              <a:rPr dirty="0"/>
            </a:br>
            <a:r>
              <a:rPr sz="1400" b="0" dirty="0">
                <a:solidFill>
                  <a:srgbClr val="141414"/>
                </a:solidFill>
                <a:latin typeface="Arial"/>
              </a:rPr>
              <a:t>2. Correlate with </a:t>
            </a:r>
            <a:r>
              <a:rPr sz="1400" b="0" dirty="0" err="1">
                <a:solidFill>
                  <a:srgbClr val="141414"/>
                </a:solidFill>
                <a:latin typeface="Arial"/>
              </a:rPr>
              <a:t>annotated_call_log.db</a:t>
            </a:r>
            <a:r>
              <a:rPr sz="1400" b="0" dirty="0">
                <a:solidFill>
                  <a:srgbClr val="141414"/>
                </a:solidFill>
                <a:latin typeface="Arial"/>
              </a:rPr>
              <a:t>.</a:t>
            </a:r>
            <a:br>
              <a:rPr dirty="0"/>
            </a:br>
            <a:r>
              <a:rPr sz="1400" b="0" dirty="0">
                <a:solidFill>
                  <a:srgbClr val="141414"/>
                </a:solidFill>
                <a:latin typeface="Arial"/>
              </a:rPr>
              <a:t>3. Check phone account/component fields.</a:t>
            </a:r>
            <a:br>
              <a:rPr dirty="0"/>
            </a:br>
            <a:r>
              <a:rPr sz="1400" b="0" dirty="0">
                <a:solidFill>
                  <a:srgbClr val="141414"/>
                </a:solidFill>
                <a:latin typeface="Arial"/>
              </a:rPr>
              <a:t>4. Inspect voicemail, lookup, smart-dial, and call-screen artifacts.</a:t>
            </a:r>
            <a:br>
              <a:rPr dirty="0"/>
            </a:br>
            <a:r>
              <a:rPr sz="1400" b="0" dirty="0">
                <a:solidFill>
                  <a:srgbClr val="141414"/>
                </a:solidFill>
                <a:latin typeface="Arial"/>
              </a:rPr>
              <a:t>5. Report source and limitations.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5572" y="4572000"/>
            <a:ext cx="10332720" cy="82296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  <a:latin typeface="Arial"/>
              </a:rPr>
              <a:t>Forensic takeaway</a:t>
            </a:r>
          </a:p>
          <a:p>
            <a:pPr algn="l"/>
            <a:r>
              <a:rPr sz="1400" b="0" dirty="0">
                <a:solidFill>
                  <a:srgbClr val="141414"/>
                </a:solidFill>
                <a:latin typeface="Arial"/>
              </a:rPr>
              <a:t>Do not treat system call-log records and Google Dialer caches as interchangeable. Use app-private databases to enrich, corroborate, and explain the system call event.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E0D724-D05B-90E4-1953-818541D8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rgbClr val="000000"/>
                </a:solidFill>
                <a:latin typeface="Arial"/>
              </a:rPr>
              <a:t>Summary: Google </a:t>
            </a:r>
            <a:r>
              <a:rPr lang="en-GB" sz="3600" dirty="0" err="1">
                <a:solidFill>
                  <a:srgbClr val="000000"/>
                </a:solidFill>
                <a:latin typeface="Arial"/>
              </a:rPr>
              <a:t>Dialer</a:t>
            </a:r>
            <a:r>
              <a:rPr lang="en-GB" sz="3600" dirty="0">
                <a:solidFill>
                  <a:srgbClr val="000000"/>
                </a:solidFill>
                <a:latin typeface="Arial"/>
              </a:rPr>
              <a:t> forensic workflow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3101</TotalTime>
  <Words>3839</Words>
  <Application>Microsoft Office PowerPoint</Application>
  <PresentationFormat>Widescreen</PresentationFormat>
  <Paragraphs>438</Paragraphs>
  <Slides>52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Office Theme</vt:lpstr>
      <vt:lpstr>GMS Apps Investigations</vt:lpstr>
      <vt:lpstr>Phone Dialer App?</vt:lpstr>
      <vt:lpstr>PowerPoint Presentation</vt:lpstr>
      <vt:lpstr>What is Phone Dialer App?</vt:lpstr>
      <vt:lpstr>PowerPoint Presentation</vt:lpstr>
      <vt:lpstr>PowerPoint Presentation</vt:lpstr>
      <vt:lpstr>PowerPoint Presentation</vt:lpstr>
      <vt:lpstr>PowerPoint Presentation</vt:lpstr>
      <vt:lpstr>Three layers of Call-Log Architecture</vt:lpstr>
      <vt:lpstr>Google Dialer and Android Call-Log Architecture</vt:lpstr>
      <vt:lpstr>PowerPoint Presentation</vt:lpstr>
      <vt:lpstr>Sample Service Providers at System Service Layer </vt:lpstr>
      <vt:lpstr>PowerPoint Presentation</vt:lpstr>
      <vt:lpstr>Google Dialer Evidence Sources and Databases</vt:lpstr>
      <vt:lpstr>PowerPoint Presentation</vt:lpstr>
      <vt:lpstr>PowerPoint Presentation</vt:lpstr>
      <vt:lpstr>Phone Dialer Databases</vt:lpstr>
      <vt:lpstr>PowerPoint Presentation</vt:lpstr>
      <vt:lpstr>High-Value Google Dialer Artifacts</vt:lpstr>
      <vt:lpstr>High-Value Google Dialer Artifacts (2)</vt:lpstr>
      <vt:lpstr>High-Value Google Dialer Artifacts (3)</vt:lpstr>
      <vt:lpstr>PowerPoint Presentation</vt:lpstr>
      <vt:lpstr>annotated_call_log.db</vt:lpstr>
      <vt:lpstr>PowerPoint Presentation</vt:lpstr>
      <vt:lpstr>PowerPoint Presentation</vt:lpstr>
      <vt:lpstr>PowerPoint Presentation</vt:lpstr>
      <vt:lpstr>AnnotatedCallLog table content</vt:lpstr>
      <vt:lpstr>PowerPoint Presentation</vt:lpstr>
      <vt:lpstr>PowerPoint Presentation</vt:lpstr>
      <vt:lpstr>Sample Questions</vt:lpstr>
      <vt:lpstr>PowerPoint Presentation</vt:lpstr>
      <vt:lpstr>System call log vs. Google Dialer annotated cache</vt:lpstr>
      <vt:lpstr>Deleted call-log recovery: forensic caveats</vt:lpstr>
      <vt:lpstr>PowerPoint Presentation</vt:lpstr>
      <vt:lpstr>dialer.db</vt:lpstr>
      <vt:lpstr>smart_dial_table</vt:lpstr>
      <vt:lpstr>PowerPoint Presentation</vt:lpstr>
      <vt:lpstr>suggest_contact_database</vt:lpstr>
      <vt:lpstr>Understand user’s interactions with contacts, not just dialing</vt:lpstr>
      <vt:lpstr>PowerPoint Presentation</vt:lpstr>
      <vt:lpstr>score in ContactScore table</vt:lpstr>
      <vt:lpstr>phone_lookup_history.db</vt:lpstr>
      <vt:lpstr>What is the phone lookup function?</vt:lpstr>
      <vt:lpstr>PowerPoint Presentation</vt:lpstr>
      <vt:lpstr>PhoneLookupHistory table</vt:lpstr>
      <vt:lpstr>PowerPoint Presentation</vt:lpstr>
      <vt:lpstr>Access the BLOB</vt:lpstr>
      <vt:lpstr>voicemail.db</vt:lpstr>
      <vt:lpstr>What is the greeting message?</vt:lpstr>
      <vt:lpstr>PowerPoint Presentation</vt:lpstr>
      <vt:lpstr>Other valuable information in databases</vt:lpstr>
      <vt:lpstr>Summary: Google Dialer forensic 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Visual Studio Code</dc:title>
  <dc:creator>Weifeng Xu</dc:creator>
  <cp:lastModifiedBy>Weifeng Xu</cp:lastModifiedBy>
  <cp:revision>451</cp:revision>
  <dcterms:created xsi:type="dcterms:W3CDTF">2021-01-18T02:02:41Z</dcterms:created>
  <dcterms:modified xsi:type="dcterms:W3CDTF">2026-09-30T19:45:34Z</dcterms:modified>
</cp:coreProperties>
</file>