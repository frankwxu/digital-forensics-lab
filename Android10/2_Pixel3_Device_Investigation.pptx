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87" r:id="rId2"/>
    <p:sldId id="333" r:id="rId3"/>
    <p:sldId id="341" r:id="rId4"/>
    <p:sldId id="334" r:id="rId5"/>
    <p:sldId id="293" r:id="rId6"/>
    <p:sldId id="342" r:id="rId7"/>
    <p:sldId id="294" r:id="rId8"/>
    <p:sldId id="297" r:id="rId9"/>
    <p:sldId id="298" r:id="rId10"/>
    <p:sldId id="299" r:id="rId11"/>
    <p:sldId id="343" r:id="rId12"/>
    <p:sldId id="288" r:id="rId13"/>
    <p:sldId id="300" r:id="rId14"/>
    <p:sldId id="301" r:id="rId15"/>
    <p:sldId id="303" r:id="rId16"/>
    <p:sldId id="335" r:id="rId17"/>
    <p:sldId id="338" r:id="rId18"/>
    <p:sldId id="329" r:id="rId19"/>
    <p:sldId id="330" r:id="rId20"/>
    <p:sldId id="331" r:id="rId21"/>
    <p:sldId id="306" r:id="rId22"/>
    <p:sldId id="344" r:id="rId23"/>
    <p:sldId id="345" r:id="rId24"/>
    <p:sldId id="312" r:id="rId25"/>
    <p:sldId id="313" r:id="rId26"/>
    <p:sldId id="302" r:id="rId27"/>
    <p:sldId id="308" r:id="rId28"/>
    <p:sldId id="310" r:id="rId29"/>
    <p:sldId id="311" r:id="rId30"/>
    <p:sldId id="328" r:id="rId31"/>
    <p:sldId id="309" r:id="rId32"/>
    <p:sldId id="320" r:id="rId33"/>
    <p:sldId id="321" r:id="rId34"/>
    <p:sldId id="322" r:id="rId35"/>
    <p:sldId id="307" r:id="rId36"/>
    <p:sldId id="336" r:id="rId37"/>
    <p:sldId id="339" r:id="rId38"/>
    <p:sldId id="340" r:id="rId39"/>
    <p:sldId id="346" r:id="rId40"/>
    <p:sldId id="305" r:id="rId41"/>
    <p:sldId id="337" r:id="rId42"/>
    <p:sldId id="323" r:id="rId43"/>
    <p:sldId id="348" r:id="rId44"/>
    <p:sldId id="318" r:id="rId45"/>
    <p:sldId id="347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EAE"/>
    <a:srgbClr val="AB51D6"/>
    <a:srgbClr val="FF9A00"/>
    <a:srgbClr val="D81E00"/>
    <a:srgbClr val="00AAD6"/>
    <a:srgbClr val="318EFD"/>
    <a:srgbClr val="007DB5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DEDB3F-2FC2-41EB-AC31-C1F468BC9EDC}" v="14" dt="2026-09-10T03:38:54.93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26" autoAdjust="0"/>
    <p:restoredTop sz="89807" autoAdjust="0"/>
  </p:normalViewPr>
  <p:slideViewPr>
    <p:cSldViewPr snapToGrid="0">
      <p:cViewPr varScale="1">
        <p:scale>
          <a:sx n="102" d="100"/>
          <a:sy n="102" d="100"/>
        </p:scale>
        <p:origin x="115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99F8FFF-BA20-43EA-924B-4DF5D2A785F3}"/>
    <pc:docChg chg="undo redo custSel addSld delSld modSld sldOrd">
      <pc:chgData name="Weifeng Xu" userId="e7aed605-a3dd-4d5a-a692-a87037af107b" providerId="ADAL" clId="{F99F8FFF-BA20-43EA-924B-4DF5D2A785F3}" dt="2026-09-10T03:38:54.936" v="447"/>
      <pc:docMkLst>
        <pc:docMk/>
      </pc:docMkLst>
      <pc:sldChg chg="modSp mod">
        <pc:chgData name="Weifeng Xu" userId="e7aed605-a3dd-4d5a-a692-a87037af107b" providerId="ADAL" clId="{F99F8FFF-BA20-43EA-924B-4DF5D2A785F3}" dt="2026-09-10T01:14:45.167" v="154" actId="6549"/>
        <pc:sldMkLst>
          <pc:docMk/>
          <pc:sldMk cId="2783025053" sldId="287"/>
        </pc:sldMkLst>
        <pc:spChg chg="mod">
          <ac:chgData name="Weifeng Xu" userId="e7aed605-a3dd-4d5a-a692-a87037af107b" providerId="ADAL" clId="{F99F8FFF-BA20-43EA-924B-4DF5D2A785F3}" dt="2026-09-10T01:14:45.167" v="154" actId="6549"/>
          <ac:spMkLst>
            <pc:docMk/>
            <pc:sldMk cId="2783025053" sldId="287"/>
            <ac:spMk id="4" creationId="{9B649C4F-48C8-4CC6-BAE6-40898A5F80F4}"/>
          </ac:spMkLst>
        </pc:spChg>
      </pc:sldChg>
      <pc:sldChg chg="ord">
        <pc:chgData name="Weifeng Xu" userId="e7aed605-a3dd-4d5a-a692-a87037af107b" providerId="ADAL" clId="{F99F8FFF-BA20-43EA-924B-4DF5D2A785F3}" dt="2026-09-10T03:14:14.771" v="329"/>
        <pc:sldMkLst>
          <pc:docMk/>
          <pc:sldMk cId="3237227748" sldId="307"/>
        </pc:sldMkLst>
      </pc:sldChg>
      <pc:sldChg chg="modSp mod ord">
        <pc:chgData name="Weifeng Xu" userId="e7aed605-a3dd-4d5a-a692-a87037af107b" providerId="ADAL" clId="{F99F8FFF-BA20-43EA-924B-4DF5D2A785F3}" dt="2026-09-10T03:30:19.550" v="400"/>
        <pc:sldMkLst>
          <pc:docMk/>
          <pc:sldMk cId="3337387503" sldId="318"/>
        </pc:sldMkLst>
        <pc:spChg chg="mod">
          <ac:chgData name="Weifeng Xu" userId="e7aed605-a3dd-4d5a-a692-a87037af107b" providerId="ADAL" clId="{F99F8FFF-BA20-43EA-924B-4DF5D2A785F3}" dt="2026-09-10T03:08:19.651" v="299" actId="14100"/>
          <ac:spMkLst>
            <pc:docMk/>
            <pc:sldMk cId="3337387503" sldId="318"/>
            <ac:spMk id="2" creationId="{86863385-441E-4CDB-A324-D740F6B05E36}"/>
          </ac:spMkLst>
        </pc:spChg>
        <pc:spChg chg="mod">
          <ac:chgData name="Weifeng Xu" userId="e7aed605-a3dd-4d5a-a692-a87037af107b" providerId="ADAL" clId="{F99F8FFF-BA20-43EA-924B-4DF5D2A785F3}" dt="2026-09-10T03:08:55.091" v="313" actId="14100"/>
          <ac:spMkLst>
            <pc:docMk/>
            <pc:sldMk cId="3337387503" sldId="318"/>
            <ac:spMk id="3" creationId="{DCB33D10-342B-4C24-A670-C8D5256EAC6A}"/>
          </ac:spMkLst>
        </pc:spChg>
        <pc:spChg chg="mod">
          <ac:chgData name="Weifeng Xu" userId="e7aed605-a3dd-4d5a-a692-a87037af107b" providerId="ADAL" clId="{F99F8FFF-BA20-43EA-924B-4DF5D2A785F3}" dt="2026-09-10T03:05:54.931" v="285" actId="207"/>
          <ac:spMkLst>
            <pc:docMk/>
            <pc:sldMk cId="3337387503" sldId="318"/>
            <ac:spMk id="7" creationId="{ECFEF11C-29AD-4336-9C16-F6BB60DC0A73}"/>
          </ac:spMkLst>
        </pc:spChg>
      </pc:sldChg>
      <pc:sldChg chg="modSp del mod">
        <pc:chgData name="Weifeng Xu" userId="e7aed605-a3dd-4d5a-a692-a87037af107b" providerId="ADAL" clId="{F99F8FFF-BA20-43EA-924B-4DF5D2A785F3}" dt="2026-09-10T03:17:15.123" v="330" actId="47"/>
        <pc:sldMkLst>
          <pc:docMk/>
          <pc:sldMk cId="2446382234" sldId="319"/>
        </pc:sldMkLst>
        <pc:spChg chg="mod">
          <ac:chgData name="Weifeng Xu" userId="e7aed605-a3dd-4d5a-a692-a87037af107b" providerId="ADAL" clId="{F99F8FFF-BA20-43EA-924B-4DF5D2A785F3}" dt="2026-09-10T03:02:13.283" v="276" actId="6549"/>
          <ac:spMkLst>
            <pc:docMk/>
            <pc:sldMk cId="2446382234" sldId="319"/>
            <ac:spMk id="5" creationId="{30F094FB-F93E-4D74-8CDE-BD9580E4F361}"/>
          </ac:spMkLst>
        </pc:spChg>
      </pc:sldChg>
      <pc:sldChg chg="modSp mod">
        <pc:chgData name="Weifeng Xu" userId="e7aed605-a3dd-4d5a-a692-a87037af107b" providerId="ADAL" clId="{F99F8FFF-BA20-43EA-924B-4DF5D2A785F3}" dt="2026-09-10T03:36:01.133" v="440" actId="20577"/>
        <pc:sldMkLst>
          <pc:docMk/>
          <pc:sldMk cId="3866431432" sldId="333"/>
        </pc:sldMkLst>
        <pc:spChg chg="mod">
          <ac:chgData name="Weifeng Xu" userId="e7aed605-a3dd-4d5a-a692-a87037af107b" providerId="ADAL" clId="{F99F8FFF-BA20-43EA-924B-4DF5D2A785F3}" dt="2026-09-10T03:36:01.133" v="440" actId="20577"/>
          <ac:spMkLst>
            <pc:docMk/>
            <pc:sldMk cId="3866431432" sldId="333"/>
            <ac:spMk id="4" creationId="{A7BFE6BE-353E-4AD3-B14E-6E3511F50FB4}"/>
          </ac:spMkLst>
        </pc:spChg>
      </pc:sldChg>
      <pc:sldChg chg="modSp mod">
        <pc:chgData name="Weifeng Xu" userId="e7aed605-a3dd-4d5a-a692-a87037af107b" providerId="ADAL" clId="{F99F8FFF-BA20-43EA-924B-4DF5D2A785F3}" dt="2026-09-10T02:51:48.885" v="241" actId="20577"/>
        <pc:sldMkLst>
          <pc:docMk/>
          <pc:sldMk cId="1004862962" sldId="338"/>
        </pc:sldMkLst>
        <pc:graphicFrameChg chg="modGraphic">
          <ac:chgData name="Weifeng Xu" userId="e7aed605-a3dd-4d5a-a692-a87037af107b" providerId="ADAL" clId="{F99F8FFF-BA20-43EA-924B-4DF5D2A785F3}" dt="2026-09-10T02:51:48.885" v="241" actId="20577"/>
          <ac:graphicFrameMkLst>
            <pc:docMk/>
            <pc:sldMk cId="1004862962" sldId="338"/>
            <ac:graphicFrameMk id="6" creationId="{58D48E90-A3CF-467C-B13E-F69D849C22F5}"/>
          </ac:graphicFrameMkLst>
        </pc:graphicFrameChg>
      </pc:sldChg>
      <pc:sldChg chg="modSp mod">
        <pc:chgData name="Weifeng Xu" userId="e7aed605-a3dd-4d5a-a692-a87037af107b" providerId="ADAL" clId="{F99F8FFF-BA20-43EA-924B-4DF5D2A785F3}" dt="2026-09-10T03:38:54.936" v="447"/>
        <pc:sldMkLst>
          <pc:docMk/>
          <pc:sldMk cId="2092254946" sldId="341"/>
        </pc:sldMkLst>
        <pc:spChg chg="mod">
          <ac:chgData name="Weifeng Xu" userId="e7aed605-a3dd-4d5a-a692-a87037af107b" providerId="ADAL" clId="{F99F8FFF-BA20-43EA-924B-4DF5D2A785F3}" dt="2026-09-10T01:18:21.041" v="205" actId="20577"/>
          <ac:spMkLst>
            <pc:docMk/>
            <pc:sldMk cId="2092254946" sldId="341"/>
            <ac:spMk id="4" creationId="{38772083-1F8A-4C69-8797-37893A5BBE99}"/>
          </ac:spMkLst>
        </pc:spChg>
        <pc:graphicFrameChg chg="mod modGraphic">
          <ac:chgData name="Weifeng Xu" userId="e7aed605-a3dd-4d5a-a692-a87037af107b" providerId="ADAL" clId="{F99F8FFF-BA20-43EA-924B-4DF5D2A785F3}" dt="2026-09-10T03:38:54.936" v="447"/>
          <ac:graphicFrameMkLst>
            <pc:docMk/>
            <pc:sldMk cId="2092254946" sldId="341"/>
            <ac:graphicFrameMk id="5" creationId="{2270B41F-1C59-4C7E-A402-D6E7C492DC78}"/>
          </ac:graphicFrameMkLst>
        </pc:graphicFrameChg>
      </pc:sldChg>
      <pc:sldChg chg="addSp delSp modSp mod modClrScheme delDesignElem chgLayout">
        <pc:chgData name="Weifeng Xu" userId="e7aed605-a3dd-4d5a-a692-a87037af107b" providerId="ADAL" clId="{F99F8FFF-BA20-43EA-924B-4DF5D2A785F3}" dt="2026-09-10T01:29:36.673" v="238" actId="14100"/>
        <pc:sldMkLst>
          <pc:docMk/>
          <pc:sldMk cId="1212920146" sldId="342"/>
        </pc:sldMkLst>
        <pc:spChg chg="mod ord">
          <ac:chgData name="Weifeng Xu" userId="e7aed605-a3dd-4d5a-a692-a87037af107b" providerId="ADAL" clId="{F99F8FFF-BA20-43EA-924B-4DF5D2A785F3}" dt="2026-09-10T01:25:36.091" v="218" actId="20577"/>
          <ac:spMkLst>
            <pc:docMk/>
            <pc:sldMk cId="1212920146" sldId="342"/>
            <ac:spMk id="2" creationId="{F612764D-5D39-4D4B-90CA-B752986C71BA}"/>
          </ac:spMkLst>
        </pc:spChg>
        <pc:spChg chg="add del mod ord">
          <ac:chgData name="Weifeng Xu" userId="e7aed605-a3dd-4d5a-a692-a87037af107b" providerId="ADAL" clId="{F99F8FFF-BA20-43EA-924B-4DF5D2A785F3}" dt="2026-09-10T01:24:56.741" v="209" actId="700"/>
          <ac:spMkLst>
            <pc:docMk/>
            <pc:sldMk cId="1212920146" sldId="342"/>
            <ac:spMk id="3" creationId="{807B89B9-620B-44DA-1A2B-51D4B6A5C228}"/>
          </ac:spMkLst>
        </pc:spChg>
        <pc:spChg chg="add del">
          <ac:chgData name="Weifeng Xu" userId="e7aed605-a3dd-4d5a-a692-a87037af107b" providerId="ADAL" clId="{F99F8FFF-BA20-43EA-924B-4DF5D2A785F3}" dt="2026-09-10T01:24:59.785" v="210" actId="700"/>
          <ac:spMkLst>
            <pc:docMk/>
            <pc:sldMk cId="1212920146" sldId="342"/>
            <ac:spMk id="11" creationId="{42285737-90EE-47DC-AC80-8AE156B11969}"/>
          </ac:spMkLst>
        </pc:spChg>
        <pc:spChg chg="del mod">
          <ac:chgData name="Weifeng Xu" userId="e7aed605-a3dd-4d5a-a692-a87037af107b" providerId="ADAL" clId="{F99F8FFF-BA20-43EA-924B-4DF5D2A785F3}" dt="2026-09-10T01:26:12.044" v="226" actId="478"/>
          <ac:spMkLst>
            <pc:docMk/>
            <pc:sldMk cId="1212920146" sldId="342"/>
            <ac:spMk id="20" creationId="{1974F4DD-CEFA-4407-B9FB-910858255C1C}"/>
          </ac:spMkLst>
        </pc:spChg>
        <pc:grpChg chg="add del">
          <ac:chgData name="Weifeng Xu" userId="e7aed605-a3dd-4d5a-a692-a87037af107b" providerId="ADAL" clId="{F99F8FFF-BA20-43EA-924B-4DF5D2A785F3}" dt="2026-09-10T01:24:59.785" v="210" actId="700"/>
          <ac:grpSpMkLst>
            <pc:docMk/>
            <pc:sldMk cId="1212920146" sldId="342"/>
            <ac:grpSpMk id="13" creationId="{B57BDC17-F1B3-455F-BBF1-680AA1F25C06}"/>
          </ac:grpSpMkLst>
        </pc:grpChg>
        <pc:picChg chg="mod">
          <ac:chgData name="Weifeng Xu" userId="e7aed605-a3dd-4d5a-a692-a87037af107b" providerId="ADAL" clId="{F99F8FFF-BA20-43EA-924B-4DF5D2A785F3}" dt="2026-09-10T01:29:36.673" v="238" actId="14100"/>
          <ac:picMkLst>
            <pc:docMk/>
            <pc:sldMk cId="1212920146" sldId="342"/>
            <ac:picMk id="4" creationId="{61CD536E-341E-45DA-9DAE-CF5E8D3E0A07}"/>
          </ac:picMkLst>
        </pc:picChg>
        <pc:picChg chg="mod">
          <ac:chgData name="Weifeng Xu" userId="e7aed605-a3dd-4d5a-a692-a87037af107b" providerId="ADAL" clId="{F99F8FFF-BA20-43EA-924B-4DF5D2A785F3}" dt="2026-09-10T01:29:34.537" v="237" actId="1076"/>
          <ac:picMkLst>
            <pc:docMk/>
            <pc:sldMk cId="1212920146" sldId="342"/>
            <ac:picMk id="6" creationId="{15E83763-BD52-4597-A1DA-B44CEFD7F413}"/>
          </ac:picMkLst>
        </pc:picChg>
      </pc:sldChg>
      <pc:sldChg chg="modSp new mod ord">
        <pc:chgData name="Weifeng Xu" userId="e7aed605-a3dd-4d5a-a692-a87037af107b" providerId="ADAL" clId="{F99F8FFF-BA20-43EA-924B-4DF5D2A785F3}" dt="2026-09-10T03:30:19.550" v="400"/>
        <pc:sldMkLst>
          <pc:docMk/>
          <pc:sldMk cId="1650449520" sldId="347"/>
        </pc:sldMkLst>
        <pc:spChg chg="mod">
          <ac:chgData name="Weifeng Xu" userId="e7aed605-a3dd-4d5a-a692-a87037af107b" providerId="ADAL" clId="{F99F8FFF-BA20-43EA-924B-4DF5D2A785F3}" dt="2026-09-10T03:09:22.673" v="315"/>
          <ac:spMkLst>
            <pc:docMk/>
            <pc:sldMk cId="1650449520" sldId="347"/>
            <ac:spMk id="2" creationId="{27730052-6B92-EC20-5B76-339D45876EA9}"/>
          </ac:spMkLst>
        </pc:spChg>
        <pc:spChg chg="mod">
          <ac:chgData name="Weifeng Xu" userId="e7aed605-a3dd-4d5a-a692-a87037af107b" providerId="ADAL" clId="{F99F8FFF-BA20-43EA-924B-4DF5D2A785F3}" dt="2026-09-10T03:27:03.939" v="398" actId="14"/>
          <ac:spMkLst>
            <pc:docMk/>
            <pc:sldMk cId="1650449520" sldId="347"/>
            <ac:spMk id="3" creationId="{A070D867-26D4-FE3E-A4F7-31719E878826}"/>
          </ac:spMkLst>
        </pc:spChg>
      </pc:sldChg>
      <pc:sldChg chg="addSp modSp new mod modClrScheme chgLayout">
        <pc:chgData name="Weifeng Xu" userId="e7aed605-a3dd-4d5a-a692-a87037af107b" providerId="ADAL" clId="{F99F8FFF-BA20-43EA-924B-4DF5D2A785F3}" dt="2026-09-10T03:34:20.820" v="415" actId="20577"/>
        <pc:sldMkLst>
          <pc:docMk/>
          <pc:sldMk cId="4067287333" sldId="348"/>
        </pc:sldMkLst>
        <pc:spChg chg="add mod">
          <ac:chgData name="Weifeng Xu" userId="e7aed605-a3dd-4d5a-a692-a87037af107b" providerId="ADAL" clId="{F99F8FFF-BA20-43EA-924B-4DF5D2A785F3}" dt="2026-09-10T03:34:20.820" v="415" actId="20577"/>
          <ac:spMkLst>
            <pc:docMk/>
            <pc:sldMk cId="4067287333" sldId="348"/>
            <ac:spMk id="2" creationId="{67E54316-0396-7652-AFF2-5244C76244ED}"/>
          </ac:spMkLst>
        </pc:spChg>
        <pc:spChg chg="add mod">
          <ac:chgData name="Weifeng Xu" userId="e7aed605-a3dd-4d5a-a692-a87037af107b" providerId="ADAL" clId="{F99F8FFF-BA20-43EA-924B-4DF5D2A785F3}" dt="2026-09-10T03:31:08.569" v="402" actId="700"/>
          <ac:spMkLst>
            <pc:docMk/>
            <pc:sldMk cId="4067287333" sldId="348"/>
            <ac:spMk id="3" creationId="{80C449BD-FD0E-441D-0C5D-6521FCB7BA6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cat 'Pixel 3/product/</a:t>
            </a:r>
            <a:r>
              <a:rPr lang="en-GB" dirty="0" err="1"/>
              <a:t>build.prop</a:t>
            </a:r>
            <a:r>
              <a:rPr lang="en-GB" dirty="0"/>
              <a:t>' </a:t>
            </a:r>
            <a:endParaRPr lang="en-US" dirty="0"/>
          </a:p>
          <a:p>
            <a:endParaRPr lang="en-US" dirty="0"/>
          </a:p>
          <a:p>
            <a:r>
              <a:rPr lang="en-US" dirty="0"/>
              <a:t>https://forum.xda-developers.com/t/explanation-of-build-prop-values.3069341/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00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https://source.android.com/security/bulletin/2020-01-01#2020-01-01-details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01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 'Pixel 3/data/</a:t>
            </a:r>
            <a:r>
              <a:rPr lang="en-US" dirty="0" err="1"/>
              <a:t>user_de</a:t>
            </a:r>
            <a:r>
              <a:rPr lang="en-US" dirty="0"/>
              <a:t>/0/</a:t>
            </a:r>
            <a:r>
              <a:rPr lang="en-US" dirty="0" err="1"/>
              <a:t>com.android.providers.telephony</a:t>
            </a:r>
            <a:r>
              <a:rPr lang="en-US" dirty="0"/>
              <a:t>/’</a:t>
            </a:r>
          </a:p>
          <a:p>
            <a:endParaRPr lang="en-US" dirty="0"/>
          </a:p>
          <a:p>
            <a:r>
              <a:rPr lang="en-US" dirty="0"/>
              <a:t>https://android.googlesource.com/platform/packages/providers/TelephonyProvider/+/refs/heads/master/src/com/android/providers/telephony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20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sqlitebrowser</a:t>
            </a:r>
            <a:r>
              <a:rPr lang="en-US" dirty="0"/>
              <a:t> 'Pixel 3/data/</a:t>
            </a:r>
            <a:r>
              <a:rPr lang="en-US" dirty="0" err="1"/>
              <a:t>user_de</a:t>
            </a:r>
            <a:r>
              <a:rPr lang="en-US" dirty="0"/>
              <a:t>/0/</a:t>
            </a:r>
            <a:r>
              <a:rPr lang="en-US" dirty="0" err="1"/>
              <a:t>com.android.providers.telephony</a:t>
            </a:r>
            <a:r>
              <a:rPr lang="en-US" dirty="0"/>
              <a:t>/databases/</a:t>
            </a:r>
            <a:r>
              <a:rPr lang="en-US" dirty="0" err="1"/>
              <a:t>telephony.db</a:t>
            </a:r>
            <a:r>
              <a:rPr lang="en-US" dirty="0"/>
              <a:t>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6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8901260971148676693  6513381146</a:t>
            </a:r>
          </a:p>
          <a:p>
            <a:r>
              <a:rPr lang="en-US" dirty="0"/>
              <a:t>89011203004056803842  +19195794674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8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 'Pixel 3/data/</a:t>
            </a:r>
            <a:r>
              <a:rPr lang="en-US" dirty="0" err="1"/>
              <a:t>user_de</a:t>
            </a:r>
            <a:r>
              <a:rPr lang="en-US" dirty="0"/>
              <a:t>/0/</a:t>
            </a:r>
            <a:r>
              <a:rPr lang="en-US" dirty="0" err="1"/>
              <a:t>com.android.providers.blockednumber</a:t>
            </a:r>
            <a:r>
              <a:rPr lang="en-US" dirty="0"/>
              <a:t>/databases/’</a:t>
            </a:r>
          </a:p>
          <a:p>
            <a:r>
              <a:rPr lang="en-US" dirty="0" err="1"/>
              <a:t>sqlitebrowser</a:t>
            </a:r>
            <a:r>
              <a:rPr lang="en-US" dirty="0"/>
              <a:t> 'Pixel 3/data/</a:t>
            </a:r>
            <a:r>
              <a:rPr lang="en-US" dirty="0" err="1"/>
              <a:t>user_de</a:t>
            </a:r>
            <a:r>
              <a:rPr lang="en-US" dirty="0"/>
              <a:t>/0/</a:t>
            </a:r>
            <a:r>
              <a:rPr lang="en-US" dirty="0" err="1"/>
              <a:t>com.android.providers.blockednumber</a:t>
            </a:r>
            <a:r>
              <a:rPr lang="en-US" dirty="0"/>
              <a:t>/databases/</a:t>
            </a:r>
            <a:r>
              <a:rPr lang="en-US" dirty="0" err="1"/>
              <a:t>blockednumbers.db</a:t>
            </a:r>
            <a:r>
              <a:rPr lang="en-US" dirty="0"/>
              <a:t>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1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tree 'Pixel 3/data/user_de/0/com.android.phone/'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10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 'Pixel 3/data/</a:t>
            </a:r>
            <a:r>
              <a:rPr lang="en-US" dirty="0" err="1"/>
              <a:t>user_de</a:t>
            </a:r>
            <a:r>
              <a:rPr lang="en-US" dirty="0"/>
              <a:t>/0/</a:t>
            </a:r>
            <a:r>
              <a:rPr lang="en-US" dirty="0" err="1"/>
              <a:t>com.android.phone</a:t>
            </a:r>
            <a:r>
              <a:rPr lang="en-US" dirty="0"/>
              <a:t>/files/carrierconfig-com.google.android.carrier-89011203004056803842-10015.xml’</a:t>
            </a:r>
          </a:p>
          <a:p>
            <a:r>
              <a:rPr lang="en-US" dirty="0"/>
              <a:t>cat 'Pixel 3/data/</a:t>
            </a:r>
            <a:r>
              <a:rPr lang="en-US" dirty="0" err="1"/>
              <a:t>user_de</a:t>
            </a:r>
            <a:r>
              <a:rPr lang="en-US" dirty="0"/>
              <a:t>/0/</a:t>
            </a:r>
            <a:r>
              <a:rPr lang="en-US" dirty="0" err="1"/>
              <a:t>com.android.phone</a:t>
            </a:r>
            <a:r>
              <a:rPr lang="en-US" dirty="0"/>
              <a:t>/files/carrierconfig-com.google.android.carrier-8901260971148676693-10014.xml'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19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–</a:t>
            </a:r>
            <a:r>
              <a:rPr lang="en-US" dirty="0" err="1"/>
              <a:t>ri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55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 'Pixel 3/data/system/users/userlist.xml’</a:t>
            </a:r>
          </a:p>
          <a:p>
            <a:endParaRPr lang="en-US" dirty="0"/>
          </a:p>
          <a:p>
            <a:r>
              <a:rPr lang="en-US" dirty="0"/>
              <a:t>&lt;?xml version='1.0' encoding='utf-8' standalone='yes' ?&gt;</a:t>
            </a:r>
          </a:p>
          <a:p>
            <a:r>
              <a:rPr lang="en-US" dirty="0"/>
              <a:t>&lt;users </a:t>
            </a:r>
            <a:r>
              <a:rPr lang="en-US" dirty="0" err="1"/>
              <a:t>nextSerialNumber</a:t>
            </a:r>
            <a:r>
              <a:rPr lang="en-US" dirty="0"/>
              <a:t>="12" version="7"&gt;</a:t>
            </a:r>
          </a:p>
          <a:p>
            <a:r>
              <a:rPr lang="en-US" dirty="0"/>
              <a:t>    &lt;</a:t>
            </a:r>
            <a:r>
              <a:rPr lang="en-US" dirty="0" err="1"/>
              <a:t>guestRestrictions</a:t>
            </a:r>
            <a:r>
              <a:rPr lang="en-US" dirty="0"/>
              <a:t>&gt;</a:t>
            </a:r>
          </a:p>
          <a:p>
            <a:r>
              <a:rPr lang="en-US" dirty="0"/>
              <a:t>        &lt;restrictions </a:t>
            </a:r>
            <a:r>
              <a:rPr lang="en-US" dirty="0" err="1"/>
              <a:t>no_sms</a:t>
            </a:r>
            <a:r>
              <a:rPr lang="en-US" dirty="0"/>
              <a:t>="true" </a:t>
            </a:r>
            <a:r>
              <a:rPr lang="en-US" dirty="0" err="1"/>
              <a:t>no_install_unknown_sources</a:t>
            </a:r>
            <a:r>
              <a:rPr lang="en-US" dirty="0"/>
              <a:t>="true" </a:t>
            </a:r>
            <a:r>
              <a:rPr lang="en-US" dirty="0" err="1"/>
              <a:t>no_config_wifi</a:t>
            </a:r>
            <a:r>
              <a:rPr lang="en-US" dirty="0"/>
              <a:t>="true" </a:t>
            </a:r>
            <a:r>
              <a:rPr lang="en-US" dirty="0" err="1"/>
              <a:t>no_outgoing_calls</a:t>
            </a:r>
            <a:r>
              <a:rPr lang="en-US" dirty="0"/>
              <a:t>="true" /&gt;</a:t>
            </a:r>
          </a:p>
          <a:p>
            <a:r>
              <a:rPr lang="en-US" dirty="0"/>
              <a:t>    &lt;/</a:t>
            </a:r>
            <a:r>
              <a:rPr lang="en-US" dirty="0" err="1"/>
              <a:t>guestRestrictions</a:t>
            </a:r>
            <a:r>
              <a:rPr lang="en-US" dirty="0"/>
              <a:t>&gt;</a:t>
            </a:r>
          </a:p>
          <a:p>
            <a:r>
              <a:rPr lang="en-US" dirty="0"/>
              <a:t>    &lt;</a:t>
            </a:r>
            <a:r>
              <a:rPr lang="en-US" dirty="0" err="1"/>
              <a:t>deviceOwnerUserId</a:t>
            </a:r>
            <a:r>
              <a:rPr lang="en-US" dirty="0"/>
              <a:t> id="-10000" /&gt;</a:t>
            </a:r>
          </a:p>
          <a:p>
            <a:r>
              <a:rPr lang="en-US" dirty="0"/>
              <a:t>    &lt;user id="0" /&gt;</a:t>
            </a:r>
          </a:p>
          <a:p>
            <a:r>
              <a:rPr lang="en-US" dirty="0"/>
              <a:t>    &lt;user id="11" /&gt;</a:t>
            </a:r>
          </a:p>
          <a:p>
            <a:r>
              <a:rPr lang="en-US" dirty="0"/>
              <a:t>&lt;/users&gt;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03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cat 'Pixel 3/data/system/users/0.xml’</a:t>
            </a:r>
          </a:p>
          <a:p>
            <a:r>
              <a:rPr lang="nb-NO" dirty="0"/>
              <a:t>cat 'Pixel 3/data/system/users/11.xml’</a:t>
            </a:r>
          </a:p>
          <a:p>
            <a:endParaRPr lang="nb-NO" dirty="0"/>
          </a:p>
          <a:p>
            <a:r>
              <a:rPr lang="nb-NO" dirty="0"/>
              <a:t>&lt;?xml version='1.0' encoding='utf-8' standalone='yes' ?&gt;</a:t>
            </a:r>
          </a:p>
          <a:p>
            <a:r>
              <a:rPr lang="nb-NO" dirty="0"/>
              <a:t>&lt;user id="0" serialNumber="0" flags="19" created="0" lastLoggedIn="1581695517124" lastLoggedInFingerprint="google/blueline/blueline:10/QQ1A.200105.003/6079943:user/release-keys" icon="/data/system/users/0/photo.png" profileBadge="0"&gt;</a:t>
            </a:r>
          </a:p>
          <a:p>
            <a:r>
              <a:rPr lang="nb-NO" dirty="0"/>
              <a:t>    &lt;name&gt;This Is&lt;/name&gt;</a:t>
            </a:r>
          </a:p>
          <a:p>
            <a:r>
              <a:rPr lang="nb-NO" dirty="0"/>
              <a:t>    &lt;restrictions /&gt;</a:t>
            </a:r>
          </a:p>
          <a:p>
            <a:r>
              <a:rPr lang="nb-NO" dirty="0"/>
              <a:t>&lt;/user&gt;</a:t>
            </a:r>
          </a:p>
          <a:p>
            <a:endParaRPr lang="nb-NO" dirty="0"/>
          </a:p>
          <a:p>
            <a:endParaRPr lang="nb-NO" dirty="0"/>
          </a:p>
          <a:p>
            <a:r>
              <a:rPr lang="nb-NO" dirty="0"/>
              <a:t>&lt;?xml version='1.0' encoding='utf-8' standalone='yes' ?&gt;</a:t>
            </a:r>
          </a:p>
          <a:p>
            <a:r>
              <a:rPr lang="nb-NO" dirty="0"/>
              <a:t>&lt;user id="11" serialNumber="11" flags="16" created="1581644358241" lastLoggedIn="1581684601922" lastLoggedInFingerprint="google/blueline/blueline:10/QQ1A.200105.003/6079943:user/release-keys" icon="/data/system/users/11/photo.png" profileBadge="0"&gt;</a:t>
            </a:r>
          </a:p>
          <a:p>
            <a:r>
              <a:rPr lang="nb-NO" dirty="0"/>
              <a:t>    &lt;name&gt;User 2&lt;/name&gt;</a:t>
            </a:r>
          </a:p>
          <a:p>
            <a:r>
              <a:rPr lang="nb-NO" dirty="0"/>
              <a:t>    &lt;restrictions /&gt;</a:t>
            </a:r>
          </a:p>
          <a:p>
            <a:r>
              <a:rPr lang="nb-NO" dirty="0"/>
              <a:t>&lt;/user&gt;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93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-</a:t>
            </a:r>
            <a:r>
              <a:rPr lang="en-US" dirty="0" err="1"/>
              <a:t>EiorhI</a:t>
            </a:r>
            <a:r>
              <a:rPr lang="en-US" dirty="0"/>
              <a:t> '([[:</a:t>
            </a:r>
            <a:r>
              <a:rPr lang="en-US" dirty="0" err="1"/>
              <a:t>alnum</a:t>
            </a:r>
            <a:r>
              <a:rPr lang="en-US" dirty="0"/>
              <a:t>:]_.-]+@[[:</a:t>
            </a:r>
            <a:r>
              <a:rPr lang="en-US" dirty="0" err="1"/>
              <a:t>alnum</a:t>
            </a:r>
            <a:r>
              <a:rPr lang="en-US" dirty="0"/>
              <a:t>:]_.-]+?\.[[:alpha:].]{2,6})' 'Pixel 3'| </a:t>
            </a:r>
            <a:r>
              <a:rPr lang="en-US" dirty="0" err="1"/>
              <a:t>sort|uniq</a:t>
            </a:r>
            <a:r>
              <a:rPr lang="en-US" dirty="0"/>
              <a:t> -c | sort -nr | head  -n 20</a:t>
            </a:r>
          </a:p>
          <a:p>
            <a:r>
              <a:rPr lang="en-US" dirty="0"/>
              <a:t>grep -</a:t>
            </a:r>
            <a:r>
              <a:rPr lang="en-US" dirty="0" err="1"/>
              <a:t>EiorhI</a:t>
            </a:r>
            <a:r>
              <a:rPr lang="en-US" dirty="0"/>
              <a:t> '([[:</a:t>
            </a:r>
            <a:r>
              <a:rPr lang="en-US" dirty="0" err="1"/>
              <a:t>alnum</a:t>
            </a:r>
            <a:r>
              <a:rPr lang="en-US" dirty="0"/>
              <a:t>:]_.-]+@[[:</a:t>
            </a:r>
            <a:r>
              <a:rPr lang="en-US" dirty="0" err="1"/>
              <a:t>alnum</a:t>
            </a:r>
            <a:r>
              <a:rPr lang="en-US" dirty="0"/>
              <a:t>:]_.-]+?\.[[:alpha:].]{2,6})' 'Pixel 3'| </a:t>
            </a:r>
            <a:r>
              <a:rPr lang="en-US" dirty="0" err="1"/>
              <a:t>sort|uniq</a:t>
            </a:r>
            <a:r>
              <a:rPr lang="en-US" dirty="0"/>
              <a:t> -c | sort -nr | </a:t>
            </a:r>
            <a:r>
              <a:rPr lang="en-US" dirty="0" err="1"/>
              <a:t>wc</a:t>
            </a:r>
            <a:r>
              <a:rPr lang="en-US" dirty="0"/>
              <a:t> –l</a:t>
            </a:r>
          </a:p>
          <a:p>
            <a:endParaRPr lang="en-US" dirty="0"/>
          </a:p>
          <a:p>
            <a:r>
              <a:rPr lang="en-US" dirty="0"/>
              <a:t> 608 thisisdfir@gmail.com</a:t>
            </a:r>
          </a:p>
          <a:p>
            <a:r>
              <a:rPr lang="en-US" dirty="0"/>
              <a:t>    176 extension-devs@eff.org</a:t>
            </a:r>
          </a:p>
          <a:p>
            <a:r>
              <a:rPr lang="en-US" dirty="0"/>
              <a:t>    120 thisisdfirtwo@gmail.com</a:t>
            </a:r>
          </a:p>
          <a:p>
            <a:r>
              <a:rPr lang="en-US" dirty="0"/>
              <a:t>     96 19842352054_1oHEUWGxDxo499MnzUJStpXDQ1YoMyeXX4O6Faqv4Acw@prod.tncp.textnow.com</a:t>
            </a:r>
          </a:p>
          <a:p>
            <a:r>
              <a:rPr lang="en-US" dirty="0"/>
              <a:t>     40 android.hardware.graphics.mapper@2.1.so</a:t>
            </a:r>
          </a:p>
          <a:p>
            <a:r>
              <a:rPr lang="en-US" dirty="0"/>
              <a:t>     40 android.hardware.graphics.mapper@2.0.so</a:t>
            </a:r>
          </a:p>
          <a:p>
            <a:r>
              <a:rPr lang="en-US" dirty="0"/>
              <a:t>     40 android.hardware.graphics.common@1.1.so</a:t>
            </a:r>
          </a:p>
          <a:p>
            <a:r>
              <a:rPr lang="en-US" dirty="0"/>
              <a:t>     40 android.hardware.graphics.common@1.0.so</a:t>
            </a:r>
          </a:p>
          <a:p>
            <a:r>
              <a:rPr lang="en-US" dirty="0"/>
              <a:t>     38 support@enflick.com</a:t>
            </a:r>
          </a:p>
          <a:p>
            <a:r>
              <a:rPr lang="en-US" dirty="0"/>
              <a:t>     38 android.hardware.renderscript@1.0.so</a:t>
            </a:r>
          </a:p>
          <a:p>
            <a:r>
              <a:rPr lang="en-US" dirty="0"/>
              <a:t>     38 19842032223@prod.tncp.textnow.com</a:t>
            </a:r>
          </a:p>
          <a:p>
            <a:r>
              <a:rPr lang="en-US" dirty="0"/>
              <a:t>     32 ff7a7f86a2e8481abacfb5e046d5046a@patrol-sg.snssdk.com</a:t>
            </a:r>
          </a:p>
          <a:p>
            <a:r>
              <a:rPr lang="en-US" dirty="0"/>
              <a:t>     24 android.hidl.safe_union@1.0.so</a:t>
            </a:r>
          </a:p>
          <a:p>
            <a:r>
              <a:rPr lang="en-US" dirty="0"/>
              <a:t>     24 android.hidl.memory.token@1.0.so</a:t>
            </a:r>
          </a:p>
          <a:p>
            <a:r>
              <a:rPr lang="en-US" dirty="0"/>
              <a:t>     24 android.hidl.memory@1.0.so</a:t>
            </a:r>
          </a:p>
          <a:p>
            <a:r>
              <a:rPr lang="en-US" dirty="0"/>
              <a:t>     24 android.hardware.graphics.mapper@3.0.so</a:t>
            </a:r>
          </a:p>
          <a:p>
            <a:r>
              <a:rPr lang="en-US" dirty="0"/>
              <a:t>     24 android.hardware.graphics.common@1.2.so</a:t>
            </a:r>
          </a:p>
          <a:p>
            <a:r>
              <a:rPr lang="en-US" dirty="0"/>
              <a:t>     20 libstagefright_bufferpool@2.0.1.so</a:t>
            </a:r>
          </a:p>
          <a:p>
            <a:r>
              <a:rPr lang="en-US" dirty="0"/>
              <a:t>     18 android.system.suspend@1.0.so</a:t>
            </a:r>
          </a:p>
          <a:p>
            <a:r>
              <a:rPr lang="en-US" dirty="0"/>
              <a:t>     18 android.hidl.token@1.0-utils.so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189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([[: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ui-sans-serif"/>
              </a:rPr>
              <a:t>alnum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:]_.-]+@[[: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ui-sans-serif"/>
              </a:rPr>
              <a:t>alnum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:]_.-]+?\.[[:alpha:].]{2,6}): This is the pattern used to match email addresses.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[[: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ui-sans-serif"/>
              </a:rPr>
              <a:t>alnum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:]_.-]+: Matches one or more alphanumeric characters (a-z, A-Z, 0-9), underscores (_), dots (.), or hyphens (-). This represents the </a:t>
            </a:r>
            <a:r>
              <a:rPr lang="en-GB" b="1" i="0" dirty="0">
                <a:solidFill>
                  <a:srgbClr val="374151"/>
                </a:solidFill>
                <a:effectLst/>
                <a:latin typeface="ui-sans-serif"/>
              </a:rPr>
              <a:t>local part 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of the email address (before the @).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@: Matches the literal @ symbol, which separates the local part from the domain part of the email.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[[: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ui-sans-serif"/>
              </a:rPr>
              <a:t>alnum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:]_.-]+?: Matches one or more alphanumeric characters, underscores, dots, or hyphens, but does so </a:t>
            </a:r>
            <a:r>
              <a:rPr lang="en-GB" b="1" i="0" dirty="0">
                <a:solidFill>
                  <a:srgbClr val="374151"/>
                </a:solidFill>
                <a:effectLst/>
                <a:latin typeface="ui-sans-serif"/>
              </a:rPr>
              <a:t>non-greedily 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(due to the ? after +). This represents the </a:t>
            </a:r>
            <a:r>
              <a:rPr lang="en-GB" b="1" i="0" dirty="0">
                <a:solidFill>
                  <a:srgbClr val="374151"/>
                </a:solidFill>
                <a:effectLst/>
                <a:latin typeface="ui-sans-serif"/>
              </a:rPr>
              <a:t>domain name 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before the dot.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\.: Matches a literal dot (.), which separates the domain name from the top-level domain (TLD).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[[:alpha:].]{2,6}: Matches between 2 and 6 alphabetic characters or dots. This represents the </a:t>
            </a:r>
            <a:r>
              <a:rPr lang="en-GB" b="1" i="0" dirty="0">
                <a:solidFill>
                  <a:srgbClr val="374151"/>
                </a:solidFill>
                <a:effectLst/>
                <a:latin typeface="ui-sans-serif"/>
              </a:rPr>
              <a:t>top-level domain 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(e.g., .com, .org, .co.uk).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928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b="1" i="0" dirty="0">
                <a:effectLst/>
                <a:latin typeface="ui-sans-serif"/>
              </a:rPr>
              <a:t>1. sort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The sort command </a:t>
            </a:r>
            <a:r>
              <a:rPr lang="en-GB" b="1" i="0" dirty="0">
                <a:solidFill>
                  <a:srgbClr val="374151"/>
                </a:solidFill>
                <a:effectLst/>
                <a:latin typeface="ui-sans-serif"/>
              </a:rPr>
              <a:t>sorts 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the input lines alphabetically (by default) or numerically, depending on the content.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Sorting is necessary because the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ui-sans-serif"/>
              </a:rPr>
              <a:t>uniq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 command (which we'll discuss next) only works on </a:t>
            </a:r>
            <a:r>
              <a:rPr lang="en-GB" b="1" i="0" dirty="0">
                <a:solidFill>
                  <a:srgbClr val="374151"/>
                </a:solidFill>
                <a:effectLst/>
                <a:latin typeface="ui-sans-serif"/>
              </a:rPr>
              <a:t>adjacent duplicate lines 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. If the input isn't sorted,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ui-sans-serif"/>
              </a:rPr>
              <a:t>uniq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 won't be able to detect all duplicates.</a:t>
            </a:r>
          </a:p>
          <a:p>
            <a:pPr algn="l"/>
            <a:r>
              <a:rPr lang="en-GB" b="1" i="0" dirty="0">
                <a:effectLst/>
                <a:latin typeface="ui-sans-serif"/>
              </a:rPr>
              <a:t>2. </a:t>
            </a:r>
            <a:r>
              <a:rPr lang="en-GB" b="1" i="0" dirty="0" err="1">
                <a:effectLst/>
                <a:latin typeface="ui-sans-serif"/>
              </a:rPr>
              <a:t>uniq</a:t>
            </a:r>
            <a:r>
              <a:rPr lang="en-GB" b="1" i="0" dirty="0">
                <a:effectLst/>
                <a:latin typeface="ui-sans-serif"/>
              </a:rPr>
              <a:t> -c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The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ui-sans-serif"/>
              </a:rPr>
              <a:t>uniq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 command removes or reports </a:t>
            </a:r>
            <a:r>
              <a:rPr lang="en-GB" b="1" i="0" dirty="0">
                <a:solidFill>
                  <a:srgbClr val="374151"/>
                </a:solidFill>
                <a:effectLst/>
                <a:latin typeface="ui-sans-serif"/>
              </a:rPr>
              <a:t>adjacent duplicate lines 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from the input.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The -c option tells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ui-sans-serif"/>
              </a:rPr>
              <a:t>uniq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 to </a:t>
            </a:r>
            <a:r>
              <a:rPr lang="en-GB" b="1" i="0" dirty="0">
                <a:solidFill>
                  <a:srgbClr val="374151"/>
                </a:solidFill>
                <a:effectLst/>
                <a:latin typeface="ui-sans-serif"/>
              </a:rPr>
              <a:t>count 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the number of occurrences of each unique line. It will output the count followed by the unique line.</a:t>
            </a:r>
          </a:p>
          <a:p>
            <a:pPr algn="l"/>
            <a:r>
              <a:rPr lang="en-GB" b="1" i="0" dirty="0">
                <a:effectLst/>
                <a:latin typeface="ui-sans-serif"/>
              </a:rPr>
              <a:t>3. sort -nr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The second sort command sorts the output of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ui-sans-serif"/>
              </a:rPr>
              <a:t>uniq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 -c in </a:t>
            </a:r>
            <a:r>
              <a:rPr lang="en-GB" b="1" i="0" dirty="0">
                <a:solidFill>
                  <a:srgbClr val="374151"/>
                </a:solidFill>
                <a:effectLst/>
                <a:latin typeface="ui-sans-serif"/>
              </a:rPr>
              <a:t>numeric reverse order 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(-nr).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-n: Sorts the input numerically (based on the count generated by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ui-sans-serif"/>
              </a:rPr>
              <a:t>uniq</a:t>
            </a: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 -c).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74151"/>
                </a:solidFill>
                <a:effectLst/>
                <a:latin typeface="ui-sans-serif"/>
              </a:rPr>
              <a:t>-r: Reverses the order, so the highest counts appear first.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945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https://developer.android.com/studio/build/application-id.html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058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https://play.google.com/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56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 'Pixel 3/data/data/com.google.android.gm' -L 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483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  'Pixel 3/data/data/com.google.android.gm/</a:t>
            </a:r>
            <a:r>
              <a:rPr lang="en-US" dirty="0" err="1"/>
              <a:t>shared_prefs</a:t>
            </a:r>
            <a:r>
              <a:rPr lang="en-US" dirty="0"/>
              <a:t>/Gmail.xml'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327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  'Pixel 3/data/data/com.google.android.gm/</a:t>
            </a:r>
            <a:r>
              <a:rPr lang="en-US" dirty="0" err="1"/>
              <a:t>shared_prefs</a:t>
            </a:r>
            <a:r>
              <a:rPr lang="en-US" dirty="0"/>
              <a:t>/UnifiedEmail.xml'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066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 'Pixel 3/data/data/</a:t>
            </a:r>
            <a:r>
              <a:rPr lang="en-US" dirty="0" err="1"/>
              <a:t>com.android.vending</a:t>
            </a:r>
            <a:r>
              <a:rPr lang="en-US" dirty="0"/>
              <a:t>/cache/logs/'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316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https://www.intertech.com/android-development-tutorial-job-scheduler/</a:t>
            </a:r>
          </a:p>
          <a:p>
            <a:r>
              <a:rPr lang="en-US" dirty="0"/>
              <a:t>https://www.zoftino.com/android-job-scheduler-example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021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https://developer.android.com/reference/android/app/job/JobInfo.html</a:t>
            </a:r>
          </a:p>
          <a:p>
            <a:r>
              <a:rPr lang="en-US" dirty="0"/>
              <a:t>https://www.intertech.com/android-development-tutorial-job-scheduler/</a:t>
            </a:r>
          </a:p>
          <a:p>
            <a:r>
              <a:rPr lang="en-US" dirty="0"/>
              <a:t>https://medium.com/google-developers/scheduling-jobs-like-a-pro-with-jobscheduler-286ef8510129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940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https://www.epochconverter.</a:t>
            </a:r>
            <a:r>
              <a:rPr lang="en-US"/>
              <a:t>com/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473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grep -</a:t>
            </a:r>
            <a:r>
              <a:rPr lang="en-GB" dirty="0" err="1"/>
              <a:t>Eio</a:t>
            </a:r>
            <a:r>
              <a:rPr lang="en-GB" dirty="0"/>
              <a:t> '([[:</a:t>
            </a:r>
            <a:r>
              <a:rPr lang="en-GB" dirty="0" err="1"/>
              <a:t>alnum</a:t>
            </a:r>
            <a:r>
              <a:rPr lang="en-GB" dirty="0"/>
              <a:t>:]_.-]+@[[:</a:t>
            </a:r>
            <a:r>
              <a:rPr lang="en-GB" dirty="0" err="1"/>
              <a:t>alnum</a:t>
            </a:r>
            <a:r>
              <a:rPr lang="en-GB" dirty="0"/>
              <a:t>:]_.-]+\.[[:alpha:].]{2,6})'   'Pixel 3/data/system/job/jobs.xml' | sort | </a:t>
            </a:r>
            <a:r>
              <a:rPr lang="en-GB" dirty="0" err="1"/>
              <a:t>uniq</a:t>
            </a:r>
            <a:r>
              <a:rPr lang="en-GB" dirty="0"/>
              <a:t> -c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1602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-</a:t>
            </a:r>
            <a:r>
              <a:rPr lang="en-US" dirty="0" err="1"/>
              <a:t>EiorhI</a:t>
            </a:r>
            <a:r>
              <a:rPr lang="en-US" dirty="0"/>
              <a:t> '([[:</a:t>
            </a:r>
            <a:r>
              <a:rPr lang="en-US" dirty="0" err="1"/>
              <a:t>alnum</a:t>
            </a:r>
            <a:r>
              <a:rPr lang="en-US" dirty="0"/>
              <a:t>:]_.-]+@</a:t>
            </a:r>
            <a:r>
              <a:rPr lang="en-US" dirty="0" err="1"/>
              <a:t>gmail</a:t>
            </a:r>
            <a:r>
              <a:rPr lang="en-US" dirty="0"/>
              <a:t>\.com)' 'Pixel 3'| </a:t>
            </a:r>
            <a:r>
              <a:rPr lang="en-US" dirty="0" err="1"/>
              <a:t>sort|uniq</a:t>
            </a:r>
            <a:r>
              <a:rPr lang="en-US" dirty="0"/>
              <a:t> -c | sort -nr | head</a:t>
            </a:r>
          </a:p>
          <a:p>
            <a:r>
              <a:rPr lang="en-US" dirty="0"/>
              <a:t> 608 thisisdfir@gmail.com</a:t>
            </a:r>
          </a:p>
          <a:p>
            <a:r>
              <a:rPr lang="en-US" dirty="0"/>
              <a:t>    120 thisisdfirtwo@gmail.com</a:t>
            </a:r>
          </a:p>
          <a:p>
            <a:r>
              <a:rPr lang="en-US" dirty="0"/>
              <a:t>     10 nc_1_mail_thisisdfir@gmail.com</a:t>
            </a:r>
          </a:p>
          <a:p>
            <a:r>
              <a:rPr lang="en-US" dirty="0"/>
              <a:t>      6 feature_list_thisisdfir@gmail.com</a:t>
            </a:r>
          </a:p>
          <a:p>
            <a:r>
              <a:rPr lang="en-US" dirty="0"/>
              <a:t>      4 ncg_1_account_thisisdfirtwo@gmail.com</a:t>
            </a:r>
          </a:p>
          <a:p>
            <a:r>
              <a:rPr lang="en-US" dirty="0"/>
              <a:t>      4 ncg_1_account_thisisdfir@gmail.com</a:t>
            </a:r>
          </a:p>
          <a:p>
            <a:r>
              <a:rPr lang="en-US" dirty="0"/>
              <a:t>      4 flagsLastLogged-thisisdfir@gmail.com</a:t>
            </a:r>
          </a:p>
          <a:p>
            <a:r>
              <a:rPr lang="en-US" dirty="0"/>
              <a:t>      2 waa-enabledthisisdfir@gmail.com</a:t>
            </a:r>
          </a:p>
          <a:p>
            <a:r>
              <a:rPr lang="en-US" dirty="0"/>
              <a:t>      2 user-settings-cachethisisdfir@gmail.com</a:t>
            </a:r>
          </a:p>
          <a:p>
            <a:r>
              <a:rPr lang="en-US" dirty="0"/>
              <a:t>      2 toc-cookiethisisdfir@gmail.com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837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 -L 1  'Pixel 3/data/</a:t>
            </a:r>
            <a:r>
              <a:rPr lang="en-US" dirty="0" err="1"/>
              <a:t>system_ce</a:t>
            </a:r>
            <a:r>
              <a:rPr lang="en-US" dirty="0"/>
              <a:t>/0/'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7226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 -L 1  'Pixel 3/data/</a:t>
            </a:r>
            <a:r>
              <a:rPr lang="en-US" dirty="0" err="1"/>
              <a:t>system_de</a:t>
            </a:r>
            <a:r>
              <a:rPr lang="en-US" dirty="0"/>
              <a:t>/0/'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009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sqlite3 'Pixel 3/data/</a:t>
            </a:r>
            <a:r>
              <a:rPr lang="en-GB" dirty="0" err="1"/>
              <a:t>system_de</a:t>
            </a:r>
            <a:r>
              <a:rPr lang="en-GB" dirty="0"/>
              <a:t>/0/</a:t>
            </a:r>
            <a:r>
              <a:rPr lang="en-GB" dirty="0" err="1"/>
              <a:t>accounts_de.db</a:t>
            </a:r>
            <a:r>
              <a:rPr lang="en-GB" dirty="0"/>
              <a:t>'</a:t>
            </a:r>
          </a:p>
          <a:p>
            <a:r>
              <a:rPr lang="en-GB" dirty="0"/>
              <a:t>select name, type, datetime(</a:t>
            </a:r>
            <a:r>
              <a:rPr lang="en-GB" dirty="0" err="1"/>
              <a:t>last_password_entry_time_millis_epoch</a:t>
            </a:r>
            <a:r>
              <a:rPr lang="en-GB" dirty="0"/>
              <a:t>/1000, 'UNIXEPOCH') from accounts;</a:t>
            </a:r>
          </a:p>
          <a:p>
            <a:endParaRPr lang="en-GB" dirty="0"/>
          </a:p>
          <a:p>
            <a:r>
              <a:rPr lang="en-GB" dirty="0"/>
              <a:t>thisisdfir@gmail.com|com.google|2020-01-29 15:41:07</a:t>
            </a:r>
          </a:p>
          <a:p>
            <a:r>
              <a:rPr lang="en-GB" dirty="0"/>
              <a:t>858233690|org.telegram.messenger|2020-01-29 18:31:04</a:t>
            </a:r>
          </a:p>
          <a:p>
            <a:r>
              <a:rPr lang="en-GB" dirty="0"/>
              <a:t>Signal|org.thoughtcrime.securesms|2020-01-29 18:31:40</a:t>
            </a:r>
          </a:p>
          <a:p>
            <a:r>
              <a:rPr lang="en-GB" dirty="0" err="1"/>
              <a:t>imo</a:t>
            </a:r>
            <a:r>
              <a:rPr lang="en-GB" dirty="0"/>
              <a:t> HD|com.imo.android.imous|2020-01-29 18:32:00</a:t>
            </a:r>
          </a:p>
          <a:p>
            <a:r>
              <a:rPr lang="en-GB" dirty="0"/>
              <a:t>TikTok|com.zhiliaoapp.musically|2020-01-29 18:43:16</a:t>
            </a:r>
          </a:p>
          <a:p>
            <a:r>
              <a:rPr lang="en-GB" dirty="0"/>
              <a:t>Messenger|com.facebook.messenger|2020-01-29 18:51:02</a:t>
            </a:r>
          </a:p>
          <a:p>
            <a:r>
              <a:rPr lang="en-GB" dirty="0"/>
              <a:t>TDfir|com.twitter.android.auth.login|2020-01-29 19:42:51</a:t>
            </a:r>
          </a:p>
          <a:p>
            <a:r>
              <a:rPr lang="en-GB" dirty="0"/>
              <a:t>WhatsApp|com.whatsapp|2020-01-29 21:10:02</a:t>
            </a:r>
          </a:p>
          <a:p>
            <a:r>
              <a:rPr lang="en-GB" dirty="0"/>
              <a:t>thisisdfir|com.silentcircle.account|2020-02-01 20:41:31</a:t>
            </a:r>
          </a:p>
          <a:p>
            <a:r>
              <a:rPr lang="en-GB" dirty="0"/>
              <a:t>Skype|com.skype.raider|2020-02-01 21:08:20</a:t>
            </a:r>
          </a:p>
          <a:p>
            <a:r>
              <a:rPr lang="en-GB" dirty="0"/>
              <a:t>TextNow|com.enflick.android.TextNow.account|2020-02-08 19:54:52</a:t>
            </a:r>
          </a:p>
          <a:p>
            <a:r>
              <a:rPr lang="en-GB" dirty="0"/>
              <a:t>+19195794674|com.viber.voip|2020-02-08 20:15:38</a:t>
            </a:r>
          </a:p>
          <a:p>
            <a:r>
              <a:rPr lang="en-GB" dirty="0"/>
              <a:t>Duo|com.google.android.apps.tachyon|2020-02-14 01:19:15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538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grep</a:t>
            </a:r>
            <a:r>
              <a:rPr lang="fr-FR" dirty="0"/>
              <a:t> -i '</a:t>
            </a:r>
            <a:r>
              <a:rPr lang="fr-FR" dirty="0" err="1"/>
              <a:t>bluetooth</a:t>
            </a:r>
            <a:r>
              <a:rPr lang="fr-FR" dirty="0"/>
              <a:t>' 'Pixel 3/data/system/</a:t>
            </a:r>
            <a:r>
              <a:rPr lang="fr-FR" dirty="0" err="1"/>
              <a:t>users</a:t>
            </a:r>
            <a:r>
              <a:rPr lang="fr-FR" dirty="0"/>
              <a:t>/0/settings_secure.xml'</a:t>
            </a:r>
          </a:p>
          <a:p>
            <a:endParaRPr lang="fr-FR" dirty="0"/>
          </a:p>
          <a:p>
            <a:r>
              <a:rPr lang="fr-FR" dirty="0"/>
              <a:t>7C:D9:5C:AC:A2:CE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915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 'Pixel 3/data/</a:t>
            </a:r>
            <a:r>
              <a:rPr lang="en-US" dirty="0" err="1"/>
              <a:t>misc</a:t>
            </a:r>
            <a:r>
              <a:rPr lang="en-US" dirty="0"/>
              <a:t>/</a:t>
            </a:r>
            <a:r>
              <a:rPr lang="en-US" dirty="0" err="1"/>
              <a:t>wifi</a:t>
            </a:r>
            <a:r>
              <a:rPr lang="en-US" dirty="0"/>
              <a:t>/WifiConfigStore.xml’ </a:t>
            </a:r>
          </a:p>
          <a:p>
            <a:endParaRPr lang="en-US" dirty="0"/>
          </a:p>
          <a:p>
            <a:r>
              <a:rPr lang="en-US" dirty="0"/>
              <a:t>&lt;?xml version='1.0' encoding='utf-8' standalone='yes' ?&gt;</a:t>
            </a:r>
          </a:p>
          <a:p>
            <a:r>
              <a:rPr lang="en-US" dirty="0"/>
              <a:t>&lt;</a:t>
            </a:r>
            <a:r>
              <a:rPr lang="en-US" dirty="0" err="1"/>
              <a:t>WifiConfigStoreData</a:t>
            </a:r>
            <a:r>
              <a:rPr lang="en-US" dirty="0"/>
              <a:t>&gt;</a:t>
            </a:r>
          </a:p>
          <a:p>
            <a:r>
              <a:rPr lang="en-US" dirty="0"/>
              <a:t>&lt;int name="Version" value="2" /&gt;</a:t>
            </a:r>
          </a:p>
          <a:p>
            <a:r>
              <a:rPr lang="en-US" dirty="0"/>
              <a:t>&lt;Integrity&gt;</a:t>
            </a:r>
          </a:p>
          <a:p>
            <a:r>
              <a:rPr lang="en-US" dirty="0"/>
              <a:t>&lt;byte-array name="</a:t>
            </a:r>
            <a:r>
              <a:rPr lang="en-US" dirty="0" err="1"/>
              <a:t>EncryptedData</a:t>
            </a:r>
            <a:r>
              <a:rPr lang="en-US" dirty="0"/>
              <a:t>" num="48"&gt;e71394aa95f2d767a1c46e787ca99c0478e12467241553a8551005969fd38294e8a4082529d69a15d5bc49f28ca21a54&lt;/byte-array&gt;</a:t>
            </a:r>
          </a:p>
          <a:p>
            <a:r>
              <a:rPr lang="en-US" dirty="0"/>
              <a:t>&lt;byte-array name="IV" num="12"&gt;18234dad790da5cb3ba8eceb&lt;/byte-array&gt;</a:t>
            </a:r>
          </a:p>
          <a:p>
            <a:r>
              <a:rPr lang="en-US" dirty="0"/>
              <a:t>&lt;/Integrity&gt;</a:t>
            </a:r>
          </a:p>
          <a:p>
            <a:r>
              <a:rPr lang="en-US" dirty="0"/>
              <a:t>&lt;</a:t>
            </a:r>
            <a:r>
              <a:rPr lang="en-US" dirty="0" err="1"/>
              <a:t>NetworkList</a:t>
            </a:r>
            <a:r>
              <a:rPr lang="en-US" dirty="0"/>
              <a:t> /&gt;</a:t>
            </a:r>
          </a:p>
          <a:p>
            <a:r>
              <a:rPr lang="en-US" dirty="0"/>
              <a:t>&lt;</a:t>
            </a:r>
            <a:r>
              <a:rPr lang="en-US" dirty="0" err="1"/>
              <a:t>MacAddressMap</a:t>
            </a:r>
            <a:r>
              <a:rPr lang="en-US" dirty="0"/>
              <a:t>&gt;</a:t>
            </a:r>
          </a:p>
          <a:p>
            <a:r>
              <a:rPr lang="en-US" dirty="0"/>
              <a:t>&lt;map name="</a:t>
            </a:r>
            <a:r>
              <a:rPr lang="en-US" dirty="0" err="1"/>
              <a:t>MacMapEntry</a:t>
            </a:r>
            <a:r>
              <a:rPr lang="en-US" dirty="0"/>
              <a:t>"&gt;</a:t>
            </a:r>
          </a:p>
          <a:p>
            <a:r>
              <a:rPr lang="en-US" dirty="0"/>
              <a:t>&lt;string name="&amp;quot;CcookiesDcastleR5&amp;quot;WPA_PSK"&gt;ae:f6:c7:a8:a5:c2&lt;/string&gt;</a:t>
            </a:r>
          </a:p>
          <a:p>
            <a:r>
              <a:rPr lang="en-US" dirty="0"/>
              <a:t>&lt;/map&gt;</a:t>
            </a:r>
          </a:p>
          <a:p>
            <a:r>
              <a:rPr lang="en-US" dirty="0"/>
              <a:t>&lt;/</a:t>
            </a:r>
            <a:r>
              <a:rPr lang="en-US" dirty="0" err="1"/>
              <a:t>MacAddressMap</a:t>
            </a:r>
            <a:r>
              <a:rPr lang="en-US" dirty="0"/>
              <a:t>&gt;</a:t>
            </a:r>
          </a:p>
          <a:p>
            <a:r>
              <a:rPr lang="en-US" dirty="0"/>
              <a:t>&lt;</a:t>
            </a:r>
            <a:r>
              <a:rPr lang="en-US" dirty="0" err="1"/>
              <a:t>PasspointConfigData</a:t>
            </a:r>
            <a:r>
              <a:rPr lang="en-US" dirty="0"/>
              <a:t>&gt;</a:t>
            </a:r>
          </a:p>
          <a:p>
            <a:r>
              <a:rPr lang="en-US" dirty="0"/>
              <a:t>&lt;long name="</a:t>
            </a:r>
            <a:r>
              <a:rPr lang="en-US" dirty="0" err="1"/>
              <a:t>ProviderIndex</a:t>
            </a:r>
            <a:r>
              <a:rPr lang="en-US" dirty="0"/>
              <a:t>" value="0" /&gt;</a:t>
            </a:r>
          </a:p>
          <a:p>
            <a:r>
              <a:rPr lang="en-US" dirty="0"/>
              <a:t>&lt;/</a:t>
            </a:r>
            <a:r>
              <a:rPr lang="en-US" dirty="0" err="1"/>
              <a:t>PasspointConfigData</a:t>
            </a:r>
            <a:r>
              <a:rPr lang="en-US" dirty="0"/>
              <a:t>&gt;</a:t>
            </a:r>
          </a:p>
          <a:p>
            <a:r>
              <a:rPr lang="en-US" dirty="0"/>
              <a:t>&lt;/</a:t>
            </a:r>
            <a:r>
              <a:rPr lang="en-US" dirty="0" err="1"/>
              <a:t>WifiConfigStoreData</a:t>
            </a:r>
            <a:r>
              <a:rPr lang="en-US" dirty="0"/>
              <a:t>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591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'Pixel 3' -</a:t>
            </a:r>
            <a:r>
              <a:rPr lang="en-US" dirty="0" err="1"/>
              <a:t>iname</a:t>
            </a:r>
            <a:r>
              <a:rPr lang="en-US" dirty="0"/>
              <a:t> '</a:t>
            </a:r>
            <a:r>
              <a:rPr lang="en-US" dirty="0" err="1"/>
              <a:t>wpa</a:t>
            </a:r>
            <a:r>
              <a:rPr lang="en-US" dirty="0"/>
              <a:t>*’</a:t>
            </a:r>
          </a:p>
          <a:p>
            <a:endParaRPr lang="en-US" dirty="0"/>
          </a:p>
          <a:p>
            <a:r>
              <a:rPr lang="fr-FR" dirty="0"/>
              <a:t>cat 'Pixel 3/</a:t>
            </a:r>
            <a:r>
              <a:rPr lang="fr-FR" dirty="0" err="1"/>
              <a:t>vendor</a:t>
            </a:r>
            <a:r>
              <a:rPr lang="fr-FR" dirty="0"/>
              <a:t>/</a:t>
            </a:r>
            <a:r>
              <a:rPr lang="fr-FR" dirty="0" err="1"/>
              <a:t>etc</a:t>
            </a:r>
            <a:r>
              <a:rPr lang="fr-FR" dirty="0"/>
              <a:t>/wifi/</a:t>
            </a:r>
            <a:r>
              <a:rPr lang="fr-FR" dirty="0" err="1"/>
              <a:t>wpa_supplicant.conf</a:t>
            </a:r>
            <a:r>
              <a:rPr lang="fr-FR" dirty="0"/>
              <a:t>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20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649C4F-48C8-4CC6-BAE6-40898A5F80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Pixel Device Investigations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6E4132F-ED01-4C15-A54D-66D33B52D5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Device build, Accounts, Mac address, Wi-Fi</a:t>
            </a:r>
          </a:p>
        </p:txBody>
      </p:sp>
    </p:spTree>
    <p:extLst>
      <p:ext uri="{BB962C8B-B14F-4D97-AF65-F5344CB8AC3E}">
        <p14:creationId xmlns:p14="http://schemas.microsoft.com/office/powerpoint/2010/main" val="2783025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0EE40A-3D9F-4C76-AE07-56527D0A0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Survey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BFE6BE-353E-4AD3-B14E-6E3511F50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Device build and </a:t>
            </a:r>
            <a:r>
              <a:rPr lang="en-US" dirty="0">
                <a:ea typeface="Calibri"/>
                <a:cs typeface="Calibri"/>
              </a:rPr>
              <a:t>SIM card</a:t>
            </a:r>
          </a:p>
          <a:p>
            <a:r>
              <a:rPr lang="en-US" dirty="0"/>
              <a:t>Account information</a:t>
            </a:r>
          </a:p>
          <a:p>
            <a:r>
              <a:rPr lang="en-US" dirty="0"/>
              <a:t>Bluetooth MAC address and Wi-Fi</a:t>
            </a:r>
          </a:p>
          <a:p>
            <a:r>
              <a:rPr lang="en-GB" dirty="0"/>
              <a:t>Other artifacts generated by API usage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431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772083-1F8A-4C69-8797-37893A5BB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Information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270B41F-1C59-4C7E-A402-D6E7C492DC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02003"/>
              </p:ext>
            </p:extLst>
          </p:nvPr>
        </p:nvGraphicFramePr>
        <p:xfrm>
          <a:off x="960665" y="1943645"/>
          <a:ext cx="9606776" cy="369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1420">
                  <a:extLst>
                    <a:ext uri="{9D8B030D-6E8A-4147-A177-3AD203B41FA5}">
                      <a16:colId xmlns:a16="http://schemas.microsoft.com/office/drawing/2014/main" val="2701201367"/>
                    </a:ext>
                  </a:extLst>
                </a:gridCol>
                <a:gridCol w="5865356">
                  <a:extLst>
                    <a:ext uri="{9D8B030D-6E8A-4147-A177-3AD203B41FA5}">
                      <a16:colId xmlns:a16="http://schemas.microsoft.com/office/drawing/2014/main" val="1661643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Device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287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Build 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 Narrow" panose="020B0606020202030204" pitchFamily="34" charset="0"/>
                        </a:rPr>
                        <a:t>Pixel 3/product/</a:t>
                      </a:r>
                      <a:r>
                        <a:rPr lang="en-GB" dirty="0" err="1">
                          <a:latin typeface="Arial Narrow" panose="020B0606020202030204" pitchFamily="34" charset="0"/>
                        </a:rPr>
                        <a:t>build.prop</a:t>
                      </a:r>
                      <a:endParaRPr lang="en-US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727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 Narrow" panose="020B0606020202030204" pitchFamily="34" charset="0"/>
                        </a:rPr>
                        <a:t>Pixel 3</a:t>
                      </a:r>
                      <a:r>
                        <a:rPr lang="en-US" dirty="0">
                          <a:latin typeface="Arial Narrow" panose="020B0606020202030204" pitchFamily="34" charset="0"/>
                        </a:rPr>
                        <a:t>/system/</a:t>
                      </a:r>
                      <a:r>
                        <a:rPr lang="en-US" dirty="0" err="1">
                          <a:latin typeface="Arial Narrow" panose="020B0606020202030204" pitchFamily="34" charset="0"/>
                        </a:rPr>
                        <a:t>build.prop</a:t>
                      </a:r>
                      <a:endParaRPr lang="en-US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75367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/>
                        <a:t>Apps, app config/generated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Narrow" panose="020B0606020202030204" pitchFamily="34" charset="0"/>
                        </a:rPr>
                        <a:t>Pixel 3/data/data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04794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/>
                        <a:t>User-specific/Carrier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Narrow" panose="020B0606020202030204" pitchFamily="34" charset="0"/>
                        </a:rPr>
                        <a:t>Pixel 3/data/</a:t>
                      </a:r>
                      <a:r>
                        <a:rPr lang="en-US" dirty="0" err="1">
                          <a:latin typeface="Arial Narrow" panose="020B0606020202030204" pitchFamily="34" charset="0"/>
                        </a:rPr>
                        <a:t>user_de</a:t>
                      </a:r>
                      <a:r>
                        <a:rPr lang="en-US" dirty="0">
                          <a:latin typeface="Arial Narrow" panose="020B0606020202030204" pitchFamily="34" charset="0"/>
                        </a:rPr>
                        <a:t>/0/</a:t>
                      </a:r>
                      <a:r>
                        <a:rPr lang="en-US" dirty="0" err="1">
                          <a:latin typeface="Arial Narrow" panose="020B0606020202030204" pitchFamily="34" charset="0"/>
                        </a:rPr>
                        <a:t>com.android.providers.telephony</a:t>
                      </a:r>
                      <a:endParaRPr lang="en-US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467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Device and component serial number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Narrow" panose="020B0606020202030204" pitchFamily="34" charset="0"/>
                        </a:rPr>
                        <a:t>Pixel 3/</a:t>
                      </a:r>
                      <a:r>
                        <a:rPr lang="en-US" dirty="0" err="1">
                          <a:latin typeface="Arial Narrow" panose="020B0606020202030204" pitchFamily="34" charset="0"/>
                        </a:rPr>
                        <a:t>mnt</a:t>
                      </a:r>
                      <a:r>
                        <a:rPr lang="en-US" dirty="0">
                          <a:latin typeface="Arial Narrow" panose="020B0606020202030204" pitchFamily="34" charset="0"/>
                        </a:rPr>
                        <a:t>/vendor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46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Narrow" panose="020B0606020202030204" pitchFamily="34" charset="0"/>
                        </a:rPr>
                        <a:t>Pixel 3/data/system/users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451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Bluetooth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Narrow" panose="020B0606020202030204" pitchFamily="34" charset="0"/>
                        </a:rPr>
                        <a:t>Pixel 3/data/system/users/0/settings_secure.xml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45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Wifi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Narrow" panose="020B0606020202030204" pitchFamily="34" charset="0"/>
                        </a:rPr>
                        <a:t>Pixel 3/data/</a:t>
                      </a:r>
                      <a:r>
                        <a:rPr lang="en-US" dirty="0" err="1">
                          <a:latin typeface="Arial Narrow" panose="020B0606020202030204" pitchFamily="34" charset="0"/>
                        </a:rPr>
                        <a:t>misc</a:t>
                      </a:r>
                      <a:r>
                        <a:rPr lang="en-US" dirty="0">
                          <a:latin typeface="Arial Narrow" panose="020B0606020202030204" pitchFamily="34" charset="0"/>
                        </a:rPr>
                        <a:t>/</a:t>
                      </a:r>
                      <a:r>
                        <a:rPr lang="en-US" dirty="0" err="1">
                          <a:latin typeface="Arial Narrow" panose="020B0606020202030204" pitchFamily="34" charset="0"/>
                        </a:rPr>
                        <a:t>wifi</a:t>
                      </a:r>
                      <a:r>
                        <a:rPr lang="en-US" dirty="0">
                          <a:latin typeface="Arial Narrow" panose="020B0606020202030204" pitchFamily="34" charset="0"/>
                        </a:rPr>
                        <a:t>/WifiConfigStore.xml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478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Other artifacts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Narrow" panose="020B0606020202030204" pitchFamily="34" charset="0"/>
                        </a:rPr>
                        <a:t>Pixel 3</a:t>
                      </a:r>
                      <a:r>
                        <a:rPr lang="it-IT" dirty="0">
                          <a:latin typeface="Arial Narrow" panose="020B0606020202030204" pitchFamily="34" charset="0"/>
                        </a:rPr>
                        <a:t>/data/data/com.google.android.gms/</a:t>
                      </a:r>
                      <a:endParaRPr lang="en-US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575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254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C2FCA1-650A-42EA-95A7-7A2FFD015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Device build and SIM card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A3CBC-D866-46E5-AA37-8D47564F1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816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A919B-B4D4-4191-872F-42E7A3CE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product (phone) information?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0AF362-C7E9-4884-A85D-5035CC82C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90520"/>
            <a:ext cx="9921436" cy="45188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888DA4-F473-4ADA-9710-4DD14051CDA5}"/>
              </a:ext>
            </a:extLst>
          </p:cNvPr>
          <p:cNvSpPr txBox="1"/>
          <p:nvPr/>
        </p:nvSpPr>
        <p:spPr>
          <a:xfrm>
            <a:off x="5173980" y="1386661"/>
            <a:ext cx="4236720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i="0" dirty="0" err="1">
                <a:solidFill>
                  <a:srgbClr val="202124"/>
                </a:solidFill>
                <a:effectLst/>
                <a:latin typeface="Roboto"/>
              </a:rPr>
              <a:t>build</a:t>
            </a:r>
            <a:r>
              <a:rPr lang="en-US" sz="1400" b="0" i="0" dirty="0" err="1">
                <a:solidFill>
                  <a:srgbClr val="202124"/>
                </a:solidFill>
                <a:effectLst/>
                <a:latin typeface="Roboto"/>
              </a:rPr>
              <a:t>.</a:t>
            </a:r>
            <a:r>
              <a:rPr lang="en-US" sz="1400" b="1" i="0" dirty="0" err="1">
                <a:solidFill>
                  <a:srgbClr val="202124"/>
                </a:solidFill>
                <a:effectLst/>
                <a:latin typeface="Roboto"/>
              </a:rPr>
              <a:t>prop</a:t>
            </a:r>
            <a:endParaRPr lang="en-US" sz="1400" b="1" i="0" dirty="0">
              <a:solidFill>
                <a:srgbClr val="202124"/>
              </a:solidFill>
              <a:effectLst/>
              <a:latin typeface="Roboto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A system file that exists on every Android device.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The file contains build information and other system properties which are used throughout the operating system.</a:t>
            </a:r>
            <a:endParaRPr lang="en-US" sz="1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76F4EF-7A45-4E88-AB2A-88FFC38F3B08}"/>
              </a:ext>
            </a:extLst>
          </p:cNvPr>
          <p:cNvCxnSpPr>
            <a:cxnSpLocks/>
          </p:cNvCxnSpPr>
          <p:nvPr/>
        </p:nvCxnSpPr>
        <p:spPr>
          <a:xfrm flipH="1">
            <a:off x="4417451" y="1971436"/>
            <a:ext cx="975360" cy="314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367688B-5113-4074-8D23-EDCDA43A265C}"/>
              </a:ext>
            </a:extLst>
          </p:cNvPr>
          <p:cNvSpPr txBox="1"/>
          <p:nvPr/>
        </p:nvSpPr>
        <p:spPr>
          <a:xfrm>
            <a:off x="4613910" y="4488270"/>
            <a:ext cx="296418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software development kit: </a:t>
            </a:r>
            <a:r>
              <a:rPr lang="en-GB" sz="1200" dirty="0"/>
              <a:t>Version of the SDK used for android version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37638D-40D0-4886-A963-7A7EAA8ED1A2}"/>
              </a:ext>
            </a:extLst>
          </p:cNvPr>
          <p:cNvSpPr txBox="1"/>
          <p:nvPr/>
        </p:nvSpPr>
        <p:spPr>
          <a:xfrm>
            <a:off x="6004560" y="3097424"/>
            <a:ext cx="269748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dirty="0"/>
              <a:t>When the current ROM was compiled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35E57E-CAF7-49C4-BEEA-416B00E875C3}"/>
              </a:ext>
            </a:extLst>
          </p:cNvPr>
          <p:cNvSpPr txBox="1"/>
          <p:nvPr/>
        </p:nvSpPr>
        <p:spPr>
          <a:xfrm>
            <a:off x="4282440" y="5925282"/>
            <a:ext cx="144018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Device's codename</a:t>
            </a:r>
          </a:p>
        </p:txBody>
      </p:sp>
    </p:spTree>
    <p:extLst>
      <p:ext uri="{BB962C8B-B14F-4D97-AF65-F5344CB8AC3E}">
        <p14:creationId xmlns:p14="http://schemas.microsoft.com/office/powerpoint/2010/main" val="1757879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5E83763-BD52-4597-A1DA-B44CEFD7F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52" y="2627909"/>
            <a:ext cx="5896848" cy="37313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CD536E-341E-45DA-9DAE-CF5E8D3E0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52" y="1593966"/>
            <a:ext cx="4326638" cy="7220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12764D-5D39-4D4B-90CA-B752986C7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latin typeface="+mj-lt"/>
                <a:ea typeface="+mj-ea"/>
                <a:cs typeface="+mj-cs"/>
              </a:rPr>
              <a:t>What is the latest security patch?</a:t>
            </a:r>
          </a:p>
        </p:txBody>
      </p:sp>
    </p:spTree>
    <p:extLst>
      <p:ext uri="{BB962C8B-B14F-4D97-AF65-F5344CB8AC3E}">
        <p14:creationId xmlns:p14="http://schemas.microsoft.com/office/powerpoint/2010/main" val="1212920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E2274-8DF1-4CCF-BCB5-123C26F5E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the Pixel have a SD card?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B22B49-AEF0-4D25-B962-44A4FDD83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90523"/>
            <a:ext cx="5626608" cy="44578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B4C7F4-10E7-AF2B-C9AE-D7B4E8AD9818}"/>
              </a:ext>
            </a:extLst>
          </p:cNvPr>
          <p:cNvSpPr txBox="1"/>
          <p:nvPr/>
        </p:nvSpPr>
        <p:spPr>
          <a:xfrm>
            <a:off x="6595672" y="1962676"/>
            <a:ext cx="4144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OCR A Extended" panose="02010509020102010303" pitchFamily="50" charset="0"/>
              </a:rPr>
              <a:t>'Pixel 3/product/</a:t>
            </a:r>
            <a:r>
              <a:rPr lang="en-GB" dirty="0" err="1">
                <a:solidFill>
                  <a:srgbClr val="FF0000"/>
                </a:solidFill>
                <a:latin typeface="OCR A Extended" panose="02010509020102010303" pitchFamily="50" charset="0"/>
              </a:rPr>
              <a:t>build.prop</a:t>
            </a:r>
            <a:r>
              <a:rPr lang="en-GB" dirty="0"/>
              <a:t>'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4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4EC4DD-33B7-4864-9743-CADBBF309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mobile carrier/phone#?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1C4097-7D26-4B09-AD45-2C6EAA10E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18214"/>
            <a:ext cx="7462783" cy="38177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5CCB2D-7C3E-484A-ADE6-B1F107839E0A}"/>
              </a:ext>
            </a:extLst>
          </p:cNvPr>
          <p:cNvSpPr txBox="1"/>
          <p:nvPr/>
        </p:nvSpPr>
        <p:spPr>
          <a:xfrm>
            <a:off x="4724400" y="3360420"/>
            <a:ext cx="191437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all </a:t>
            </a:r>
            <a:r>
              <a:rPr lang="en-US" sz="1400" dirty="0" err="1"/>
              <a:t>carrierIDs</a:t>
            </a:r>
            <a:r>
              <a:rPr lang="en-US" sz="1400" dirty="0"/>
              <a:t> worldwide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EEB4ED-610F-4988-ADD1-D79F90C5DFEF}"/>
              </a:ext>
            </a:extLst>
          </p:cNvPr>
          <p:cNvCxnSpPr/>
          <p:nvPr/>
        </p:nvCxnSpPr>
        <p:spPr>
          <a:xfrm flipH="1" flipV="1">
            <a:off x="4274820" y="3474720"/>
            <a:ext cx="403860" cy="45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FD4F1C9-81CE-472E-9AB7-EACC06B8B99F}"/>
              </a:ext>
            </a:extLst>
          </p:cNvPr>
          <p:cNvSpPr txBox="1"/>
          <p:nvPr/>
        </p:nvSpPr>
        <p:spPr>
          <a:xfrm>
            <a:off x="838200" y="1748882"/>
            <a:ext cx="589584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Exam all files under </a:t>
            </a:r>
            <a:r>
              <a:rPr lang="en-US" i="1" dirty="0" err="1">
                <a:solidFill>
                  <a:srgbClr val="FF0000"/>
                </a:solidFill>
              </a:rPr>
              <a:t>com.android.providers.telephony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folder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EA7A13-7250-4834-A809-DABA6C189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363" y="1466364"/>
            <a:ext cx="3386010" cy="1840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B2580A-5140-42D8-A717-64843833F5C8}"/>
              </a:ext>
            </a:extLst>
          </p:cNvPr>
          <p:cNvCxnSpPr>
            <a:cxnSpLocks/>
          </p:cNvCxnSpPr>
          <p:nvPr/>
        </p:nvCxnSpPr>
        <p:spPr>
          <a:xfrm flipV="1">
            <a:off x="6515100" y="1874520"/>
            <a:ext cx="2446020" cy="754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8A18B27-44C3-4130-8BAA-1B2E3F099F54}"/>
              </a:ext>
            </a:extLst>
          </p:cNvPr>
          <p:cNvSpPr txBox="1"/>
          <p:nvPr/>
        </p:nvSpPr>
        <p:spPr>
          <a:xfrm>
            <a:off x="7100126" y="1811701"/>
            <a:ext cx="19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naming convention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BB188A-47DA-401D-A13F-1F3993CA7ED4}"/>
              </a:ext>
            </a:extLst>
          </p:cNvPr>
          <p:cNvSpPr txBox="1"/>
          <p:nvPr/>
        </p:nvSpPr>
        <p:spPr>
          <a:xfrm>
            <a:off x="4334750" y="4864829"/>
            <a:ext cx="1346835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dirty="0"/>
              <a:t>QQ1A.200105.003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C384D2-D02E-4C0F-BA14-1BB7D3D01081}"/>
              </a:ext>
            </a:extLst>
          </p:cNvPr>
          <p:cNvCxnSpPr/>
          <p:nvPr/>
        </p:nvCxnSpPr>
        <p:spPr>
          <a:xfrm flipH="1">
            <a:off x="3101340" y="5024703"/>
            <a:ext cx="1173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677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A8D110-DC96-4B6F-B60A-2FD8E2C4E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60075"/>
            <a:ext cx="10267039" cy="37949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83F394-0BCB-47F5-B6CD-9BC6FF02ED93}"/>
              </a:ext>
            </a:extLst>
          </p:cNvPr>
          <p:cNvSpPr txBox="1"/>
          <p:nvPr/>
        </p:nvSpPr>
        <p:spPr>
          <a:xfrm>
            <a:off x="838200" y="1390743"/>
            <a:ext cx="269804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List tables on </a:t>
            </a:r>
            <a:r>
              <a:rPr lang="en-US" i="1" dirty="0" err="1">
                <a:solidFill>
                  <a:srgbClr val="FF0000"/>
                </a:solidFill>
              </a:rPr>
              <a:t>telephony.db</a:t>
            </a:r>
            <a:endParaRPr lang="en-US" i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5D33D0-AA5F-4429-B6A1-1C20D94E4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923" y="4814086"/>
            <a:ext cx="365217" cy="40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83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15731B-721F-4FE4-926D-BA26E205F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70" y="335224"/>
            <a:ext cx="2773920" cy="12802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6A1B00-CDC1-44AB-B74D-7C75F8419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370" y="2122127"/>
            <a:ext cx="9671622" cy="1760359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2F523198-4744-49D0-BE12-98B77E5973C1}"/>
              </a:ext>
            </a:extLst>
          </p:cNvPr>
          <p:cNvSpPr/>
          <p:nvPr/>
        </p:nvSpPr>
        <p:spPr>
          <a:xfrm>
            <a:off x="2133600" y="1680167"/>
            <a:ext cx="137160" cy="44196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EBC47-2B0C-4F93-9562-0594B0928AB2}"/>
              </a:ext>
            </a:extLst>
          </p:cNvPr>
          <p:cNvSpPr txBox="1"/>
          <p:nvPr/>
        </p:nvSpPr>
        <p:spPr>
          <a:xfrm>
            <a:off x="3726180" y="97657"/>
            <a:ext cx="75514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FF0000"/>
                </a:solidFill>
              </a:rPr>
              <a:t>ICCID</a:t>
            </a:r>
            <a:r>
              <a:rPr lang="en-GB" sz="1600" dirty="0"/>
              <a:t> (Integrated Circuit Card Identifier) is a unique SIM card serial number.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 full ICCID number is 19 or 20 characters.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ICCID may be printed on the SIM card and can usually also be retrieved from the phone's settings or SIM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ICCID contains information identifying the telecommunications industry, issuing country/region, and SIM issuer. </a:t>
            </a:r>
            <a:r>
              <a:rPr lang="en-US" sz="1600" dirty="0"/>
              <a:t>https://www.imei.info/iccid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BD4C7F-B734-486B-8C24-6F81EF2B5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85" y="3882486"/>
            <a:ext cx="1818963" cy="28761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26B21A4-5D61-4530-A811-796C745718FD}"/>
              </a:ext>
            </a:extLst>
          </p:cNvPr>
          <p:cNvSpPr txBox="1"/>
          <p:nvPr/>
        </p:nvSpPr>
        <p:spPr>
          <a:xfrm>
            <a:off x="3726180" y="4089491"/>
            <a:ext cx="6172200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GB" sz="1600" dirty="0"/>
              <a:t>mobile country code (MCC) and mobile network </a:t>
            </a:r>
            <a:r>
              <a:rPr lang="en-US" sz="1600" dirty="0"/>
              <a:t>code (MNC) are used to find network providers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EED319-2E7B-48D5-AE3C-78A7AD7C42C5}"/>
              </a:ext>
            </a:extLst>
          </p:cNvPr>
          <p:cNvSpPr txBox="1"/>
          <p:nvPr/>
        </p:nvSpPr>
        <p:spPr>
          <a:xfrm>
            <a:off x="2777490" y="6164666"/>
            <a:ext cx="84086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https://en.wikipedia.org/wiki/Mobile_Network_Codes_in_ITU_region_3xx_(North_America)#United_States_of_America_%E2%80%93_US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628277D-EDAD-45F3-93CA-E43E09DDD2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6961" y="5005778"/>
            <a:ext cx="9068586" cy="2972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462B65B-1509-4296-B865-30E5981A0C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6904" y="5302997"/>
            <a:ext cx="9518205" cy="66299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B4439E-65FE-498A-A843-01FB61773AB4}"/>
              </a:ext>
            </a:extLst>
          </p:cNvPr>
          <p:cNvCxnSpPr/>
          <p:nvPr/>
        </p:nvCxnSpPr>
        <p:spPr>
          <a:xfrm flipV="1">
            <a:off x="2081561" y="260195"/>
            <a:ext cx="1732156" cy="2371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E21891-0ACE-44EF-A2C2-59BBF4AE9258}"/>
              </a:ext>
            </a:extLst>
          </p:cNvPr>
          <p:cNvCxnSpPr/>
          <p:nvPr/>
        </p:nvCxnSpPr>
        <p:spPr>
          <a:xfrm flipH="1">
            <a:off x="5939883" y="2743200"/>
            <a:ext cx="2289717" cy="1346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5ED13B-E817-4870-8DF8-D524DDF7E77E}"/>
              </a:ext>
            </a:extLst>
          </p:cNvPr>
          <p:cNvCxnSpPr/>
          <p:nvPr/>
        </p:nvCxnSpPr>
        <p:spPr>
          <a:xfrm flipH="1">
            <a:off x="8512098" y="2768509"/>
            <a:ext cx="906965" cy="1320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52B8FC-F906-4C09-ACA1-F3B20F1EE167}"/>
              </a:ext>
            </a:extLst>
          </p:cNvPr>
          <p:cNvCxnSpPr>
            <a:cxnSpLocks/>
          </p:cNvCxnSpPr>
          <p:nvPr/>
        </p:nvCxnSpPr>
        <p:spPr>
          <a:xfrm flipH="1">
            <a:off x="2839844" y="3665034"/>
            <a:ext cx="5166732" cy="1340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0830252-4A47-4B20-91C7-6EAF01D0897F}"/>
              </a:ext>
            </a:extLst>
          </p:cNvPr>
          <p:cNvCxnSpPr>
            <a:cxnSpLocks/>
          </p:cNvCxnSpPr>
          <p:nvPr/>
        </p:nvCxnSpPr>
        <p:spPr>
          <a:xfrm flipH="1">
            <a:off x="3449444" y="3598127"/>
            <a:ext cx="5538439" cy="1407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057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2563-E34B-43DD-9F66-45A10E65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blocked phone number?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39DCB4-C4FF-468C-8DCA-AD8A5526F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33503"/>
            <a:ext cx="10714649" cy="5410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78D34E-4BB8-49C0-AFE7-6F2586866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429000"/>
            <a:ext cx="2328542" cy="8778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E7722C-2706-4E76-B2C8-A83CDB8DB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104" y="3429000"/>
            <a:ext cx="4957356" cy="201168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68C458-8A79-4914-B38E-C6D110028EAE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3166742" y="3867912"/>
            <a:ext cx="1475362" cy="566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D63720-E809-4349-8B78-F3B867C4B0EE}"/>
              </a:ext>
            </a:extLst>
          </p:cNvPr>
          <p:cNvSpPr txBox="1"/>
          <p:nvPr/>
        </p:nvSpPr>
        <p:spPr>
          <a:xfrm>
            <a:off x="838200" y="1944934"/>
            <a:ext cx="222496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</a:t>
            </a:r>
            <a:r>
              <a:rPr lang="en-US" dirty="0" err="1"/>
              <a:t>blockednumber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272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27147-3CC9-47E5-A6AA-4C9B40760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" y="1836021"/>
            <a:ext cx="8737871" cy="30709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45311E-8C66-4F21-BB80-F29DA3297632}"/>
              </a:ext>
            </a:extLst>
          </p:cNvPr>
          <p:cNvSpPr txBox="1"/>
          <p:nvPr/>
        </p:nvSpPr>
        <p:spPr>
          <a:xfrm>
            <a:off x="1173480" y="1466689"/>
            <a:ext cx="509254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Check </a:t>
            </a:r>
            <a:r>
              <a:rPr lang="en-US" i="1" dirty="0" err="1">
                <a:solidFill>
                  <a:srgbClr val="FF0000"/>
                </a:solidFill>
              </a:rPr>
              <a:t>carrierconfig</a:t>
            </a:r>
            <a:r>
              <a:rPr lang="en-US" dirty="0"/>
              <a:t> information to verify the carriers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3AF5EC-32EF-4B83-84BE-C9F7C0BA90A7}"/>
              </a:ext>
            </a:extLst>
          </p:cNvPr>
          <p:cNvCxnSpPr/>
          <p:nvPr/>
        </p:nvCxnSpPr>
        <p:spPr>
          <a:xfrm flipH="1">
            <a:off x="9296400" y="3314700"/>
            <a:ext cx="419100" cy="56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BC48A6-5359-4A0B-82D7-A487ACEE335B}"/>
              </a:ext>
            </a:extLst>
          </p:cNvPr>
          <p:cNvCxnSpPr/>
          <p:nvPr/>
        </p:nvCxnSpPr>
        <p:spPr>
          <a:xfrm flipH="1">
            <a:off x="9220200" y="3573780"/>
            <a:ext cx="411480" cy="60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C25043-C240-4B21-9407-056874DFB75A}"/>
              </a:ext>
            </a:extLst>
          </p:cNvPr>
          <p:cNvCxnSpPr/>
          <p:nvPr/>
        </p:nvCxnSpPr>
        <p:spPr>
          <a:xfrm flipH="1">
            <a:off x="5471160" y="3954780"/>
            <a:ext cx="449580" cy="83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76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3075B7A3-9469-4AD7-823B-CB20C18F1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77" y="643466"/>
            <a:ext cx="10511446" cy="55710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0E1030-27D0-4756-9334-78DA697296A4}"/>
              </a:ext>
            </a:extLst>
          </p:cNvPr>
          <p:cNvSpPr txBox="1"/>
          <p:nvPr/>
        </p:nvSpPr>
        <p:spPr>
          <a:xfrm>
            <a:off x="8331620" y="77651"/>
            <a:ext cx="1416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</a:rPr>
              <a:t>ICCID </a:t>
            </a:r>
            <a:r>
              <a:rPr lang="en-US" altLang="zh-CN" sz="1800" dirty="0">
                <a:solidFill>
                  <a:srgbClr val="FF0000"/>
                </a:solidFill>
              </a:rPr>
              <a:t>id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1450412-E418-447A-BFCD-1F43A617ED8E}"/>
              </a:ext>
            </a:extLst>
          </p:cNvPr>
          <p:cNvCxnSpPr>
            <a:stCxn id="4" idx="2"/>
          </p:cNvCxnSpPr>
          <p:nvPr/>
        </p:nvCxnSpPr>
        <p:spPr>
          <a:xfrm>
            <a:off x="9040091" y="446983"/>
            <a:ext cx="595116" cy="3540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D6160-C824-4AE1-901E-1C48B3D312B2}"/>
              </a:ext>
            </a:extLst>
          </p:cNvPr>
          <p:cNvSpPr txBox="1"/>
          <p:nvPr/>
        </p:nvSpPr>
        <p:spPr>
          <a:xfrm>
            <a:off x="8400893" y="2961426"/>
            <a:ext cx="1416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</a:rPr>
              <a:t>ICCID </a:t>
            </a:r>
            <a:r>
              <a:rPr lang="en-US" altLang="zh-CN" sz="1800" dirty="0">
                <a:solidFill>
                  <a:srgbClr val="FF0000"/>
                </a:solidFill>
              </a:rPr>
              <a:t>id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960798-17DF-4083-9C42-F71523D03C40}"/>
              </a:ext>
            </a:extLst>
          </p:cNvPr>
          <p:cNvCxnSpPr>
            <a:stCxn id="7" idx="2"/>
          </p:cNvCxnSpPr>
          <p:nvPr/>
        </p:nvCxnSpPr>
        <p:spPr>
          <a:xfrm>
            <a:off x="9109364" y="3330758"/>
            <a:ext cx="595116" cy="3540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061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D3404-EE13-45F2-8060-F5319CCDC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sz="3700" dirty="0"/>
              <a:t>What is serial number of the device?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2956B-5E73-4E7E-9E09-50F6EE90B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2000" dirty="0"/>
              <a:t>Hardware configurations may contain the serial number of the device</a:t>
            </a:r>
          </a:p>
          <a:p>
            <a:pPr lvl="1"/>
            <a:r>
              <a:rPr lang="en-US" sz="2000" dirty="0"/>
              <a:t>e.g., camera, audio devices configs</a:t>
            </a:r>
          </a:p>
          <a:p>
            <a:r>
              <a:rPr lang="en-US" sz="2000" dirty="0"/>
              <a:t>Find vendor specific configurations associated with hardware devices </a:t>
            </a:r>
          </a:p>
          <a:p>
            <a:r>
              <a:rPr lang="en-US" sz="2000" dirty="0"/>
              <a:t>Where are these configuration files?</a:t>
            </a: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2FF9050D-B444-41D5-AE46-ABB8999FC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548" y="807593"/>
            <a:ext cx="5837958" cy="5239568"/>
          </a:xfrm>
          <a:prstGeom prst="rect">
            <a:avLst/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EAB3F2-12F5-0BB2-0006-E395D7953EFB}"/>
              </a:ext>
            </a:extLst>
          </p:cNvPr>
          <p:cNvSpPr txBox="1"/>
          <p:nvPr/>
        </p:nvSpPr>
        <p:spPr>
          <a:xfrm>
            <a:off x="8263010" y="3422237"/>
            <a:ext cx="255144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/>
              <a:t>store persistent data that survives reboots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13CD2D-BD4B-3AE0-17A5-F96584D6C755}"/>
              </a:ext>
            </a:extLst>
          </p:cNvPr>
          <p:cNvCxnSpPr/>
          <p:nvPr/>
        </p:nvCxnSpPr>
        <p:spPr>
          <a:xfrm flipH="1" flipV="1">
            <a:off x="7399606" y="2525151"/>
            <a:ext cx="863404" cy="1220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196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E142C7-6128-4B84-9097-91DA8BFC2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07" y="1063558"/>
            <a:ext cx="11133785" cy="28882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6AD258-A9A6-4A2E-A797-F54CD58AF56C}"/>
              </a:ext>
            </a:extLst>
          </p:cNvPr>
          <p:cNvSpPr txBox="1"/>
          <p:nvPr/>
        </p:nvSpPr>
        <p:spPr>
          <a:xfrm>
            <a:off x="529107" y="694226"/>
            <a:ext cx="566482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Search key word “serial number” under the</a:t>
            </a:r>
            <a:r>
              <a:rPr lang="en-US" i="1" dirty="0">
                <a:solidFill>
                  <a:srgbClr val="FF0000"/>
                </a:solidFill>
              </a:rPr>
              <a:t> /vendor </a:t>
            </a:r>
            <a:r>
              <a:rPr lang="en-US" dirty="0"/>
              <a:t>folder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CB84A0-4749-BA96-E9C2-9A58ABD8F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982" y="4152049"/>
            <a:ext cx="892232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grep -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grep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 command-line utility used to search for text patterns within files.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Recursively searches all files in the specified directory and its subdirectories.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Makes the search case-insensitive, meaning it will match both uppercase and lowercase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dirty="0">
                <a:latin typeface="Oxygen" panose="02000503000000000000" pitchFamily="2" charset="0"/>
              </a:rPr>
              <a:t>grep -</a:t>
            </a:r>
            <a:r>
              <a:rPr lang="en-GB" dirty="0" err="1">
                <a:latin typeface="Oxygen" panose="02000503000000000000" pitchFamily="2" charset="0"/>
              </a:rPr>
              <a:t>ri</a:t>
            </a:r>
            <a:r>
              <a:rPr lang="en-GB" dirty="0">
                <a:latin typeface="Oxygen" panose="02000503000000000000" pitchFamily="2" charset="0"/>
              </a:rPr>
              <a:t> "</a:t>
            </a:r>
            <a:r>
              <a:rPr lang="en-GB" dirty="0" err="1">
                <a:latin typeface="Oxygen" panose="02000503000000000000" pitchFamily="2" charset="0"/>
              </a:rPr>
              <a:t>search_term</a:t>
            </a:r>
            <a:r>
              <a:rPr lang="en-GB" dirty="0">
                <a:latin typeface="Oxygen" panose="02000503000000000000" pitchFamily="2" charset="0"/>
              </a:rPr>
              <a:t>" /path/to/directory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xygen" panose="02000503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9BC20-77D8-3C55-730F-2FCD06A93BDB}"/>
              </a:ext>
            </a:extLst>
          </p:cNvPr>
          <p:cNvSpPr txBox="1"/>
          <p:nvPr/>
        </p:nvSpPr>
        <p:spPr>
          <a:xfrm>
            <a:off x="5490691" y="1348713"/>
            <a:ext cx="5960411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Pixel device’s light sensor system for screen brightness adjustment</a:t>
            </a:r>
          </a:p>
        </p:txBody>
      </p:sp>
    </p:spTree>
    <p:extLst>
      <p:ext uri="{BB962C8B-B14F-4D97-AF65-F5344CB8AC3E}">
        <p14:creationId xmlns:p14="http://schemas.microsoft.com/office/powerpoint/2010/main" val="3476121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125509-9C62-4C15-8760-20D94D50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 information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2E1DC-1B18-48C2-8921-A09E6B843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53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A981AB-0784-4949-A6CA-F1D927566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8D48E90-A3CF-467C-B13E-F69D849C2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127795"/>
              </p:ext>
            </p:extLst>
          </p:nvPr>
        </p:nvGraphicFramePr>
        <p:xfrm>
          <a:off x="838198" y="1690688"/>
          <a:ext cx="10283284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6568">
                  <a:extLst>
                    <a:ext uri="{9D8B030D-6E8A-4147-A177-3AD203B41FA5}">
                      <a16:colId xmlns:a16="http://schemas.microsoft.com/office/drawing/2014/main" val="1218019907"/>
                    </a:ext>
                  </a:extLst>
                </a:gridCol>
                <a:gridCol w="7386716">
                  <a:extLst>
                    <a:ext uri="{9D8B030D-6E8A-4147-A177-3AD203B41FA5}">
                      <a16:colId xmlns:a16="http://schemas.microsoft.com/office/drawing/2014/main" val="3106663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362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Users‘ ID,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latin typeface="Arial Narrow" panose="020B0606020202030204" pitchFamily="34" charset="0"/>
                        </a:rPr>
                        <a:t>Pixel 3/data/system/users/userlist.xml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97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 Narrow" panose="020B0606020202030204" pitchFamily="34" charset="0"/>
                        </a:rPr>
                        <a:t>Pixel 3/data/system/users/0.xml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latin typeface="Arial Narrow" panose="020B0606020202030204" pitchFamily="34" charset="0"/>
                        </a:rPr>
                        <a:t>Pixel 3/data/system/users/1.xml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619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Gmail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 Narrow" panose="020B0606020202030204" pitchFamily="34" charset="0"/>
                        </a:rPr>
                        <a:t>Pixel 3/</a:t>
                      </a:r>
                      <a:r>
                        <a:rPr lang="en-US" dirty="0">
                          <a:latin typeface="Arial Narrow" panose="020B0606020202030204" pitchFamily="34" charset="0"/>
                        </a:rPr>
                        <a:t>data/data/com.google.android.gm/</a:t>
                      </a:r>
                      <a:r>
                        <a:rPr lang="en-US" dirty="0" err="1">
                          <a:latin typeface="Arial Narrow" panose="020B0606020202030204" pitchFamily="34" charset="0"/>
                        </a:rPr>
                        <a:t>shared_prefs</a:t>
                      </a:r>
                      <a:r>
                        <a:rPr lang="en-US" dirty="0">
                          <a:latin typeface="Arial Narrow" panose="020B0606020202030204" pitchFamily="34" charset="0"/>
                        </a:rPr>
                        <a:t>/Gmail.xml</a:t>
                      </a:r>
                    </a:p>
                    <a:p>
                      <a:r>
                        <a:rPr lang="de-DE" dirty="0">
                          <a:latin typeface="Arial Narrow" panose="020B0606020202030204" pitchFamily="34" charset="0"/>
                        </a:rPr>
                        <a:t>Pixel 3/</a:t>
                      </a:r>
                      <a:r>
                        <a:rPr lang="en-US" dirty="0">
                          <a:latin typeface="Arial Narrow" panose="020B0606020202030204" pitchFamily="34" charset="0"/>
                        </a:rPr>
                        <a:t>data/data/com.google.android.gm/</a:t>
                      </a:r>
                      <a:r>
                        <a:rPr lang="en-US" dirty="0" err="1">
                          <a:latin typeface="Arial Narrow" panose="020B0606020202030204" pitchFamily="34" charset="0"/>
                        </a:rPr>
                        <a:t>shared_prefs</a:t>
                      </a:r>
                      <a:r>
                        <a:rPr lang="en-US" dirty="0">
                          <a:latin typeface="Arial Narrow" panose="020B0606020202030204" pitchFamily="34" charset="0"/>
                        </a:rPr>
                        <a:t>/UnifiedEmail.xml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030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Gmail with play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Arial Narrow" panose="020B0606020202030204" pitchFamily="34" charset="0"/>
                        </a:rPr>
                        <a:t>Pixel 3/data/data/com.android.vending/cache/logs/</a:t>
                      </a:r>
                      <a:endParaRPr lang="en-US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815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 account and 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dirty="0">
                          <a:latin typeface="Arial Narrow" panose="020B0606020202030204" pitchFamily="34" charset="0"/>
                        </a:rPr>
                        <a:t>Pixel 3/data/system_ce/0/account_ce.db  </a:t>
                      </a:r>
                      <a:r>
                        <a:rPr lang="nn-NO" sz="14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Credential-Encrypted (CE) storage.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dirty="0">
                          <a:latin typeface="Arial Narrow" panose="020B0606020202030204" pitchFamily="34" charset="0"/>
                        </a:rPr>
                        <a:t>Pixel 3/data/system_de/0/account_de.db </a:t>
                      </a:r>
                      <a:r>
                        <a:rPr lang="nn-NO" sz="14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Device-Encrypted (DE) storage</a:t>
                      </a:r>
                      <a:endParaRPr lang="en-US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4499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A70926-6048-CF93-6CAE-849C11BF0461}"/>
              </a:ext>
            </a:extLst>
          </p:cNvPr>
          <p:cNvSpPr txBox="1"/>
          <p:nvPr/>
        </p:nvSpPr>
        <p:spPr>
          <a:xfrm>
            <a:off x="810548" y="4892437"/>
            <a:ext cx="1054325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FF0000"/>
                </a:solidFill>
              </a:rPr>
              <a:t>Pixel 3/data/: </a:t>
            </a:r>
            <a:r>
              <a:rPr lang="en-GB" sz="1600" dirty="0"/>
              <a:t>It contains various subdirectories for storing app data, system settings, and other persistent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n-NO" sz="1600" dirty="0">
                <a:solidFill>
                  <a:srgbClr val="FF0000"/>
                </a:solidFill>
              </a:rPr>
              <a:t>account_ce.db:  </a:t>
            </a:r>
            <a:r>
              <a:rPr lang="en-GB" sz="1600" dirty="0"/>
              <a:t>only accessible when the user has unlocked the device with their credentials (e.g., PIN, password, or pattern). Data here is tied to the user's login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n-NO" sz="1600" dirty="0">
                <a:solidFill>
                  <a:srgbClr val="FF0000"/>
                </a:solidFill>
              </a:rPr>
              <a:t>account_de.db</a:t>
            </a:r>
            <a:r>
              <a:rPr lang="en-GB" sz="1600" dirty="0"/>
              <a:t>: accessible as soon as the device boots, even before the user unlocks it. Data here is encrypted using the device's hardware key and is not tied to the user's credentials.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04862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8F9289-C8C8-4547-8C65-3A2A145DF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How many user accounts on the device? </a:t>
            </a:r>
            <a:r>
              <a:rPr lang="en-US" sz="3600" dirty="0">
                <a:solidFill>
                  <a:srgbClr val="C00000"/>
                </a:solidFill>
              </a:rPr>
              <a:t>Two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17D28-741F-4A13-A204-CB1BC61D3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303" y="356861"/>
            <a:ext cx="3916976" cy="61442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B643356-4F77-43A1-9184-C3554ABB4737}"/>
              </a:ext>
            </a:extLst>
          </p:cNvPr>
          <p:cNvSpPr txBox="1"/>
          <p:nvPr/>
        </p:nvSpPr>
        <p:spPr>
          <a:xfrm>
            <a:off x="8559696" y="624175"/>
            <a:ext cx="285428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used for multi-user support.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BEAA15-B7EE-47C8-A782-A1299A20EA4B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6310116" y="717917"/>
            <a:ext cx="2249580" cy="90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CEBAAD-6C34-402F-8910-F22F92D00129}"/>
              </a:ext>
            </a:extLst>
          </p:cNvPr>
          <p:cNvSpPr txBox="1"/>
          <p:nvPr/>
        </p:nvSpPr>
        <p:spPr>
          <a:xfrm>
            <a:off x="8620293" y="5804401"/>
            <a:ext cx="285428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keeps info on all users in the system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E4B2F5-5D32-4080-AFEC-E8A7D633A863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5682883" y="6127567"/>
            <a:ext cx="2937410" cy="2732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6B933F8-92B9-427A-8BD1-CBE0B5E778AB}"/>
              </a:ext>
            </a:extLst>
          </p:cNvPr>
          <p:cNvSpPr txBox="1"/>
          <p:nvPr/>
        </p:nvSpPr>
        <p:spPr>
          <a:xfrm>
            <a:off x="438307" y="485675"/>
            <a:ext cx="341827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/>
              <a:t>0 - is a device owner/primary user 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F459A0A-8DBD-4901-949B-977C48067AAA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3856580" y="670341"/>
            <a:ext cx="798547" cy="1846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004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79787-2712-479C-8C5F-2A162530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registered users does the device have?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3D12B3-D818-4291-AEC6-AEB28A3AA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" y="2224935"/>
            <a:ext cx="11979678" cy="240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99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C53F4-45C3-4A29-860A-43FA97CE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did the device owner last time log in?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3ECC7C-A543-4448-8D38-274D89E0A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12032"/>
            <a:ext cx="12192000" cy="31373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34D19C-4F60-40EF-9FAA-0CAA12708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474" y="1850809"/>
            <a:ext cx="3398815" cy="7011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8D0AC4-7707-40E9-AAB9-6E3CCD4B5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0741" y="3837371"/>
            <a:ext cx="518205" cy="50296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155BBB-932C-4734-8031-469108EE4C2E}"/>
              </a:ext>
            </a:extLst>
          </p:cNvPr>
          <p:cNvCxnSpPr>
            <a:endCxn id="10" idx="1"/>
          </p:cNvCxnSpPr>
          <p:nvPr/>
        </p:nvCxnSpPr>
        <p:spPr>
          <a:xfrm>
            <a:off x="5246703" y="3657600"/>
            <a:ext cx="364038" cy="431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AE3936D-29BF-4B50-BF14-814B654AECC0}"/>
              </a:ext>
            </a:extLst>
          </p:cNvPr>
          <p:cNvSpPr txBox="1"/>
          <p:nvPr/>
        </p:nvSpPr>
        <p:spPr>
          <a:xfrm>
            <a:off x="8920209" y="3683482"/>
            <a:ext cx="2301273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blueline</a:t>
            </a:r>
            <a:r>
              <a:rPr lang="en-US" sz="1400" dirty="0"/>
              <a:t>: Android  codename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7BB11E9-C59A-42D7-BEA3-5BA3A6B573FA}"/>
              </a:ext>
            </a:extLst>
          </p:cNvPr>
          <p:cNvCxnSpPr/>
          <p:nvPr/>
        </p:nvCxnSpPr>
        <p:spPr>
          <a:xfrm flipH="1">
            <a:off x="9535886" y="3429000"/>
            <a:ext cx="50800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762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88AA47-8579-4C13-B43C-A6E44B8B4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300">
                <a:solidFill>
                  <a:srgbClr val="FFFFFF"/>
                </a:solidFill>
              </a:rPr>
              <a:t>How many email addresses you can find on the image?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FDEB9B75-4F1C-45B6-BDAA-B8C7879BB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878" y="1360051"/>
            <a:ext cx="6780700" cy="39667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31EAB9-54EA-479B-A015-8FB1BD109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316" y="5497949"/>
            <a:ext cx="6780700" cy="7012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05974-E83A-4363-B2C2-C363E82A3F80}"/>
              </a:ext>
            </a:extLst>
          </p:cNvPr>
          <p:cNvSpPr txBox="1"/>
          <p:nvPr/>
        </p:nvSpPr>
        <p:spPr>
          <a:xfrm>
            <a:off x="4777316" y="489431"/>
            <a:ext cx="1681871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list top 20 email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6719DA-9BFD-4992-98E3-27BE4EE68198}"/>
              </a:ext>
            </a:extLst>
          </p:cNvPr>
          <p:cNvSpPr txBox="1"/>
          <p:nvPr/>
        </p:nvSpPr>
        <p:spPr>
          <a:xfrm>
            <a:off x="4777315" y="5128617"/>
            <a:ext cx="167654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Count all emails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1361A8-5D52-4996-B20F-4D6DEAD2561B}"/>
              </a:ext>
            </a:extLst>
          </p:cNvPr>
          <p:cNvSpPr txBox="1"/>
          <p:nvPr/>
        </p:nvSpPr>
        <p:spPr>
          <a:xfrm>
            <a:off x="1629741" y="304765"/>
            <a:ext cx="2761758" cy="1107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-E</a:t>
            </a:r>
            <a:r>
              <a:rPr lang="en-US" sz="1100" dirty="0"/>
              <a:t>: </a:t>
            </a:r>
            <a:r>
              <a:rPr lang="en-GB" sz="1100" dirty="0"/>
              <a:t>Extended Regular Expression </a:t>
            </a:r>
          </a:p>
          <a:p>
            <a:r>
              <a:rPr lang="en-GB" sz="1100" dirty="0">
                <a:solidFill>
                  <a:srgbClr val="FF0000"/>
                </a:solidFill>
              </a:rPr>
              <a:t>-</a:t>
            </a:r>
            <a:r>
              <a:rPr lang="en-GB" sz="1100" dirty="0" err="1">
                <a:solidFill>
                  <a:srgbClr val="FF0000"/>
                </a:solidFill>
              </a:rPr>
              <a:t>i</a:t>
            </a:r>
            <a:r>
              <a:rPr lang="en-GB" sz="1100" dirty="0"/>
              <a:t>: ignore case</a:t>
            </a:r>
          </a:p>
          <a:p>
            <a:r>
              <a:rPr lang="en-GB" sz="1100" dirty="0">
                <a:solidFill>
                  <a:srgbClr val="FF0000"/>
                </a:solidFill>
              </a:rPr>
              <a:t>-o</a:t>
            </a:r>
            <a:r>
              <a:rPr lang="en-GB" sz="1100" dirty="0"/>
              <a:t>: show only match, not whole lines</a:t>
            </a:r>
          </a:p>
          <a:p>
            <a:r>
              <a:rPr lang="en-GB" sz="1100" dirty="0">
                <a:solidFill>
                  <a:srgbClr val="FF0000"/>
                </a:solidFill>
              </a:rPr>
              <a:t>-r</a:t>
            </a:r>
            <a:r>
              <a:rPr lang="en-GB" sz="1100" dirty="0"/>
              <a:t>: recursive</a:t>
            </a:r>
          </a:p>
          <a:p>
            <a:r>
              <a:rPr lang="en-GB" sz="1100" dirty="0">
                <a:solidFill>
                  <a:srgbClr val="FF0000"/>
                </a:solidFill>
              </a:rPr>
              <a:t>-h</a:t>
            </a:r>
            <a:r>
              <a:rPr lang="en-GB" sz="1100" dirty="0"/>
              <a:t>: don’t show file name</a:t>
            </a:r>
          </a:p>
          <a:p>
            <a:r>
              <a:rPr lang="en-GB" sz="1100" dirty="0">
                <a:solidFill>
                  <a:srgbClr val="FF0000"/>
                </a:solidFill>
              </a:rPr>
              <a:t>-I</a:t>
            </a:r>
            <a:r>
              <a:rPr lang="en-GB" sz="1100" dirty="0"/>
              <a:t>: ignore binary files</a:t>
            </a:r>
            <a:endParaRPr lang="en-US" sz="11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0B566C-98D5-4B44-B3BD-56D3D68CDC36}"/>
              </a:ext>
            </a:extLst>
          </p:cNvPr>
          <p:cNvCxnSpPr>
            <a:endCxn id="14" idx="3"/>
          </p:cNvCxnSpPr>
          <p:nvPr/>
        </p:nvCxnSpPr>
        <p:spPr>
          <a:xfrm flipH="1" flipV="1">
            <a:off x="4391499" y="858763"/>
            <a:ext cx="1325360" cy="369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23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8EF667-B886-0CC6-DE00-7FDAD2872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33" y="1566701"/>
            <a:ext cx="11118228" cy="307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031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173CE9-44EA-AA1F-B623-A82AD8328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98" y="1246958"/>
            <a:ext cx="10555404" cy="436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89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A1C00-E910-4C86-978A-5C64E2AB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App ID of Gmail?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A4DBA0-D774-4E78-8CB8-B9433EB8B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Every Android app has a unique application ID </a:t>
            </a:r>
          </a:p>
          <a:p>
            <a:pPr lvl="1"/>
            <a:r>
              <a:rPr lang="en-GB" dirty="0"/>
              <a:t>looks like a Java package name, such as </a:t>
            </a:r>
            <a:r>
              <a:rPr lang="en-GB" i="1" dirty="0" err="1">
                <a:solidFill>
                  <a:srgbClr val="C00000"/>
                </a:solidFill>
              </a:rPr>
              <a:t>com.example.myapp</a:t>
            </a:r>
            <a:endParaRPr lang="en-GB" dirty="0">
              <a:solidFill>
                <a:srgbClr val="C00000"/>
              </a:solidFill>
            </a:endParaRPr>
          </a:p>
          <a:p>
            <a:r>
              <a:rPr lang="en-GB" dirty="0"/>
              <a:t>Android app ID never changes</a:t>
            </a:r>
          </a:p>
          <a:p>
            <a:pPr lvl="1"/>
            <a:r>
              <a:rPr lang="en-GB" dirty="0"/>
              <a:t>If upload a new version of app, the application ID (and the certificate you sign it with) must be the same as the original APK</a:t>
            </a:r>
          </a:p>
          <a:p>
            <a:pPr lvl="1"/>
            <a:r>
              <a:rPr lang="en-GB" dirty="0"/>
              <a:t>if you change the application ID, Google Play Store treats the APK as a completely different app. </a:t>
            </a:r>
          </a:p>
          <a:p>
            <a:r>
              <a:rPr lang="en-GB" dirty="0"/>
              <a:t>Good for forensic analysis</a:t>
            </a:r>
          </a:p>
          <a:p>
            <a:pPr lvl="1"/>
            <a:r>
              <a:rPr lang="en-GB" dirty="0"/>
              <a:t>Easy to identify apps in a device</a:t>
            </a:r>
          </a:p>
        </p:txBody>
      </p:sp>
    </p:spTree>
    <p:extLst>
      <p:ext uri="{BB962C8B-B14F-4D97-AF65-F5344CB8AC3E}">
        <p14:creationId xmlns:p14="http://schemas.microsoft.com/office/powerpoint/2010/main" val="591621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2A3164-FC86-4F01-AA09-CA923C6AD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057147"/>
            <a:ext cx="10905066" cy="474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0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9D61-741B-4A5C-945F-DF6F260DF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Gmail is registered for google service for Pixel 3?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014D9-EAD7-4A5F-A4DC-921919091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Google use Gmail credential as a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ingle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ign-</a:t>
            </a:r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dirty="0"/>
              <a:t>n (SSO) </a:t>
            </a:r>
          </a:p>
          <a:p>
            <a:pPr lvl="1"/>
            <a:r>
              <a:rPr lang="en-US" dirty="0"/>
              <a:t>for all the service they provide</a:t>
            </a:r>
          </a:p>
          <a:p>
            <a:r>
              <a:rPr lang="en-US" dirty="0"/>
              <a:t>Search for generated data by Gmail application</a:t>
            </a:r>
          </a:p>
          <a:p>
            <a:pPr lvl="1"/>
            <a:r>
              <a:rPr lang="en-US" dirty="0"/>
              <a:t>Gmail package </a:t>
            </a:r>
            <a:r>
              <a:rPr lang="en-US" i="1" dirty="0">
                <a:solidFill>
                  <a:srgbClr val="FF0000"/>
                </a:solidFill>
              </a:rPr>
              <a:t>com.google.android.gm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BAF97F-FF84-44EA-B8DF-7DD922A3A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98331"/>
            <a:ext cx="6713802" cy="24919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6B43207-946B-4086-AF7F-D5DAD53F521F}"/>
              </a:ext>
            </a:extLst>
          </p:cNvPr>
          <p:cNvSpPr txBox="1"/>
          <p:nvPr/>
        </p:nvSpPr>
        <p:spPr>
          <a:xfrm>
            <a:off x="838200" y="3428999"/>
            <a:ext cx="393351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Exam all generated data/config of Gmail</a:t>
            </a:r>
          </a:p>
        </p:txBody>
      </p:sp>
    </p:spTree>
    <p:extLst>
      <p:ext uri="{BB962C8B-B14F-4D97-AF65-F5344CB8AC3E}">
        <p14:creationId xmlns:p14="http://schemas.microsoft.com/office/powerpoint/2010/main" val="493733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AEC9A9-5349-44CE-9DA1-AB41DFE55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16" y="643466"/>
            <a:ext cx="8346168" cy="557106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C2D685D-5251-48D9-A846-E688A53BE7B3}"/>
              </a:ext>
            </a:extLst>
          </p:cNvPr>
          <p:cNvCxnSpPr>
            <a:cxnSpLocks/>
          </p:cNvCxnSpPr>
          <p:nvPr/>
        </p:nvCxnSpPr>
        <p:spPr>
          <a:xfrm flipH="1">
            <a:off x="3129776" y="4438185"/>
            <a:ext cx="5203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8CB8EA-7B73-4A17-9F23-44F86C60AE36}"/>
              </a:ext>
            </a:extLst>
          </p:cNvPr>
          <p:cNvCxnSpPr>
            <a:cxnSpLocks/>
          </p:cNvCxnSpPr>
          <p:nvPr/>
        </p:nvCxnSpPr>
        <p:spPr>
          <a:xfrm flipH="1">
            <a:off x="3717073" y="5501268"/>
            <a:ext cx="5352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DB8D5E-648F-4D2B-9490-62D92BD2FC27}"/>
              </a:ext>
            </a:extLst>
          </p:cNvPr>
          <p:cNvSpPr txBox="1"/>
          <p:nvPr/>
        </p:nvSpPr>
        <p:spPr>
          <a:xfrm>
            <a:off x="1922916" y="274134"/>
            <a:ext cx="387048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shared preference/configurations</a:t>
            </a:r>
          </a:p>
        </p:txBody>
      </p:sp>
    </p:spTree>
    <p:extLst>
      <p:ext uri="{BB962C8B-B14F-4D97-AF65-F5344CB8AC3E}">
        <p14:creationId xmlns:p14="http://schemas.microsoft.com/office/powerpoint/2010/main" val="15772709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F6CAFC-0C64-46F3-AA81-38702452B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902" y="806753"/>
            <a:ext cx="8876195" cy="56141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B4B96E-BCFA-40B2-8153-EC11676FFBB4}"/>
              </a:ext>
            </a:extLst>
          </p:cNvPr>
          <p:cNvSpPr txBox="1"/>
          <p:nvPr/>
        </p:nvSpPr>
        <p:spPr>
          <a:xfrm>
            <a:off x="1657902" y="437123"/>
            <a:ext cx="311104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Check Gmail preference setting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DBFC8-C76A-4535-991B-C982FBC9BA91}"/>
              </a:ext>
            </a:extLst>
          </p:cNvPr>
          <p:cNvSpPr txBox="1"/>
          <p:nvPr/>
        </p:nvSpPr>
        <p:spPr>
          <a:xfrm>
            <a:off x="9015985" y="2208529"/>
            <a:ext cx="255898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Gmail is associated with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C000"/>
                </a:solidFill>
              </a:rPr>
              <a:t>phone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B050"/>
                </a:solidFill>
              </a:rPr>
              <a:t>apps</a:t>
            </a:r>
            <a:r>
              <a:rPr lang="en-US" sz="1400" dirty="0"/>
              <a:t>: </a:t>
            </a:r>
            <a:r>
              <a:rPr lang="en-US" sz="1400" dirty="0" err="1"/>
              <a:t>Textnow</a:t>
            </a:r>
            <a:r>
              <a:rPr lang="en-US" sz="1400" dirty="0"/>
              <a:t>, Signal, </a:t>
            </a:r>
            <a:r>
              <a:rPr lang="en-US" sz="1400" dirty="0" err="1"/>
              <a:t>Skyper</a:t>
            </a:r>
            <a:r>
              <a:rPr lang="en-US" sz="1400" dirty="0"/>
              <a:t>, </a:t>
            </a:r>
            <a:r>
              <a:rPr lang="en-US" sz="1400" dirty="0" err="1"/>
              <a:t>whatapp</a:t>
            </a:r>
            <a:endParaRPr lang="en-US" sz="1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4069AB-58E9-4D3B-9FE0-D4CD7720AA80}"/>
              </a:ext>
            </a:extLst>
          </p:cNvPr>
          <p:cNvCxnSpPr/>
          <p:nvPr/>
        </p:nvCxnSpPr>
        <p:spPr>
          <a:xfrm flipH="1">
            <a:off x="7114478" y="2624254"/>
            <a:ext cx="2222810" cy="213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0534AD-4600-4BEA-A636-168790CF73A9}"/>
              </a:ext>
            </a:extLst>
          </p:cNvPr>
          <p:cNvCxnSpPr/>
          <p:nvPr/>
        </p:nvCxnSpPr>
        <p:spPr>
          <a:xfrm flipH="1" flipV="1">
            <a:off x="6778306" y="2475571"/>
            <a:ext cx="2477206" cy="327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058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56AE22-B493-4F2F-95E5-EF282C4BE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934465"/>
            <a:ext cx="10905066" cy="49890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EE19CD-88FC-D78F-80AF-99E2F20BA822}"/>
              </a:ext>
            </a:extLst>
          </p:cNvPr>
          <p:cNvSpPr txBox="1"/>
          <p:nvPr/>
        </p:nvSpPr>
        <p:spPr>
          <a:xfrm>
            <a:off x="3402753" y="478634"/>
            <a:ext cx="8145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 Gmail combines messages from multiple email accounts into one single inbox view.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3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BB7B-582D-440A-AAE2-40AF1C1E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Gmail is registered in Play store?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66798B-CB9F-4D52-804D-20D129F04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41116"/>
            <a:ext cx="10423854" cy="21237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99D6AD-472D-4292-9815-47B43F982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36" y="5315265"/>
            <a:ext cx="11796782" cy="716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4E675F-7E1E-440F-94EE-8723F014869B}"/>
              </a:ext>
            </a:extLst>
          </p:cNvPr>
          <p:cNvSpPr txBox="1"/>
          <p:nvPr/>
        </p:nvSpPr>
        <p:spPr>
          <a:xfrm>
            <a:off x="838200" y="2071784"/>
            <a:ext cx="4387291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Check Gmail information for Play store cache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25A8C9-779B-4017-9D43-BB2373B3B56F}"/>
              </a:ext>
            </a:extLst>
          </p:cNvPr>
          <p:cNvSpPr txBox="1"/>
          <p:nvPr/>
        </p:nvSpPr>
        <p:spPr>
          <a:xfrm>
            <a:off x="151736" y="4945933"/>
            <a:ext cx="574400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We can’t find/don’t know  anything from </a:t>
            </a:r>
            <a:r>
              <a:rPr lang="en-US" i="1" dirty="0">
                <a:solidFill>
                  <a:srgbClr val="C00000"/>
                </a:solidFill>
              </a:rPr>
              <a:t>play_metalog.log</a:t>
            </a:r>
          </a:p>
        </p:txBody>
      </p:sp>
    </p:spTree>
    <p:extLst>
      <p:ext uri="{BB962C8B-B14F-4D97-AF65-F5344CB8AC3E}">
        <p14:creationId xmlns:p14="http://schemas.microsoft.com/office/powerpoint/2010/main" val="1411850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B3294-DFA6-47DE-AFA1-8091D642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Gmail used for scheduling Jobs?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6BF19-097A-48D9-AC12-099FA37DB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Job in Android is a background tasks, e.g., </a:t>
            </a:r>
          </a:p>
          <a:p>
            <a:pPr lvl="1"/>
            <a:r>
              <a:rPr lang="en-US" dirty="0"/>
              <a:t>receive a message</a:t>
            </a:r>
          </a:p>
          <a:p>
            <a:pPr lvl="1"/>
            <a:r>
              <a:rPr lang="en-US" dirty="0"/>
              <a:t>read data from a database</a:t>
            </a:r>
          </a:p>
          <a:p>
            <a:r>
              <a:rPr lang="en-GB" dirty="0"/>
              <a:t>Android provides a </a:t>
            </a:r>
            <a:r>
              <a:rPr lang="en-GB" i="1" dirty="0" err="1">
                <a:solidFill>
                  <a:srgbClr val="C00000"/>
                </a:solidFill>
              </a:rPr>
              <a:t>JobScheduler</a:t>
            </a:r>
            <a:endParaRPr lang="en-GB" i="1" dirty="0">
              <a:solidFill>
                <a:srgbClr val="C00000"/>
              </a:solidFill>
            </a:endParaRPr>
          </a:p>
          <a:p>
            <a:pPr lvl="1"/>
            <a:r>
              <a:rPr lang="en-GB" dirty="0"/>
              <a:t>It allows you to specify conditions for running work</a:t>
            </a:r>
          </a:p>
          <a:p>
            <a:pPr lvl="1"/>
            <a:r>
              <a:rPr lang="en-GB" dirty="0"/>
              <a:t>e.g., a big downloading job is to run when the device is plugged in and has a WIFI connection.</a:t>
            </a:r>
          </a:p>
          <a:p>
            <a:r>
              <a:rPr lang="en-US" i="1" dirty="0">
                <a:solidFill>
                  <a:srgbClr val="C00000"/>
                </a:solidFill>
              </a:rPr>
              <a:t>Job-Info</a:t>
            </a:r>
            <a:r>
              <a:rPr lang="en-US" b="0" i="0" dirty="0">
                <a:solidFill>
                  <a:srgbClr val="666666"/>
                </a:solidFill>
                <a:effectLst/>
                <a:latin typeface="Oxygen"/>
              </a:rPr>
              <a:t> </a:t>
            </a:r>
            <a:r>
              <a:rPr lang="en-GB" dirty="0"/>
              <a:t>is stored in </a:t>
            </a:r>
            <a:r>
              <a:rPr lang="en-GB" i="1" dirty="0">
                <a:solidFill>
                  <a:srgbClr val="C00000"/>
                </a:solidFill>
              </a:rPr>
              <a:t>/data/system/job/jobs.xml </a:t>
            </a:r>
          </a:p>
          <a:p>
            <a:pPr lvl="1"/>
            <a:r>
              <a:rPr lang="en-GB" i="1" dirty="0">
                <a:solidFill>
                  <a:srgbClr val="C00000"/>
                </a:solidFill>
              </a:rPr>
              <a:t>Job-info</a:t>
            </a:r>
            <a:r>
              <a:rPr lang="en-GB" dirty="0"/>
              <a:t> has a list of </a:t>
            </a:r>
            <a:r>
              <a:rPr lang="en-GB" i="1" dirty="0">
                <a:solidFill>
                  <a:srgbClr val="C00000"/>
                </a:solidFill>
              </a:rPr>
              <a:t>job </a:t>
            </a:r>
            <a:r>
              <a:rPr lang="en-GB" dirty="0"/>
              <a:t>objects</a:t>
            </a:r>
          </a:p>
          <a:p>
            <a:pPr lvl="1"/>
            <a:r>
              <a:rPr lang="en-GB" dirty="0"/>
              <a:t>Each </a:t>
            </a:r>
            <a:r>
              <a:rPr lang="en-GB" i="1" dirty="0">
                <a:solidFill>
                  <a:srgbClr val="C00000"/>
                </a:solidFill>
              </a:rPr>
              <a:t>job</a:t>
            </a:r>
            <a:r>
              <a:rPr lang="en-GB" dirty="0"/>
              <a:t> contains forensic information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72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C3BE-177E-44E4-B985-89413303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rgbClr val="C00000"/>
                </a:solidFill>
              </a:rPr>
              <a:t>Job</a:t>
            </a:r>
            <a:r>
              <a:rPr lang="en-US" dirty="0"/>
              <a:t> object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FAC1E-B668-4786-B986-A34B26821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make the job periodic (a repeating job within a given period)</a:t>
            </a:r>
          </a:p>
          <a:p>
            <a:r>
              <a:rPr lang="en-GB" dirty="0"/>
              <a:t>the interval between periodic job runs</a:t>
            </a:r>
          </a:p>
          <a:p>
            <a:r>
              <a:rPr lang="en-GB" dirty="0"/>
              <a:t>the maximum execution delay – how long to wait to kick of the job (not a parameter for a periodic job task)</a:t>
            </a:r>
          </a:p>
          <a:p>
            <a:r>
              <a:rPr lang="en-GB" dirty="0"/>
              <a:t>the minimum amount of time delay before starting the job (not a parameter for a periodic job task)</a:t>
            </a:r>
          </a:p>
          <a:p>
            <a:r>
              <a:rPr lang="en-GB" dirty="0"/>
              <a:t>the device must be plugged in and charging in order to run the job</a:t>
            </a:r>
          </a:p>
          <a:p>
            <a:r>
              <a:rPr lang="en-GB" dirty="0"/>
              <a:t>the device must be idle (“in an idle maintenance window”) in order to run the job</a:t>
            </a:r>
          </a:p>
          <a:p>
            <a:r>
              <a:rPr lang="en-GB" dirty="0"/>
              <a:t>the device must have a network connection (either WIFI, unmetered, or any)</a:t>
            </a:r>
          </a:p>
          <a:p>
            <a:r>
              <a:rPr lang="en-GB" dirty="0"/>
              <a:t>the device must not be connected to a network</a:t>
            </a:r>
          </a:p>
          <a:p>
            <a:r>
              <a:rPr lang="en-GB" dirty="0"/>
              <a:t>the job should be rescheduled if the device reboots (called a “persistent” job).</a:t>
            </a:r>
          </a:p>
          <a:p>
            <a:r>
              <a:rPr lang="en-GB" dirty="0">
                <a:solidFill>
                  <a:srgbClr val="C00000"/>
                </a:solidFill>
              </a:rPr>
              <a:t>Extra: account name/Gmail maybe associated with the job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D857D7-5551-4ECC-9C27-E5E73A583D7F}"/>
              </a:ext>
            </a:extLst>
          </p:cNvPr>
          <p:cNvSpPr txBox="1"/>
          <p:nvPr/>
        </p:nvSpPr>
        <p:spPr>
          <a:xfrm>
            <a:off x="6235700" y="1388825"/>
            <a:ext cx="5727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* all time related parameters are specified in milliseconds</a:t>
            </a:r>
          </a:p>
        </p:txBody>
      </p:sp>
    </p:spTree>
    <p:extLst>
      <p:ext uri="{BB962C8B-B14F-4D97-AF65-F5344CB8AC3E}">
        <p14:creationId xmlns:p14="http://schemas.microsoft.com/office/powerpoint/2010/main" val="38778977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43C77F-46AB-4792-BF43-CDE0B0F16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279" y="2386304"/>
            <a:ext cx="10493649" cy="37188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FFFF74-2B81-41AD-8B03-C7FE75BAC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520" y="639091"/>
            <a:ext cx="2655656" cy="10337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A176E25-4E03-4FD9-8A02-A1E9B1FB567D}"/>
              </a:ext>
            </a:extLst>
          </p:cNvPr>
          <p:cNvCxnSpPr>
            <a:cxnSpLocks/>
          </p:cNvCxnSpPr>
          <p:nvPr/>
        </p:nvCxnSpPr>
        <p:spPr>
          <a:xfrm flipH="1" flipV="1">
            <a:off x="2254928" y="1322773"/>
            <a:ext cx="901929" cy="1417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2BFF30B-6415-4856-BC8B-7694701BD1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2999" y="139367"/>
            <a:ext cx="4985653" cy="18271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D10356-51A3-469B-8C8F-88817F502E8E}"/>
              </a:ext>
            </a:extLst>
          </p:cNvPr>
          <p:cNvCxnSpPr>
            <a:cxnSpLocks/>
          </p:cNvCxnSpPr>
          <p:nvPr/>
        </p:nvCxnSpPr>
        <p:spPr>
          <a:xfrm flipV="1">
            <a:off x="5907314" y="816747"/>
            <a:ext cx="528997" cy="1863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37ECA0B-3964-4365-BD61-2E3FBC9BFC02}"/>
              </a:ext>
            </a:extLst>
          </p:cNvPr>
          <p:cNvSpPr txBox="1"/>
          <p:nvPr/>
        </p:nvSpPr>
        <p:spPr>
          <a:xfrm>
            <a:off x="7082973" y="3275111"/>
            <a:ext cx="3142342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a calendar activities is running on background. The activity is associated with </a:t>
            </a:r>
            <a:r>
              <a:rPr lang="en-GB" sz="1400" i="1" dirty="0">
                <a:solidFill>
                  <a:srgbClr val="FF0000"/>
                </a:solidFill>
              </a:rPr>
              <a:t>thisisdfirtwo@gmail.com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78FD88-9210-403C-BDF5-0F199A8A0056}"/>
              </a:ext>
            </a:extLst>
          </p:cNvPr>
          <p:cNvSpPr txBox="1"/>
          <p:nvPr/>
        </p:nvSpPr>
        <p:spPr>
          <a:xfrm>
            <a:off x="7082973" y="4320816"/>
            <a:ext cx="3684814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C00000"/>
                </a:solidFill>
              </a:rPr>
              <a:t>Extra</a:t>
            </a:r>
            <a:r>
              <a:rPr lang="en-GB" sz="1400" dirty="0"/>
              <a:t>: </a:t>
            </a:r>
          </a:p>
          <a:p>
            <a:r>
              <a:rPr lang="en-GB" sz="1400" dirty="0"/>
              <a:t>If your job needs some information from your app to perform its work, you can pass along primitive data types as extras in the </a:t>
            </a:r>
            <a:r>
              <a:rPr lang="en-GB" sz="1400" dirty="0" err="1"/>
              <a:t>JobInfo</a:t>
            </a:r>
            <a:r>
              <a:rPr lang="en-GB" sz="1400" dirty="0"/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26804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810B44-2F80-4642-AB22-57FF22D26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22" y="4680214"/>
            <a:ext cx="9106689" cy="14936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6AF58F-0844-4457-840F-0BC01EBB4A8F}"/>
              </a:ext>
            </a:extLst>
          </p:cNvPr>
          <p:cNvSpPr txBox="1"/>
          <p:nvPr/>
        </p:nvSpPr>
        <p:spPr>
          <a:xfrm>
            <a:off x="427522" y="4310882"/>
            <a:ext cx="541026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Find two emails that are associated with </a:t>
            </a:r>
            <a:r>
              <a:rPr lang="en-US" dirty="0">
                <a:solidFill>
                  <a:srgbClr val="FF0000"/>
                </a:solidFill>
              </a:rPr>
              <a:t>scheduled jobs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2EB6D0-4EEF-4A72-99DA-6A07AF80D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1654" y="158546"/>
            <a:ext cx="2774977" cy="43447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343F42-81DC-4FEE-8EFB-7D7314795E78}"/>
              </a:ext>
            </a:extLst>
          </p:cNvPr>
          <p:cNvSpPr txBox="1"/>
          <p:nvPr/>
        </p:nvSpPr>
        <p:spPr>
          <a:xfrm>
            <a:off x="356500" y="1864998"/>
            <a:ext cx="6835806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Android 10 allows to add multiple users to share the phone space, customized screens, apps. That is the reason you may see multiple Gmail associated with jobs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E3A3D14-C690-473C-AEB0-EEB471FE54C7}"/>
              </a:ext>
            </a:extLst>
          </p:cNvPr>
          <p:cNvCxnSpPr>
            <a:stCxn id="6" idx="3"/>
          </p:cNvCxnSpPr>
          <p:nvPr/>
        </p:nvCxnSpPr>
        <p:spPr>
          <a:xfrm>
            <a:off x="7192306" y="2649828"/>
            <a:ext cx="2049348" cy="1087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8004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27BE-4EA2-4524-8599-EDE4D466B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all Gmail addresses appeared in the phone?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0734B1-DB38-4EEA-B6BC-87F4C1F47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58846"/>
            <a:ext cx="10341236" cy="327688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E9F194-ED37-4A08-AAB1-E6B7ED7CA724}"/>
              </a:ext>
            </a:extLst>
          </p:cNvPr>
          <p:cNvCxnSpPr/>
          <p:nvPr/>
        </p:nvCxnSpPr>
        <p:spPr>
          <a:xfrm flipH="1">
            <a:off x="4237463" y="2988527"/>
            <a:ext cx="431181" cy="133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F35393-5183-4DA1-8998-93AC6BC48A9B}"/>
              </a:ext>
            </a:extLst>
          </p:cNvPr>
          <p:cNvCxnSpPr/>
          <p:nvPr/>
        </p:nvCxnSpPr>
        <p:spPr>
          <a:xfrm flipH="1">
            <a:off x="4438185" y="3256156"/>
            <a:ext cx="327103" cy="104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227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84EA-CC25-413F-97D2-03753842B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possible apps username and password (</a:t>
            </a:r>
            <a:r>
              <a:rPr lang="en-GB" sz="3600" i="1" dirty="0" err="1">
                <a:solidFill>
                  <a:srgbClr val="C00000"/>
                </a:solidFill>
              </a:rPr>
              <a:t>account_ce.db</a:t>
            </a:r>
            <a:r>
              <a:rPr lang="en-GB" sz="3600" i="1" dirty="0">
                <a:solidFill>
                  <a:srgbClr val="C00000"/>
                </a:solidFill>
              </a:rPr>
              <a:t>/accounts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EA15B-9DEB-448E-B9F0-CAD03BE1D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242" y="1165596"/>
            <a:ext cx="3076412" cy="1325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2D919B-2EFD-42F0-A8DA-7E022EFEF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08251"/>
            <a:ext cx="7193903" cy="456477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2F1F40-92C7-4350-9D1E-138CD5CF3F94}"/>
              </a:ext>
            </a:extLst>
          </p:cNvPr>
          <p:cNvCxnSpPr>
            <a:cxnSpLocks/>
          </p:cNvCxnSpPr>
          <p:nvPr/>
        </p:nvCxnSpPr>
        <p:spPr>
          <a:xfrm flipH="1">
            <a:off x="8032104" y="1690688"/>
            <a:ext cx="554335" cy="1929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4451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69020-57C5-4F0D-BD14-C88FF93D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possible apps username and password (</a:t>
            </a:r>
            <a:r>
              <a:rPr lang="en-GB" sz="3600" i="1" dirty="0" err="1">
                <a:solidFill>
                  <a:srgbClr val="C00000"/>
                </a:solidFill>
              </a:rPr>
              <a:t>account_de.db</a:t>
            </a:r>
            <a:r>
              <a:rPr lang="en-GB" sz="3600" i="1" dirty="0">
                <a:solidFill>
                  <a:srgbClr val="C00000"/>
                </a:solidFill>
              </a:rPr>
              <a:t>/accounts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4BC41D-CC1F-4C17-9387-E62CACEA5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204165"/>
            <a:ext cx="3544824" cy="12683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A7393C-3C90-4356-946A-8AECFD269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38361"/>
            <a:ext cx="6972904" cy="453429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38695F-6F26-40F0-9A38-4599F2A9B44D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7811104" y="1838361"/>
            <a:ext cx="610520" cy="10931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D412DB2-8434-47AC-9819-E0393EC55DAF}"/>
              </a:ext>
            </a:extLst>
          </p:cNvPr>
          <p:cNvSpPr txBox="1"/>
          <p:nvPr/>
        </p:nvSpPr>
        <p:spPr>
          <a:xfrm>
            <a:off x="8474928" y="3429000"/>
            <a:ext cx="2364058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need convert </a:t>
            </a:r>
            <a:r>
              <a:rPr lang="en-US" i="1" dirty="0">
                <a:solidFill>
                  <a:srgbClr val="C00000"/>
                </a:solidFill>
              </a:rPr>
              <a:t>last password entry time </a:t>
            </a:r>
            <a:r>
              <a:rPr lang="en-US" dirty="0"/>
              <a:t>to human readable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AAC0C8-8872-46B9-BB97-C922498407C1}"/>
              </a:ext>
            </a:extLst>
          </p:cNvPr>
          <p:cNvCxnSpPr/>
          <p:nvPr/>
        </p:nvCxnSpPr>
        <p:spPr>
          <a:xfrm flipH="1">
            <a:off x="6779941" y="3650166"/>
            <a:ext cx="1641683" cy="126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4721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FE7B35-4EA0-4741-B64B-FB932448D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51" y="1597243"/>
            <a:ext cx="9937341" cy="38865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4D4244-24E7-4FF3-AFDC-7216486E1EC1}"/>
              </a:ext>
            </a:extLst>
          </p:cNvPr>
          <p:cNvSpPr txBox="1"/>
          <p:nvPr/>
        </p:nvSpPr>
        <p:spPr>
          <a:xfrm>
            <a:off x="1023251" y="1227911"/>
            <a:ext cx="697589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Convert </a:t>
            </a:r>
            <a:r>
              <a:rPr lang="en-GB" i="1" dirty="0">
                <a:solidFill>
                  <a:srgbClr val="C00000"/>
                </a:solidFill>
              </a:rPr>
              <a:t>last password entry time </a:t>
            </a:r>
            <a:r>
              <a:rPr lang="en-GB" i="1" dirty="0" err="1">
                <a:solidFill>
                  <a:srgbClr val="C00000"/>
                </a:solidFill>
              </a:rPr>
              <a:t>millis</a:t>
            </a:r>
            <a:r>
              <a:rPr lang="en-GB" i="1" dirty="0">
                <a:solidFill>
                  <a:srgbClr val="C00000"/>
                </a:solidFill>
              </a:rPr>
              <a:t> epoch to human </a:t>
            </a:r>
            <a:r>
              <a:rPr lang="en-GB" dirty="0"/>
              <a:t>readable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261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6957-3C58-133C-EFF7-87635A87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Bluetooth Mac address and Wi-Fi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B2633-16A8-8569-C9FA-4F81292A9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853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2577C-E419-4CB4-98D1-C86A651BC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Bluetooth Mac address?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21F16D-C8D2-4276-84B2-49D352A1B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402822"/>
            <a:ext cx="10149075" cy="196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624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00E51-F90E-4EAD-B335-D8E56319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Wi-Fi </a:t>
            </a:r>
            <a:r>
              <a:rPr lang="en-GB" dirty="0"/>
              <a:t>Service Set Identifier (SSID)</a:t>
            </a:r>
            <a:r>
              <a:rPr lang="en-US" dirty="0"/>
              <a:t>? (</a:t>
            </a:r>
            <a:r>
              <a:rPr lang="en-US" sz="3200" i="1" dirty="0">
                <a:solidFill>
                  <a:srgbClr val="C00000"/>
                </a:solidFill>
              </a:rPr>
              <a:t>WifiConfigStore.xml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2843AB-C9A8-44C6-BF23-8FD154AF5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77392"/>
            <a:ext cx="7247248" cy="40541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E704BA-9D14-4335-8397-934B4D4F6849}"/>
              </a:ext>
            </a:extLst>
          </p:cNvPr>
          <p:cNvSpPr txBox="1"/>
          <p:nvPr/>
        </p:nvSpPr>
        <p:spPr>
          <a:xfrm>
            <a:off x="6096000" y="3844970"/>
            <a:ext cx="168875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a router</a:t>
            </a:r>
            <a:r>
              <a:rPr lang="en-US" dirty="0"/>
              <a:t>’s MAC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AEA998-C6ED-4555-80D5-74444D6C7E77}"/>
              </a:ext>
            </a:extLst>
          </p:cNvPr>
          <p:cNvCxnSpPr>
            <a:cxnSpLocks/>
          </p:cNvCxnSpPr>
          <p:nvPr/>
        </p:nvCxnSpPr>
        <p:spPr>
          <a:xfrm flipH="1">
            <a:off x="6096000" y="4214302"/>
            <a:ext cx="659027" cy="396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672E1B1-2682-7090-B174-4C214DD28539}"/>
              </a:ext>
            </a:extLst>
          </p:cNvPr>
          <p:cNvSpPr txBox="1"/>
          <p:nvPr/>
        </p:nvSpPr>
        <p:spPr>
          <a:xfrm>
            <a:off x="4139214" y="3719821"/>
            <a:ext cx="66344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SSID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374310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0A7AE92-D5E0-442C-ABB5-A88005EA463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29990" y="1372142"/>
            <a:ext cx="10515600" cy="1127125"/>
          </a:xfrm>
        </p:spPr>
        <p:txBody>
          <a:bodyPr/>
          <a:lstStyle/>
          <a:p>
            <a:r>
              <a:rPr lang="en-GB" dirty="0"/>
              <a:t>For old version/other brands of Android </a:t>
            </a:r>
          </a:p>
          <a:p>
            <a:pPr lvl="1"/>
            <a:r>
              <a:rPr lang="en-GB" i="1" dirty="0">
                <a:solidFill>
                  <a:srgbClr val="C00000"/>
                </a:solidFill>
              </a:rPr>
              <a:t>/data/</a:t>
            </a:r>
            <a:r>
              <a:rPr lang="en-GB" i="1" dirty="0" err="1">
                <a:solidFill>
                  <a:srgbClr val="C00000"/>
                </a:solidFill>
              </a:rPr>
              <a:t>misc</a:t>
            </a:r>
            <a:r>
              <a:rPr lang="en-GB" i="1" dirty="0">
                <a:solidFill>
                  <a:srgbClr val="C00000"/>
                </a:solidFill>
              </a:rPr>
              <a:t>/</a:t>
            </a:r>
            <a:r>
              <a:rPr lang="en-GB" i="1" dirty="0" err="1">
                <a:solidFill>
                  <a:srgbClr val="C00000"/>
                </a:solidFill>
              </a:rPr>
              <a:t>wifi</a:t>
            </a:r>
            <a:r>
              <a:rPr lang="en-GB" i="1" dirty="0">
                <a:solidFill>
                  <a:srgbClr val="C00000"/>
                </a:solidFill>
              </a:rPr>
              <a:t>/</a:t>
            </a:r>
            <a:r>
              <a:rPr lang="en-GB" i="1" dirty="0" err="1">
                <a:solidFill>
                  <a:srgbClr val="C00000"/>
                </a:solidFill>
              </a:rPr>
              <a:t>wpa_supplicant.conf</a:t>
            </a:r>
            <a:r>
              <a:rPr lang="en-GB" dirty="0"/>
              <a:t> (possible)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D7CBEE-8299-4CAE-B0F2-02A5317CB374}"/>
              </a:ext>
            </a:extLst>
          </p:cNvPr>
          <p:cNvSpPr txBox="1"/>
          <p:nvPr/>
        </p:nvSpPr>
        <p:spPr>
          <a:xfrm>
            <a:off x="1336288" y="2552108"/>
            <a:ext cx="3965629" cy="3416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Example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from Pixel 3</a:t>
            </a:r>
          </a:p>
          <a:p>
            <a:r>
              <a:rPr lang="en-US" dirty="0"/>
              <a:t># more </a:t>
            </a:r>
            <a:r>
              <a:rPr lang="en-US" dirty="0" err="1">
                <a:solidFill>
                  <a:srgbClr val="C00000"/>
                </a:solidFill>
              </a:rPr>
              <a:t>wpa_supplicant.conf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 err="1"/>
              <a:t>ctrl_interface</a:t>
            </a:r>
            <a:r>
              <a:rPr lang="en-US" dirty="0"/>
              <a:t>=eth0</a:t>
            </a:r>
          </a:p>
          <a:p>
            <a:r>
              <a:rPr lang="en-US" dirty="0" err="1"/>
              <a:t>update_config</a:t>
            </a:r>
            <a:r>
              <a:rPr lang="en-US" dirty="0"/>
              <a:t>=1</a:t>
            </a:r>
          </a:p>
          <a:p>
            <a:endParaRPr lang="en-US" dirty="0"/>
          </a:p>
          <a:p>
            <a:r>
              <a:rPr lang="en-US" dirty="0"/>
              <a:t>network={</a:t>
            </a:r>
          </a:p>
          <a:p>
            <a:r>
              <a:rPr lang="en-US" dirty="0"/>
              <a:t>        </a:t>
            </a:r>
            <a:r>
              <a:rPr lang="en-US" dirty="0" err="1"/>
              <a:t>ssid</a:t>
            </a:r>
            <a:r>
              <a:rPr lang="en-US" dirty="0"/>
              <a:t>="</a:t>
            </a:r>
            <a:r>
              <a:rPr lang="en-US" dirty="0" err="1"/>
              <a:t>SomeWifiNetwork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psk</a:t>
            </a:r>
            <a:r>
              <a:rPr lang="en-US" dirty="0"/>
              <a:t>="</a:t>
            </a:r>
            <a:r>
              <a:rPr lang="en-US" dirty="0" err="1"/>
              <a:t>MyPlaintextPassword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key_mgmt</a:t>
            </a:r>
            <a:r>
              <a:rPr lang="en-US" dirty="0"/>
              <a:t>=WPA-PSK</a:t>
            </a:r>
          </a:p>
          <a:p>
            <a:r>
              <a:rPr lang="en-US" dirty="0"/>
              <a:t>        priority=1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142271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4316-0396-7652-AFF2-5244C7624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Artifacts generated by API usage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449BD-FD0E-441D-0C5D-6521FCB7B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873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63385-441E-4CDB-A324-D740F6B05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7"/>
            <a:ext cx="4944152" cy="1154563"/>
          </a:xfrm>
        </p:spPr>
        <p:txBody>
          <a:bodyPr>
            <a:normAutofit/>
          </a:bodyPr>
          <a:lstStyle/>
          <a:p>
            <a:r>
              <a:rPr lang="en-GB" sz="3700" dirty="0"/>
              <a:t>Google Play services</a:t>
            </a:r>
            <a:endParaRPr lang="en-US" sz="3700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33D10-342B-4C24-A670-C8D5256EA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29" y="1731364"/>
            <a:ext cx="4944151" cy="4332157"/>
          </a:xfrm>
        </p:spPr>
        <p:txBody>
          <a:bodyPr>
            <a:normAutofit/>
          </a:bodyPr>
          <a:lstStyle/>
          <a:p>
            <a:r>
              <a:rPr lang="en-GB" sz="1900" dirty="0"/>
              <a:t>What is Google Play services?</a:t>
            </a:r>
          </a:p>
          <a:p>
            <a:pPr lvl="1"/>
            <a:r>
              <a:rPr lang="en-US" sz="1500" dirty="0"/>
              <a:t>Package name: </a:t>
            </a:r>
            <a:r>
              <a:rPr lang="en-US" sz="1600" dirty="0" err="1">
                <a:latin typeface="Arial Narrow" panose="020B0606020202030204" pitchFamily="34" charset="0"/>
              </a:rPr>
              <a:t>com.google.android.gms</a:t>
            </a:r>
            <a:endParaRPr lang="en-GB" sz="1500" dirty="0"/>
          </a:p>
          <a:p>
            <a:pPr lvl="1"/>
            <a:r>
              <a:rPr lang="en-GB" sz="1500" dirty="0"/>
              <a:t>A proprietary Google system component installed on most Google-certified Android devices </a:t>
            </a:r>
          </a:p>
          <a:p>
            <a:pPr lvl="1"/>
            <a:r>
              <a:rPr lang="en-GB" sz="1500" dirty="0"/>
              <a:t>Provides common Google APIs and background services to Android apps </a:t>
            </a:r>
          </a:p>
          <a:p>
            <a:pPr lvl="1"/>
            <a:r>
              <a:rPr lang="en-GB" sz="1500" dirty="0"/>
              <a:t>Not part of AOSP; Android can operate without Google Play services</a:t>
            </a:r>
          </a:p>
          <a:p>
            <a:r>
              <a:rPr lang="en-GB" sz="1900" dirty="0"/>
              <a:t>Major functions</a:t>
            </a:r>
          </a:p>
          <a:p>
            <a:pPr lvl="1"/>
            <a:r>
              <a:rPr lang="en-GB" sz="1500" dirty="0"/>
              <a:t>Google account authentication APIs </a:t>
            </a:r>
          </a:p>
          <a:p>
            <a:pPr lvl="1"/>
            <a:r>
              <a:rPr lang="en-GB" sz="1500" dirty="0"/>
              <a:t>Location services </a:t>
            </a:r>
          </a:p>
          <a:p>
            <a:pPr lvl="1"/>
            <a:r>
              <a:rPr lang="en-GB" sz="1500" dirty="0"/>
              <a:t>Google Maps - related APIs </a:t>
            </a:r>
          </a:p>
          <a:p>
            <a:pPr lvl="1"/>
            <a:r>
              <a:rPr lang="en-GB" sz="1500" dirty="0"/>
              <a:t>Firebase Cloud Messaging/push notifications </a:t>
            </a:r>
          </a:p>
          <a:p>
            <a:pPr lvl="1"/>
            <a:r>
              <a:rPr lang="en-GB" sz="1500" dirty="0"/>
              <a:t>Security and compatibility services </a:t>
            </a:r>
          </a:p>
          <a:p>
            <a:pPr lvl="1"/>
            <a:r>
              <a:rPr lang="en-GB" sz="1500" dirty="0"/>
              <a:t>Integration with other Google services</a:t>
            </a:r>
            <a:endParaRPr lang="en-GB" sz="1900" dirty="0"/>
          </a:p>
          <a:p>
            <a:pPr marL="457200" lvl="1" indent="0">
              <a:buNone/>
            </a:pPr>
            <a:endParaRPr lang="en-GB" sz="1900" dirty="0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46F7435D-E3DB-47B1-BA61-B00ACC83A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950" y="0"/>
            <a:ext cx="609905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9">
            <a:extLst>
              <a:ext uri="{FF2B5EF4-FFF2-40B4-BE49-F238E27FC236}">
                <a16:creationId xmlns:a16="http://schemas.microsoft.com/office/drawing/2014/main" id="{F263A0B5-F8C4-4116-809F-78A768EA7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7582" y="557784"/>
            <a:ext cx="5130204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CACFC6F-0EC3-45FC-AA4F-35BE7318A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709" y="1480520"/>
            <a:ext cx="4475531" cy="3893712"/>
          </a:xfrm>
          <a:prstGeom prst="rect">
            <a:avLst/>
          </a:prstGeom>
          <a:effectLst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58F741-BA50-40F0-838D-2FD5FF080B77}"/>
              </a:ext>
            </a:extLst>
          </p:cNvPr>
          <p:cNvSpPr txBox="1"/>
          <p:nvPr/>
        </p:nvSpPr>
        <p:spPr>
          <a:xfrm>
            <a:off x="6387083" y="1132649"/>
            <a:ext cx="5510781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https://play.google.com/store/apps/details?id=</a:t>
            </a:r>
            <a:r>
              <a:rPr lang="en-US" sz="1400" dirty="0">
                <a:solidFill>
                  <a:srgbClr val="C00000"/>
                </a:solidFill>
              </a:rPr>
              <a:t>com.google.android.gms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FEF11C-29AD-4336-9C16-F6BB60DC0A73}"/>
              </a:ext>
            </a:extLst>
          </p:cNvPr>
          <p:cNvSpPr txBox="1"/>
          <p:nvPr/>
        </p:nvSpPr>
        <p:spPr>
          <a:xfrm>
            <a:off x="6828020" y="5469490"/>
            <a:ext cx="4552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Normally installed as a privileged/system app and cannot be uninstalled by a standard user on Google-certified devices.</a:t>
            </a:r>
          </a:p>
        </p:txBody>
      </p:sp>
    </p:spTree>
    <p:extLst>
      <p:ext uri="{BB962C8B-B14F-4D97-AF65-F5344CB8AC3E}">
        <p14:creationId xmlns:p14="http://schemas.microsoft.com/office/powerpoint/2010/main" val="33373875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30052-6B92-EC20-5B76-339D4587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Google Play services matters in digital forensics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0D867-26D4-FE3E-A4F7-31719E878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Arial Narrow" panose="020B0606020202030204" pitchFamily="34" charset="0"/>
              </a:rPr>
              <a:t>com.google.android.gms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/>
              <a:t>may contain account, device, location, notification, and Google-service artifacts</a:t>
            </a:r>
          </a:p>
          <a:p>
            <a:r>
              <a:rPr lang="en-US" dirty="0"/>
              <a:t>Multiple artifacts help reconstruct Android activity</a:t>
            </a:r>
          </a:p>
          <a:p>
            <a:r>
              <a:rPr lang="en-US" dirty="0"/>
              <a:t>Multiple artifacts</a:t>
            </a:r>
            <a:r>
              <a:rPr lang="en-GB" dirty="0"/>
              <a:t> can help investigators correlate activity across multiple apps and Google services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449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11055</TotalTime>
  <Words>3746</Words>
  <Application>Microsoft Office PowerPoint</Application>
  <PresentationFormat>Widescreen</PresentationFormat>
  <Paragraphs>376</Paragraphs>
  <Slides>45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Arial Unicode MS</vt:lpstr>
      <vt:lpstr>ui-sans-serif</vt:lpstr>
      <vt:lpstr>Arial</vt:lpstr>
      <vt:lpstr>Arial Narrow</vt:lpstr>
      <vt:lpstr>Calibri</vt:lpstr>
      <vt:lpstr>Calibri Light</vt:lpstr>
      <vt:lpstr>OCR A Extended</vt:lpstr>
      <vt:lpstr>Oxygen</vt:lpstr>
      <vt:lpstr>Roboto</vt:lpstr>
      <vt:lpstr>Office Theme</vt:lpstr>
      <vt:lpstr>Pixel Device Investigations</vt:lpstr>
      <vt:lpstr>Device Survey</vt:lpstr>
      <vt:lpstr>Device Information</vt:lpstr>
      <vt:lpstr>Device build and SIM card </vt:lpstr>
      <vt:lpstr>What is the product (phone) information? </vt:lpstr>
      <vt:lpstr>What is the latest security patch?</vt:lpstr>
      <vt:lpstr>Does the Pixel have a SD card?</vt:lpstr>
      <vt:lpstr>What is the mobile carrier/phone#?</vt:lpstr>
      <vt:lpstr>PowerPoint Presentation</vt:lpstr>
      <vt:lpstr>PowerPoint Presentation</vt:lpstr>
      <vt:lpstr>What is blocked phone number?</vt:lpstr>
      <vt:lpstr>PowerPoint Presentation</vt:lpstr>
      <vt:lpstr>PowerPoint Presentation</vt:lpstr>
      <vt:lpstr>What is serial number of the device?</vt:lpstr>
      <vt:lpstr>PowerPoint Presentation</vt:lpstr>
      <vt:lpstr>Account information</vt:lpstr>
      <vt:lpstr>Overview</vt:lpstr>
      <vt:lpstr>How many user accounts on the device? Two</vt:lpstr>
      <vt:lpstr>How many registered users does the device have?</vt:lpstr>
      <vt:lpstr>When did the device owner last time log in?</vt:lpstr>
      <vt:lpstr>How many email addresses you can find on the image?</vt:lpstr>
      <vt:lpstr>PowerPoint Presentation</vt:lpstr>
      <vt:lpstr>PowerPoint Presentation</vt:lpstr>
      <vt:lpstr>What is the App ID of Gmail?</vt:lpstr>
      <vt:lpstr>PowerPoint Presentation</vt:lpstr>
      <vt:lpstr>Which Gmail is registered for google service for Pixel 3?</vt:lpstr>
      <vt:lpstr>PowerPoint Presentation</vt:lpstr>
      <vt:lpstr>PowerPoint Presentation</vt:lpstr>
      <vt:lpstr>PowerPoint Presentation</vt:lpstr>
      <vt:lpstr>Which Gmail is registered in Play store?</vt:lpstr>
      <vt:lpstr>Which Gmail used for scheduling Jobs? </vt:lpstr>
      <vt:lpstr>Job object information</vt:lpstr>
      <vt:lpstr>PowerPoint Presentation</vt:lpstr>
      <vt:lpstr>PowerPoint Presentation</vt:lpstr>
      <vt:lpstr>Find all Gmail addresses appeared in the phone?</vt:lpstr>
      <vt:lpstr>List possible apps username and password (account_ce.db/accounts)</vt:lpstr>
      <vt:lpstr>List possible apps username and password (account_de.db/accounts)</vt:lpstr>
      <vt:lpstr>PowerPoint Presentation</vt:lpstr>
      <vt:lpstr>Bluetooth Mac address and Wi-Fi</vt:lpstr>
      <vt:lpstr>What is Bluetooth Mac address?</vt:lpstr>
      <vt:lpstr>What is Wi-Fi Service Set Identifier (SSID)? (WifiConfigStore.xml)</vt:lpstr>
      <vt:lpstr>PowerPoint Presentation</vt:lpstr>
      <vt:lpstr>Artifacts generated by API usage</vt:lpstr>
      <vt:lpstr>Google Play services</vt:lpstr>
      <vt:lpstr>Why Google Play services matters in digital forensics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Visual Studio Code</dc:title>
  <dc:creator>Weifeng Xu</dc:creator>
  <cp:lastModifiedBy>Weifeng Xu</cp:lastModifiedBy>
  <cp:revision>22</cp:revision>
  <dcterms:created xsi:type="dcterms:W3CDTF">2021-01-18T02:02:41Z</dcterms:created>
  <dcterms:modified xsi:type="dcterms:W3CDTF">2026-09-25T21:12:01Z</dcterms:modified>
</cp:coreProperties>
</file>