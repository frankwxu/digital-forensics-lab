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512" r:id="rId3"/>
    <p:sldId id="474" r:id="rId4"/>
    <p:sldId id="476" r:id="rId5"/>
    <p:sldId id="477" r:id="rId6"/>
    <p:sldId id="521" r:id="rId7"/>
    <p:sldId id="513" r:id="rId8"/>
    <p:sldId id="487" r:id="rId9"/>
    <p:sldId id="416" r:id="rId10"/>
    <p:sldId id="486" r:id="rId11"/>
    <p:sldId id="522" r:id="rId12"/>
    <p:sldId id="417" r:id="rId13"/>
    <p:sldId id="485" r:id="rId14"/>
    <p:sldId id="514" r:id="rId15"/>
    <p:sldId id="488" r:id="rId16"/>
    <p:sldId id="489" r:id="rId17"/>
    <p:sldId id="490" r:id="rId18"/>
    <p:sldId id="492" r:id="rId19"/>
    <p:sldId id="491" r:id="rId20"/>
    <p:sldId id="523" r:id="rId21"/>
    <p:sldId id="509" r:id="rId22"/>
    <p:sldId id="511" r:id="rId23"/>
    <p:sldId id="510" r:id="rId24"/>
    <p:sldId id="515" r:id="rId25"/>
    <p:sldId id="497" r:id="rId26"/>
    <p:sldId id="498" r:id="rId27"/>
    <p:sldId id="500" r:id="rId28"/>
    <p:sldId id="502" r:id="rId29"/>
    <p:sldId id="516" r:id="rId30"/>
    <p:sldId id="501" r:id="rId31"/>
    <p:sldId id="504" r:id="rId32"/>
    <p:sldId id="418" r:id="rId33"/>
    <p:sldId id="524" r:id="rId34"/>
    <p:sldId id="479" r:id="rId35"/>
    <p:sldId id="517" r:id="rId36"/>
    <p:sldId id="424" r:id="rId37"/>
    <p:sldId id="506" r:id="rId38"/>
    <p:sldId id="482" r:id="rId39"/>
    <p:sldId id="483" r:id="rId40"/>
    <p:sldId id="518" r:id="rId41"/>
    <p:sldId id="493" r:id="rId42"/>
    <p:sldId id="496" r:id="rId43"/>
    <p:sldId id="508" r:id="rId44"/>
    <p:sldId id="494" r:id="rId45"/>
    <p:sldId id="495" r:id="rId46"/>
    <p:sldId id="525" r:id="rId47"/>
    <p:sldId id="380" r:id="rId48"/>
    <p:sldId id="526" r:id="rId49"/>
    <p:sldId id="51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F"/>
    <a:srgbClr val="AB51D6"/>
    <a:srgbClr val="AEAEAE"/>
    <a:srgbClr val="FF9A00"/>
    <a:srgbClr val="D81E00"/>
    <a:srgbClr val="00AAD6"/>
    <a:srgbClr val="318EFD"/>
    <a:srgbClr val="007DB5"/>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BDFF2-B23D-463D-A6EC-B17D6D772640}" v="2" dt="2026-04-07T13:48:38.33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71" autoAdjust="0"/>
    <p:restoredTop sz="87177" autoAdjust="0"/>
  </p:normalViewPr>
  <p:slideViewPr>
    <p:cSldViewPr snapToGrid="0">
      <p:cViewPr varScale="1">
        <p:scale>
          <a:sx n="82" d="100"/>
          <a:sy n="82" d="100"/>
        </p:scale>
        <p:origin x="130" y="5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ifeng Xu" userId="e7aed605-a3dd-4d5a-a692-a87037af107b" providerId="ADAL" clId="{F99F8FFF-BA20-43EA-924B-4DF5D2A785F3}"/>
    <pc:docChg chg="undo custSel addSld modSld sldOrd">
      <pc:chgData name="Weifeng Xu" userId="e7aed605-a3dd-4d5a-a692-a87037af107b" providerId="ADAL" clId="{F99F8FFF-BA20-43EA-924B-4DF5D2A785F3}" dt="2026-04-07T13:48:40.639" v="132" actId="27636"/>
      <pc:docMkLst>
        <pc:docMk/>
      </pc:docMkLst>
      <pc:sldChg chg="addSp modSp mod">
        <pc:chgData name="Weifeng Xu" userId="e7aed605-a3dd-4d5a-a692-a87037af107b" providerId="ADAL" clId="{F99F8FFF-BA20-43EA-924B-4DF5D2A785F3}" dt="2026-04-07T13:33:55.166" v="123" actId="208"/>
        <pc:sldMkLst>
          <pc:docMk/>
          <pc:sldMk cId="151045772" sldId="489"/>
        </pc:sldMkLst>
        <pc:spChg chg="add mod">
          <ac:chgData name="Weifeng Xu" userId="e7aed605-a3dd-4d5a-a692-a87037af107b" providerId="ADAL" clId="{F99F8FFF-BA20-43EA-924B-4DF5D2A785F3}" dt="2026-04-07T13:33:55.166" v="123" actId="208"/>
          <ac:spMkLst>
            <pc:docMk/>
            <pc:sldMk cId="151045772" sldId="489"/>
            <ac:spMk id="2" creationId="{C4E9A12E-C39D-834D-29A6-8D979F957D9D}"/>
          </ac:spMkLst>
        </pc:spChg>
      </pc:sldChg>
      <pc:sldChg chg="ord">
        <pc:chgData name="Weifeng Xu" userId="e7aed605-a3dd-4d5a-a692-a87037af107b" providerId="ADAL" clId="{F99F8FFF-BA20-43EA-924B-4DF5D2A785F3}" dt="2026-04-07T13:23:11.692" v="118"/>
        <pc:sldMkLst>
          <pc:docMk/>
          <pc:sldMk cId="2195926017" sldId="493"/>
        </pc:sldMkLst>
      </pc:sldChg>
      <pc:sldChg chg="ord">
        <pc:chgData name="Weifeng Xu" userId="e7aed605-a3dd-4d5a-a692-a87037af107b" providerId="ADAL" clId="{F99F8FFF-BA20-43EA-924B-4DF5D2A785F3}" dt="2026-04-07T13:25:17.067" v="120"/>
        <pc:sldMkLst>
          <pc:docMk/>
          <pc:sldMk cId="3615192179" sldId="494"/>
        </pc:sldMkLst>
      </pc:sldChg>
      <pc:sldChg chg="ord">
        <pc:chgData name="Weifeng Xu" userId="e7aed605-a3dd-4d5a-a692-a87037af107b" providerId="ADAL" clId="{F99F8FFF-BA20-43EA-924B-4DF5D2A785F3}" dt="2026-04-07T13:25:17.067" v="120"/>
        <pc:sldMkLst>
          <pc:docMk/>
          <pc:sldMk cId="2140116523" sldId="495"/>
        </pc:sldMkLst>
      </pc:sldChg>
      <pc:sldChg chg="ord">
        <pc:chgData name="Weifeng Xu" userId="e7aed605-a3dd-4d5a-a692-a87037af107b" providerId="ADAL" clId="{F99F8FFF-BA20-43EA-924B-4DF5D2A785F3}" dt="2026-04-07T13:23:11.692" v="118"/>
        <pc:sldMkLst>
          <pc:docMk/>
          <pc:sldMk cId="1818241431" sldId="496"/>
        </pc:sldMkLst>
      </pc:sldChg>
      <pc:sldChg chg="modSp mod">
        <pc:chgData name="Weifeng Xu" userId="e7aed605-a3dd-4d5a-a692-a87037af107b" providerId="ADAL" clId="{F99F8FFF-BA20-43EA-924B-4DF5D2A785F3}" dt="2026-04-07T13:48:40.639" v="132" actId="27636"/>
        <pc:sldMkLst>
          <pc:docMk/>
          <pc:sldMk cId="1916941652" sldId="502"/>
        </pc:sldMkLst>
        <pc:spChg chg="mod">
          <ac:chgData name="Weifeng Xu" userId="e7aed605-a3dd-4d5a-a692-a87037af107b" providerId="ADAL" clId="{F99F8FFF-BA20-43EA-924B-4DF5D2A785F3}" dt="2026-04-07T13:48:40.639" v="132" actId="27636"/>
          <ac:spMkLst>
            <pc:docMk/>
            <pc:sldMk cId="1916941652" sldId="502"/>
            <ac:spMk id="5" creationId="{542FF938-B082-F7C7-6B51-0ECD1E119016}"/>
          </ac:spMkLst>
        </pc:spChg>
      </pc:sldChg>
      <pc:sldChg chg="ord">
        <pc:chgData name="Weifeng Xu" userId="e7aed605-a3dd-4d5a-a692-a87037af107b" providerId="ADAL" clId="{F99F8FFF-BA20-43EA-924B-4DF5D2A785F3}" dt="2026-04-07T13:25:17.067" v="120"/>
        <pc:sldMkLst>
          <pc:docMk/>
          <pc:sldMk cId="2838199875" sldId="508"/>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01:30:15.684"/>
    </inkml:context>
    <inkml:brush xml:id="br0">
      <inkml:brushProperty name="width" value="0.1" units="cm"/>
      <inkml:brushProperty name="height" value="0.1" units="cm"/>
      <inkml:brushProperty name="color" value="#FF0066"/>
    </inkml:brush>
  </inkml:definitions>
  <inkml:trace contextRef="#ctx0" brushRef="#br0">911 25 24575,'-24'-1'0,"-1"-1"0,-28-6 0,28 4 0,-15-1 0,-1 2 0,1 2 0,-63 6 0,91-3 0,1 0 0,0 1 0,0 1 0,0 0 0,1 0 0,-17 11 0,-28 10 0,20-5 0,31-18 0,0 1 0,0 0 0,0-1 0,0 0 0,0 0 0,-1 0 0,1 0 0,0 0 0,-6 0 0,5-1 0,-3 0 0,0 0 0,0 0 0,1 1 0,-1 0 0,1 1 0,-1-1 0,1 1 0,0 1 0,-12 7 0,-68 61 0,30-24 0,49-41 0,0 0 0,1 1 0,0-1 0,1 1 0,-1 1 0,1-1 0,1 1 0,0 0 0,0 0 0,1 1 0,0-1 0,0 1 0,1 0 0,-3 18 0,2 7 0,1 0 0,1 1 0,4 35 0,-1-7 0,-1-60 0,1-1 0,-1 1 0,1 0 0,-1 0 0,1 0 0,0-1 0,1 1 0,-1 0 0,1-1 0,-1 1 0,1-1 0,0 1 0,4 4 0,2 1 0,0-1 0,1 1 0,10 7 0,-10-10 0,-1 1 0,0 1 0,-1-1 0,13 17 0,-16-19 0,0 0 0,1 0 0,0-1 0,0 1 0,0-1 0,0 0 0,1-1 0,11 7 0,23 16 0,-20-11 0,0-1 0,1-1 0,32 14 0,-28-14 0,71 30 0,-59-28 0,54 31 0,-80-41 0,1 1 0,0-2 0,0 0 0,0 0 0,1-1 0,-1-1 0,18 2 0,43 10 0,87 23 12,-28-8-148,-99-22-76,1-1-1,49 2 0,14 1 232,-51-4 80,0-3 1,47-3 0,53 3 344,-77 7-444,-43-4 0,45 1 0,-65-6 0,6 1 0,-1-1 0,1-1 0,22-4 0,-30 4 0,0 0 0,-1 0 0,1-1 0,0 1 0,-1-1 0,1 0 0,-1-1 0,0 1 0,1 0 0,-1-1 0,0 0 0,0 1 0,-1-1 0,1-1 0,2-2 0,21-37 0,-19 30 0,0 1 0,1 0 0,14-16 0,-18 23 0,0 0 0,-1 0 0,1 0 0,4-11 0,-6 11 0,1-1 0,0 1 0,0 1 0,0-1 0,0 0 0,6-4 0,2-4 0,1 0 0,13-21 0,-15 20 0,0 0 0,20-20 0,-19 24 0,0-1 0,0 0 0,-1-1 0,-1 0 0,12-19 0,87-133 0,-85 122 0,25-38 0,-35 63 0,17-26 0,-28 41 0,-1-1 0,0 1 0,1-1 0,-1 1 0,0-1 0,-1 0 0,1 0 0,0 1 0,-1-1 0,0 0 0,1 0 0,-1 1 0,0-1 0,-1-5 0,0 6 0,0 0 0,0 0 0,0 0 0,0 0 0,0 1 0,-1-1 0,1 0 0,-1 1 0,1-1 0,-1 1 0,0-1 0,1 1 0,-1 0 0,0 0 0,0 0 0,0 0 0,0 0 0,0 0 0,0 0 0,-3 0 0,-47-10 0,44 9 0,-199-39 0,117 22 0,63 12 0,0 2 0,0 0 0,-30-1 0,-12-3 65,35 3-1495,17 3-5396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01:30:26.067"/>
    </inkml:context>
    <inkml:brush xml:id="br0">
      <inkml:brushProperty name="width" value="0.1" units="cm"/>
      <inkml:brushProperty name="height" value="0.1" units="cm"/>
      <inkml:brushProperty name="color" value="#FF0066"/>
    </inkml:brush>
  </inkml:definitions>
  <inkml:trace contextRef="#ctx0" brushRef="#br0">207 659 24575,'0'-2'0,"0"0"0,-1 0 0,1 0 0,-1 0 0,0 0 0,0 0 0,1 0 0,-1 1 0,0-1 0,-1 0 0,1 0 0,0 1 0,0-1 0,-1 1 0,1-1 0,-1 1 0,1 0 0,-1 0 0,0-1 0,1 1 0,-1 0 0,0 0 0,0 0 0,0 1 0,0-1 0,0 0 0,1 1 0,-1 0 0,-1-1 0,1 1 0,0 0 0,-2 0 0,-8-2 0,-1 1 0,1 1 0,-25 2 0,33-1 0,0 0 0,0 0 0,0 0 0,0 1 0,1-1 0,-1 1 0,0 0 0,0 0 0,1 0 0,0 1 0,-1-1 0,1 1 0,0 0 0,0 0 0,0 0 0,1 0 0,-1 0 0,1 1 0,0-1 0,0 1 0,0 0 0,0 0 0,0-1 0,1 1 0,0 0 0,0 0 0,-1 9 0,0-5 0,1 0 0,0 0 0,0 0 0,1 1 0,0-1 0,1 0 0,-1 0 0,2 1 0,-1-1 0,1 0 0,0 0 0,1 0 0,4 9 0,-3-9 0,1 0 0,-1-1 0,1 0 0,1 0 0,-1 0 0,1-1 0,8 7 0,-12-11 0,0-1 0,1 1 0,-1-1 0,1 1 0,-1-1 0,1 0 0,0 0 0,-1 0 0,1-1 0,0 1 0,0-1 0,0 1 0,-1-1 0,1 0 0,0 0 0,0 0 0,0-1 0,0 1 0,-1-1 0,1 1 0,0-1 0,0 0 0,-1 0 0,1 0 0,2-2 0,5-1 0,-1-2 0,1 1 0,-1-1 0,-1 0 0,1-1 0,-1 0 0,-1-1 0,1 1 0,-1-1 0,0-1 0,-1 1 0,0-1 0,0 0 0,-1-1 0,7-16 0,-9 19 0,0-1 0,1 1 0,0 0 0,1 1 0,6-9 0,-7 11 0,-1-1 0,1 0 0,-1 0 0,0 0 0,0-1 0,0 1 0,-1-1 0,1 1 0,-1-1 0,-1 0 0,2-7 0,46-279 0,-37 234 0,-5 28 0,16-40 0,-16 52 0,0-1 0,-2 0 0,0 0 0,-1-1 0,2-33 0,-6 33-1365,0 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01:30:28.101"/>
    </inkml:context>
    <inkml:brush xml:id="br0">
      <inkml:brushProperty name="width" value="0.1" units="cm"/>
      <inkml:brushProperty name="height" value="0.1" units="cm"/>
      <inkml:brushProperty name="color" value="#FF0066"/>
    </inkml:brush>
  </inkml:definitions>
  <inkml:trace contextRef="#ctx0" brushRef="#br0">24 0 24575,'2'88'0,"-5"94"0,-6-127 0,5-39 0,1-1 0,-1 23 0,2-12 0,2 0 0,1 0 0,0 0 0,2 0 0,1 0 0,1-1 0,12 34 0,-9-35 0,0 1 0,-2 0 0,-1 0 0,3 27 0,1-14-38,1 11 166,-9-46-225,-1-1 0,0 1 0,0 0 0,0-1 0,0 1 0,0-1 0,-1 1 0,1-1 0,-1 1 0,1 0 0,-1-1 0,0 0 0,0 1 0,-3 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01:30:31.279"/>
    </inkml:context>
    <inkml:brush xml:id="br0">
      <inkml:brushProperty name="width" value="0.1" units="cm"/>
      <inkml:brushProperty name="height" value="0.1" units="cm"/>
      <inkml:brushProperty name="color" value="#FF0066"/>
    </inkml:brush>
  </inkml:definitions>
  <inkml:trace contextRef="#ctx0" brushRef="#br0">110 232 24575,'8'-2'0,"0"-1"0,0 0 0,0 0 0,0 0 0,0-1 0,-1 0 0,0-1 0,11-8 0,-15 10 0,0 0 0,-1-1 0,1 1 0,-1 0 0,0-1 0,0 1 0,0-1 0,0 0 0,-1 0 0,1 0 0,-1 0 0,0 0 0,-1 0 0,1 0 0,-1 0 0,1-5 0,-1-9 0,0 1 0,-4-25 0,4 40 0,0 0 0,-1 0 0,1 0 0,0 0 0,-1 0 0,0 0 0,0 0 0,1 0 0,-1 0 0,0 0 0,-1 1 0,1-1 0,0 0 0,0 1 0,-1-1 0,1 0 0,-1 1 0,1 0 0,-1-1 0,-3-1 0,2 2 0,0-1 0,-1 1 0,1 0 0,-1 0 0,1 0 0,-1 1 0,0-1 0,1 1 0,-1 0 0,-7 1 0,-2 0 0,0 2 0,-1 0 0,1 0 0,0 1 0,-16 8 0,25-10 0,1 0 0,0 0 0,0 1 0,0-1 0,0 1 0,0-1 0,0 1 0,1 0 0,0 0 0,-1 0 0,1 0 0,0 1 0,0-1 0,1 1 0,-1-1 0,1 1 0,0-1 0,0 1 0,0 0 0,0 0 0,0-1 0,1 7 0,-1 9 0,0 1 0,2-1 0,3 23 0,-3-35 0,1 0-47,-1 0 0,1-1 0,1 0 0,-1 1 0,1-1 0,0 0 0,0 0 0,1-1 0,0 1-1,0-1 1,0 1 0,1-1 0,0-1 0,0 1 0,0-1 0,0 1 0,1-2 0,-1 1 0,1 0 0,0-1 0,0 0 0,0-1-1,1 1 1,-1-1 0,1-1 0,-1 1 0,1-1 0,9 1 0,1-2-6779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01:30:32.140"/>
    </inkml:context>
    <inkml:brush xml:id="br0">
      <inkml:brushProperty name="width" value="0.1" units="cm"/>
      <inkml:brushProperty name="height" value="0.1" units="cm"/>
      <inkml:brushProperty name="color" value="#FF0066"/>
    </inkml:brush>
  </inkml:definitions>
  <inkml:trace contextRef="#ctx0" brushRef="#br0">84 15 24575,'0'-1'0,"0"1"0,0-1 0,0 0 0,-1 0 0,1 1 0,0-1 0,-1 0 0,1 1 0,0-1 0,-1 0 0,1 1 0,-1-1 0,1 1 0,-1-1 0,0 0 0,1 1 0,-1 0 0,1-1 0,-1 1 0,0-1 0,1 1 0,-1 0 0,0-1 0,0 1 0,1 0 0,-1 0 0,0-1 0,0 1 0,1 0 0,-1 0 0,0 0 0,0 0 0,-1 0 0,0 0 0,1 0 0,-1 0 0,0 0 0,0 0 0,1 1 0,-1-1 0,0 0 0,1 1 0,-1-1 0,0 1 0,1-1 0,-1 1 0,0 0 0,-1 1 0,0 2 0,0 0 0,0 0 0,1 1 0,-1-1 0,1 0 0,0 1 0,1-1 0,-1 1 0,-1 8 0,-6 45 0,9-58 0,-2 8 0,1 0 0,1 0 0,0 0 0,0 0 0,0 0 0,3 14 0,-2-19 0,0 0 0,0 0 0,1 0 0,-1-1 0,1 1 0,-1-1 0,1 1 0,0-1 0,0 0 0,0 1 0,0-1 0,0 0 0,1 0 0,-1-1 0,1 1 0,-1 0 0,1-1 0,0 0 0,-1 1 0,1-1 0,3 1 0,8 1-33,1 0 0,-1 0 1,1-2-1,-1 1 0,1-2 0,23-2 0,-7 1-1102,-13 1-5691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01:30:32.890"/>
    </inkml:context>
    <inkml:brush xml:id="br0">
      <inkml:brushProperty name="width" value="0.1" units="cm"/>
      <inkml:brushProperty name="height" value="0.1" units="cm"/>
      <inkml:brushProperty name="color" value="#FF0066"/>
    </inkml:brush>
  </inkml:definitions>
  <inkml:trace contextRef="#ctx0" brushRef="#br0">0 233 24575,'1'3'0,"0"1"0,0 0 0,0-1 0,1 1 0,0 0 0,-1-1 0,1 0 0,4 5 0,4 9 0,-9-14 0,1 0 0,-1 1 0,1-1 0,0 0 0,0 0 0,0 0 0,1-1 0,-1 1 0,1 0 0,-1-1 0,1 0 0,0 1 0,0-1 0,3 1 0,0 0 0,-1-1 0,1-1 0,-1 1 0,1-1 0,0 0 0,-1-1 0,1 1 0,7-1 0,6 0 0,-4 1 0,0-1 0,23-3 0,-35 3 0,0-1 0,0 1 0,1-1 0,-1 0 0,0 0 0,0 0 0,0 0 0,0-1 0,0 0 0,0 1 0,-1-1 0,1 0 0,0 0 0,-1 0 0,1-1 0,-1 1 0,3-3 0,5-12 0,1 0 0,-2-1 0,0 1 0,-1-2 0,6-22 0,-11 32 0,-1 0 0,-1-1 0,1 1 0,-2 0 0,1-1 0,-1 1 0,-1 0 0,1-1 0,-2 1 0,1 0 0,-1-1 0,-1 1 0,-3-10 0,4 16-26,1 1 0,-1-1-1,1 1 1,-1-1 0,0 1 0,0 0-1,0 0 1,0 0 0,0 0 0,0 0-1,-1 0 1,1 1 0,-1-1-1,1 1 1,-5-2 0,-2-1-919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01:30:34.650"/>
    </inkml:context>
    <inkml:brush xml:id="br0">
      <inkml:brushProperty name="width" value="0.1" units="cm"/>
      <inkml:brushProperty name="height" value="0.1" units="cm"/>
      <inkml:brushProperty name="color" value="#FF0066"/>
    </inkml:brush>
  </inkml:definitions>
  <inkml:trace contextRef="#ctx0" brushRef="#br0">170 832 24575,'-3'0'0,"-1"-1"0,0-1 0,1 1 0,-1 0 0,1-1 0,-1 0 0,1 0 0,-6-4 0,-7-3 0,13 7 0,0 1 0,-1-1 0,1 1 0,0 0 0,-1 0 0,1 0 0,-1 0 0,1 1 0,-1-1 0,1 1 0,-1 0 0,1 0 0,-1 0 0,1 1 0,-1-1 0,1 1 0,-1 0 0,1 0 0,-1 0 0,-5 3 0,6-2 0,0 0 0,1 1 0,-1-1 0,0 1 0,1 0 0,0 0 0,0 0 0,0 0 0,0 0 0,0 0 0,0 0 0,1 1 0,-1-1 0,1 1 0,0-1 0,0 1 0,1-1 0,-1 1 0,1 0 0,-1 3 0,1 1 0,-3 68 0,3-71 0,0-1 0,1 1 0,0 0 0,-1 0 0,1-1 0,1 1 0,-1-1 0,1 1 0,0-1 0,0 1 0,0-1 0,5 8 0,-4-10 0,0 0 0,0 1 0,-1-1 0,1-1 0,1 1 0,-1 0 0,0-1 0,0 1 0,1-1 0,-1 0 0,0 0 0,1 0 0,-1-1 0,1 1 0,0-1 0,-1 0 0,1 0 0,-1 0 0,1 0 0,-1-1 0,6-1 0,-3 1 0,-1 0 0,0-1 0,0 0 0,0 0 0,0 0 0,0 0 0,0-1 0,-1 0 0,1 0 0,-1 0 0,0 0 0,0-1 0,5-5 0,9-15 0,5-4 0,-1-1 0,22-41 0,-30 37 0,20-66 0,-17 44 0,6-7 0,-9 24 0,-1-1 0,10-47 0,-15 29 0,-6 32 0,2 0 0,14-47 0,-6 15 0,-10 46 0,0 0 0,0 0 0,1 0 0,9-20 0,-8 21 0,0-1 0,-1 1 0,3-15 0,-4 17 0,0 0 0,0-1 0,1 1 0,0 0 0,0 1 0,6-11 0,-9 18 0,0-1 0,0 1 0,0 0 0,1-1 0,-1 1 0,0 0 0,0 0 0,0-1 0,0 1 0,0 0 0,1 0 0,-1-1 0,0 1 0,0 0 0,0 0 0,1-1 0,-1 1 0,0 0 0,0 0 0,1 0 0,-1 0 0,0-1 0,1 1 0,-1 0 0,0 0 0,0 0 0,1 0 0,-1 0 0,0 0 0,1 0 0,-1 0 0,0 0 0,1 0 0,-1 0 0,0 0 0,0 0 0,1 0 0,-1 0 0,0 0 0,1 0 0,-1 0 0,0 1 0,0-1 0,1 0 0,-1 0 0,1 1 0,5 17 0,-2 24 0,-4-24 0,0 0 0,-2 0 0,0 1 0,-8 26 0,5-14 0,1 1 0,1-1 0,2 1 0,4 47 0,-1-3 0,-4 11 0,4 94 0,9-125 0,-8-42 0,0 1 0,2 24 0,-5-25-109,-1-10 19,1 0 1,0-1-1,0 1 0,0 0 1,1 0-1,-1-1 0,1 1 0,0-1 1,0 1-1,0 0 0,0-1 0,1 0 1,2 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01:30:35.758"/>
    </inkml:context>
    <inkml:brush xml:id="br0">
      <inkml:brushProperty name="width" value="0.1" units="cm"/>
      <inkml:brushProperty name="height" value="0.1" units="cm"/>
      <inkml:brushProperty name="color" value="#FF0066"/>
    </inkml:brush>
  </inkml:definitions>
  <inkml:trace contextRef="#ctx0" brushRef="#br0">0 375 24575,'1'-1'0,"0"0"0,-1-1 0,1 1 0,0 0 0,0-1 0,0 1 0,0 0 0,0 0 0,0 0 0,0 0 0,0 0 0,1 0 0,-1 0 0,0 0 0,0 0 0,1 0 0,-1 1 0,1-1 0,-1 1 0,3-1 0,30-11 0,-14 6 0,0-1 0,-1-1 0,0-1 0,0 0 0,32-23 0,-35 19 0,-2-1 0,17-18 0,-30 31 0,2-3 0,0-1 0,0 0 0,0 0 0,-1 0 0,0 0 0,0 0 0,0 0 0,-1-1 0,1 1 0,-1-1 0,-1 1 0,1-1 0,-1-7 0,0-11 0,-5-38 0,5 60 0,-1-1 0,1 1 0,-1 0 0,0 0 0,0-1 0,0 1 0,0 0 0,0 0 0,-1 0 0,1 0 0,0 1 0,-1-1 0,0 0 0,1 0 0,-1 1 0,0-1 0,0 1 0,0 0 0,0-1 0,0 1 0,0 0 0,0 0 0,0 1 0,-1-1 0,1 0 0,0 1 0,0-1 0,-1 1 0,1-1 0,-1 1 0,1 0 0,0 0 0,-1 0 0,1 1 0,0-1 0,-1 1 0,1-1 0,0 1 0,0 0 0,-1-1 0,1 1 0,0 0 0,0 1 0,0-1 0,0 0 0,0 1 0,0-1 0,1 1 0,-1-1 0,0 1 0,1 0 0,-3 3 0,-3 7 0,1-1 0,0 2 0,0-1 0,2 0 0,-1 1 0,2 0 0,0 0 0,-3 24 0,3 6 0,4 61 0,1-36 0,-2-63 11,0 0 0,0-1 0,0 1 0,1-1 0,0 1 0,0 0-1,0-1 1,0 0 0,1 1 0,3 5 0,-3-7-85,-1-1-1,1 0 1,0 0 0,-1 0 0,1-1-1,0 1 1,0 0 0,1-1 0,-1 1-1,0-1 1,0 0 0,1 0 0,-1 0-1,1 0 1,-1 0 0,1 0 0,-1-1-1,1 1 1,4-1 0,9 2-6752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01:30:45.977"/>
    </inkml:context>
    <inkml:brush xml:id="br0">
      <inkml:brushProperty name="width" value="0.1" units="cm"/>
      <inkml:brushProperty name="height" value="0.1" units="cm"/>
      <inkml:brushProperty name="color" value="#FF0066"/>
    </inkml:brush>
  </inkml:definitions>
  <inkml:trace contextRef="#ctx0" brushRef="#br0">1102 22 24575,'0'-1'0,"0"0"0,-1 0 0,1 0 0,0 0 0,-1 1 0,1-1 0,-1 0 0,0 0 0,1 0 0,-1 1 0,0-1 0,1 0 0,-1 1 0,0-1 0,0 1 0,0-1 0,1 1 0,-1-1 0,0 1 0,0-1 0,0 1 0,0 0 0,0 0 0,0-1 0,0 1 0,0 0 0,-1 0 0,-32-4 0,30 4 0,-221-2 0,116 3 0,98 0 0,0 1 0,-1 0 0,1 0 0,0 1 0,1 0 0,-1 1 0,1 0 0,-1 1 0,1 0 0,0 1 0,1 0 0,0 0 0,0 1 0,-16 15 0,18-17 0,-1 0 0,1-1 0,-1 1 0,0-2 0,0 1 0,0-1 0,0-1 0,-1 1 0,-16 1 0,-25 9 0,-45 29 0,44-17 0,-34 5 0,66-24 0,0 0 0,1 0 0,0 2 0,0 0 0,1 1 0,-25 17 0,32-15-1365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9T01:30:46.757"/>
    </inkml:context>
    <inkml:brush xml:id="br0">
      <inkml:brushProperty name="width" value="0.1" units="cm"/>
      <inkml:brushProperty name="height" value="0.1" units="cm"/>
      <inkml:brushProperty name="color" value="#FF0066"/>
    </inkml:brush>
  </inkml:definitions>
  <inkml:trace contextRef="#ctx0" brushRef="#br0">82 0 24575,'1'0'0,"0"1"0,0-1 0,-1 0 0,1 1 0,0-1 0,0 1 0,0-1 0,0 1 0,-1 0 0,1-1 0,0 1 0,-1 0 0,1 0 0,0-1 0,-1 1 0,1 0 0,-1 0 0,1 0 0,-1 0 0,0-1 0,1 1 0,-1 0 0,0 0 0,0 0 0,1 0 0,-1 0 0,0 2 0,4 30 0,-4-29 0,-1 9 0,1 0 0,-2 0 0,0 0 0,-1 0 0,0 0 0,-9 21 0,-5 24 0,14-47 0,-1 1 0,-1-1 0,0 0 0,-9 16 0,8-16 0,1 0 0,0 0 0,-5 14 0,9-20 0,0 0 0,0 0 0,1 0 0,-1 0 0,1 0 0,0 0 0,0 0 0,1 0 0,-1 0 0,1 0 0,2 6 0,-1-4 0,1 0 0,0 0 0,0 0 0,1 0 0,-1 0 0,2-1 0,-1 0 0,1 0 0,-1 0 0,2-1 0,-1 1 0,1-1 0,10 7 0,4 1 0,0-2 0,1 0 0,23 8 0,-18-8 0,26 14 0,-34-15 0,0-2 0,1 0 0,0 0 0,21 4 0,12 5 74,-43-13-314,0 0 0,-1-1 0,1 0 1,1-1-1,13 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5T14:35:32.937"/>
    </inkml:context>
    <inkml:brush xml:id="br0">
      <inkml:brushProperty name="width" value="0.05" units="cm"/>
      <inkml:brushProperty name="height" value="0.05" units="cm"/>
      <inkml:brushProperty name="color" value="#E71224"/>
    </inkml:brush>
  </inkml:definitions>
  <inkml:trace contextRef="#ctx0" brushRef="#br0">1740 0 24575,'-4'1'0,"0"0"0,1 0 0,-1 0 0,1 1 0,-1-1 0,1 1 0,-4 2 0,-6 3 0,3-2 0,1 0 0,0 1 0,0-1 0,0 2 0,1-1 0,0 1 0,-14 16 0,10-12 0,-1 0 0,0-1 0,-16 10 0,15-11 0,0 1 0,-23 21 0,33-27 0,-1 0 0,0-1 0,0 1 0,0-1 0,-11 5 0,10-6 0,1 1 0,-1 0 0,1 0 0,0 1 0,0-1 0,-5 6 0,5-5 0,0 0 0,0 0 0,0-1 0,-1 1 0,0-1 0,1 0 0,-1-1 0,-8 3 0,9-3 0,-1-1 0,1 2 0,0-1 0,0 1 0,0-1 0,0 1 0,0 0 0,1 1 0,0 0 0,-6 4 0,-2 6 0,-2-1 0,0-1 0,0 0 0,-20 12 0,15-11 0,1 1 0,-19 18 0,2-2 0,26-24 0,0 1 0,0 1 0,-8 10 0,3-2 0,0 0 0,-1 0 0,-1-1 0,-22 16 0,-8 11 0,16-13 0,12-12 0,1-1 0,-23 30 0,33-37 0,1 0 0,0 0 0,0 1 0,1-1 0,0 2 0,1-1 0,-5 18 0,6-19 0,0-1 0,-1-1 0,0 1 0,0-1 0,-1 1 0,0-1 0,-1-1 0,1 1 0,-9 7 0,-21 28 0,-26 37 0,45-61 0,1 1 0,0 1 0,2 0 0,-12 22 0,-15 30 0,31-58 0,-1 1 0,2 0 0,0 1 0,1 0 0,1 0 0,-8 32 0,8-21 0,-1 0 0,-1 0 0,-23 50 0,-9 27 0,35-91 0,0 0 0,2 1 0,-1-1 0,-1 26 0,-4 13 0,2-17 0,4-16 0,-2-1 0,0 1 0,-10 24 0,10-29 0,1 1 0,0 0 0,1 0 0,-3 30 0,0 5 0,-4 32 0,8-56 0,-1 0 0,-2 0 0,-11 39 0,11-49 0,2-1 0,0 1 0,0 0 0,1 19 0,1-18 0,-1 0 0,0 0 0,-8 28 0,-44 133 0,44-144 0,-11 60 0,15-41 0,-5 24 0,6-38 0,1-1 0,1 1 0,5 69 0,1-22 0,-3-68 0,0 9 0,0 0 0,-2 0 0,-10 52 0,1-27 0,2 0 0,-3 91 0,12 110 0,3-105 0,-5-67 0,4 91 0,8-115 0,-6-41 0,-1 0 0,1 22 0,-3 5 0,-2-19 0,2 0 0,1 0 0,8 39 0,12 85 0,21 81 0,-37-194 0,13 51 0,-12-61 0,-1 0 0,-1 1 0,2 47 0,-5-40 0,1 1 0,2-1 0,12 41 0,-3-13 0,-7-34 0,2 1 0,20 42 0,-17-41 0,-3-8 0,-3-5 0,0-1 0,0-1 0,2 1 0,0-1 0,0 0 0,1-1 0,1 0 0,13 14 0,-16-20 0,-1 1 0,0-1 0,-1 2 0,0-1 0,0 1 0,-1-1 0,6 16 0,-5-12 0,0 0 0,1 0 0,14 21 0,-4-13 0,-6-8 0,-1-1 0,0 1 0,-1 1 0,-1 0 0,0 0 0,9 22 0,-12-24 0,1 0 0,1 0 0,0 0 0,0-1 0,1 0 0,0 0 0,1 0 0,9 9 0,-10-11 0,-1 0 0,-1 1 0,0 0 0,0 0 0,4 12 0,-4-9 0,1 0 0,0-1 0,8 12 0,57 89 0,-4-6 0,-34-68 0,-25-29 0,1 1 0,-2-1 0,0 1 0,11 19 0,-5-7 0,0 0 0,2-1 0,25 29 0,-10-14 0,-21-24 0,-4-6 0,0-1 0,-1 1 0,0 0 0,-1 0 0,1 0 0,4 11 0,-4-9 0,0 0 0,0 0 0,1 0 0,1-1 0,-1 1 0,1-1 0,0-1 0,9 8 0,-6-5 0,-1 0 0,0 0 0,13 20 0,-5-6 0,0-1 0,35 38 0,8 9 0,-26-16 0,-26-41 0,-1 0 0,2-1 0,-1 0 0,2 0 0,-1-1 0,1 0 0,11 9 0,-15-15 0,0 1 0,0 0 0,0 0 0,-1 1 0,0-1 0,0 1 0,4 8 0,17 24 0,-12-23 0,2 1 0,-1 0 0,-1 1 0,22 38 0,-27-42 0,1 0 0,1 0 0,0-1 0,20 19 0,-2-2 0,23 34 0,-32-38 0,34 35 0,15 17 0,-17-18 0,-43-49 0,0 0 0,12 21 0,-15-22 0,0-1 0,1 1 0,0-2 0,0 1 0,15 13 0,-2-3 0,0 1 0,-1 0 0,24 34 0,-37-47 0,0 0 0,1-1 0,0 1 0,1-1 0,-1-1 0,12 8 0,-12-9 0,0 0 0,-1 1 0,1-1 0,-1 1 0,0 1 0,0-1 0,-1 1 0,1 0 0,-1 0 0,7 11 0,-6-9 0,-1 1 0,2-1 0,-1 0 0,1-1 0,0 1 0,0-1 0,1-1 0,11 9 0,4 4 0,10 19 0,-28-32 0,0 1 0,0-1 0,0-1 0,0 1 0,1 0 0,-1-1 0,1 0 0,1 0 0,5 3 0,-5-4 0,-3-1 0,0 0 0,0-1 0,0 0 0,-1 1 0,1-1 0,0 0 0,1 0 0,2 0 0,-5-1 0,0-1 0,-1 1 0,1 0 0,0 0 0,0-1 0,0 1 0,-1 0 0,1-1 0,0 1 0,-1-1 0,1 1 0,0-1 0,-1 1 0,1-1 0,-1 0 0,1 1 0,0-1 0,-1 0 0,0 1 0,1-1 0,-1 0 0,1 0 0,-1 1 0,0-1 0,0 0 0,1 0 0,-1 0 0,0 1 0,0-1 0,0 0 0,0 0 0,0 0 0,0 0 0,0 1 0,0-3 0,0-6 0,-1-1 0,0 1 0,0 0 0,-1-1 0,-4-15 0,-6-30 0,12 41 26,1 0-1,0 0 1,1 0 0,4-19-1,4-27-1518,-9 43-5333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5T14:35:33.985"/>
    </inkml:context>
    <inkml:brush xml:id="br0">
      <inkml:brushProperty name="width" value="0.05" units="cm"/>
      <inkml:brushProperty name="height" value="0.05" units="cm"/>
      <inkml:brushProperty name="color" value="#E71224"/>
    </inkml:brush>
  </inkml:definitions>
  <inkml:trace contextRef="#ctx0" brushRef="#br0">381 0 23513,'-380'572'0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5T14:35:38.239"/>
    </inkml:context>
    <inkml:brush xml:id="br0">
      <inkml:brushProperty name="width" value="0.05" units="cm"/>
      <inkml:brushProperty name="height" value="0.05" units="cm"/>
      <inkml:brushProperty name="color" value="#E71224"/>
    </inkml:brush>
  </inkml:definitions>
  <inkml:trace contextRef="#ctx0" brushRef="#br0">378 0 24575,'-1'1'0,"1"0"0,-1 0 0,1 0 0,-1 0 0,1 1 0,-1-1 0,1-1 0,-1 1 0,0 0 0,0 0 0,0 0 0,1 0 0,-1 0 0,0-1 0,0 1 0,0 0 0,0-1 0,-2 2 0,-23 11 0,20-10 0,-15 8 0,6-3 0,-1 0 0,0-2 0,0 1 0,-21 4 0,-29 7-2,47-12-270,0-1-1,-1 0 0,0-1 1,-27 1-1,29-5-6553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1F6E3-57F9-402E-BDBA-5B2DE11C8530}"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F98C7-164A-4723-84F0-B1E4B080DDEC}" type="slidenum">
              <a:rPr lang="en-US" smtClean="0"/>
              <a:t>‹#›</a:t>
            </a:fld>
            <a:endParaRPr lang="en-US"/>
          </a:p>
        </p:txBody>
      </p:sp>
    </p:spTree>
    <p:extLst>
      <p:ext uri="{BB962C8B-B14F-4D97-AF65-F5344CB8AC3E}">
        <p14:creationId xmlns:p14="http://schemas.microsoft.com/office/powerpoint/2010/main" val="3424527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geos.ed.ac.uk/~mscgis/11-12/s1104136/design.ht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https://digitalcorpora.s3.amazonaws.com/corpora/mobile/android_10/Non-Cellebrite%20Extraction/Pixel%203.zip</a:t>
            </a:r>
          </a:p>
        </p:txBody>
      </p:sp>
      <p:sp>
        <p:nvSpPr>
          <p:cNvPr id="4" name="Slide Number Placeholder 3"/>
          <p:cNvSpPr>
            <a:spLocks noGrp="1"/>
          </p:cNvSpPr>
          <p:nvPr>
            <p:ph type="sldNum" sz="quarter" idx="5"/>
          </p:nvPr>
        </p:nvSpPr>
        <p:spPr/>
        <p:txBody>
          <a:bodyPr/>
          <a:lstStyle/>
          <a:p>
            <a:fld id="{DDBF98C7-164A-4723-84F0-B1E4B080DDEC}" type="slidenum">
              <a:rPr lang="en-US" smtClean="0"/>
              <a:t>1</a:t>
            </a:fld>
            <a:endParaRPr lang="en-US"/>
          </a:p>
        </p:txBody>
      </p:sp>
    </p:spTree>
    <p:extLst>
      <p:ext uri="{BB962C8B-B14F-4D97-AF65-F5344CB8AC3E}">
        <p14:creationId xmlns:p14="http://schemas.microsoft.com/office/powerpoint/2010/main" val="1054455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https://www.geos.ed.ac.uk/~mscgis/11-12/s1104136/design.htm</a:t>
            </a:r>
            <a:endParaRPr lang="en-US" dirty="0"/>
          </a:p>
          <a:p>
            <a:endParaRPr lang="en-US" dirty="0">
              <a:cs typeface="Calibri"/>
            </a:endParaRPr>
          </a:p>
        </p:txBody>
      </p:sp>
      <p:sp>
        <p:nvSpPr>
          <p:cNvPr id="4" name="Slide Number Placeholder 3"/>
          <p:cNvSpPr>
            <a:spLocks noGrp="1"/>
          </p:cNvSpPr>
          <p:nvPr>
            <p:ph type="sldNum" sz="quarter" idx="5"/>
          </p:nvPr>
        </p:nvSpPr>
        <p:spPr/>
        <p:txBody>
          <a:bodyPr/>
          <a:lstStyle/>
          <a:p>
            <a:fld id="{DDBF98C7-164A-4723-84F0-B1E4B080DDEC}" type="slidenum">
              <a:rPr lang="en-US" smtClean="0"/>
              <a:t>4</a:t>
            </a:fld>
            <a:endParaRPr lang="en-US"/>
          </a:p>
        </p:txBody>
      </p:sp>
    </p:spTree>
    <p:extLst>
      <p:ext uri="{BB962C8B-B14F-4D97-AF65-F5344CB8AC3E}">
        <p14:creationId xmlns:p14="http://schemas.microsoft.com/office/powerpoint/2010/main" val="2581839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Cmd: tree 'Pixel 3/data/data/com.google.android.apps.maps' -L 1</a:t>
            </a:r>
          </a:p>
        </p:txBody>
      </p:sp>
      <p:sp>
        <p:nvSpPr>
          <p:cNvPr id="4" name="Slide Number Placeholder 3"/>
          <p:cNvSpPr>
            <a:spLocks noGrp="1"/>
          </p:cNvSpPr>
          <p:nvPr>
            <p:ph type="sldNum" sz="quarter" idx="5"/>
          </p:nvPr>
        </p:nvSpPr>
        <p:spPr/>
        <p:txBody>
          <a:bodyPr/>
          <a:lstStyle/>
          <a:p>
            <a:fld id="{DDBF98C7-164A-4723-84F0-B1E4B080DDEC}" type="slidenum">
              <a:rPr lang="en-US" smtClean="0"/>
              <a:t>9</a:t>
            </a:fld>
            <a:endParaRPr lang="en-US"/>
          </a:p>
        </p:txBody>
      </p:sp>
    </p:spTree>
    <p:extLst>
      <p:ext uri="{BB962C8B-B14F-4D97-AF65-F5344CB8AC3E}">
        <p14:creationId xmlns:p14="http://schemas.microsoft.com/office/powerpoint/2010/main" val="836442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Cmd: tree 'Pixel 3/data/data/com.google.android.apps.maps/databases'</a:t>
            </a:r>
          </a:p>
        </p:txBody>
      </p:sp>
      <p:sp>
        <p:nvSpPr>
          <p:cNvPr id="4" name="Slide Number Placeholder 3"/>
          <p:cNvSpPr>
            <a:spLocks noGrp="1"/>
          </p:cNvSpPr>
          <p:nvPr>
            <p:ph type="sldNum" sz="quarter" idx="5"/>
          </p:nvPr>
        </p:nvSpPr>
        <p:spPr/>
        <p:txBody>
          <a:bodyPr/>
          <a:lstStyle/>
          <a:p>
            <a:fld id="{DDBF98C7-164A-4723-84F0-B1E4B080DDEC}" type="slidenum">
              <a:rPr lang="en-US" smtClean="0"/>
              <a:t>12</a:t>
            </a:fld>
            <a:endParaRPr lang="en-US"/>
          </a:p>
        </p:txBody>
      </p:sp>
    </p:spTree>
    <p:extLst>
      <p:ext uri="{BB962C8B-B14F-4D97-AF65-F5344CB8AC3E}">
        <p14:creationId xmlns:p14="http://schemas.microsoft.com/office/powerpoint/2010/main" val="4061041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Summary of Each Database:</a:t>
            </a:r>
          </a:p>
          <a:p>
            <a:r>
              <a:rPr lang="en-US" b="1" dirty="0" err="1"/>
              <a:t>DatabaseLikely</a:t>
            </a:r>
            <a:r>
              <a:rPr lang="en-US" b="1" dirty="0"/>
              <a:t> </a:t>
            </a:r>
            <a:r>
              <a:rPr lang="en-US" b="1" dirty="0" err="1"/>
              <a:t>PurposeInvestigation</a:t>
            </a:r>
            <a:r>
              <a:rPr lang="en-US" b="1" dirty="0"/>
              <a:t> </a:t>
            </a:r>
            <a:r>
              <a:rPr lang="en-US" b="1" dirty="0" err="1"/>
              <a:t>Value</a:t>
            </a:r>
            <a:r>
              <a:rPr lang="en-US" dirty="0" err="1">
                <a:effectLst/>
              </a:rPr>
              <a:t>gmm_myplaces.dbStores</a:t>
            </a:r>
            <a:r>
              <a:rPr lang="en-US" dirty="0">
                <a:effectLst/>
              </a:rPr>
              <a:t> user’s saved places (favorites, starred locations, lists).Reveals important locations, travel history, and personal </a:t>
            </a:r>
            <a:r>
              <a:rPr lang="en-US" dirty="0" err="1">
                <a:effectLst/>
              </a:rPr>
              <a:t>interests.gmm_storage.dbStores</a:t>
            </a:r>
            <a:r>
              <a:rPr lang="en-US" dirty="0">
                <a:effectLst/>
              </a:rPr>
              <a:t> miscellaneous app data (cached maps, user preferences, offline map metadata).Shows user preferences, offline map usage, and app interaction </a:t>
            </a:r>
            <a:r>
              <a:rPr lang="en-US" dirty="0" err="1">
                <a:effectLst/>
              </a:rPr>
              <a:t>patterns.gmm_sync.dbManages</a:t>
            </a:r>
            <a:r>
              <a:rPr lang="en-US" dirty="0">
                <a:effectLst/>
              </a:rPr>
              <a:t> synchronization of Google Maps data (saved places, history) with the user’s Google </a:t>
            </a:r>
            <a:r>
              <a:rPr lang="en-US" dirty="0" err="1">
                <a:effectLst/>
              </a:rPr>
              <a:t>account.Indicates</a:t>
            </a:r>
            <a:r>
              <a:rPr lang="en-US" dirty="0">
                <a:effectLst/>
              </a:rPr>
              <a:t> sync activity, cross-device usage, and potential data </a:t>
            </a:r>
            <a:r>
              <a:rPr lang="en-US" dirty="0" err="1">
                <a:effectLst/>
              </a:rPr>
              <a:t>recovery.inbox_notifications.dbStores</a:t>
            </a:r>
            <a:r>
              <a:rPr lang="en-US" dirty="0">
                <a:effectLst/>
              </a:rPr>
              <a:t> notifications or in-app messages (e.g., traffic alerts, contribution prompts).Reveals user interactions, location-based alerts, and contribution behavior.ue3.dbLikely stores user experience data (A/B testing, feedback, usage metrics).Provides behavioral insights, feedback on locations, and feature usage </a:t>
            </a:r>
            <a:r>
              <a:rPr lang="en-US" dirty="0" err="1">
                <a:effectLst/>
              </a:rPr>
              <a:t>patterns.ugc_photos_location_data.dbManages</a:t>
            </a:r>
            <a:r>
              <a:rPr lang="en-US" dirty="0">
                <a:effectLst/>
              </a:rPr>
              <a:t> user-uploaded photos and their location data for Google Maps </a:t>
            </a:r>
            <a:r>
              <a:rPr lang="en-US" dirty="0" err="1">
                <a:effectLst/>
              </a:rPr>
              <a:t>contributions.Shows</a:t>
            </a:r>
            <a:r>
              <a:rPr lang="en-US" dirty="0">
                <a:effectLst/>
              </a:rPr>
              <a:t> where the user has been, timestamps of visits, and potential visual evidence via photos.</a:t>
            </a:r>
            <a:endParaRPr lang="en-US" dirty="0"/>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13</a:t>
            </a:fld>
            <a:endParaRPr lang="en-US"/>
          </a:p>
        </p:txBody>
      </p:sp>
    </p:spTree>
    <p:extLst>
      <p:ext uri="{BB962C8B-B14F-4D97-AF65-F5344CB8AC3E}">
        <p14:creationId xmlns:p14="http://schemas.microsoft.com/office/powerpoint/2010/main" val="1945586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corpus (8): Identifies the data type being synced (e.g., saved places), linking to the </a:t>
            </a:r>
            <a:r>
              <a:rPr lang="en-GB" dirty="0" err="1"/>
              <a:t>sync_corpus</a:t>
            </a:r>
            <a:r>
              <a:rPr lang="en-GB" dirty="0"/>
              <a:t> table. </a:t>
            </a:r>
            <a:r>
              <a:rPr lang="en-GB" dirty="0" err="1"/>
              <a:t>key_string</a:t>
            </a:r>
            <a:r>
              <a:rPr lang="en-GB" dirty="0"/>
              <a:t> (1:0): A unique identifier for the sync item within its corpus, possibly a versioned key. timestamp (155447034604): Marks the time of the sync action (April 5, 2019, 15:45:34.604 UTC), useful for timeline building. </a:t>
            </a:r>
            <a:r>
              <a:rPr lang="en-GB" dirty="0" err="1"/>
              <a:t>merge_key</a:t>
            </a:r>
            <a:r>
              <a:rPr lang="en-GB" dirty="0"/>
              <a:t> (0): Indicates merge </a:t>
            </a:r>
            <a:r>
              <a:rPr lang="en-GB" dirty="0" err="1"/>
              <a:t>behavior</a:t>
            </a:r>
            <a:r>
              <a:rPr lang="en-GB" dirty="0"/>
              <a:t> during sync (0 suggests no merge, likely a new item). </a:t>
            </a:r>
            <a:r>
              <a:rPr lang="en-GB" dirty="0" err="1"/>
              <a:t>feature_print</a:t>
            </a:r>
            <a:r>
              <a:rPr lang="en-GB" dirty="0"/>
              <a:t> (NULL): A potential hash for data consistency, but NULL here, offering little insight. latitude (35734602): Scaled latitude (35.734602°N), pinpointing a location near Raleigh, NC, USA. longitude (-78636654): Scaled longitude (-78.636654°W), confirming the location with latitude. </a:t>
            </a:r>
            <a:r>
              <a:rPr lang="en-GB" dirty="0" err="1"/>
              <a:t>is_local</a:t>
            </a:r>
            <a:r>
              <a:rPr lang="en-GB" dirty="0"/>
              <a:t> (0): Shows the item is not local (already synced), suggesting it’s backed up in the cloud. </a:t>
            </a:r>
            <a:r>
              <a:rPr lang="en-GB" dirty="0" err="1"/>
              <a:t>sync_item</a:t>
            </a:r>
            <a:r>
              <a:rPr lang="en-GB" dirty="0"/>
              <a:t> (BLOB): Stores the serialized data (e.g., a saved place), which could reveal details if deserialized.</a:t>
            </a:r>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17</a:t>
            </a:fld>
            <a:endParaRPr lang="en-US"/>
          </a:p>
        </p:txBody>
      </p:sp>
    </p:spTree>
    <p:extLst>
      <p:ext uri="{BB962C8B-B14F-4D97-AF65-F5344CB8AC3E}">
        <p14:creationId xmlns:p14="http://schemas.microsoft.com/office/powerpoint/2010/main" val="369150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Key Differences Between </a:t>
            </a:r>
            <a:r>
              <a:rPr lang="en-GB" b="1" dirty="0" err="1"/>
              <a:t>last_sync_time</a:t>
            </a:r>
            <a:r>
              <a:rPr lang="en-GB" b="1" dirty="0"/>
              <a:t> and timestamp:</a:t>
            </a:r>
          </a:p>
          <a:p>
            <a:r>
              <a:rPr lang="en-GB" b="1" dirty="0" err="1"/>
              <a:t>Aspectlast_sync_time</a:t>
            </a:r>
            <a:r>
              <a:rPr lang="en-GB" b="1" dirty="0"/>
              <a:t> (in </a:t>
            </a:r>
            <a:r>
              <a:rPr lang="en-GB" b="1" dirty="0" err="1"/>
              <a:t>sync_corpus</a:t>
            </a:r>
            <a:r>
              <a:rPr lang="en-GB" b="1" dirty="0"/>
              <a:t>)timestamp (in </a:t>
            </a:r>
            <a:r>
              <a:rPr lang="en-GB" b="1" dirty="0" err="1"/>
              <a:t>sync_item</a:t>
            </a:r>
            <a:r>
              <a:rPr lang="en-GB" b="1" dirty="0"/>
              <a:t>)</a:t>
            </a:r>
            <a:r>
              <a:rPr lang="en-GB" b="1" dirty="0" err="1">
                <a:effectLst/>
              </a:rPr>
              <a:t>Definition</a:t>
            </a:r>
            <a:r>
              <a:rPr lang="en-GB" dirty="0" err="1">
                <a:effectLst/>
              </a:rPr>
              <a:t>The</a:t>
            </a:r>
            <a:r>
              <a:rPr lang="en-GB" dirty="0">
                <a:effectLst/>
              </a:rPr>
              <a:t> timestamp of the last successful sync for the entire </a:t>
            </a:r>
            <a:r>
              <a:rPr lang="en-GB" dirty="0" err="1">
                <a:effectLst/>
              </a:rPr>
              <a:t>corpus.The</a:t>
            </a:r>
            <a:r>
              <a:rPr lang="en-GB" dirty="0">
                <a:effectLst/>
              </a:rPr>
              <a:t> timestamp when a specific sync item was created or </a:t>
            </a:r>
            <a:r>
              <a:rPr lang="en-GB" dirty="0" err="1">
                <a:effectLst/>
              </a:rPr>
              <a:t>modified.</a:t>
            </a:r>
            <a:r>
              <a:rPr lang="en-GB" b="1" dirty="0" err="1">
                <a:effectLst/>
              </a:rPr>
              <a:t>Scope</a:t>
            </a:r>
            <a:r>
              <a:rPr lang="en-GB" dirty="0" err="1">
                <a:effectLst/>
              </a:rPr>
              <a:t>Applies</a:t>
            </a:r>
            <a:r>
              <a:rPr lang="en-GB" dirty="0">
                <a:effectLst/>
              </a:rPr>
              <a:t> to all items in a corpus (e.g., all saved places).Applies to a single item (e.g., one saved place).</a:t>
            </a:r>
            <a:r>
              <a:rPr lang="en-GB" b="1" dirty="0" err="1">
                <a:effectLst/>
              </a:rPr>
              <a:t>Purpose</a:t>
            </a:r>
            <a:r>
              <a:rPr lang="en-GB" dirty="0" err="1">
                <a:effectLst/>
              </a:rPr>
              <a:t>Tracks</a:t>
            </a:r>
            <a:r>
              <a:rPr lang="en-GB" dirty="0">
                <a:effectLst/>
              </a:rPr>
              <a:t> when the sync process for a data type was last </a:t>
            </a:r>
            <a:r>
              <a:rPr lang="en-GB" dirty="0" err="1">
                <a:effectLst/>
              </a:rPr>
              <a:t>completed.Tracks</a:t>
            </a:r>
            <a:r>
              <a:rPr lang="en-GB" dirty="0">
                <a:effectLst/>
              </a:rPr>
              <a:t> when a specific piece of data was added to the sync </a:t>
            </a:r>
            <a:r>
              <a:rPr lang="en-GB" dirty="0" err="1">
                <a:effectLst/>
              </a:rPr>
              <a:t>queue.</a:t>
            </a:r>
            <a:r>
              <a:rPr lang="en-GB" b="1" dirty="0" err="1">
                <a:effectLst/>
              </a:rPr>
              <a:t>Time</a:t>
            </a:r>
            <a:r>
              <a:rPr lang="en-GB" b="1" dirty="0">
                <a:effectLst/>
              </a:rPr>
              <a:t> </a:t>
            </a:r>
            <a:r>
              <a:rPr lang="en-GB" b="1" dirty="0" err="1">
                <a:effectLst/>
              </a:rPr>
              <a:t>Represented</a:t>
            </a:r>
            <a:r>
              <a:rPr lang="en-GB" dirty="0" err="1">
                <a:effectLst/>
              </a:rPr>
              <a:t>Reflects</a:t>
            </a:r>
            <a:r>
              <a:rPr lang="en-GB" dirty="0">
                <a:effectLst/>
              </a:rPr>
              <a:t> the completion of a sync </a:t>
            </a:r>
            <a:r>
              <a:rPr lang="en-GB" dirty="0" err="1">
                <a:effectLst/>
              </a:rPr>
              <a:t>operation.Reflects</a:t>
            </a:r>
            <a:r>
              <a:rPr lang="en-GB" dirty="0">
                <a:effectLst/>
              </a:rPr>
              <a:t> the user action or data change that triggered the sync </a:t>
            </a:r>
            <a:r>
              <a:rPr lang="en-GB" dirty="0" err="1">
                <a:effectLst/>
              </a:rPr>
              <a:t>item.</a:t>
            </a:r>
            <a:r>
              <a:rPr lang="en-GB" b="1" dirty="0" err="1">
                <a:effectLst/>
              </a:rPr>
              <a:t>Value</a:t>
            </a:r>
            <a:r>
              <a:rPr lang="en-GB" b="1" dirty="0">
                <a:effectLst/>
              </a:rPr>
              <a:t> Example</a:t>
            </a:r>
            <a:r>
              <a:rPr lang="en-GB" dirty="0">
                <a:effectLst/>
              </a:rPr>
              <a:t>1581277539482000 (Feb 9, 2020, 20:25:39.482 UTC)155447034604 (April 5, 2019, 15:45:34.604 UTC)</a:t>
            </a:r>
            <a:r>
              <a:rPr lang="en-GB" b="1" dirty="0" err="1">
                <a:effectLst/>
              </a:rPr>
              <a:t>Units</a:t>
            </a:r>
            <a:r>
              <a:rPr lang="en-GB" dirty="0" err="1">
                <a:effectLst/>
              </a:rPr>
              <a:t>Microseconds</a:t>
            </a:r>
            <a:r>
              <a:rPr lang="en-GB" dirty="0">
                <a:effectLst/>
              </a:rPr>
              <a:t> (based on the value’s scale).Milliseconds (based on the value’s scale).</a:t>
            </a:r>
            <a:endParaRPr lang="en-GB" dirty="0"/>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18</a:t>
            </a:fld>
            <a:endParaRPr lang="en-US"/>
          </a:p>
        </p:txBody>
      </p:sp>
    </p:spTree>
    <p:extLst>
      <p:ext uri="{BB962C8B-B14F-4D97-AF65-F5344CB8AC3E}">
        <p14:creationId xmlns:p14="http://schemas.microsoft.com/office/powerpoint/2010/main" val="791285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wget https://raw.githubusercontent.com/frankwxu/digital-forensics-lab/main/Android10/5_2_3_extract_myplaces_sync_items.py</a:t>
            </a:r>
          </a:p>
          <a:p>
            <a:r>
              <a:rPr lang="en-GB" dirty="0"/>
              <a:t>nano extract_myplaces_sync_items.py     # paste the code above</a:t>
            </a:r>
            <a:endParaRPr lang="da-DK" dirty="0"/>
          </a:p>
          <a:p>
            <a:r>
              <a:rPr lang="en-GB" dirty="0"/>
              <a:t>python3 extract_myplaces_sync_items.py  # execute</a:t>
            </a:r>
            <a:endParaRPr lang="da-DK" dirty="0"/>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21</a:t>
            </a:fld>
            <a:endParaRPr lang="en-US"/>
          </a:p>
        </p:txBody>
      </p:sp>
    </p:spTree>
    <p:extLst>
      <p:ext uri="{BB962C8B-B14F-4D97-AF65-F5344CB8AC3E}">
        <p14:creationId xmlns:p14="http://schemas.microsoft.com/office/powerpoint/2010/main" val="1898674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gmm_storage_table</a:t>
            </a:r>
            <a:r>
              <a:rPr lang="en-GB" dirty="0"/>
              <a:t>` in the `</a:t>
            </a:r>
            <a:r>
              <a:rPr lang="en-GB" dirty="0" err="1"/>
              <a:t>gmm_storage.db</a:t>
            </a:r>
            <a:r>
              <a:rPr lang="en-GB" dirty="0"/>
              <a:t>` database (from Google Maps on a Pixel 3) stores miscellaneous app data in a key-value format with columns `</a:t>
            </a:r>
            <a:r>
              <a:rPr lang="en-GB" dirty="0" err="1"/>
              <a:t>key_pri</a:t>
            </a:r>
            <a:r>
              <a:rPr lang="en-GB" dirty="0"/>
              <a:t>`, `</a:t>
            </a:r>
            <a:r>
              <a:rPr lang="en-GB" dirty="0" err="1"/>
              <a:t>key_sec</a:t>
            </a:r>
            <a:r>
              <a:rPr lang="en-GB" dirty="0"/>
              <a:t>`, and `data` (BLOB). The table contains four rows, and the evidence that can be extracted is summarized below, focusing on its forensic value in a digital investigation.</a:t>
            </a:r>
          </a:p>
          <a:p>
            <a:endParaRPr lang="en-GB" dirty="0"/>
          </a:p>
          <a:p>
            <a:r>
              <a:rPr lang="en-GB" dirty="0"/>
              <a:t>---</a:t>
            </a:r>
          </a:p>
          <a:p>
            <a:endParaRPr lang="en-GB" dirty="0"/>
          </a:p>
          <a:p>
            <a:r>
              <a:rPr lang="en-GB" dirty="0"/>
              <a:t>### Evidence Extracted from `</a:t>
            </a:r>
            <a:r>
              <a:rPr lang="en-GB" dirty="0" err="1"/>
              <a:t>gmm_storage_table</a:t>
            </a:r>
            <a:r>
              <a:rPr lang="en-GB" dirty="0"/>
              <a:t>`:</a:t>
            </a:r>
          </a:p>
          <a:p>
            <a:endParaRPr lang="en-GB" dirty="0"/>
          </a:p>
          <a:p>
            <a:r>
              <a:rPr lang="en-GB" dirty="0"/>
              <a:t>1. **Travel History (from "</a:t>
            </a:r>
            <a:r>
              <a:rPr lang="en-GB" dirty="0" err="1"/>
              <a:t>CompletedNavigation</a:t>
            </a:r>
            <a:r>
              <a:rPr lang="en-GB" dirty="0"/>
              <a:t>" Row):**</a:t>
            </a:r>
          </a:p>
          <a:p>
            <a:r>
              <a:rPr lang="en-GB" dirty="0"/>
              <a:t>   - **Evidence:** The row with `</a:t>
            </a:r>
            <a:r>
              <a:rPr lang="en-GB" dirty="0" err="1"/>
              <a:t>key_pri</a:t>
            </a:r>
            <a:r>
              <a:rPr lang="en-GB" dirty="0"/>
              <a:t>` = "</a:t>
            </a:r>
            <a:r>
              <a:rPr lang="en-GB" dirty="0" err="1"/>
              <a:t>CompletedNavigation</a:t>
            </a:r>
            <a:r>
              <a:rPr lang="en-GB" dirty="0"/>
              <a:t>" indicates a completed navigation session. If the `data` BLOB is deserialized, it may reveal:</a:t>
            </a:r>
          </a:p>
          <a:p>
            <a:r>
              <a:rPr lang="en-GB" dirty="0"/>
              <a:t>     - Start and end coordinates (latitude/longitude) of the route.</a:t>
            </a:r>
          </a:p>
          <a:p>
            <a:r>
              <a:rPr lang="en-GB" dirty="0"/>
              <a:t>     - Route details (e.g., distance, duration, mode of transport like driving or walking).</a:t>
            </a:r>
          </a:p>
          <a:p>
            <a:r>
              <a:rPr lang="en-GB" dirty="0"/>
              <a:t>     - Timestamps for when the navigation started and ended.</a:t>
            </a:r>
          </a:p>
          <a:p>
            <a:r>
              <a:rPr lang="en-GB" dirty="0"/>
              <a:t>   - **Forensic Value:** High (if BLOB is deserialized).</a:t>
            </a:r>
          </a:p>
          <a:p>
            <a:r>
              <a:rPr lang="en-GB" dirty="0"/>
              <a:t>     - **Location Insight:** Pinpoints where the user </a:t>
            </a:r>
            <a:r>
              <a:rPr lang="en-GB" dirty="0" err="1"/>
              <a:t>traveled</a:t>
            </a:r>
            <a:r>
              <a:rPr lang="en-GB" dirty="0"/>
              <a:t>, providing direct evidence of their movements.</a:t>
            </a:r>
          </a:p>
          <a:p>
            <a:r>
              <a:rPr lang="en-GB" dirty="0"/>
              <a:t>     - **Timeline Building:** Timestamps can establish when the travel occurred.</a:t>
            </a:r>
          </a:p>
          <a:p>
            <a:r>
              <a:rPr lang="en-GB" dirty="0"/>
              <a:t>     - **</a:t>
            </a:r>
            <a:r>
              <a:rPr lang="en-GB" dirty="0" err="1"/>
              <a:t>Behavioral</a:t>
            </a:r>
            <a:r>
              <a:rPr lang="en-GB" dirty="0"/>
              <a:t> Insight:** Indicates the user was traveling, potentially revealing their habits (e.g., frequent driving).</a:t>
            </a:r>
          </a:p>
          <a:p>
            <a:endParaRPr lang="en-GB" dirty="0"/>
          </a:p>
          <a:p>
            <a:r>
              <a:rPr lang="en-GB" dirty="0"/>
              <a:t>2. **User Interaction with Notifications (from "</a:t>
            </a:r>
            <a:r>
              <a:rPr lang="en-GB" dirty="0" err="1"/>
              <a:t>CompletedNavigationSETUP_NOTIFICATION_MODEL</a:t>
            </a:r>
            <a:r>
              <a:rPr lang="en-GB" dirty="0"/>
              <a:t>" Row):**</a:t>
            </a:r>
          </a:p>
          <a:p>
            <a:r>
              <a:rPr lang="en-GB" dirty="0"/>
              <a:t>   - **Evidence:** The row with `</a:t>
            </a:r>
            <a:r>
              <a:rPr lang="en-GB" dirty="0" err="1"/>
              <a:t>key_pri</a:t>
            </a:r>
            <a:r>
              <a:rPr lang="en-GB" dirty="0"/>
              <a:t>` = "</a:t>
            </a:r>
            <a:r>
              <a:rPr lang="en-GB" dirty="0" err="1"/>
              <a:t>CompletedNavigationSETUP_NOTIFICATION_MODEL</a:t>
            </a:r>
            <a:r>
              <a:rPr lang="en-GB" dirty="0"/>
              <a:t>" stores notification settings or state post-navigation. If the BLOB is deserialized, it may reveal:</a:t>
            </a:r>
          </a:p>
          <a:p>
            <a:r>
              <a:rPr lang="en-GB" dirty="0"/>
              <a:t>     - The type of notification shown (e.g., "You’ve arrived" or "Rate your trip").</a:t>
            </a:r>
          </a:p>
          <a:p>
            <a:r>
              <a:rPr lang="en-GB" dirty="0"/>
              <a:t>     - User interaction (e.g., dismissed, tapped, or responded to a feedback prompt).</a:t>
            </a:r>
          </a:p>
          <a:p>
            <a:r>
              <a:rPr lang="en-GB" dirty="0"/>
              <a:t>     - Timestamp of when the notification was shown.</a:t>
            </a:r>
          </a:p>
          <a:p>
            <a:r>
              <a:rPr lang="en-GB" dirty="0"/>
              <a:t>   - **Forensic Value:** Moderate to High (if BLOB is deserialized).</a:t>
            </a:r>
          </a:p>
          <a:p>
            <a:r>
              <a:rPr lang="en-GB" dirty="0"/>
              <a:t>     - **</a:t>
            </a:r>
            <a:r>
              <a:rPr lang="en-GB" dirty="0" err="1"/>
              <a:t>Behavioral</a:t>
            </a:r>
            <a:r>
              <a:rPr lang="en-GB" dirty="0"/>
              <a:t> Insight:** Shows how the user engaged with the app after navigation (e.g., ignoring feedback prompts might suggest disinterest).</a:t>
            </a:r>
          </a:p>
          <a:p>
            <a:r>
              <a:rPr lang="en-GB" dirty="0"/>
              <a:t>     - **Timeline Building:** Notification timestamp can pinpoint when the navigation ended and the user interacted with the app.</a:t>
            </a:r>
          </a:p>
          <a:p>
            <a:r>
              <a:rPr lang="en-GB" dirty="0"/>
              <a:t>     - **User Engagement:** Reflects the user’s interaction with Google Maps features.</a:t>
            </a:r>
          </a:p>
          <a:p>
            <a:endParaRPr lang="en-GB" dirty="0"/>
          </a:p>
          <a:p>
            <a:r>
              <a:rPr lang="en-GB" dirty="0"/>
              <a:t>3. **Travel Planning or App Resource Usage (from "</a:t>
            </a:r>
            <a:r>
              <a:rPr lang="en-GB" dirty="0" err="1"/>
              <a:t>uri</a:t>
            </a:r>
            <a:r>
              <a:rPr lang="en-GB" dirty="0"/>
              <a:t>" Rows):**</a:t>
            </a:r>
          </a:p>
          <a:p>
            <a:r>
              <a:rPr lang="en-GB" dirty="0"/>
              <a:t>   - **Evidence:** The two rows with `</a:t>
            </a:r>
            <a:r>
              <a:rPr lang="en-GB" dirty="0" err="1"/>
              <a:t>key_pri</a:t>
            </a:r>
            <a:r>
              <a:rPr lang="en-GB" dirty="0"/>
              <a:t>` = "</a:t>
            </a:r>
            <a:r>
              <a:rPr lang="en-GB" dirty="0" err="1"/>
              <a:t>uri</a:t>
            </a:r>
            <a:r>
              <a:rPr lang="en-GB" dirty="0"/>
              <a:t>" (with `</a:t>
            </a:r>
            <a:r>
              <a:rPr lang="en-GB" dirty="0" err="1"/>
              <a:t>key_sec</a:t>
            </a:r>
            <a:r>
              <a:rPr lang="en-GB" dirty="0"/>
              <a:t>` = 0 and 1) likely store URIs for map-related resources (e.g., map tiles, offline maps). If the BLOBs are deserialized, they may reveal:</a:t>
            </a:r>
          </a:p>
          <a:p>
            <a:r>
              <a:rPr lang="en-GB" dirty="0"/>
              <a:t>     - URIs for offline map data, indicating regions the user downloaded.</a:t>
            </a:r>
          </a:p>
          <a:p>
            <a:r>
              <a:rPr lang="en-GB" dirty="0"/>
              <a:t>     - Metadata like expiration dates or regions associated with the URIs.</a:t>
            </a:r>
          </a:p>
          <a:p>
            <a:r>
              <a:rPr lang="en-GB" dirty="0"/>
              <a:t>   - **Forensic Value:** Low to Moderate.</a:t>
            </a:r>
          </a:p>
          <a:p>
            <a:r>
              <a:rPr lang="en-GB" dirty="0"/>
              <a:t>     - **Travel Planning:** Offline map URIs can suggest areas the user planned to visit, especially if they downloaded maps for regions with poor connectivity.</a:t>
            </a:r>
          </a:p>
          <a:p>
            <a:r>
              <a:rPr lang="en-GB" dirty="0"/>
              <a:t>     - **App Usage:** Indicates how the app manages resources, but this is less directly relevant to user </a:t>
            </a:r>
            <a:r>
              <a:rPr lang="en-GB" dirty="0" err="1"/>
              <a:t>behavior</a:t>
            </a:r>
            <a:r>
              <a:rPr lang="en-GB" dirty="0"/>
              <a:t>.</a:t>
            </a:r>
          </a:p>
          <a:p>
            <a:endParaRPr lang="en-GB" dirty="0"/>
          </a:p>
          <a:p>
            <a:r>
              <a:rPr lang="en-GB" dirty="0"/>
              <a:t>---</a:t>
            </a:r>
          </a:p>
          <a:p>
            <a:endParaRPr lang="en-GB" dirty="0"/>
          </a:p>
          <a:p>
            <a:r>
              <a:rPr lang="en-GB" dirty="0"/>
              <a:t>### Overall Forensic Value:</a:t>
            </a:r>
          </a:p>
          <a:p>
            <a:r>
              <a:rPr lang="en-GB" dirty="0"/>
              <a:t>- **Rating (from Previous Analysis):** 5/10</a:t>
            </a:r>
          </a:p>
          <a:p>
            <a:r>
              <a:rPr lang="en-GB" dirty="0"/>
              <a:t>- **Rank (from Previous Analysis):** 5th (tied with `ue3.db`).</a:t>
            </a:r>
          </a:p>
          <a:p>
            <a:r>
              <a:rPr lang="en-GB" dirty="0"/>
              <a:t>- **Summary of Evidence:**</a:t>
            </a:r>
          </a:p>
          <a:p>
            <a:r>
              <a:rPr lang="en-GB" dirty="0"/>
              <a:t>  - **Location and Travel History:** The "</a:t>
            </a:r>
            <a:r>
              <a:rPr lang="en-GB" dirty="0" err="1"/>
              <a:t>CompletedNavigation</a:t>
            </a:r>
            <a:r>
              <a:rPr lang="en-GB" dirty="0"/>
              <a:t>" row can provide route details, start/end points, and timestamps, revealing where and when the user </a:t>
            </a:r>
            <a:r>
              <a:rPr lang="en-GB" dirty="0" err="1"/>
              <a:t>traveled</a:t>
            </a:r>
            <a:r>
              <a:rPr lang="en-GB" dirty="0"/>
              <a:t>.</a:t>
            </a:r>
          </a:p>
          <a:p>
            <a:r>
              <a:rPr lang="en-GB" dirty="0"/>
              <a:t>  - **</a:t>
            </a:r>
            <a:r>
              <a:rPr lang="en-GB" dirty="0" err="1"/>
              <a:t>Behavioral</a:t>
            </a:r>
            <a:r>
              <a:rPr lang="en-GB" dirty="0"/>
              <a:t> Insights:** Notification data ("</a:t>
            </a:r>
            <a:r>
              <a:rPr lang="en-GB" dirty="0" err="1"/>
              <a:t>CompletedNavigationSETUP_NOTIFICATION_MODEL</a:t>
            </a:r>
            <a:r>
              <a:rPr lang="en-GB" dirty="0"/>
              <a:t>") shows user interaction post-navigation, while navigation itself indicates travel habits.</a:t>
            </a:r>
          </a:p>
          <a:p>
            <a:r>
              <a:rPr lang="en-GB" dirty="0"/>
              <a:t>  - **Travel Planning:** URI data might reveal offline map usage, suggesting planned travel to specific regions.</a:t>
            </a:r>
          </a:p>
          <a:p>
            <a:r>
              <a:rPr lang="en-GB" dirty="0"/>
              <a:t>  - **Timeline Building:** Timestamps in the BLOBs (e.g., navigation end time, notification time) can help establish user activity timelines.</a:t>
            </a:r>
          </a:p>
          <a:p>
            <a:r>
              <a:rPr lang="en-GB" dirty="0"/>
              <a:t>- **Limitations:** The BLOB format requires deserialization to access detailed data, limiting immediate insights. The table’s focus on app-centric data (rather than direct user-generated content like photos or saved places) makes it less valuable compared to other databases like `</a:t>
            </a:r>
            <a:r>
              <a:rPr lang="en-GB" dirty="0" err="1"/>
              <a:t>ugc_photos_location_data.db</a:t>
            </a:r>
            <a:r>
              <a:rPr lang="en-GB" dirty="0"/>
              <a:t>` or `</a:t>
            </a:r>
            <a:r>
              <a:rPr lang="en-GB" dirty="0" err="1"/>
              <a:t>gmm_myplaces.db</a:t>
            </a:r>
            <a:r>
              <a:rPr lang="en-GB" dirty="0"/>
              <a:t>`.</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28</a:t>
            </a:fld>
            <a:endParaRPr lang="en-US"/>
          </a:p>
        </p:txBody>
      </p:sp>
    </p:spTree>
    <p:extLst>
      <p:ext uri="{BB962C8B-B14F-4D97-AF65-F5344CB8AC3E}">
        <p14:creationId xmlns:p14="http://schemas.microsoft.com/office/powerpoint/2010/main" val="799814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D69E9-DD0C-543F-8DAB-80FC7BA2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04BE0-A974-3F4E-C2BF-F3F9DAB03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5CD2A7-BFA3-2FAE-74A6-CCF4766C6D82}"/>
              </a:ext>
            </a:extLst>
          </p:cNvPr>
          <p:cNvSpPr>
            <a:spLocks noGrp="1"/>
          </p:cNvSpPr>
          <p:nvPr>
            <p:ph type="body" idx="1"/>
          </p:nvPr>
        </p:nvSpPr>
        <p:spPr/>
        <p:txBody>
          <a:bodyPr/>
          <a:lstStyle/>
          <a:p>
            <a:r>
              <a:rPr lang="en-US">
                <a:cs typeface="Calibri"/>
              </a:rPr>
              <a:t>Cmd: sqlitebrowser 'Pixel 3/data/data/com.google.android.apps.maps/databases/gmm_sync.db'</a:t>
            </a:r>
          </a:p>
        </p:txBody>
      </p:sp>
      <p:sp>
        <p:nvSpPr>
          <p:cNvPr id="4" name="Slide Number Placeholder 3">
            <a:extLst>
              <a:ext uri="{FF2B5EF4-FFF2-40B4-BE49-F238E27FC236}">
                <a16:creationId xmlns:a16="http://schemas.microsoft.com/office/drawing/2014/main" id="{19FD2E99-20F8-31B2-5035-319A3D0102E0}"/>
              </a:ext>
            </a:extLst>
          </p:cNvPr>
          <p:cNvSpPr>
            <a:spLocks noGrp="1"/>
          </p:cNvSpPr>
          <p:nvPr>
            <p:ph type="sldNum" sz="quarter" idx="5"/>
          </p:nvPr>
        </p:nvSpPr>
        <p:spPr/>
        <p:txBody>
          <a:bodyPr/>
          <a:lstStyle/>
          <a:p>
            <a:fld id="{DDBF98C7-164A-4723-84F0-B1E4B080DDEC}" type="slidenum">
              <a:rPr lang="en-US" smtClean="0"/>
              <a:t>31</a:t>
            </a:fld>
            <a:endParaRPr lang="en-US"/>
          </a:p>
        </p:txBody>
      </p:sp>
    </p:spTree>
    <p:extLst>
      <p:ext uri="{BB962C8B-B14F-4D97-AF65-F5344CB8AC3E}">
        <p14:creationId xmlns:p14="http://schemas.microsoft.com/office/powerpoint/2010/main" val="3092696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Cmd: sqlitebrowser 'Pixel 3/data/data/com.google.android.apps.maps/databases/gmm_sync.db'</a:t>
            </a:r>
          </a:p>
        </p:txBody>
      </p:sp>
      <p:sp>
        <p:nvSpPr>
          <p:cNvPr id="4" name="Slide Number Placeholder 3"/>
          <p:cNvSpPr>
            <a:spLocks noGrp="1"/>
          </p:cNvSpPr>
          <p:nvPr>
            <p:ph type="sldNum" sz="quarter" idx="5"/>
          </p:nvPr>
        </p:nvSpPr>
        <p:spPr/>
        <p:txBody>
          <a:bodyPr/>
          <a:lstStyle/>
          <a:p>
            <a:fld id="{DDBF98C7-164A-4723-84F0-B1E4B080DDEC}" type="slidenum">
              <a:rPr lang="en-US" smtClean="0"/>
              <a:t>32</a:t>
            </a:fld>
            <a:endParaRPr lang="en-US"/>
          </a:p>
        </p:txBody>
      </p:sp>
    </p:spTree>
    <p:extLst>
      <p:ext uri="{BB962C8B-B14F-4D97-AF65-F5344CB8AC3E}">
        <p14:creationId xmlns:p14="http://schemas.microsoft.com/office/powerpoint/2010/main" val="38472642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image shows the schema and data of the `</a:t>
            </a:r>
            <a:r>
              <a:rPr lang="en-GB" dirty="0" err="1"/>
              <a:t>sync_item_data</a:t>
            </a:r>
            <a:r>
              <a:rPr lang="en-GB" dirty="0"/>
              <a:t>` table in the `</a:t>
            </a:r>
            <a:r>
              <a:rPr lang="en-GB" dirty="0" err="1"/>
              <a:t>gmm_sync.db</a:t>
            </a:r>
            <a:r>
              <a:rPr lang="en-GB" dirty="0"/>
              <a:t>` database, which is part of the Google Maps app on a Pixel 3 device (`/data/data/</a:t>
            </a:r>
            <a:r>
              <a:rPr lang="en-GB" dirty="0" err="1"/>
              <a:t>com.google.android.apps.maps</a:t>
            </a:r>
            <a:r>
              <a:rPr lang="en-GB" dirty="0"/>
              <a:t>/databases/`). This table contains seven rows with columns that track synchronization data for various items. Below, I’ll explain the purpose of the table, the role of each column, and the forensic value of the data in a digital investigation context.</a:t>
            </a:r>
          </a:p>
          <a:p>
            <a:endParaRPr lang="en-GB" dirty="0"/>
          </a:p>
          <a:p>
            <a:r>
              <a:rPr lang="en-GB" dirty="0"/>
              <a:t>---</a:t>
            </a:r>
          </a:p>
          <a:p>
            <a:endParaRPr lang="en-GB" dirty="0"/>
          </a:p>
          <a:p>
            <a:r>
              <a:rPr lang="en-GB" dirty="0"/>
              <a:t>### Context Recap:</a:t>
            </a:r>
          </a:p>
          <a:p>
            <a:r>
              <a:rPr lang="en-GB" dirty="0"/>
              <a:t>- **Database:** `</a:t>
            </a:r>
            <a:r>
              <a:rPr lang="en-GB" dirty="0" err="1"/>
              <a:t>gmm_sync.db</a:t>
            </a:r>
            <a:r>
              <a:rPr lang="en-GB" dirty="0"/>
              <a:t>`</a:t>
            </a:r>
          </a:p>
          <a:p>
            <a:r>
              <a:rPr lang="en-GB" dirty="0"/>
              <a:t>  - **Name Explanation:**</a:t>
            </a:r>
          </a:p>
          <a:p>
            <a:r>
              <a:rPr lang="en-GB" dirty="0"/>
              <a:t>    - **"GMM"**: Google Maps Mobile, indicating this database belongs to the Google Maps app.</a:t>
            </a:r>
          </a:p>
          <a:p>
            <a:r>
              <a:rPr lang="en-GB" dirty="0"/>
              <a:t>    - **"sync"**: Refers to synchronization of data between the device and Google’s servers.</a:t>
            </a:r>
          </a:p>
          <a:p>
            <a:r>
              <a:rPr lang="en-GB" dirty="0"/>
              <a:t>    - **".</a:t>
            </a:r>
            <a:r>
              <a:rPr lang="en-GB" dirty="0" err="1"/>
              <a:t>db</a:t>
            </a:r>
            <a:r>
              <a:rPr lang="en-GB" dirty="0"/>
              <a:t>"**: A SQLite database file.</a:t>
            </a:r>
          </a:p>
          <a:p>
            <a:r>
              <a:rPr lang="en-GB" dirty="0"/>
              <a:t>  - **Purpose (from Previous Analysis):** Manages the synchronization of Google Maps data (e.g., saved places, location history, user parameters) between the device and the user’s Google account, ensuring consistency across devices.</a:t>
            </a:r>
          </a:p>
          <a:p>
            <a:r>
              <a:rPr lang="en-GB" dirty="0"/>
              <a:t>- **Table:** `</a:t>
            </a:r>
            <a:r>
              <a:rPr lang="en-GB" dirty="0" err="1"/>
              <a:t>sync_item_data</a:t>
            </a:r>
            <a:r>
              <a:rPr lang="en-GB" dirty="0"/>
              <a:t>`</a:t>
            </a:r>
          </a:p>
          <a:p>
            <a:r>
              <a:rPr lang="en-GB" dirty="0"/>
              <a:t>  - This table is an extension or variation of the `</a:t>
            </a:r>
            <a:r>
              <a:rPr lang="en-GB" dirty="0" err="1"/>
              <a:t>sync_item</a:t>
            </a:r>
            <a:r>
              <a:rPr lang="en-GB" dirty="0"/>
              <a:t>` table previously </a:t>
            </a:r>
            <a:r>
              <a:rPr lang="en-GB" dirty="0" err="1"/>
              <a:t>analyzed</a:t>
            </a:r>
            <a:r>
              <a:rPr lang="en-GB" dirty="0"/>
              <a:t> in the same database. It stores individual items queued for synchronization, including additional metadata like location coordinates.</a:t>
            </a:r>
          </a:p>
          <a:p>
            <a:endParaRPr lang="en-GB" dirty="0"/>
          </a:p>
          <a:p>
            <a:r>
              <a:rPr lang="en-GB" dirty="0"/>
              <a:t>---</a:t>
            </a:r>
          </a:p>
          <a:p>
            <a:endParaRPr lang="en-GB" dirty="0"/>
          </a:p>
          <a:p>
            <a:r>
              <a:rPr lang="en-GB" dirty="0"/>
              <a:t>### Explanation of the `</a:t>
            </a:r>
            <a:r>
              <a:rPr lang="en-GB" dirty="0" err="1"/>
              <a:t>sync_item_data</a:t>
            </a:r>
            <a:r>
              <a:rPr lang="en-GB" dirty="0"/>
              <a:t>` Table:</a:t>
            </a:r>
          </a:p>
          <a:p>
            <a:endParaRPr lang="en-GB" dirty="0"/>
          </a:p>
          <a:p>
            <a:r>
              <a:rPr lang="en-GB" dirty="0"/>
              <a:t>#### Purpose:</a:t>
            </a:r>
          </a:p>
          <a:p>
            <a:r>
              <a:rPr lang="en-GB" dirty="0"/>
              <a:t>- The `</a:t>
            </a:r>
            <a:r>
              <a:rPr lang="en-GB" dirty="0" err="1"/>
              <a:t>sync_item_data</a:t>
            </a:r>
            <a:r>
              <a:rPr lang="en-GB" dirty="0"/>
              <a:t>` table stores individual items that need to be synchronized between the device and Google’s servers as part of the Google Maps app’s sync process. Each row represents a specific piece of data (e.g., a saved place, a location history entry, or user settings) queued for sync.</a:t>
            </a:r>
          </a:p>
          <a:p>
            <a:r>
              <a:rPr lang="en-GB" dirty="0"/>
              <a:t>- **Role in Google Maps:** This table acts as a sync queue, tracking items that have been created or modified on the device and need to be uploaded to Google’s servers (or downloaded from the server to the device). It includes detailed metadata like location coordinates, timestamps, and client/server IDs to manage the sync process.</a:t>
            </a:r>
          </a:p>
          <a:p>
            <a:endParaRPr lang="en-GB" dirty="0"/>
          </a:p>
          <a:p>
            <a:r>
              <a:rPr lang="en-GB" dirty="0"/>
              <a:t>#### Schema:</a:t>
            </a:r>
          </a:p>
          <a:p>
            <a:r>
              <a:rPr lang="en-GB" dirty="0"/>
              <a:t>The table has the following columns:</a:t>
            </a:r>
          </a:p>
          <a:p>
            <a:r>
              <a:rPr lang="en-GB" dirty="0"/>
              <a:t>- **`corpus` (INTEGER):** Identifies the type of data being synced (links to the `</a:t>
            </a:r>
            <a:r>
              <a:rPr lang="en-GB" dirty="0" err="1"/>
              <a:t>sync_corpus</a:t>
            </a:r>
            <a:r>
              <a:rPr lang="en-GB" dirty="0"/>
              <a:t>` table).</a:t>
            </a:r>
          </a:p>
          <a:p>
            <a:r>
              <a:rPr lang="en-GB" dirty="0"/>
              <a:t>- **`</a:t>
            </a:r>
            <a:r>
              <a:rPr lang="en-GB" dirty="0" err="1"/>
              <a:t>client_id</a:t>
            </a:r>
            <a:r>
              <a:rPr lang="en-GB" dirty="0"/>
              <a:t>` (TEXT):** A unique identifier for the item on the client (device) side.</a:t>
            </a:r>
          </a:p>
          <a:p>
            <a:r>
              <a:rPr lang="en-GB" dirty="0"/>
              <a:t>- **`</a:t>
            </a:r>
            <a:r>
              <a:rPr lang="en-GB" dirty="0" err="1"/>
              <a:t>server_id</a:t>
            </a:r>
            <a:r>
              <a:rPr lang="en-GB" dirty="0"/>
              <a:t>` (TEXT):** A unique identifier for the item on the server side (if assigned).</a:t>
            </a:r>
          </a:p>
          <a:p>
            <a:r>
              <a:rPr lang="en-GB" dirty="0"/>
              <a:t>- **`timestamp` (INTEGER):** The time when the item was created or modified (Unix timestamp in milliseconds).</a:t>
            </a:r>
          </a:p>
          <a:p>
            <a:r>
              <a:rPr lang="en-GB" dirty="0"/>
              <a:t>- **`</a:t>
            </a:r>
            <a:r>
              <a:rPr lang="en-GB" dirty="0" err="1"/>
              <a:t>feature_print</a:t>
            </a:r>
            <a:r>
              <a:rPr lang="en-GB" dirty="0"/>
              <a:t>` (TEXT):** A hash or fingerprint for data consistency (often NULL if not applicable).</a:t>
            </a:r>
          </a:p>
          <a:p>
            <a:r>
              <a:rPr lang="en-GB" dirty="0"/>
              <a:t>- **`lat_e6` (INTEGER):** Latitude coordinate scaled by 1,000,000 (1E6).</a:t>
            </a:r>
          </a:p>
          <a:p>
            <a:r>
              <a:rPr lang="en-GB" dirty="0"/>
              <a:t>- **`long_e6` (INTEGER):** Longitude coordinate scaled by 1,000,000 (1E6).</a:t>
            </a:r>
          </a:p>
          <a:p>
            <a:r>
              <a:rPr lang="en-GB" dirty="0"/>
              <a:t>- **`</a:t>
            </a:r>
            <a:r>
              <a:rPr lang="en-GB" dirty="0" err="1"/>
              <a:t>numerical_index</a:t>
            </a:r>
            <a:r>
              <a:rPr lang="en-GB" dirty="0"/>
              <a:t>` (INTEGER):** An additional index for categorization or ordering (often 0 or NULL).</a:t>
            </a:r>
          </a:p>
          <a:p>
            <a:endParaRPr lang="en-GB" dirty="0"/>
          </a:p>
          <a:p>
            <a:r>
              <a:rPr lang="en-GB" dirty="0"/>
              <a:t>#### Data Rows:</a:t>
            </a:r>
          </a:p>
          <a:p>
            <a:r>
              <a:rPr lang="en-GB" dirty="0"/>
              <a:t>The table contains seven rows:</a:t>
            </a:r>
          </a:p>
          <a:p>
            <a:r>
              <a:rPr lang="en-GB" dirty="0"/>
              <a:t>1. **`corpus`: 11, `</a:t>
            </a:r>
            <a:r>
              <a:rPr lang="en-GB" dirty="0" err="1"/>
              <a:t>client_id</a:t>
            </a:r>
            <a:r>
              <a:rPr lang="en-GB" dirty="0"/>
              <a:t>`: 4:0, `</a:t>
            </a:r>
            <a:r>
              <a:rPr lang="en-GB" dirty="0" err="1"/>
              <a:t>server_id</a:t>
            </a:r>
            <a:r>
              <a:rPr lang="en-GB" dirty="0"/>
              <a:t>`: 4:0, `timestamp`: -1471201103836196831, `</a:t>
            </a:r>
            <a:r>
              <a:rPr lang="en-GB" dirty="0" err="1"/>
              <a:t>feature_print</a:t>
            </a:r>
            <a:r>
              <a:rPr lang="en-GB" dirty="0"/>
              <a:t>`: NULL, `lat_e6`: 35659596, `long_e6`: -78872848, `</a:t>
            </a:r>
            <a:r>
              <a:rPr lang="en-GB" dirty="0" err="1"/>
              <a:t>numerical_index</a:t>
            </a:r>
            <a:r>
              <a:rPr lang="en-GB" dirty="0"/>
              <a:t>`: NULL**</a:t>
            </a:r>
          </a:p>
          <a:p>
            <a:r>
              <a:rPr lang="en-GB" dirty="0"/>
              <a:t>2. **`corpus`: 11, `</a:t>
            </a:r>
            <a:r>
              <a:rPr lang="en-GB" dirty="0" err="1"/>
              <a:t>client_id</a:t>
            </a:r>
            <a:r>
              <a:rPr lang="en-GB" dirty="0"/>
              <a:t>`: 5:0, `</a:t>
            </a:r>
            <a:r>
              <a:rPr lang="en-GB" dirty="0" err="1"/>
              <a:t>server_id</a:t>
            </a:r>
            <a:r>
              <a:rPr lang="en-GB" dirty="0"/>
              <a:t>`: 5:0, `timestamp`: 8113080470833664497, `</a:t>
            </a:r>
            <a:r>
              <a:rPr lang="en-GB" dirty="0" err="1"/>
              <a:t>feature_print</a:t>
            </a:r>
            <a:r>
              <a:rPr lang="en-GB" dirty="0"/>
              <a:t>`: NULL, `lat_e6`: 40784374, `long_e6`: -74065536, `</a:t>
            </a:r>
            <a:r>
              <a:rPr lang="en-GB" dirty="0" err="1"/>
              <a:t>numerical_index</a:t>
            </a:r>
            <a:r>
              <a:rPr lang="en-GB" dirty="0"/>
              <a:t>`: NULL**</a:t>
            </a:r>
          </a:p>
          <a:p>
            <a:r>
              <a:rPr lang="en-GB" dirty="0"/>
              <a:t>3. **`corpus`: 11, `</a:t>
            </a:r>
            <a:r>
              <a:rPr lang="en-GB" dirty="0" err="1"/>
              <a:t>client_id</a:t>
            </a:r>
            <a:r>
              <a:rPr lang="en-GB" dirty="0"/>
              <a:t>`: 1:0, `</a:t>
            </a:r>
            <a:r>
              <a:rPr lang="en-GB" dirty="0" err="1"/>
              <a:t>server_id</a:t>
            </a:r>
            <a:r>
              <a:rPr lang="en-GB" dirty="0"/>
              <a:t>`: 1:0, `timestamp`: 1554470343604, `</a:t>
            </a:r>
            <a:r>
              <a:rPr lang="en-GB" dirty="0" err="1"/>
              <a:t>feature_print</a:t>
            </a:r>
            <a:r>
              <a:rPr lang="en-GB" dirty="0"/>
              <a:t>`: 6421184364959223625, `lat_e6`: 35734602, `long_e6`: -78636654, `</a:t>
            </a:r>
            <a:r>
              <a:rPr lang="en-GB" dirty="0" err="1"/>
              <a:t>numerical_index</a:t>
            </a:r>
            <a:r>
              <a:rPr lang="en-GB" dirty="0"/>
              <a:t>`: NULL**</a:t>
            </a:r>
          </a:p>
          <a:p>
            <a:r>
              <a:rPr lang="en-GB" dirty="0"/>
              <a:t>4. **`corpus`: 13, `</a:t>
            </a:r>
            <a:r>
              <a:rPr lang="en-GB" dirty="0" err="1"/>
              <a:t>client_id</a:t>
            </a:r>
            <a:r>
              <a:rPr lang="en-GB" dirty="0"/>
              <a:t>`: 1581273852322_175453746935554, `</a:t>
            </a:r>
            <a:r>
              <a:rPr lang="en-GB" dirty="0" err="1"/>
              <a:t>server_id</a:t>
            </a:r>
            <a:r>
              <a:rPr lang="en-GB" dirty="0"/>
              <a:t>`: NULL, `timestamp`: 0, `</a:t>
            </a:r>
            <a:r>
              <a:rPr lang="en-GB" dirty="0" err="1"/>
              <a:t>feature_print</a:t>
            </a:r>
            <a:r>
              <a:rPr lang="en-GB" dirty="0"/>
              <a:t>`: NULL, `lat_e6`: 0, `long_e6`: 0, `</a:t>
            </a:r>
            <a:r>
              <a:rPr lang="en-GB" dirty="0" err="1"/>
              <a:t>numerical_index</a:t>
            </a:r>
            <a:r>
              <a:rPr lang="en-GB" dirty="0"/>
              <a:t>`: NULL**</a:t>
            </a:r>
          </a:p>
          <a:p>
            <a:r>
              <a:rPr lang="en-GB" dirty="0"/>
              <a:t>5. **`corpus`: 13, `</a:t>
            </a:r>
            <a:r>
              <a:rPr lang="en-GB" dirty="0" err="1"/>
              <a:t>client_id</a:t>
            </a:r>
            <a:r>
              <a:rPr lang="en-GB" dirty="0"/>
              <a:t>`: 1581273852322_175453747010450, `</a:t>
            </a:r>
            <a:r>
              <a:rPr lang="en-GB" dirty="0" err="1"/>
              <a:t>server_id</a:t>
            </a:r>
            <a:r>
              <a:rPr lang="en-GB" dirty="0"/>
              <a:t>`: NULL, `timestamp`: 0, `</a:t>
            </a:r>
            <a:r>
              <a:rPr lang="en-GB" dirty="0" err="1"/>
              <a:t>feature_print</a:t>
            </a:r>
            <a:r>
              <a:rPr lang="en-GB" dirty="0"/>
              <a:t>`: NULL, `lat_e6`: 0, `long_e6`: 0, `</a:t>
            </a:r>
            <a:r>
              <a:rPr lang="en-GB" dirty="0" err="1"/>
              <a:t>numerical_index</a:t>
            </a:r>
            <a:r>
              <a:rPr lang="en-GB" dirty="0"/>
              <a:t>`: NULL**</a:t>
            </a:r>
          </a:p>
          <a:p>
            <a:r>
              <a:rPr lang="en-GB" dirty="0"/>
              <a:t>6. **`corpus`: 13, `</a:t>
            </a:r>
            <a:r>
              <a:rPr lang="en-GB" dirty="0" err="1"/>
              <a:t>client_id</a:t>
            </a:r>
            <a:r>
              <a:rPr lang="en-GB" dirty="0"/>
              <a:t>`: 1581273852322_175453747040450, `</a:t>
            </a:r>
            <a:r>
              <a:rPr lang="en-GB" dirty="0" err="1"/>
              <a:t>server_id</a:t>
            </a:r>
            <a:r>
              <a:rPr lang="en-GB" dirty="0"/>
              <a:t>`: NULL, `timestamp`: 0, `</a:t>
            </a:r>
            <a:r>
              <a:rPr lang="en-GB" dirty="0" err="1"/>
              <a:t>feature_print</a:t>
            </a:r>
            <a:r>
              <a:rPr lang="en-GB" dirty="0"/>
              <a:t>`: NULL, `lat_e6`: 0, `long_e6`: 0, `</a:t>
            </a:r>
            <a:r>
              <a:rPr lang="en-GB" dirty="0" err="1"/>
              <a:t>numerical_index</a:t>
            </a:r>
            <a:r>
              <a:rPr lang="en-GB" dirty="0"/>
              <a:t>`: NULL**</a:t>
            </a:r>
          </a:p>
          <a:p>
            <a:r>
              <a:rPr lang="en-GB" dirty="0"/>
              <a:t>7. **`corpus`: 6, `</a:t>
            </a:r>
            <a:r>
              <a:rPr lang="en-GB" dirty="0" err="1"/>
              <a:t>client_id</a:t>
            </a:r>
            <a:r>
              <a:rPr lang="en-GB" dirty="0"/>
              <a:t>`: User Parameters, `</a:t>
            </a:r>
            <a:r>
              <a:rPr lang="en-GB" dirty="0" err="1"/>
              <a:t>server_id</a:t>
            </a:r>
            <a:r>
              <a:rPr lang="en-GB" dirty="0"/>
              <a:t>`: NULL, `timestamp`: 0, `</a:t>
            </a:r>
            <a:r>
              <a:rPr lang="en-GB" dirty="0" err="1"/>
              <a:t>feature_print</a:t>
            </a:r>
            <a:r>
              <a:rPr lang="en-GB" dirty="0"/>
              <a:t>`: NULL, `lat_e6`: 0, `long_e6`: 0, `</a:t>
            </a:r>
            <a:r>
              <a:rPr lang="en-GB" dirty="0" err="1"/>
              <a:t>numerical_index</a:t>
            </a:r>
            <a:r>
              <a:rPr lang="en-GB" dirty="0"/>
              <a:t>`: NULL**</a:t>
            </a:r>
          </a:p>
          <a:p>
            <a:endParaRPr lang="en-GB" dirty="0"/>
          </a:p>
          <a:p>
            <a:r>
              <a:rPr lang="en-GB" dirty="0"/>
              <a:t>---</a:t>
            </a:r>
          </a:p>
          <a:p>
            <a:endParaRPr lang="en-GB" dirty="0"/>
          </a:p>
          <a:p>
            <a:r>
              <a:rPr lang="en-GB" dirty="0"/>
              <a:t>### Explanation of Each Column:</a:t>
            </a:r>
          </a:p>
          <a:p>
            <a:endParaRPr lang="en-GB" dirty="0"/>
          </a:p>
          <a:p>
            <a:r>
              <a:rPr lang="en-GB" dirty="0"/>
              <a:t>#### 1. `corpus`</a:t>
            </a:r>
          </a:p>
          <a:p>
            <a:r>
              <a:rPr lang="en-GB" dirty="0"/>
              <a:t>- **Purpose:** Identifies the type of data being synced, linking to the `</a:t>
            </a:r>
            <a:r>
              <a:rPr lang="en-GB" dirty="0" err="1"/>
              <a:t>sync_corpus</a:t>
            </a:r>
            <a:r>
              <a:rPr lang="en-GB" dirty="0"/>
              <a:t>` table.</a:t>
            </a:r>
          </a:p>
          <a:p>
            <a:r>
              <a:rPr lang="en-GB" dirty="0"/>
              <a:t>- **Values:**</a:t>
            </a:r>
          </a:p>
          <a:p>
            <a:r>
              <a:rPr lang="en-GB" dirty="0"/>
              <a:t>  - `11` (Rows 1–3): Likely corresponds to a corpus like "</a:t>
            </a:r>
            <a:r>
              <a:rPr lang="en-GB" dirty="0" err="1"/>
              <a:t>saved_places</a:t>
            </a:r>
            <a:r>
              <a:rPr lang="en-GB" dirty="0"/>
              <a:t>" or "</a:t>
            </a:r>
            <a:r>
              <a:rPr lang="en-GB" dirty="0" err="1"/>
              <a:t>location_history</a:t>
            </a:r>
            <a:r>
              <a:rPr lang="en-GB" dirty="0"/>
              <a:t>" (based on previous analysis where `corpus` 8 was linked to saved places, and these rows include coordinates).</a:t>
            </a:r>
          </a:p>
          <a:p>
            <a:r>
              <a:rPr lang="en-GB" dirty="0"/>
              <a:t>  - `13` (Rows 4–6): Another data type, possibly related to user contributions or events (no coordinates, so not location-specific).</a:t>
            </a:r>
          </a:p>
          <a:p>
            <a:r>
              <a:rPr lang="en-GB" dirty="0"/>
              <a:t>  - `6` (Row 7): Likely "User Parameters" (as indicated by `</a:t>
            </a:r>
            <a:r>
              <a:rPr lang="en-GB" dirty="0" err="1"/>
              <a:t>client_id</a:t>
            </a:r>
            <a:r>
              <a:rPr lang="en-GB" dirty="0"/>
              <a:t>`), such as app settings or preferences.</a:t>
            </a:r>
          </a:p>
          <a:p>
            <a:r>
              <a:rPr lang="en-GB" dirty="0"/>
              <a:t>- **Forensic Value:** Helps identify the type of data being synced (e.g., saved places, user settings), guiding investigators to relevant databases (e.g., `</a:t>
            </a:r>
            <a:r>
              <a:rPr lang="en-GB" dirty="0" err="1"/>
              <a:t>gmm_myplaces.db</a:t>
            </a:r>
            <a:r>
              <a:rPr lang="en-GB" dirty="0"/>
              <a:t>`).</a:t>
            </a:r>
          </a:p>
          <a:p>
            <a:endParaRPr lang="en-GB" dirty="0"/>
          </a:p>
          <a:p>
            <a:r>
              <a:rPr lang="en-GB" dirty="0"/>
              <a:t>#### 2. `</a:t>
            </a:r>
            <a:r>
              <a:rPr lang="en-GB" dirty="0" err="1"/>
              <a:t>client_id</a:t>
            </a:r>
            <a:r>
              <a:rPr lang="en-GB" dirty="0"/>
              <a:t>`</a:t>
            </a:r>
          </a:p>
          <a:p>
            <a:r>
              <a:rPr lang="en-GB" dirty="0"/>
              <a:t>- **Purpose:** A unique identifier for the item on the client (device) side, used to track the item locally.</a:t>
            </a:r>
          </a:p>
          <a:p>
            <a:r>
              <a:rPr lang="en-GB" dirty="0"/>
              <a:t>- **Values:**</a:t>
            </a:r>
          </a:p>
          <a:p>
            <a:r>
              <a:rPr lang="en-GB" dirty="0"/>
              <a:t>  - `4:0`, `5:0`, `1:0` (Rows 1–3): Structured IDs, possibly in the format `</a:t>
            </a:r>
            <a:r>
              <a:rPr lang="en-GB" dirty="0" err="1"/>
              <a:t>type:index</a:t>
            </a:r>
            <a:r>
              <a:rPr lang="en-GB" dirty="0"/>
              <a:t>`, for items in corpus 11 (e.g., different saved places or location history entries).</a:t>
            </a:r>
          </a:p>
          <a:p>
            <a:r>
              <a:rPr lang="en-GB" dirty="0"/>
              <a:t>  - `1581273852322_175453746935554`, etc. (Rows 4–6): Composite IDs, likely combining a timestamp (e.g., 1581273852322) and a unique identifier, for items in corpus 13.</a:t>
            </a:r>
          </a:p>
          <a:p>
            <a:r>
              <a:rPr lang="en-GB" dirty="0"/>
              <a:t>  - `User Parameters` (Row 7): A descriptive ID indicating user settings.</a:t>
            </a:r>
          </a:p>
          <a:p>
            <a:r>
              <a:rPr lang="en-GB" dirty="0"/>
              <a:t>- **Forensic Value:** Allows tracking of specific items locally, useful for cross-referencing with other tables or databases.</a:t>
            </a:r>
          </a:p>
          <a:p>
            <a:endParaRPr lang="en-GB" dirty="0"/>
          </a:p>
          <a:p>
            <a:r>
              <a:rPr lang="en-GB" dirty="0"/>
              <a:t>#### 3. `</a:t>
            </a:r>
            <a:r>
              <a:rPr lang="en-GB" dirty="0" err="1"/>
              <a:t>server_id</a:t>
            </a:r>
            <a:r>
              <a:rPr lang="en-GB" dirty="0"/>
              <a:t>`</a:t>
            </a:r>
          </a:p>
          <a:p>
            <a:r>
              <a:rPr lang="en-GB" dirty="0"/>
              <a:t>- **Purpose:** A unique identifier for the item on the server side, assigned after successful sync (NULL if not yet synced).</a:t>
            </a:r>
          </a:p>
          <a:p>
            <a:r>
              <a:rPr lang="en-GB" dirty="0"/>
              <a:t>- **Values:**</a:t>
            </a:r>
          </a:p>
          <a:p>
            <a:r>
              <a:rPr lang="en-GB" dirty="0"/>
              <a:t>  - Matches `</a:t>
            </a:r>
            <a:r>
              <a:rPr lang="en-GB" dirty="0" err="1"/>
              <a:t>client_id</a:t>
            </a:r>
            <a:r>
              <a:rPr lang="en-GB" dirty="0"/>
              <a:t>` in Rows 1–3 (`4:0`, `5:0`, `1:0`): Indicates these items have been synced with the server.</a:t>
            </a:r>
          </a:p>
          <a:p>
            <a:r>
              <a:rPr lang="en-GB" dirty="0"/>
              <a:t>  - `NULL` in Rows 4–7: Indicates these items have not yet been synced.</a:t>
            </a:r>
          </a:p>
          <a:p>
            <a:r>
              <a:rPr lang="en-GB" dirty="0"/>
              <a:t>- **Forensic Value:** Shows sync status, helping determine if data is backed up in the cloud (recoverable) or only exists locally.</a:t>
            </a:r>
          </a:p>
          <a:p>
            <a:endParaRPr lang="en-GB" dirty="0"/>
          </a:p>
          <a:p>
            <a:r>
              <a:rPr lang="en-GB" dirty="0"/>
              <a:t>#### 4. `timestamp`</a:t>
            </a:r>
          </a:p>
          <a:p>
            <a:r>
              <a:rPr lang="en-GB" dirty="0"/>
              <a:t>- **Purpose:** Records when the item was created or modified (Unix timestamp in milliseconds).</a:t>
            </a:r>
          </a:p>
          <a:p>
            <a:r>
              <a:rPr lang="en-GB" dirty="0"/>
              <a:t>- **Values:**</a:t>
            </a:r>
          </a:p>
          <a:p>
            <a:r>
              <a:rPr lang="en-GB" dirty="0"/>
              <a:t>  - Row 1: `-1471201103836196831`: An invalid or corrupted timestamp (negative and excessively large, likely an error).</a:t>
            </a:r>
          </a:p>
          <a:p>
            <a:r>
              <a:rPr lang="en-GB" dirty="0"/>
              <a:t>  - Row 2: `8113080470833664497`: Another invalid timestamp (far future, likely an error).</a:t>
            </a:r>
          </a:p>
          <a:p>
            <a:r>
              <a:rPr lang="en-GB" dirty="0"/>
              <a:t>  - Row 3: `1554470343604`: April 5, 2019, 15:45:34.604 UTC (valid, previously </a:t>
            </a:r>
            <a:r>
              <a:rPr lang="en-GB" dirty="0" err="1"/>
              <a:t>analyzed</a:t>
            </a:r>
            <a:r>
              <a:rPr lang="en-GB" dirty="0"/>
              <a:t>).</a:t>
            </a:r>
          </a:p>
          <a:p>
            <a:r>
              <a:rPr lang="en-GB" dirty="0"/>
              <a:t>  - Rows 4–7: `0`: No timestamp recorded, possibly because these items are pending sync or not time-sensitive.</a:t>
            </a:r>
          </a:p>
          <a:p>
            <a:r>
              <a:rPr lang="en-GB" dirty="0"/>
              <a:t>- **Forensic Value:** High for valid timestamps (e.g., Row 3), as it helps build a timeline of user actions (e.g., saving a place on April 5, 2019). Invalid or zero timestamps reduce utility.</a:t>
            </a:r>
          </a:p>
          <a:p>
            <a:endParaRPr lang="en-GB" dirty="0"/>
          </a:p>
          <a:p>
            <a:r>
              <a:rPr lang="en-GB" dirty="0"/>
              <a:t>#### 5. `</a:t>
            </a:r>
            <a:r>
              <a:rPr lang="en-GB" dirty="0" err="1"/>
              <a:t>feature_print</a:t>
            </a:r>
            <a:r>
              <a:rPr lang="en-GB" dirty="0"/>
              <a:t>`</a:t>
            </a:r>
          </a:p>
          <a:p>
            <a:r>
              <a:rPr lang="en-GB" dirty="0"/>
              <a:t>- **Purpose:** A hash or fingerprint for data consistency, used to detect changes or duplicates during sync.</a:t>
            </a:r>
          </a:p>
          <a:p>
            <a:r>
              <a:rPr lang="en-GB" dirty="0"/>
              <a:t>- **Values:**</a:t>
            </a:r>
          </a:p>
          <a:p>
            <a:r>
              <a:rPr lang="en-GB" dirty="0"/>
              <a:t>  - `6421184364959223625` (Row 3): A valid feature print, indicating this item has a unique identifier for sync consistency.</a:t>
            </a:r>
          </a:p>
          <a:p>
            <a:r>
              <a:rPr lang="en-GB" dirty="0"/>
              <a:t>  - `NULL` (Other Rows): No feature print, possibly because it’s not needed or the item hasn’t been processed.</a:t>
            </a:r>
          </a:p>
          <a:p>
            <a:r>
              <a:rPr lang="en-GB" dirty="0"/>
              <a:t>- **Forensic Value:** Low. Useful for verifying data integrity if present, but mostly NULL here.</a:t>
            </a:r>
          </a:p>
          <a:p>
            <a:endParaRPr lang="en-GB" dirty="0"/>
          </a:p>
          <a:p>
            <a:r>
              <a:rPr lang="en-GB" dirty="0"/>
              <a:t>#### 6. `lat_e6` (Latitude, scaled by 1E6)</a:t>
            </a:r>
          </a:p>
          <a:p>
            <a:r>
              <a:rPr lang="en-GB" dirty="0"/>
              <a:t>- **Purpose:** Stores the latitude coordinate of a location associated with the sync item, scaled by 1,000,000.</a:t>
            </a:r>
          </a:p>
          <a:p>
            <a:r>
              <a:rPr lang="en-GB" dirty="0"/>
              <a:t>- **Values:**</a:t>
            </a:r>
          </a:p>
          <a:p>
            <a:r>
              <a:rPr lang="en-GB" dirty="0"/>
              <a:t>  - Row 1: `35659596` → 35.659596°N (near Raleigh, NC, USA).</a:t>
            </a:r>
          </a:p>
          <a:p>
            <a:r>
              <a:rPr lang="en-GB" dirty="0"/>
              <a:t>  - Row 2: `40784374` → 40.784374°N (near New York City, NY, USA).</a:t>
            </a:r>
          </a:p>
          <a:p>
            <a:r>
              <a:rPr lang="en-GB" dirty="0"/>
              <a:t>  - Row 3: `35734602` → 35.734602°N (near Raleigh, NC, USA, previously </a:t>
            </a:r>
            <a:r>
              <a:rPr lang="en-GB" dirty="0" err="1"/>
              <a:t>analyzed</a:t>
            </a:r>
            <a:r>
              <a:rPr lang="en-GB" dirty="0"/>
              <a:t>).</a:t>
            </a:r>
          </a:p>
          <a:p>
            <a:r>
              <a:rPr lang="en-GB" dirty="0"/>
              <a:t>  - Rows 4–7: `0`: No latitude recorded (not location-specific).</a:t>
            </a:r>
          </a:p>
          <a:p>
            <a:r>
              <a:rPr lang="en-GB" dirty="0"/>
              <a:t>- **Forensic Value:** High for Rows 1–3. Provides precise location data, showing where the user was or what place they interacted with.</a:t>
            </a:r>
          </a:p>
          <a:p>
            <a:endParaRPr lang="en-GB" dirty="0"/>
          </a:p>
          <a:p>
            <a:r>
              <a:rPr lang="en-GB" dirty="0"/>
              <a:t>#### 7. `long_e6` (Longitude, scaled by 1E6)</a:t>
            </a:r>
          </a:p>
          <a:p>
            <a:r>
              <a:rPr lang="en-GB" dirty="0"/>
              <a:t>- **Purpose:** Stores the longitude coordinate, scaled by 1,000,000.</a:t>
            </a:r>
          </a:p>
          <a:p>
            <a:r>
              <a:rPr lang="en-GB" dirty="0"/>
              <a:t>- **Values:**</a:t>
            </a:r>
          </a:p>
          <a:p>
            <a:r>
              <a:rPr lang="en-GB" dirty="0"/>
              <a:t>  - Row 1: `-78872848` → -78.872848°W (near Raleigh, NC, USA).</a:t>
            </a:r>
          </a:p>
          <a:p>
            <a:r>
              <a:rPr lang="en-GB" dirty="0"/>
              <a:t>  - Row 2: `-74065536` → -74.065536°W (near New York City, NY, USA).</a:t>
            </a:r>
          </a:p>
          <a:p>
            <a:r>
              <a:rPr lang="en-GB" dirty="0"/>
              <a:t>  - Row 3: `-78636654` → -78.636654°W (near Raleigh, NC, USA).</a:t>
            </a:r>
          </a:p>
          <a:p>
            <a:r>
              <a:rPr lang="en-GB" dirty="0"/>
              <a:t>  - Rows 4–7: `0`: No longitude recorded.</a:t>
            </a:r>
          </a:p>
          <a:p>
            <a:r>
              <a:rPr lang="en-GB" dirty="0"/>
              <a:t>- **Forensic Value:** High for Rows 1–3. Pairs with `lat_e6` to pinpoint exact locations (e.g., 35.659596°N, -78.872848°W).</a:t>
            </a:r>
          </a:p>
          <a:p>
            <a:endParaRPr lang="en-GB" dirty="0"/>
          </a:p>
          <a:p>
            <a:r>
              <a:rPr lang="en-GB" dirty="0"/>
              <a:t>#### 8. `</a:t>
            </a:r>
            <a:r>
              <a:rPr lang="en-GB" dirty="0" err="1"/>
              <a:t>numerical_index</a:t>
            </a:r>
            <a:r>
              <a:rPr lang="en-GB" dirty="0"/>
              <a:t>`</a:t>
            </a:r>
          </a:p>
          <a:p>
            <a:r>
              <a:rPr lang="en-GB" dirty="0"/>
              <a:t>- **Purpose:** An additional index for categorization or ordering, often unused.</a:t>
            </a:r>
          </a:p>
          <a:p>
            <a:r>
              <a:rPr lang="en-GB" dirty="0"/>
              <a:t>- **Values:** All `NULL` or 0, indicating it’s not used in this context.</a:t>
            </a:r>
          </a:p>
          <a:p>
            <a:r>
              <a:rPr lang="en-GB" dirty="0"/>
              <a:t>- **Forensic Value:** None. Provides no meaningful insight here.</a:t>
            </a:r>
          </a:p>
          <a:p>
            <a:endParaRPr lang="en-GB" dirty="0"/>
          </a:p>
          <a:p>
            <a:r>
              <a:rPr lang="en-GB" dirty="0"/>
              <a:t>---</a:t>
            </a:r>
          </a:p>
          <a:p>
            <a:endParaRPr lang="en-GB" dirty="0"/>
          </a:p>
          <a:p>
            <a:r>
              <a:rPr lang="en-GB" dirty="0"/>
              <a:t>### Forensic Value of the `</a:t>
            </a:r>
            <a:r>
              <a:rPr lang="en-GB" dirty="0" err="1"/>
              <a:t>sync_item_data</a:t>
            </a:r>
            <a:r>
              <a:rPr lang="en-GB" dirty="0"/>
              <a:t>` Table:</a:t>
            </a:r>
          </a:p>
          <a:p>
            <a:endParaRPr lang="en-GB" dirty="0"/>
          </a:p>
          <a:p>
            <a:r>
              <a:rPr lang="en-GB" dirty="0"/>
              <a:t>#### Evidence Extracted:</a:t>
            </a:r>
          </a:p>
          <a:p>
            <a:r>
              <a:rPr lang="en-GB" dirty="0"/>
              <a:t>1. **Location History (Rows 1–3, Corpus 11):**</a:t>
            </a:r>
          </a:p>
          <a:p>
            <a:r>
              <a:rPr lang="en-GB" dirty="0"/>
              <a:t>   - **Details:**</a:t>
            </a:r>
          </a:p>
          <a:p>
            <a:r>
              <a:rPr lang="en-GB" dirty="0"/>
              <a:t>     - Row 1: 35.659596°N, -78.872848°W (near Raleigh, NC, USA), but invalid timestamp.</a:t>
            </a:r>
          </a:p>
          <a:p>
            <a:r>
              <a:rPr lang="en-GB" dirty="0"/>
              <a:t>     - Row 2: 40.784374°N, -74.065536°W (near New York City, NY, USA), but invalid timestamp.</a:t>
            </a:r>
          </a:p>
          <a:p>
            <a:r>
              <a:rPr lang="en-GB" dirty="0"/>
              <a:t>     - Row 3: 35.734602°N, -78.636654°W (near Raleigh, NC, USA), timestamp April 5, 2019, 15:45:34.604 UTC.</a:t>
            </a:r>
          </a:p>
          <a:p>
            <a:r>
              <a:rPr lang="en-GB" dirty="0"/>
              <a:t>   - **Forensic Value:** High for Row 3 (valid timestamp); Moderate for Rows 1–2 (invalid timestamps).</a:t>
            </a:r>
          </a:p>
          <a:p>
            <a:r>
              <a:rPr lang="en-GB" dirty="0"/>
              <a:t>     - **Location Insight:** Pinpoints where the user was or what places they interacted with.</a:t>
            </a:r>
          </a:p>
          <a:p>
            <a:r>
              <a:rPr lang="en-GB" dirty="0"/>
              <a:t>     - **Timeline Building:** Row 3 provides a precise timestamp; others are limited by invalid timestamps.</a:t>
            </a:r>
          </a:p>
          <a:p>
            <a:r>
              <a:rPr lang="en-GB" dirty="0"/>
              <a:t>     - **</a:t>
            </a:r>
            <a:r>
              <a:rPr lang="en-GB" dirty="0" err="1"/>
              <a:t>Behavioral</a:t>
            </a:r>
            <a:r>
              <a:rPr lang="en-GB" dirty="0"/>
              <a:t> Insight:** Suggests the user saved places or recorded location history in these areas.</a:t>
            </a:r>
          </a:p>
          <a:p>
            <a:endParaRPr lang="en-GB" dirty="0"/>
          </a:p>
          <a:p>
            <a:r>
              <a:rPr lang="en-GB" dirty="0"/>
              <a:t>2. **Pending Sync Items (Rows 4–6, Corpus 13):**</a:t>
            </a:r>
          </a:p>
          <a:p>
            <a:r>
              <a:rPr lang="en-GB" dirty="0"/>
              <a:t>   - **Details:** Items with `</a:t>
            </a:r>
            <a:r>
              <a:rPr lang="en-GB" dirty="0" err="1"/>
              <a:t>client_id</a:t>
            </a:r>
            <a:r>
              <a:rPr lang="en-GB" dirty="0"/>
              <a:t>` starting with `1581273852322` (February 9, 2020), `</a:t>
            </a:r>
            <a:r>
              <a:rPr lang="en-GB" dirty="0" err="1"/>
              <a:t>server_id</a:t>
            </a:r>
            <a:r>
              <a:rPr lang="en-GB" dirty="0"/>
              <a:t>` NULL, no location data.</a:t>
            </a:r>
          </a:p>
          <a:p>
            <a:r>
              <a:rPr lang="en-GB" dirty="0"/>
              <a:t>   - **Forensic Value:** Moderate.</a:t>
            </a:r>
          </a:p>
          <a:p>
            <a:r>
              <a:rPr lang="en-GB" dirty="0"/>
              <a:t>     - **Timeline Building:** The `</a:t>
            </a:r>
            <a:r>
              <a:rPr lang="en-GB" dirty="0" err="1"/>
              <a:t>client_id</a:t>
            </a:r>
            <a:r>
              <a:rPr lang="en-GB" dirty="0"/>
              <a:t>` timestamp (February 9, 2020) suggests when these items were created.</a:t>
            </a:r>
          </a:p>
          <a:p>
            <a:r>
              <a:rPr lang="en-GB" dirty="0"/>
              <a:t>     - **Data Recovery:** `</a:t>
            </a:r>
            <a:r>
              <a:rPr lang="en-GB" dirty="0" err="1"/>
              <a:t>server_id</a:t>
            </a:r>
            <a:r>
              <a:rPr lang="en-GB" dirty="0"/>
              <a:t>` NULL indicates these items are local only, not yet synced, so they may not be recoverable from the cloud.</a:t>
            </a:r>
          </a:p>
          <a:p>
            <a:r>
              <a:rPr lang="en-GB" dirty="0"/>
              <a:t>     - **</a:t>
            </a:r>
            <a:r>
              <a:rPr lang="en-GB" dirty="0" err="1"/>
              <a:t>Behavioral</a:t>
            </a:r>
            <a:r>
              <a:rPr lang="en-GB" dirty="0"/>
              <a:t> Insight:** Corpus 13 might relate to user contributions (e.g., reviews, edits), indicating user engagement with Google Maps.</a:t>
            </a:r>
          </a:p>
          <a:p>
            <a:endParaRPr lang="en-GB" dirty="0"/>
          </a:p>
          <a:p>
            <a:r>
              <a:rPr lang="en-GB" dirty="0"/>
              <a:t>3. **User Settings (Row 7, Corpus 6):**</a:t>
            </a:r>
          </a:p>
          <a:p>
            <a:r>
              <a:rPr lang="en-GB" dirty="0"/>
              <a:t>   - **Details:** `</a:t>
            </a:r>
            <a:r>
              <a:rPr lang="en-GB" dirty="0" err="1"/>
              <a:t>client_id</a:t>
            </a:r>
            <a:r>
              <a:rPr lang="en-GB" dirty="0"/>
              <a:t>` = "User Parameters", no location or timestamp.</a:t>
            </a:r>
          </a:p>
          <a:p>
            <a:r>
              <a:rPr lang="en-GB" dirty="0"/>
              <a:t>   - **Forensic Value:** Low.</a:t>
            </a:r>
          </a:p>
          <a:p>
            <a:r>
              <a:rPr lang="en-GB" dirty="0"/>
              <a:t>     - **</a:t>
            </a:r>
            <a:r>
              <a:rPr lang="en-GB" dirty="0" err="1"/>
              <a:t>Behavioral</a:t>
            </a:r>
            <a:r>
              <a:rPr lang="en-GB" dirty="0"/>
              <a:t> Insight:** Indicates user settings were queued for sync, but no specific details without deserialization.</a:t>
            </a:r>
          </a:p>
          <a:p>
            <a:r>
              <a:rPr lang="en-GB" dirty="0"/>
              <a:t>     - **Data Recovery:** `</a:t>
            </a:r>
            <a:r>
              <a:rPr lang="en-GB" dirty="0" err="1"/>
              <a:t>server_id</a:t>
            </a:r>
            <a:r>
              <a:rPr lang="en-GB" dirty="0"/>
              <a:t>` NULL suggests these settings are local only.</a:t>
            </a:r>
          </a:p>
          <a:p>
            <a:endParaRPr lang="en-GB" dirty="0"/>
          </a:p>
          <a:p>
            <a:r>
              <a:rPr lang="en-GB" dirty="0"/>
              <a:t>#### Overall Forensic Value:</a:t>
            </a:r>
          </a:p>
          <a:p>
            <a:r>
              <a:rPr lang="en-GB" dirty="0"/>
              <a:t>- **Rating (from Previous Analysis for `</a:t>
            </a:r>
            <a:r>
              <a:rPr lang="en-GB" dirty="0" err="1"/>
              <a:t>gmm_sync.db</a:t>
            </a:r>
            <a:r>
              <a:rPr lang="en-GB" dirty="0"/>
              <a:t>`):** 6/10</a:t>
            </a:r>
          </a:p>
          <a:p>
            <a:r>
              <a:rPr lang="en-GB" dirty="0"/>
              <a:t>- **Rank (from Previous Analysis):** 4th out of 6 databases.</a:t>
            </a:r>
          </a:p>
          <a:p>
            <a:r>
              <a:rPr lang="en-GB" dirty="0"/>
              <a:t>- **Summary:** The `</a:t>
            </a:r>
            <a:r>
              <a:rPr lang="en-GB" dirty="0" err="1"/>
              <a:t>sync_item_data</a:t>
            </a:r>
            <a:r>
              <a:rPr lang="en-GB" dirty="0"/>
              <a:t>` table provides valuable location data (Rows 1–3) and timeline insights (Row 3), particularly for tracking user movements (e.g., Raleigh, NC, and NYC). Pending sync items (Rows 4–6) offer potential insights into user contributions and data recovery, while user settings (Row 7) are less useful. Invalid timestamps in some rows limit their utility, but the table remains moderately useful for location tracking and timeline building when paired with the `</a:t>
            </a:r>
            <a:r>
              <a:rPr lang="en-GB" dirty="0" err="1"/>
              <a:t>sync_corpus</a:t>
            </a:r>
            <a:r>
              <a:rPr lang="en-GB" dirty="0"/>
              <a:t>` table.</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34</a:t>
            </a:fld>
            <a:endParaRPr lang="en-US"/>
          </a:p>
        </p:txBody>
      </p:sp>
    </p:spTree>
    <p:extLst>
      <p:ext uri="{BB962C8B-B14F-4D97-AF65-F5344CB8AC3E}">
        <p14:creationId xmlns:p14="http://schemas.microsoft.com/office/powerpoint/2010/main" val="3253837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Cmd: tree 'Pixel 3/data/data/com.google.android.apps.maps' -L 1</a:t>
            </a:r>
          </a:p>
        </p:txBody>
      </p:sp>
      <p:sp>
        <p:nvSpPr>
          <p:cNvPr id="4" name="Slide Number Placeholder 3"/>
          <p:cNvSpPr>
            <a:spLocks noGrp="1"/>
          </p:cNvSpPr>
          <p:nvPr>
            <p:ph type="sldNum" sz="quarter" idx="5"/>
          </p:nvPr>
        </p:nvSpPr>
        <p:spPr/>
        <p:txBody>
          <a:bodyPr/>
          <a:lstStyle/>
          <a:p>
            <a:fld id="{DDBF98C7-164A-4723-84F0-B1E4B080DDEC}" type="slidenum">
              <a:rPr lang="en-US" smtClean="0"/>
              <a:t>36</a:t>
            </a:fld>
            <a:endParaRPr lang="en-US"/>
          </a:p>
        </p:txBody>
      </p:sp>
    </p:spTree>
    <p:extLst>
      <p:ext uri="{BB962C8B-B14F-4D97-AF65-F5344CB8AC3E}">
        <p14:creationId xmlns:p14="http://schemas.microsoft.com/office/powerpoint/2010/main" val="938240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Forensic Value Summary of </a:t>
            </a:r>
            <a:r>
              <a:rPr lang="en-US" b="1" dirty="0" err="1"/>
              <a:t>ugc_photos_location_data.db</a:t>
            </a:r>
            <a:r>
              <a:rPr lang="en-US" b="1" dirty="0"/>
              <a:t> Tables:</a:t>
            </a:r>
          </a:p>
          <a:p>
            <a:r>
              <a:rPr lang="en-US" b="1" dirty="0" err="1"/>
              <a:t>TablePurposeForensic</a:t>
            </a:r>
            <a:r>
              <a:rPr lang="en-US" b="1" dirty="0"/>
              <a:t> </a:t>
            </a:r>
            <a:r>
              <a:rPr lang="en-US" b="1" dirty="0" err="1"/>
              <a:t>ValueOverall</a:t>
            </a:r>
            <a:r>
              <a:rPr lang="en-US" b="1" dirty="0"/>
              <a:t> </a:t>
            </a:r>
            <a:r>
              <a:rPr lang="en-US" b="1" dirty="0" err="1"/>
              <a:t>Value</a:t>
            </a:r>
            <a:r>
              <a:rPr lang="en-US" dirty="0" err="1">
                <a:effectLst/>
              </a:rPr>
              <a:t>android_metadataStores</a:t>
            </a:r>
            <a:r>
              <a:rPr lang="en-US" dirty="0">
                <a:effectLst/>
              </a:rPr>
              <a:t> the device’s locale setting (e.g., "</a:t>
            </a:r>
            <a:r>
              <a:rPr lang="en-US" dirty="0" err="1">
                <a:effectLst/>
              </a:rPr>
              <a:t>en_US</a:t>
            </a:r>
            <a:r>
              <a:rPr lang="en-US" dirty="0">
                <a:effectLst/>
              </a:rPr>
              <a:t>") for the app’s </a:t>
            </a:r>
            <a:r>
              <a:rPr lang="en-US" dirty="0" err="1">
                <a:effectLst/>
              </a:rPr>
              <a:t>environment.Very</a:t>
            </a:r>
            <a:r>
              <a:rPr lang="en-US" dirty="0">
                <a:effectLst/>
              </a:rPr>
              <a:t> Low. Provides minimal insight into the user’s region or language preference, with little </a:t>
            </a:r>
            <a:r>
              <a:rPr lang="en-US" dirty="0" err="1">
                <a:effectLst/>
              </a:rPr>
              <a:t>relevance.Very</a:t>
            </a:r>
            <a:r>
              <a:rPr lang="en-US" dirty="0">
                <a:effectLst/>
              </a:rPr>
              <a:t> </a:t>
            </a:r>
            <a:r>
              <a:rPr lang="en-US" dirty="0" err="1">
                <a:effectLst/>
              </a:rPr>
              <a:t>Lowphotos_image_labelsStores</a:t>
            </a:r>
            <a:r>
              <a:rPr lang="en-US" dirty="0">
                <a:effectLst/>
              </a:rPr>
              <a:t> labels/tags for photos (e.g., "food," "outdoor") generated by image recognition or user </a:t>
            </a:r>
            <a:r>
              <a:rPr lang="en-US" dirty="0" err="1">
                <a:effectLst/>
              </a:rPr>
              <a:t>input.Moderate</a:t>
            </a:r>
            <a:r>
              <a:rPr lang="en-US" dirty="0">
                <a:effectLst/>
              </a:rPr>
              <a:t> to High. Reveals photo content (e.g., "food" suggests dining), providing behavioral and contextual </a:t>
            </a:r>
            <a:r>
              <a:rPr lang="en-US" dirty="0" err="1">
                <a:effectLst/>
              </a:rPr>
              <a:t>insights.Moderate</a:t>
            </a:r>
            <a:r>
              <a:rPr lang="en-US" dirty="0">
                <a:effectLst/>
              </a:rPr>
              <a:t> to </a:t>
            </a:r>
            <a:r>
              <a:rPr lang="en-US" dirty="0" err="1">
                <a:effectLst/>
              </a:rPr>
              <a:t>Highphotos_top_featureIdentifies</a:t>
            </a:r>
            <a:r>
              <a:rPr lang="en-US" dirty="0">
                <a:effectLst/>
              </a:rPr>
              <a:t> the primary feature in each photo (e.g., "plate of food") via image </a:t>
            </a:r>
            <a:r>
              <a:rPr lang="en-US" dirty="0" err="1">
                <a:effectLst/>
              </a:rPr>
              <a:t>analysis.Moderate</a:t>
            </a:r>
            <a:r>
              <a:rPr lang="en-US" dirty="0">
                <a:effectLst/>
              </a:rPr>
              <a:t> to High. Highlights the photo’s focus (e.g., "cake" suggests a celebration), aiding behavioral </a:t>
            </a:r>
            <a:r>
              <a:rPr lang="en-US" dirty="0" err="1">
                <a:effectLst/>
              </a:rPr>
              <a:t>analysis.Moderate</a:t>
            </a:r>
            <a:r>
              <a:rPr lang="en-US" dirty="0">
                <a:effectLst/>
              </a:rPr>
              <a:t> to High</a:t>
            </a:r>
            <a:endParaRPr lang="en-US" dirty="0"/>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44</a:t>
            </a:fld>
            <a:endParaRPr lang="en-US"/>
          </a:p>
        </p:txBody>
      </p:sp>
    </p:spTree>
    <p:extLst>
      <p:ext uri="{BB962C8B-B14F-4D97-AF65-F5344CB8AC3E}">
        <p14:creationId xmlns:p14="http://schemas.microsoft.com/office/powerpoint/2010/main" val="112499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63717A-E3C1-4BED-ABE0-B7069385E02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2766646" cy="365125"/>
          </a:xfrm>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82117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43062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3717A-E3C1-4BED-ABE0-B7069385E02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9935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3717A-E3C1-4BED-ABE0-B7069385E023}"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85891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63717A-E3C1-4BED-ABE0-B7069385E023}"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7169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63717A-E3C1-4BED-ABE0-B7069385E023}"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60008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3717A-E3C1-4BED-ABE0-B7069385E023}"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964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330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4803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1769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95900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3717A-E3C1-4BED-ABE0-B7069385E023}" type="datetimeFigureOut">
              <a:rPr lang="en-US" smtClean="0"/>
              <a:t>9/30/2026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6F5B0-BCF1-4291-802C-4ED5F9057036}" type="slidenum">
              <a:rPr lang="en-US" smtClean="0"/>
              <a:t>‹#›</a:t>
            </a:fld>
            <a:endParaRPr lang="en-US"/>
          </a:p>
        </p:txBody>
      </p:sp>
      <p:pic>
        <p:nvPicPr>
          <p:cNvPr id="1026" name="Picture 2" descr="United States Department of Justice - Wikipedia"/>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04663" y="6429241"/>
            <a:ext cx="379628" cy="379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JP PMP Logi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684291" y="6519834"/>
            <a:ext cx="420444" cy="2016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Baltimore Issues Marketing RFP - PR News"/>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54993" y="6286831"/>
            <a:ext cx="1571896" cy="6644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le:Towson University logo horiz 2019.png - Wikimedia Commons"/>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272985" y="6456351"/>
            <a:ext cx="1202235" cy="414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57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24.png"/><Relationship Id="rId18" Type="http://schemas.openxmlformats.org/officeDocument/2006/relationships/customXml" Target="../ink/ink7.xml"/><Relationship Id="rId3" Type="http://schemas.openxmlformats.org/officeDocument/2006/relationships/image" Target="../media/image21.png"/><Relationship Id="rId21" Type="http://schemas.openxmlformats.org/officeDocument/2006/relationships/image" Target="../media/image28.png"/><Relationship Id="rId7" Type="http://schemas.openxmlformats.org/officeDocument/2006/relationships/image" Target="../media/image210.png"/><Relationship Id="rId12" Type="http://schemas.openxmlformats.org/officeDocument/2006/relationships/customXml" Target="../ink/ink4.xml"/><Relationship Id="rId17" Type="http://schemas.openxmlformats.org/officeDocument/2006/relationships/image" Target="../media/image26.png"/><Relationship Id="rId25" Type="http://schemas.openxmlformats.org/officeDocument/2006/relationships/image" Target="../media/image30.png"/><Relationship Id="rId2" Type="http://schemas.openxmlformats.org/officeDocument/2006/relationships/image" Target="../media/image17.png"/><Relationship Id="rId16" Type="http://schemas.openxmlformats.org/officeDocument/2006/relationships/customXml" Target="../ink/ink6.xml"/><Relationship Id="rId20" Type="http://schemas.openxmlformats.org/officeDocument/2006/relationships/customXml" Target="../ink/ink8.xml"/><Relationship Id="rId1" Type="http://schemas.openxmlformats.org/officeDocument/2006/relationships/slideLayout" Target="../slideLayouts/slideLayout7.xml"/><Relationship Id="rId11" Type="http://schemas.openxmlformats.org/officeDocument/2006/relationships/image" Target="../media/image23.png"/><Relationship Id="rId24" Type="http://schemas.openxmlformats.org/officeDocument/2006/relationships/customXml" Target="../ink/ink10.xml"/><Relationship Id="rId15" Type="http://schemas.openxmlformats.org/officeDocument/2006/relationships/image" Target="../media/image25.png"/><Relationship Id="rId23" Type="http://schemas.openxmlformats.org/officeDocument/2006/relationships/image" Target="../media/image29.png"/><Relationship Id="rId10" Type="http://schemas.openxmlformats.org/officeDocument/2006/relationships/customXml" Target="../ink/ink3.xml"/><Relationship Id="rId19" Type="http://schemas.openxmlformats.org/officeDocument/2006/relationships/image" Target="../media/image27.png"/><Relationship Id="rId4" Type="http://schemas.openxmlformats.org/officeDocument/2006/relationships/customXml" Target="../ink/ink1.xml"/><Relationship Id="rId9" Type="http://schemas.openxmlformats.org/officeDocument/2006/relationships/image" Target="../media/image22.png"/><Relationship Id="rId14" Type="http://schemas.openxmlformats.org/officeDocument/2006/relationships/customXml" Target="../ink/ink5.xml"/><Relationship Id="rId22" Type="http://schemas.openxmlformats.org/officeDocument/2006/relationships/customXml" Target="../ink/ink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image" Target="../media/image40.png"/><Relationship Id="rId7" Type="http://schemas.openxmlformats.org/officeDocument/2006/relationships/customXml" Target="../ink/ink12.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30.png"/><Relationship Id="rId5" Type="http://schemas.openxmlformats.org/officeDocument/2006/relationships/customXml" Target="../ink/ink11.xml"/><Relationship Id="rId10" Type="http://schemas.openxmlformats.org/officeDocument/2006/relationships/image" Target="../media/image350.png"/><Relationship Id="rId4" Type="http://schemas.openxmlformats.org/officeDocument/2006/relationships/image" Target="../media/image17.png"/><Relationship Id="rId9" Type="http://schemas.openxmlformats.org/officeDocument/2006/relationships/customXml" Target="../ink/ink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6BAF9-88AC-4600-B511-347782B9C875}"/>
              </a:ext>
            </a:extLst>
          </p:cNvPr>
          <p:cNvSpPr>
            <a:spLocks noGrp="1"/>
          </p:cNvSpPr>
          <p:nvPr>
            <p:ph type="ctrTitle"/>
          </p:nvPr>
        </p:nvSpPr>
        <p:spPr/>
        <p:txBody>
          <a:bodyPr>
            <a:normAutofit/>
          </a:bodyPr>
          <a:lstStyle/>
          <a:p>
            <a:r>
              <a:rPr lang="en-US" sz="4000" dirty="0">
                <a:latin typeface="Arial" panose="020B0604020202020204" pitchFamily="34" charset="0"/>
                <a:cs typeface="Arial" panose="020B0604020202020204" pitchFamily="34" charset="0"/>
              </a:rPr>
              <a:t>Pixel 3 GMS App Investigations</a:t>
            </a:r>
          </a:p>
        </p:txBody>
      </p:sp>
      <p:sp>
        <p:nvSpPr>
          <p:cNvPr id="3" name="Subtitle 2">
            <a:extLst>
              <a:ext uri="{FF2B5EF4-FFF2-40B4-BE49-F238E27FC236}">
                <a16:creationId xmlns:a16="http://schemas.microsoft.com/office/drawing/2014/main" id="{58CD3106-2EE0-40F4-8C0B-042135FF9FB4}"/>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Part 3: GMS Google Maps</a:t>
            </a:r>
          </a:p>
        </p:txBody>
      </p:sp>
    </p:spTree>
    <p:extLst>
      <p:ext uri="{BB962C8B-B14F-4D97-AF65-F5344CB8AC3E}">
        <p14:creationId xmlns:p14="http://schemas.microsoft.com/office/powerpoint/2010/main" val="1323245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87D6511-DB55-EE90-FBBB-99C8BC2453EC}"/>
              </a:ext>
            </a:extLst>
          </p:cNvPr>
          <p:cNvSpPr>
            <a:spLocks noGrp="1"/>
          </p:cNvSpPr>
          <p:nvPr>
            <p:ph type="title"/>
          </p:nvPr>
        </p:nvSpPr>
        <p:spPr/>
        <p:txBody>
          <a:bodyPr>
            <a:normAutofit/>
          </a:bodyPr>
          <a:lstStyle/>
          <a:p>
            <a:r>
              <a:rPr lang="en-US" sz="3200" b="1" dirty="0">
                <a:solidFill>
                  <a:srgbClr val="232323"/>
                </a:solidFill>
                <a:latin typeface="Arial" panose="020B0604020202020204" pitchFamily="34" charset="0"/>
                <a:cs typeface="Arial" panose="020B0604020202020204" pitchFamily="34" charset="0"/>
              </a:rPr>
              <a:t>Learning Objectives</a:t>
            </a:r>
            <a:endParaRPr lang="en-US"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C2E4625-A53A-A263-0B06-42170D0598AB}"/>
              </a:ext>
            </a:extLst>
          </p:cNvPr>
          <p:cNvSpPr>
            <a:spLocks noGrp="1"/>
          </p:cNvSpPr>
          <p:nvPr>
            <p:ph idx="1"/>
          </p:nvPr>
        </p:nvSpPr>
        <p:spPr>
          <a:xfrm>
            <a:off x="838200" y="1825626"/>
            <a:ext cx="10515600" cy="2796708"/>
          </a:xfrm>
        </p:spPr>
        <p:txBody>
          <a:bodyPr>
            <a:normAutofit fontScale="77500" lnSpcReduction="20000"/>
          </a:bodyPr>
          <a:lstStyle/>
          <a:p>
            <a:r>
              <a:rPr lang="en-GB" dirty="0">
                <a:latin typeface="Arial" panose="020B0604020202020204" pitchFamily="34" charset="0"/>
                <a:cs typeface="Arial" panose="020B0604020202020204" pitchFamily="34" charset="0"/>
              </a:rPr>
              <a:t>Locate Google Maps application artifacts in an Android extraction.</a:t>
            </a:r>
          </a:p>
          <a:p>
            <a:r>
              <a:rPr lang="en-GB" dirty="0">
                <a:latin typeface="Arial" panose="020B0604020202020204" pitchFamily="34" charset="0"/>
                <a:cs typeface="Arial" panose="020B0604020202020204" pitchFamily="34" charset="0"/>
              </a:rPr>
              <a:t>Triage the major Maps databases and file-based artifacts in this Pixel 3 dataset.</a:t>
            </a:r>
          </a:p>
          <a:p>
            <a:r>
              <a:rPr lang="en-GB" dirty="0">
                <a:latin typeface="Arial" panose="020B0604020202020204" pitchFamily="34" charset="0"/>
                <a:cs typeface="Arial" panose="020B0604020202020204" pitchFamily="34" charset="0"/>
              </a:rPr>
              <a:t>Interpret saved-place, navigation, synchronization, and photo-location records.</a:t>
            </a:r>
          </a:p>
          <a:p>
            <a:r>
              <a:rPr lang="en-GB" dirty="0">
                <a:latin typeface="Arial" panose="020B0604020202020204" pitchFamily="34" charset="0"/>
                <a:cs typeface="Arial" panose="020B0604020202020204" pitchFamily="34" charset="0"/>
              </a:rPr>
              <a:t>Decode coordinates, timestamps, and serialized BLOB data without overstating what the evidence proves.</a:t>
            </a:r>
          </a:p>
          <a:p>
            <a:r>
              <a:rPr lang="en-GB" dirty="0">
                <a:latin typeface="Arial" panose="020B0604020202020204" pitchFamily="34" charset="0"/>
                <a:cs typeface="Arial" panose="020B0604020202020204" pitchFamily="34" charset="0"/>
              </a:rPr>
              <a:t>Build a defensible workflow that distinguishes artifact observation from </a:t>
            </a:r>
            <a:r>
              <a:rPr lang="en-GB" dirty="0" err="1">
                <a:latin typeface="Arial" panose="020B0604020202020204" pitchFamily="34" charset="0"/>
                <a:cs typeface="Arial" panose="020B0604020202020204" pitchFamily="34" charset="0"/>
              </a:rPr>
              <a:t>behavioral</a:t>
            </a:r>
            <a:r>
              <a:rPr lang="en-GB" dirty="0">
                <a:latin typeface="Arial" panose="020B0604020202020204" pitchFamily="34" charset="0"/>
                <a:cs typeface="Arial" panose="020B0604020202020204" pitchFamily="34" charset="0"/>
              </a:rPr>
              <a:t> inference.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88187-4462-4637-82A4-44279C4A3042}"/>
              </a:ext>
            </a:extLst>
          </p:cNvPr>
          <p:cNvSpPr>
            <a:spLocks noGrp="1"/>
          </p:cNvSpPr>
          <p:nvPr>
            <p:ph type="title"/>
          </p:nvPr>
        </p:nvSpPr>
        <p:spPr/>
        <p:txBody>
          <a:bodyPr wrap="square"/>
          <a:lstStyle/>
          <a:p>
            <a:r>
              <a:rPr sz="2800" b="1" dirty="0">
                <a:solidFill>
                  <a:srgbClr val="232323"/>
                </a:solidFill>
              </a:rPr>
              <a:t>Google Maps as a Forensic Evidence Source</a:t>
            </a:r>
          </a:p>
        </p:txBody>
      </p:sp>
      <p:pic>
        <p:nvPicPr>
          <p:cNvPr id="4" name="Picture 4" descr="Graphical user interface, application&#10;&#10;Description automatically generated">
            <a:extLst>
              <a:ext uri="{FF2B5EF4-FFF2-40B4-BE49-F238E27FC236}">
                <a16:creationId xmlns:a16="http://schemas.microsoft.com/office/drawing/2014/main" id="{CA1BD300-E4F7-445C-989C-1A2892DC31CA}"/>
              </a:ext>
            </a:extLst>
          </p:cNvPr>
          <p:cNvPicPr>
            <a:picLocks noChangeAspect="1"/>
          </p:cNvPicPr>
          <p:nvPr/>
        </p:nvPicPr>
        <p:blipFill>
          <a:blip r:embed="rId2"/>
          <a:stretch>
            <a:fillRect/>
          </a:stretch>
        </p:blipFill>
        <p:spPr>
          <a:xfrm>
            <a:off x="438361" y="1502569"/>
            <a:ext cx="2623715" cy="4686299"/>
          </a:xfrm>
          <a:prstGeom prst="rect">
            <a:avLst/>
          </a:prstGeom>
        </p:spPr>
      </p:pic>
      <p:pic>
        <p:nvPicPr>
          <p:cNvPr id="5" name="Picture 5" descr="Graphical user interface, text, application, chat or text message&#10;&#10;Description automatically generated">
            <a:extLst>
              <a:ext uri="{FF2B5EF4-FFF2-40B4-BE49-F238E27FC236}">
                <a16:creationId xmlns:a16="http://schemas.microsoft.com/office/drawing/2014/main" id="{1524DDAE-5295-4281-B6A7-E80055CD2DF1}"/>
              </a:ext>
            </a:extLst>
          </p:cNvPr>
          <p:cNvPicPr>
            <a:picLocks noChangeAspect="1"/>
          </p:cNvPicPr>
          <p:nvPr/>
        </p:nvPicPr>
        <p:blipFill>
          <a:blip r:embed="rId3"/>
          <a:stretch>
            <a:fillRect/>
          </a:stretch>
        </p:blipFill>
        <p:spPr>
          <a:xfrm>
            <a:off x="3224424" y="1502569"/>
            <a:ext cx="2623715" cy="4686299"/>
          </a:xfrm>
          <a:prstGeom prst="rect">
            <a:avLst/>
          </a:prstGeom>
        </p:spPr>
      </p:pic>
      <p:pic>
        <p:nvPicPr>
          <p:cNvPr id="6" name="Picture 6" descr="Graphical user interface, application&#10;&#10;Description automatically generated">
            <a:extLst>
              <a:ext uri="{FF2B5EF4-FFF2-40B4-BE49-F238E27FC236}">
                <a16:creationId xmlns:a16="http://schemas.microsoft.com/office/drawing/2014/main" id="{695606D5-432A-4428-A731-0150A466A8FB}"/>
              </a:ext>
            </a:extLst>
          </p:cNvPr>
          <p:cNvPicPr>
            <a:picLocks noChangeAspect="1"/>
          </p:cNvPicPr>
          <p:nvPr/>
        </p:nvPicPr>
        <p:blipFill>
          <a:blip r:embed="rId4"/>
          <a:stretch>
            <a:fillRect/>
          </a:stretch>
        </p:blipFill>
        <p:spPr>
          <a:xfrm>
            <a:off x="6010487" y="1502569"/>
            <a:ext cx="2623715" cy="4686299"/>
          </a:xfrm>
          <a:prstGeom prst="rect">
            <a:avLst/>
          </a:prstGeom>
        </p:spPr>
      </p:pic>
      <p:pic>
        <p:nvPicPr>
          <p:cNvPr id="7" name="Picture 7" descr="Graphical user interface, application&#10;&#10;Description automatically generated">
            <a:extLst>
              <a:ext uri="{FF2B5EF4-FFF2-40B4-BE49-F238E27FC236}">
                <a16:creationId xmlns:a16="http://schemas.microsoft.com/office/drawing/2014/main" id="{B971D4A7-E0A4-4FFB-99C8-06A6C21B35E9}"/>
              </a:ext>
            </a:extLst>
          </p:cNvPr>
          <p:cNvPicPr>
            <a:picLocks noChangeAspect="1"/>
          </p:cNvPicPr>
          <p:nvPr/>
        </p:nvPicPr>
        <p:blipFill>
          <a:blip r:embed="rId5"/>
          <a:stretch>
            <a:fillRect/>
          </a:stretch>
        </p:blipFill>
        <p:spPr>
          <a:xfrm>
            <a:off x="8891800" y="1502569"/>
            <a:ext cx="2623715" cy="4686299"/>
          </a:xfrm>
          <a:prstGeom prst="rect">
            <a:avLst/>
          </a:prstGeom>
        </p:spPr>
      </p:pic>
      <p:sp>
        <p:nvSpPr>
          <p:cNvPr id="8" name="TextBox 7"/>
          <p:cNvSpPr txBox="1"/>
          <p:nvPr/>
        </p:nvSpPr>
        <p:spPr>
          <a:xfrm>
            <a:off x="868680" y="5532120"/>
            <a:ext cx="10332720" cy="594360"/>
          </a:xfrm>
          <a:prstGeom prst="rect">
            <a:avLst/>
          </a:prstGeom>
          <a:noFill/>
        </p:spPr>
        <p:txBody>
          <a:bodyPr wrap="none">
            <a:spAutoFit/>
          </a:bodyPr>
          <a:lstStyle/>
          <a:p>
            <a:pPr>
              <a:defRPr sz="1700">
                <a:solidFill>
                  <a:srgbClr val="5A5A5A"/>
                </a:solidFill>
              </a:defRPr>
            </a:pPr>
            <a:r>
              <a:t>User actions such as searching, saving places, navigation, synchronization, and offline use may leave local artifacts.</a:t>
            </a:r>
          </a:p>
        </p:txBody>
      </p:sp>
    </p:spTree>
    <p:extLst>
      <p:ext uri="{BB962C8B-B14F-4D97-AF65-F5344CB8AC3E}">
        <p14:creationId xmlns:p14="http://schemas.microsoft.com/office/powerpoint/2010/main" val="2771432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50A8A-C046-407D-967E-525ECB108D80}"/>
              </a:ext>
            </a:extLst>
          </p:cNvPr>
          <p:cNvSpPr>
            <a:spLocks noGrp="1"/>
          </p:cNvSpPr>
          <p:nvPr>
            <p:ph type="title"/>
          </p:nvPr>
        </p:nvSpPr>
        <p:spPr>
          <a:xfrm>
            <a:off x="858520" y="146431"/>
            <a:ext cx="10515600" cy="1325563"/>
          </a:xfrm>
        </p:spPr>
        <p:txBody>
          <a:bodyPr wrap="square"/>
          <a:lstStyle/>
          <a:p>
            <a:r>
              <a:rPr sz="2800" b="1" dirty="0">
                <a:solidFill>
                  <a:srgbClr val="232323"/>
                </a:solidFill>
              </a:rPr>
              <a:t>From User Action to Forensic Artifact</a:t>
            </a:r>
          </a:p>
        </p:txBody>
      </p:sp>
      <p:pic>
        <p:nvPicPr>
          <p:cNvPr id="1026" name="Picture 2" descr="Google Maps Logo and symbol, meaning, history, PNG, brand">
            <a:extLst>
              <a:ext uri="{FF2B5EF4-FFF2-40B4-BE49-F238E27FC236}">
                <a16:creationId xmlns:a16="http://schemas.microsoft.com/office/drawing/2014/main" id="{7C32ACC9-3BA7-8936-73E6-B64B27E1EAC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616" r="13158"/>
          <a:stretch/>
        </p:blipFill>
        <p:spPr bwMode="auto">
          <a:xfrm>
            <a:off x="528598" y="2694838"/>
            <a:ext cx="1177766" cy="928948"/>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6E11D26F-B3B1-AB38-9961-33060833A860}"/>
              </a:ext>
            </a:extLst>
          </p:cNvPr>
          <p:cNvSpPr/>
          <p:nvPr/>
        </p:nvSpPr>
        <p:spPr>
          <a:xfrm>
            <a:off x="2161120" y="2210141"/>
            <a:ext cx="1909823" cy="6597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600"/>
              <a:t>Save / label a place</a:t>
            </a:r>
          </a:p>
        </p:txBody>
      </p:sp>
      <p:sp>
        <p:nvSpPr>
          <p:cNvPr id="6" name="Oval 5">
            <a:extLst>
              <a:ext uri="{FF2B5EF4-FFF2-40B4-BE49-F238E27FC236}">
                <a16:creationId xmlns:a16="http://schemas.microsoft.com/office/drawing/2014/main" id="{BE3DD601-0AAB-9CC7-BD6B-BE7D6AC9A048}"/>
              </a:ext>
            </a:extLst>
          </p:cNvPr>
          <p:cNvSpPr/>
          <p:nvPr/>
        </p:nvSpPr>
        <p:spPr>
          <a:xfrm>
            <a:off x="2161119" y="1398912"/>
            <a:ext cx="1909823" cy="6597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600"/>
              <a:t>Search for a place</a:t>
            </a:r>
          </a:p>
        </p:txBody>
      </p:sp>
      <p:sp>
        <p:nvSpPr>
          <p:cNvPr id="8" name="Oval 7">
            <a:extLst>
              <a:ext uri="{FF2B5EF4-FFF2-40B4-BE49-F238E27FC236}">
                <a16:creationId xmlns:a16="http://schemas.microsoft.com/office/drawing/2014/main" id="{34C3A8B5-4D93-3938-AE53-6573B50F903A}"/>
              </a:ext>
            </a:extLst>
          </p:cNvPr>
          <p:cNvSpPr/>
          <p:nvPr/>
        </p:nvSpPr>
        <p:spPr>
          <a:xfrm>
            <a:off x="2146027" y="3023765"/>
            <a:ext cx="1909823" cy="6597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600"/>
              <a:t>Request a route</a:t>
            </a:r>
          </a:p>
        </p:txBody>
      </p:sp>
      <p:sp>
        <p:nvSpPr>
          <p:cNvPr id="9" name="Cylinder 8">
            <a:extLst>
              <a:ext uri="{FF2B5EF4-FFF2-40B4-BE49-F238E27FC236}">
                <a16:creationId xmlns:a16="http://schemas.microsoft.com/office/drawing/2014/main" id="{2A726E4F-655A-9CF3-63B1-A587BA58E1F8}"/>
              </a:ext>
            </a:extLst>
          </p:cNvPr>
          <p:cNvSpPr/>
          <p:nvPr/>
        </p:nvSpPr>
        <p:spPr>
          <a:xfrm>
            <a:off x="5219353" y="2136420"/>
            <a:ext cx="1165115" cy="193548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600"/>
              <a:t>Local databases / files</a:t>
            </a:r>
          </a:p>
        </p:txBody>
      </p:sp>
      <p:sp>
        <p:nvSpPr>
          <p:cNvPr id="10" name="Oval 9">
            <a:extLst>
              <a:ext uri="{FF2B5EF4-FFF2-40B4-BE49-F238E27FC236}">
                <a16:creationId xmlns:a16="http://schemas.microsoft.com/office/drawing/2014/main" id="{1A9F10B3-C0AE-A0F4-20E9-A2E1654619AC}"/>
              </a:ext>
            </a:extLst>
          </p:cNvPr>
          <p:cNvSpPr/>
          <p:nvPr/>
        </p:nvSpPr>
        <p:spPr>
          <a:xfrm>
            <a:off x="7532374" y="2769243"/>
            <a:ext cx="2082973" cy="6597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600" dirty="0"/>
              <a:t>Recover saved-place coordinates</a:t>
            </a:r>
          </a:p>
        </p:txBody>
      </p:sp>
      <p:sp>
        <p:nvSpPr>
          <p:cNvPr id="11" name="Oval 10">
            <a:extLst>
              <a:ext uri="{FF2B5EF4-FFF2-40B4-BE49-F238E27FC236}">
                <a16:creationId xmlns:a16="http://schemas.microsoft.com/office/drawing/2014/main" id="{A0C81E60-0EE8-5836-7D42-FDC4B5F7282F}"/>
              </a:ext>
            </a:extLst>
          </p:cNvPr>
          <p:cNvSpPr/>
          <p:nvPr/>
        </p:nvSpPr>
        <p:spPr>
          <a:xfrm>
            <a:off x="7532375" y="1866661"/>
            <a:ext cx="2082973" cy="6597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600"/>
              <a:t>Recover search-related location data</a:t>
            </a:r>
          </a:p>
        </p:txBody>
      </p:sp>
      <p:sp>
        <p:nvSpPr>
          <p:cNvPr id="12" name="Oval 11">
            <a:extLst>
              <a:ext uri="{FF2B5EF4-FFF2-40B4-BE49-F238E27FC236}">
                <a16:creationId xmlns:a16="http://schemas.microsoft.com/office/drawing/2014/main" id="{579327EF-1409-37BA-E005-6F110D830926}"/>
              </a:ext>
            </a:extLst>
          </p:cNvPr>
          <p:cNvSpPr/>
          <p:nvPr/>
        </p:nvSpPr>
        <p:spPr>
          <a:xfrm>
            <a:off x="7532373" y="3802141"/>
            <a:ext cx="2082973" cy="6597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600"/>
              <a:t>Recover route / navigation artifacts</a:t>
            </a:r>
          </a:p>
        </p:txBody>
      </p:sp>
      <p:cxnSp>
        <p:nvCxnSpPr>
          <p:cNvPr id="14" name="Straight Arrow Connector 13">
            <a:extLst>
              <a:ext uri="{FF2B5EF4-FFF2-40B4-BE49-F238E27FC236}">
                <a16:creationId xmlns:a16="http://schemas.microsoft.com/office/drawing/2014/main" id="{9E1C12E8-78DA-DF22-C333-572388B92594}"/>
              </a:ext>
            </a:extLst>
          </p:cNvPr>
          <p:cNvCxnSpPr>
            <a:cxnSpLocks/>
          </p:cNvCxnSpPr>
          <p:nvPr/>
        </p:nvCxnSpPr>
        <p:spPr>
          <a:xfrm flipV="1">
            <a:off x="1385748" y="1866661"/>
            <a:ext cx="760279" cy="1055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733F2B2-C078-3A13-9DAB-A0364B25473B}"/>
              </a:ext>
            </a:extLst>
          </p:cNvPr>
          <p:cNvCxnSpPr>
            <a:cxnSpLocks/>
            <a:endCxn id="5" idx="2"/>
          </p:cNvCxnSpPr>
          <p:nvPr/>
        </p:nvCxnSpPr>
        <p:spPr>
          <a:xfrm flipV="1">
            <a:off x="1385748" y="2540020"/>
            <a:ext cx="775372" cy="3822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409FDF5-0C3E-1D2B-05F9-2311C1C582F4}"/>
              </a:ext>
            </a:extLst>
          </p:cNvPr>
          <p:cNvCxnSpPr>
            <a:cxnSpLocks/>
            <a:endCxn id="8" idx="2"/>
          </p:cNvCxnSpPr>
          <p:nvPr/>
        </p:nvCxnSpPr>
        <p:spPr>
          <a:xfrm>
            <a:off x="1385748" y="3023765"/>
            <a:ext cx="760279" cy="329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312D723-8541-1602-50EF-FDD22CC2030C}"/>
              </a:ext>
            </a:extLst>
          </p:cNvPr>
          <p:cNvCxnSpPr>
            <a:cxnSpLocks/>
            <a:stCxn id="6" idx="6"/>
          </p:cNvCxnSpPr>
          <p:nvPr/>
        </p:nvCxnSpPr>
        <p:spPr>
          <a:xfrm>
            <a:off x="4070942" y="1728791"/>
            <a:ext cx="1171608" cy="816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24D5681-5D97-8097-6586-807AD43CA2D7}"/>
              </a:ext>
            </a:extLst>
          </p:cNvPr>
          <p:cNvCxnSpPr>
            <a:cxnSpLocks/>
            <a:stCxn id="5" idx="6"/>
          </p:cNvCxnSpPr>
          <p:nvPr/>
        </p:nvCxnSpPr>
        <p:spPr>
          <a:xfrm>
            <a:off x="4070943" y="2540020"/>
            <a:ext cx="1171607" cy="5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AD520D4-35BD-770C-F592-5FBF099C0E18}"/>
              </a:ext>
            </a:extLst>
          </p:cNvPr>
          <p:cNvCxnSpPr>
            <a:cxnSpLocks/>
            <a:stCxn id="8" idx="6"/>
          </p:cNvCxnSpPr>
          <p:nvPr/>
        </p:nvCxnSpPr>
        <p:spPr>
          <a:xfrm flipV="1">
            <a:off x="4055850" y="2500085"/>
            <a:ext cx="1186700" cy="853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E573FBA-0D1B-37A8-A6BC-1DF180AEED86}"/>
              </a:ext>
            </a:extLst>
          </p:cNvPr>
          <p:cNvCxnSpPr>
            <a:cxnSpLocks/>
            <a:stCxn id="9" idx="4"/>
            <a:endCxn id="11" idx="2"/>
          </p:cNvCxnSpPr>
          <p:nvPr/>
        </p:nvCxnSpPr>
        <p:spPr>
          <a:xfrm flipV="1">
            <a:off x="6384468" y="2196540"/>
            <a:ext cx="1147907" cy="907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DA073F8-12B1-5DCF-FE5E-F71F501C9676}"/>
              </a:ext>
            </a:extLst>
          </p:cNvPr>
          <p:cNvCxnSpPr>
            <a:cxnSpLocks/>
            <a:stCxn id="9" idx="4"/>
            <a:endCxn id="10" idx="2"/>
          </p:cNvCxnSpPr>
          <p:nvPr/>
        </p:nvCxnSpPr>
        <p:spPr>
          <a:xfrm flipV="1">
            <a:off x="6384468" y="3099122"/>
            <a:ext cx="1147906" cy="5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84C8DBF-BE17-18F9-49D4-4FB0551EED8D}"/>
              </a:ext>
            </a:extLst>
          </p:cNvPr>
          <p:cNvCxnSpPr>
            <a:cxnSpLocks/>
            <a:stCxn id="9" idx="4"/>
            <a:endCxn id="12" idx="2"/>
          </p:cNvCxnSpPr>
          <p:nvPr/>
        </p:nvCxnSpPr>
        <p:spPr>
          <a:xfrm>
            <a:off x="6384468" y="3104160"/>
            <a:ext cx="1147905" cy="1027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32" name="Picture 8" descr="Database, document, file, sqlite icon - Download on Iconfinder">
            <a:extLst>
              <a:ext uri="{FF2B5EF4-FFF2-40B4-BE49-F238E27FC236}">
                <a16:creationId xmlns:a16="http://schemas.microsoft.com/office/drawing/2014/main" id="{18E11896-D7C0-3EEC-7426-03403718422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22086" y="2415366"/>
            <a:ext cx="869631" cy="86963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8" descr="Database, document, file, sqlite icon - Download on Iconfinder">
            <a:extLst>
              <a:ext uri="{FF2B5EF4-FFF2-40B4-BE49-F238E27FC236}">
                <a16:creationId xmlns:a16="http://schemas.microsoft.com/office/drawing/2014/main" id="{8FB4FB44-DF00-77A5-27A2-C4F8FFE519A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88053" y="2729464"/>
            <a:ext cx="869631" cy="869631"/>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40">
            <a:extLst>
              <a:ext uri="{FF2B5EF4-FFF2-40B4-BE49-F238E27FC236}">
                <a16:creationId xmlns:a16="http://schemas.microsoft.com/office/drawing/2014/main" id="{D4C088F7-C827-D2A6-9527-43BA97431F45}"/>
              </a:ext>
            </a:extLst>
          </p:cNvPr>
          <p:cNvSpPr/>
          <p:nvPr/>
        </p:nvSpPr>
        <p:spPr>
          <a:xfrm>
            <a:off x="1949965" y="1310083"/>
            <a:ext cx="2349486" cy="48779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3" name="TextBox 42">
            <a:extLst>
              <a:ext uri="{FF2B5EF4-FFF2-40B4-BE49-F238E27FC236}">
                <a16:creationId xmlns:a16="http://schemas.microsoft.com/office/drawing/2014/main" id="{E76FEEEF-67B1-8F2E-1C82-66386088516C}"/>
              </a:ext>
            </a:extLst>
          </p:cNvPr>
          <p:cNvSpPr txBox="1"/>
          <p:nvPr/>
        </p:nvSpPr>
        <p:spPr>
          <a:xfrm>
            <a:off x="1804663" y="6277258"/>
            <a:ext cx="2952238" cy="338554"/>
          </a:xfrm>
          <a:prstGeom prst="rect">
            <a:avLst/>
          </a:prstGeom>
          <a:noFill/>
        </p:spPr>
        <p:txBody>
          <a:bodyPr wrap="square">
            <a:spAutoFit/>
          </a:bodyPr>
          <a:lstStyle/>
          <a:p>
            <a:pPr algn="ctr"/>
            <a:r>
              <a:rPr sz="1600" dirty="0"/>
              <a:t>Examples of user actions</a:t>
            </a:r>
          </a:p>
        </p:txBody>
      </p:sp>
      <p:sp>
        <p:nvSpPr>
          <p:cNvPr id="44" name="TextBox 43">
            <a:extLst>
              <a:ext uri="{FF2B5EF4-FFF2-40B4-BE49-F238E27FC236}">
                <a16:creationId xmlns:a16="http://schemas.microsoft.com/office/drawing/2014/main" id="{12615680-C3E5-5DE3-3A0D-8DBF476BCB85}"/>
              </a:ext>
            </a:extLst>
          </p:cNvPr>
          <p:cNvSpPr txBox="1"/>
          <p:nvPr/>
        </p:nvSpPr>
        <p:spPr>
          <a:xfrm>
            <a:off x="7480756" y="5755650"/>
            <a:ext cx="2349486" cy="584775"/>
          </a:xfrm>
          <a:prstGeom prst="rect">
            <a:avLst/>
          </a:prstGeom>
          <a:noFill/>
        </p:spPr>
        <p:txBody>
          <a:bodyPr wrap="square">
            <a:spAutoFit/>
          </a:bodyPr>
          <a:lstStyle/>
          <a:p>
            <a:pPr algn="ctr"/>
            <a:r>
              <a:rPr sz="1600" dirty="0"/>
              <a:t>Potential forensic questions</a:t>
            </a:r>
          </a:p>
        </p:txBody>
      </p:sp>
      <p:sp>
        <p:nvSpPr>
          <p:cNvPr id="45" name="Rectangle 44">
            <a:extLst>
              <a:ext uri="{FF2B5EF4-FFF2-40B4-BE49-F238E27FC236}">
                <a16:creationId xmlns:a16="http://schemas.microsoft.com/office/drawing/2014/main" id="{96700392-FED0-445A-33C4-8E3AB623F355}"/>
              </a:ext>
            </a:extLst>
          </p:cNvPr>
          <p:cNvSpPr/>
          <p:nvPr/>
        </p:nvSpPr>
        <p:spPr>
          <a:xfrm>
            <a:off x="7357684" y="1471994"/>
            <a:ext cx="2349486" cy="40928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 name="Oval 2">
            <a:extLst>
              <a:ext uri="{FF2B5EF4-FFF2-40B4-BE49-F238E27FC236}">
                <a16:creationId xmlns:a16="http://schemas.microsoft.com/office/drawing/2014/main" id="{25126BD8-ACD2-0282-9C99-1294507082E1}"/>
              </a:ext>
            </a:extLst>
          </p:cNvPr>
          <p:cNvSpPr/>
          <p:nvPr/>
        </p:nvSpPr>
        <p:spPr>
          <a:xfrm>
            <a:off x="2161119" y="3764258"/>
            <a:ext cx="1909823" cy="6597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600"/>
              <a:t>Download offline content</a:t>
            </a:r>
          </a:p>
        </p:txBody>
      </p:sp>
      <p:sp>
        <p:nvSpPr>
          <p:cNvPr id="13" name="Oval 12">
            <a:extLst>
              <a:ext uri="{FF2B5EF4-FFF2-40B4-BE49-F238E27FC236}">
                <a16:creationId xmlns:a16="http://schemas.microsoft.com/office/drawing/2014/main" id="{29C9A541-AC65-0D13-F0C6-789ABD18575E}"/>
              </a:ext>
            </a:extLst>
          </p:cNvPr>
          <p:cNvSpPr/>
          <p:nvPr/>
        </p:nvSpPr>
        <p:spPr>
          <a:xfrm>
            <a:off x="2146027" y="4532392"/>
            <a:ext cx="1909823" cy="6597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Navigation</a:t>
            </a:r>
          </a:p>
        </p:txBody>
      </p:sp>
      <p:sp>
        <p:nvSpPr>
          <p:cNvPr id="15" name="Oval 14">
            <a:extLst>
              <a:ext uri="{FF2B5EF4-FFF2-40B4-BE49-F238E27FC236}">
                <a16:creationId xmlns:a16="http://schemas.microsoft.com/office/drawing/2014/main" id="{8172FDD8-19E4-3180-927D-ED84E84355B0}"/>
              </a:ext>
            </a:extLst>
          </p:cNvPr>
          <p:cNvSpPr/>
          <p:nvPr/>
        </p:nvSpPr>
        <p:spPr>
          <a:xfrm>
            <a:off x="2137923" y="5350657"/>
            <a:ext cx="1909823" cy="6597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600" dirty="0"/>
              <a:t>Contribute / provide feedback</a:t>
            </a:r>
          </a:p>
        </p:txBody>
      </p:sp>
      <p:sp>
        <p:nvSpPr>
          <p:cNvPr id="21" name="Oval 20">
            <a:extLst>
              <a:ext uri="{FF2B5EF4-FFF2-40B4-BE49-F238E27FC236}">
                <a16:creationId xmlns:a16="http://schemas.microsoft.com/office/drawing/2014/main" id="{877903D4-6C4C-6A1E-6B39-E3E17B475C88}"/>
              </a:ext>
            </a:extLst>
          </p:cNvPr>
          <p:cNvSpPr/>
          <p:nvPr/>
        </p:nvSpPr>
        <p:spPr>
          <a:xfrm>
            <a:off x="7614013" y="4736798"/>
            <a:ext cx="2082973" cy="6597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t>
            </a:r>
          </a:p>
        </p:txBody>
      </p:sp>
      <p:cxnSp>
        <p:nvCxnSpPr>
          <p:cNvPr id="23" name="Straight Arrow Connector 22">
            <a:extLst>
              <a:ext uri="{FF2B5EF4-FFF2-40B4-BE49-F238E27FC236}">
                <a16:creationId xmlns:a16="http://schemas.microsoft.com/office/drawing/2014/main" id="{2505CF18-E1ED-46DC-B4B2-252159C7AE7F}"/>
              </a:ext>
            </a:extLst>
          </p:cNvPr>
          <p:cNvCxnSpPr>
            <a:cxnSpLocks/>
            <a:endCxn id="3" idx="2"/>
          </p:cNvCxnSpPr>
          <p:nvPr/>
        </p:nvCxnSpPr>
        <p:spPr>
          <a:xfrm>
            <a:off x="1288819" y="3000286"/>
            <a:ext cx="872300" cy="1093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26015DA-5B3B-4414-04E1-49B819A29988}"/>
              </a:ext>
            </a:extLst>
          </p:cNvPr>
          <p:cNvCxnSpPr>
            <a:cxnSpLocks/>
            <a:endCxn id="13" idx="2"/>
          </p:cNvCxnSpPr>
          <p:nvPr/>
        </p:nvCxnSpPr>
        <p:spPr>
          <a:xfrm>
            <a:off x="1333460" y="3000286"/>
            <a:ext cx="812567" cy="1861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4A1FF32-AF91-C72C-F578-571E2D1D686C}"/>
              </a:ext>
            </a:extLst>
          </p:cNvPr>
          <p:cNvCxnSpPr>
            <a:cxnSpLocks/>
            <a:endCxn id="15" idx="2"/>
          </p:cNvCxnSpPr>
          <p:nvPr/>
        </p:nvCxnSpPr>
        <p:spPr>
          <a:xfrm>
            <a:off x="1358112" y="3023765"/>
            <a:ext cx="779811" cy="2656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84A89A6-BCBD-6E54-1247-3F3A4FCAAFF3}"/>
              </a:ext>
            </a:extLst>
          </p:cNvPr>
          <p:cNvCxnSpPr>
            <a:cxnSpLocks/>
            <a:stCxn id="3" idx="6"/>
            <a:endCxn id="9" idx="2"/>
          </p:cNvCxnSpPr>
          <p:nvPr/>
        </p:nvCxnSpPr>
        <p:spPr>
          <a:xfrm flipV="1">
            <a:off x="4070942" y="3104160"/>
            <a:ext cx="1148411" cy="9899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4F8232B-8AD9-AEE1-D079-7A46C40EA464}"/>
              </a:ext>
            </a:extLst>
          </p:cNvPr>
          <p:cNvCxnSpPr>
            <a:cxnSpLocks/>
            <a:stCxn id="13" idx="6"/>
            <a:endCxn id="9" idx="2"/>
          </p:cNvCxnSpPr>
          <p:nvPr/>
        </p:nvCxnSpPr>
        <p:spPr>
          <a:xfrm flipV="1">
            <a:off x="4055850" y="3104160"/>
            <a:ext cx="1163503" cy="1758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DEBD8BE-66BC-809C-E9F3-EAD70EFBA743}"/>
              </a:ext>
            </a:extLst>
          </p:cNvPr>
          <p:cNvCxnSpPr>
            <a:cxnSpLocks/>
            <a:stCxn id="15" idx="6"/>
            <a:endCxn id="9" idx="2"/>
          </p:cNvCxnSpPr>
          <p:nvPr/>
        </p:nvCxnSpPr>
        <p:spPr>
          <a:xfrm flipV="1">
            <a:off x="4047746" y="3104160"/>
            <a:ext cx="1171607" cy="2576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7998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81E24-FC06-4BCD-A131-68876456EF9A}"/>
              </a:ext>
            </a:extLst>
          </p:cNvPr>
          <p:cNvSpPr>
            <a:spLocks noGrp="1"/>
          </p:cNvSpPr>
          <p:nvPr>
            <p:ph type="title"/>
          </p:nvPr>
        </p:nvSpPr>
        <p:spPr/>
        <p:txBody>
          <a:bodyPr wrap="square"/>
          <a:lstStyle/>
          <a:p>
            <a:r>
              <a:rPr sz="2800" b="1" dirty="0">
                <a:solidFill>
                  <a:srgbClr val="232323"/>
                </a:solidFill>
                <a:latin typeface="Arial" panose="020B0604020202020204" pitchFamily="34" charset="0"/>
                <a:cs typeface="Arial" panose="020B0604020202020204" pitchFamily="34" charset="0"/>
              </a:rPr>
              <a:t>Questions Google Maps Artifacts Can Help Address</a:t>
            </a:r>
          </a:p>
        </p:txBody>
      </p:sp>
      <p:sp>
        <p:nvSpPr>
          <p:cNvPr id="3" name="Content Placeholder 2">
            <a:extLst>
              <a:ext uri="{FF2B5EF4-FFF2-40B4-BE49-F238E27FC236}">
                <a16:creationId xmlns:a16="http://schemas.microsoft.com/office/drawing/2014/main" id="{FB7042B9-8BBA-45BE-8F1B-EBAAA9442BC7}"/>
              </a:ext>
            </a:extLst>
          </p:cNvPr>
          <p:cNvSpPr>
            <a:spLocks noGrp="1"/>
          </p:cNvSpPr>
          <p:nvPr>
            <p:ph idx="1"/>
          </p:nvPr>
        </p:nvSpPr>
        <p:spPr/>
        <p:txBody>
          <a:bodyPr vert="horz" wrap="square" lIns="91440" tIns="45720" rIns="91440" bIns="45720" rtlCol="0" anchor="t">
            <a:normAutofit/>
          </a:bodyPr>
          <a:lstStyle/>
          <a:p>
            <a:pPr>
              <a:spcAft>
                <a:spcPts val="700"/>
              </a:spcAft>
              <a:defRPr sz="1800">
                <a:solidFill>
                  <a:srgbClr val="232323"/>
                </a:solidFill>
              </a:defRPr>
            </a:pPr>
            <a:r>
              <a:rPr sz="1800" dirty="0">
                <a:latin typeface="Arial" panose="020B0604020202020204" pitchFamily="34" charset="0"/>
                <a:cs typeface="Arial" panose="020B0604020202020204" pitchFamily="34" charset="0"/>
              </a:rPr>
              <a:t>Which locations are represented in saved-place, search, or navigation artifacts?</a:t>
            </a:r>
            <a:endParaRPr lang="en-US" sz="1800" dirty="0">
              <a:latin typeface="Arial" panose="020B0604020202020204" pitchFamily="34" charset="0"/>
              <a:cs typeface="Arial" panose="020B0604020202020204" pitchFamily="34" charset="0"/>
            </a:endParaRPr>
          </a:p>
          <a:p>
            <a:pPr>
              <a:spcAft>
                <a:spcPts val="700"/>
              </a:spcAft>
              <a:defRPr sz="1800">
                <a:solidFill>
                  <a:srgbClr val="232323"/>
                </a:solidFill>
              </a:defRPr>
            </a:pPr>
            <a:r>
              <a:rPr sz="1800" dirty="0">
                <a:latin typeface="Arial" panose="020B0604020202020204" pitchFamily="34" charset="0"/>
                <a:cs typeface="Arial" panose="020B0604020202020204" pitchFamily="34" charset="0"/>
              </a:rPr>
              <a:t>Were offline map or offline-direction artifacts stored on the device?</a:t>
            </a:r>
          </a:p>
          <a:p>
            <a:pPr>
              <a:spcAft>
                <a:spcPts val="700"/>
              </a:spcAft>
              <a:defRPr sz="1800">
                <a:solidFill>
                  <a:srgbClr val="232323"/>
                </a:solidFill>
              </a:defRPr>
            </a:pPr>
            <a:r>
              <a:rPr sz="1800" dirty="0">
                <a:latin typeface="Arial" panose="020B0604020202020204" pitchFamily="34" charset="0"/>
                <a:cs typeface="Arial" panose="020B0604020202020204" pitchFamily="34" charset="0"/>
              </a:rPr>
              <a:t>What origin and destination were associated with a route or navigation session?</a:t>
            </a:r>
          </a:p>
          <a:p>
            <a:pPr>
              <a:spcAft>
                <a:spcPts val="700"/>
              </a:spcAft>
              <a:defRPr sz="1800">
                <a:solidFill>
                  <a:srgbClr val="232323"/>
                </a:solidFill>
              </a:defRPr>
            </a:pPr>
            <a:r>
              <a:rPr sz="1800" dirty="0">
                <a:latin typeface="Arial" panose="020B0604020202020204" pitchFamily="34" charset="0"/>
                <a:cs typeface="Arial" panose="020B0604020202020204" pitchFamily="34" charset="0"/>
              </a:rPr>
              <a:t>What route, distance, duration, or travel mode was recorded?</a:t>
            </a:r>
          </a:p>
          <a:p>
            <a:pPr>
              <a:spcAft>
                <a:spcPts val="700"/>
              </a:spcAft>
              <a:defRPr sz="1800">
                <a:solidFill>
                  <a:srgbClr val="232323"/>
                </a:solidFill>
              </a:defRPr>
            </a:pPr>
            <a:r>
              <a:rPr sz="1800" dirty="0">
                <a:latin typeface="Arial" panose="020B0604020202020204" pitchFamily="34" charset="0"/>
                <a:cs typeface="Arial" panose="020B0604020202020204" pitchFamily="34" charset="0"/>
              </a:rPr>
              <a:t>What timestamps can be correlated with other device evidence?</a:t>
            </a:r>
          </a:p>
          <a:p>
            <a:pPr>
              <a:spcAft>
                <a:spcPts val="700"/>
              </a:spcAft>
              <a:defRPr sz="1800">
                <a:solidFill>
                  <a:srgbClr val="232323"/>
                </a:solidFill>
              </a:defRPr>
            </a:pPr>
            <a:r>
              <a:rPr sz="1800" dirty="0">
                <a:latin typeface="Arial" panose="020B0604020202020204" pitchFamily="34" charset="0"/>
                <a:cs typeface="Arial" panose="020B0604020202020204" pitchFamily="34" charset="0"/>
              </a:rPr>
              <a:t>Do the artifacts support a completed navigation session, a planned route, or only a search?</a:t>
            </a:r>
          </a:p>
          <a:p>
            <a:pPr>
              <a:spcAft>
                <a:spcPts val="700"/>
              </a:spcAft>
              <a:defRPr sz="1800">
                <a:solidFill>
                  <a:srgbClr val="232323"/>
                </a:solidFill>
              </a:defRPr>
            </a:pPr>
            <a:r>
              <a:rPr sz="1800" dirty="0">
                <a:latin typeface="Arial" panose="020B0604020202020204" pitchFamily="34" charset="0"/>
                <a:cs typeface="Arial" panose="020B0604020202020204" pitchFamily="34" charset="0"/>
              </a:rPr>
              <a:t>Can the location evidence be corroborated with other sources before inferring physical presence?</a:t>
            </a:r>
          </a:p>
        </p:txBody>
      </p:sp>
    </p:spTree>
    <p:extLst>
      <p:ext uri="{BB962C8B-B14F-4D97-AF65-F5344CB8AC3E}">
        <p14:creationId xmlns:p14="http://schemas.microsoft.com/office/powerpoint/2010/main" val="2397543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none">
            <a:spAutoFit/>
          </a:bodyPr>
          <a:lstStyle/>
          <a:p>
            <a:r>
              <a:rPr sz="3000" b="1" dirty="0">
                <a:solidFill>
                  <a:srgbClr val="2D2D2D"/>
                </a:solidFill>
              </a:rPr>
              <a:t>Interpretation Ladder for Google Maps Evidence</a:t>
            </a:r>
          </a:p>
        </p:txBody>
      </p:sp>
      <p:sp>
        <p:nvSpPr>
          <p:cNvPr id="3" name="TextBox 2"/>
          <p:cNvSpPr txBox="1"/>
          <p:nvPr/>
        </p:nvSpPr>
        <p:spPr>
          <a:xfrm>
            <a:off x="621792" y="969264"/>
            <a:ext cx="10789920" cy="320040"/>
          </a:xfrm>
          <a:prstGeom prst="rect">
            <a:avLst/>
          </a:prstGeom>
          <a:noFill/>
        </p:spPr>
        <p:txBody>
          <a:bodyPr wrap="none">
            <a:spAutoFit/>
          </a:bodyPr>
          <a:lstStyle/>
          <a:p>
            <a:r>
              <a:rPr sz="1300">
                <a:solidFill>
                  <a:srgbClr val="5F5F5F"/>
                </a:solidFill>
              </a:rPr>
              <a:t>Use the same structure when explaining every screenshot and database record</a:t>
            </a:r>
          </a:p>
        </p:txBody>
      </p:sp>
      <p:sp>
        <p:nvSpPr>
          <p:cNvPr id="4" name="Rounded Rectangle 3"/>
          <p:cNvSpPr/>
          <p:nvPr/>
        </p:nvSpPr>
        <p:spPr>
          <a:xfrm>
            <a:off x="594360" y="1508760"/>
            <a:ext cx="2057400" cy="3108960"/>
          </a:xfrm>
          <a:prstGeom prst="roundRect">
            <a:avLst/>
          </a:prstGeom>
          <a:solidFill>
            <a:srgbClr val="FCFCFC"/>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508760"/>
            <a:ext cx="73152" cy="3108960"/>
          </a:xfrm>
          <a:prstGeom prst="rect">
            <a:avLst/>
          </a:prstGeom>
          <a:solidFill>
            <a:srgbClr val="F47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 y="1618488"/>
            <a:ext cx="1783080" cy="307777"/>
          </a:xfrm>
          <a:prstGeom prst="rect">
            <a:avLst/>
          </a:prstGeom>
          <a:noFill/>
        </p:spPr>
        <p:txBody>
          <a:bodyPr wrap="square">
            <a:spAutoFit/>
          </a:bodyPr>
          <a:lstStyle/>
          <a:p>
            <a:r>
              <a:rPr sz="1400" b="1">
                <a:solidFill>
                  <a:srgbClr val="2D2D2D"/>
                </a:solidFill>
              </a:rPr>
              <a:t>1. Observe</a:t>
            </a:r>
          </a:p>
        </p:txBody>
      </p:sp>
      <p:sp>
        <p:nvSpPr>
          <p:cNvPr id="7" name="TextBox 6"/>
          <p:cNvSpPr txBox="1"/>
          <p:nvPr/>
        </p:nvSpPr>
        <p:spPr>
          <a:xfrm>
            <a:off x="758952" y="1938528"/>
            <a:ext cx="1737360" cy="477054"/>
          </a:xfrm>
          <a:prstGeom prst="rect">
            <a:avLst/>
          </a:prstGeom>
          <a:noFill/>
        </p:spPr>
        <p:txBody>
          <a:bodyPr wrap="square">
            <a:spAutoFit/>
          </a:bodyPr>
          <a:lstStyle/>
          <a:p>
            <a:pPr>
              <a:spcAft>
                <a:spcPts val="300"/>
              </a:spcAft>
              <a:defRPr sz="1250">
                <a:solidFill>
                  <a:srgbClr val="2D2D2D"/>
                </a:solidFill>
              </a:defRPr>
            </a:pPr>
            <a:r>
              <a:t>What table, file, key, row, or field is present?</a:t>
            </a:r>
          </a:p>
        </p:txBody>
      </p:sp>
      <p:sp>
        <p:nvSpPr>
          <p:cNvPr id="8" name="Rounded Rectangle 7"/>
          <p:cNvSpPr/>
          <p:nvPr/>
        </p:nvSpPr>
        <p:spPr>
          <a:xfrm>
            <a:off x="2898648" y="1508760"/>
            <a:ext cx="2057400" cy="3108960"/>
          </a:xfrm>
          <a:prstGeom prst="roundRect">
            <a:avLst/>
          </a:prstGeom>
          <a:solidFill>
            <a:srgbClr val="FCFCFC"/>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898648" y="1508760"/>
            <a:ext cx="73152" cy="3108960"/>
          </a:xfrm>
          <a:prstGeom prst="rect">
            <a:avLst/>
          </a:prstGeom>
          <a:solidFill>
            <a:srgbClr val="F47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63240" y="1618488"/>
            <a:ext cx="1783080" cy="307777"/>
          </a:xfrm>
          <a:prstGeom prst="rect">
            <a:avLst/>
          </a:prstGeom>
          <a:noFill/>
        </p:spPr>
        <p:txBody>
          <a:bodyPr wrap="square">
            <a:spAutoFit/>
          </a:bodyPr>
          <a:lstStyle/>
          <a:p>
            <a:r>
              <a:rPr sz="1400" b="1">
                <a:solidFill>
                  <a:srgbClr val="2D2D2D"/>
                </a:solidFill>
              </a:rPr>
              <a:t>2. Decode</a:t>
            </a:r>
          </a:p>
        </p:txBody>
      </p:sp>
      <p:sp>
        <p:nvSpPr>
          <p:cNvPr id="11" name="TextBox 10"/>
          <p:cNvSpPr txBox="1"/>
          <p:nvPr/>
        </p:nvSpPr>
        <p:spPr>
          <a:xfrm>
            <a:off x="3063240" y="1938528"/>
            <a:ext cx="1737360" cy="1054135"/>
          </a:xfrm>
          <a:prstGeom prst="rect">
            <a:avLst/>
          </a:prstGeom>
          <a:noFill/>
        </p:spPr>
        <p:txBody>
          <a:bodyPr wrap="square">
            <a:spAutoFit/>
          </a:bodyPr>
          <a:lstStyle/>
          <a:p>
            <a:pPr>
              <a:spcAft>
                <a:spcPts val="300"/>
              </a:spcAft>
              <a:defRPr sz="1250">
                <a:solidFill>
                  <a:srgbClr val="2D2D2D"/>
                </a:solidFill>
              </a:defRPr>
            </a:pPr>
            <a:r>
              <a:t>Can raw values be converted: E6 coordinates, timestamps, serialized BLOBs?</a:t>
            </a:r>
          </a:p>
        </p:txBody>
      </p:sp>
      <p:sp>
        <p:nvSpPr>
          <p:cNvPr id="12" name="Rounded Rectangle 11"/>
          <p:cNvSpPr/>
          <p:nvPr/>
        </p:nvSpPr>
        <p:spPr>
          <a:xfrm>
            <a:off x="5202936" y="1508760"/>
            <a:ext cx="2057400" cy="3108960"/>
          </a:xfrm>
          <a:prstGeom prst="roundRect">
            <a:avLst/>
          </a:prstGeom>
          <a:solidFill>
            <a:srgbClr val="FCFCFC"/>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02936" y="1508760"/>
            <a:ext cx="73152" cy="3108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67528" y="1618488"/>
            <a:ext cx="1783080" cy="307777"/>
          </a:xfrm>
          <a:prstGeom prst="rect">
            <a:avLst/>
          </a:prstGeom>
          <a:noFill/>
        </p:spPr>
        <p:txBody>
          <a:bodyPr wrap="square">
            <a:spAutoFit/>
          </a:bodyPr>
          <a:lstStyle/>
          <a:p>
            <a:r>
              <a:rPr sz="1400" b="1">
                <a:solidFill>
                  <a:srgbClr val="2D2D2D"/>
                </a:solidFill>
              </a:rPr>
              <a:t>3. Contextualize</a:t>
            </a:r>
          </a:p>
        </p:txBody>
      </p:sp>
      <p:sp>
        <p:nvSpPr>
          <p:cNvPr id="15" name="TextBox 14"/>
          <p:cNvSpPr txBox="1"/>
          <p:nvPr/>
        </p:nvSpPr>
        <p:spPr>
          <a:xfrm>
            <a:off x="5367528" y="1938528"/>
            <a:ext cx="1737360" cy="1054135"/>
          </a:xfrm>
          <a:prstGeom prst="rect">
            <a:avLst/>
          </a:prstGeom>
          <a:noFill/>
        </p:spPr>
        <p:txBody>
          <a:bodyPr wrap="square">
            <a:spAutoFit/>
          </a:bodyPr>
          <a:lstStyle/>
          <a:p>
            <a:pPr>
              <a:spcAft>
                <a:spcPts val="300"/>
              </a:spcAft>
              <a:defRPr sz="1250">
                <a:solidFill>
                  <a:srgbClr val="2D2D2D"/>
                </a:solidFill>
              </a:defRPr>
            </a:pPr>
            <a:r>
              <a:t>Which app feature likely produced the artifact: saved place, route, offline map, notification, sync?</a:t>
            </a:r>
          </a:p>
        </p:txBody>
      </p:sp>
      <p:sp>
        <p:nvSpPr>
          <p:cNvPr id="16" name="Rounded Rectangle 15"/>
          <p:cNvSpPr/>
          <p:nvPr/>
        </p:nvSpPr>
        <p:spPr>
          <a:xfrm>
            <a:off x="7507224" y="1508760"/>
            <a:ext cx="2057400" cy="3108960"/>
          </a:xfrm>
          <a:prstGeom prst="roundRect">
            <a:avLst/>
          </a:prstGeom>
          <a:solidFill>
            <a:srgbClr val="FCFCFC"/>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507224" y="1508760"/>
            <a:ext cx="73152" cy="3108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71816" y="1618488"/>
            <a:ext cx="1783080" cy="307777"/>
          </a:xfrm>
          <a:prstGeom prst="rect">
            <a:avLst/>
          </a:prstGeom>
          <a:noFill/>
        </p:spPr>
        <p:txBody>
          <a:bodyPr wrap="square">
            <a:spAutoFit/>
          </a:bodyPr>
          <a:lstStyle/>
          <a:p>
            <a:r>
              <a:rPr sz="1400" b="1">
                <a:solidFill>
                  <a:srgbClr val="2D2D2D"/>
                </a:solidFill>
              </a:rPr>
              <a:t>4. Corroborate</a:t>
            </a:r>
          </a:p>
        </p:txBody>
      </p:sp>
      <p:sp>
        <p:nvSpPr>
          <p:cNvPr id="19" name="TextBox 18"/>
          <p:cNvSpPr txBox="1"/>
          <p:nvPr/>
        </p:nvSpPr>
        <p:spPr>
          <a:xfrm>
            <a:off x="7671816" y="1938528"/>
            <a:ext cx="1737360" cy="1054135"/>
          </a:xfrm>
          <a:prstGeom prst="rect">
            <a:avLst/>
          </a:prstGeom>
          <a:noFill/>
        </p:spPr>
        <p:txBody>
          <a:bodyPr wrap="square">
            <a:spAutoFit/>
          </a:bodyPr>
          <a:lstStyle/>
          <a:p>
            <a:pPr>
              <a:spcAft>
                <a:spcPts val="300"/>
              </a:spcAft>
              <a:defRPr sz="1250">
                <a:solidFill>
                  <a:srgbClr val="2D2D2D"/>
                </a:solidFill>
              </a:defRPr>
            </a:pPr>
            <a:r>
              <a:t>Can another table, file, timestamp, account artifact, or device log support the same event?</a:t>
            </a:r>
          </a:p>
        </p:txBody>
      </p:sp>
      <p:sp>
        <p:nvSpPr>
          <p:cNvPr id="20" name="Rounded Rectangle 19"/>
          <p:cNvSpPr/>
          <p:nvPr/>
        </p:nvSpPr>
        <p:spPr>
          <a:xfrm>
            <a:off x="9811512" y="1508760"/>
            <a:ext cx="2057400" cy="3108960"/>
          </a:xfrm>
          <a:prstGeom prst="roundRect">
            <a:avLst/>
          </a:prstGeom>
          <a:solidFill>
            <a:srgbClr val="FCFCFC"/>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811512" y="1508760"/>
            <a:ext cx="73152" cy="3108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976104" y="1618488"/>
            <a:ext cx="1783080" cy="307777"/>
          </a:xfrm>
          <a:prstGeom prst="rect">
            <a:avLst/>
          </a:prstGeom>
          <a:noFill/>
        </p:spPr>
        <p:txBody>
          <a:bodyPr wrap="square">
            <a:spAutoFit/>
          </a:bodyPr>
          <a:lstStyle/>
          <a:p>
            <a:r>
              <a:rPr sz="1400" b="1">
                <a:solidFill>
                  <a:srgbClr val="2D2D2D"/>
                </a:solidFill>
              </a:rPr>
              <a:t>5. Report limits</a:t>
            </a:r>
          </a:p>
        </p:txBody>
      </p:sp>
      <p:sp>
        <p:nvSpPr>
          <p:cNvPr id="23" name="TextBox 22"/>
          <p:cNvSpPr txBox="1"/>
          <p:nvPr/>
        </p:nvSpPr>
        <p:spPr>
          <a:xfrm>
            <a:off x="9976104" y="1938528"/>
            <a:ext cx="1737360" cy="669414"/>
          </a:xfrm>
          <a:prstGeom prst="rect">
            <a:avLst/>
          </a:prstGeom>
          <a:noFill/>
        </p:spPr>
        <p:txBody>
          <a:bodyPr wrap="square">
            <a:spAutoFit/>
          </a:bodyPr>
          <a:lstStyle/>
          <a:p>
            <a:pPr>
              <a:spcAft>
                <a:spcPts val="300"/>
              </a:spcAft>
              <a:defRPr sz="1250">
                <a:solidFill>
                  <a:srgbClr val="2D2D2D"/>
                </a:solidFill>
              </a:defRPr>
            </a:pPr>
            <a:r>
              <a:t>State what the artifact shows and what it does not prove by itself.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22960" y="320040"/>
            <a:ext cx="10515600" cy="731520"/>
          </a:xfrm>
          <a:prstGeom prst="rect">
            <a:avLst/>
          </a:prstGeom>
          <a:noFill/>
        </p:spPr>
        <p:txBody>
          <a:bodyPr wrap="square">
            <a:spAutoFit/>
          </a:bodyPr>
          <a:lstStyle/>
          <a:p>
            <a:endParaRPr/>
          </a:p>
        </p:txBody>
      </p:sp>
      <p:sp>
        <p:nvSpPr>
          <p:cNvPr id="7" name="TextBox 6"/>
          <p:cNvSpPr txBox="1"/>
          <p:nvPr/>
        </p:nvSpPr>
        <p:spPr>
          <a:xfrm>
            <a:off x="960120" y="1828800"/>
            <a:ext cx="10241280" cy="502920"/>
          </a:xfrm>
          <a:prstGeom prst="rect">
            <a:avLst/>
          </a:prstGeom>
          <a:noFill/>
        </p:spPr>
        <p:txBody>
          <a:bodyPr wrap="none">
            <a:spAutoFit/>
          </a:bodyPr>
          <a:lstStyle/>
          <a:p>
            <a:pPr>
              <a:defRPr sz="1800" b="1">
                <a:solidFill>
                  <a:srgbClr val="F06E23"/>
                </a:solidFill>
              </a:defRPr>
            </a:pPr>
            <a:r>
              <a:t>Section 1</a:t>
            </a:r>
          </a:p>
        </p:txBody>
      </p:sp>
      <p:sp>
        <p:nvSpPr>
          <p:cNvPr id="8" name="TextBox 7"/>
          <p:cNvSpPr txBox="1"/>
          <p:nvPr/>
        </p:nvSpPr>
        <p:spPr>
          <a:xfrm>
            <a:off x="960120" y="2423160"/>
            <a:ext cx="10241280" cy="914400"/>
          </a:xfrm>
          <a:prstGeom prst="rect">
            <a:avLst/>
          </a:prstGeom>
          <a:noFill/>
        </p:spPr>
        <p:txBody>
          <a:bodyPr wrap="none">
            <a:spAutoFit/>
          </a:bodyPr>
          <a:lstStyle/>
          <a:p>
            <a:pPr>
              <a:defRPr sz="3400" b="1">
                <a:solidFill>
                  <a:srgbClr val="232323"/>
                </a:solidFill>
              </a:defRPr>
            </a:pPr>
            <a:r>
              <a:rPr dirty="0"/>
              <a:t>Locate and Triage the Evidence</a:t>
            </a:r>
          </a:p>
        </p:txBody>
      </p:sp>
      <p:sp>
        <p:nvSpPr>
          <p:cNvPr id="9" name="TextBox 8"/>
          <p:cNvSpPr txBox="1"/>
          <p:nvPr/>
        </p:nvSpPr>
        <p:spPr>
          <a:xfrm>
            <a:off x="987552" y="3520440"/>
            <a:ext cx="9692640" cy="731520"/>
          </a:xfrm>
          <a:prstGeom prst="rect">
            <a:avLst/>
          </a:prstGeom>
          <a:noFill/>
        </p:spPr>
        <p:txBody>
          <a:bodyPr wrap="none">
            <a:spAutoFit/>
          </a:bodyPr>
          <a:lstStyle/>
          <a:p>
            <a:pPr>
              <a:defRPr sz="1900">
                <a:solidFill>
                  <a:srgbClr val="5A5A5A"/>
                </a:solidFill>
              </a:defRPr>
            </a:pPr>
            <a:r>
              <a:rPr dirty="0"/>
              <a:t>Package directory, databases, and initial investigative questions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68CD37-E6DD-0032-B6B1-C69F69EDA44C}"/>
              </a:ext>
            </a:extLst>
          </p:cNvPr>
          <p:cNvSpPr>
            <a:spLocks noGrp="1"/>
          </p:cNvSpPr>
          <p:nvPr>
            <p:ph type="title"/>
          </p:nvPr>
        </p:nvSpPr>
        <p:spPr>
          <a:xfrm>
            <a:off x="831850" y="3296873"/>
            <a:ext cx="10515600" cy="1265602"/>
          </a:xfrm>
        </p:spPr>
        <p:txBody>
          <a:bodyPr/>
          <a:lstStyle/>
          <a:p>
            <a:r>
              <a:rPr lang="en-GB" sz="3600" dirty="0">
                <a:solidFill>
                  <a:srgbClr val="5A5A5A"/>
                </a:solidFill>
              </a:rPr>
              <a:t>Locate the Google Maps Application Directory</a:t>
            </a:r>
            <a:br>
              <a:rPr lang="en-GB" sz="2000" dirty="0">
                <a:solidFill>
                  <a:srgbClr val="5A5A5A"/>
                </a:solidFill>
              </a:rPr>
            </a:br>
            <a:endParaRPr sz="2000" dirty="0">
              <a:solidFill>
                <a:srgbClr val="5A5A5A"/>
              </a:solidFill>
            </a:endParaRPr>
          </a:p>
        </p:txBody>
      </p:sp>
      <p:sp>
        <p:nvSpPr>
          <p:cNvPr id="5" name="Text Placeholder 4">
            <a:extLst>
              <a:ext uri="{FF2B5EF4-FFF2-40B4-BE49-F238E27FC236}">
                <a16:creationId xmlns:a16="http://schemas.microsoft.com/office/drawing/2014/main" id="{E5C71026-E3E5-712A-9C15-2C9BFD5AEFA7}"/>
              </a:ext>
            </a:extLst>
          </p:cNvPr>
          <p:cNvSpPr>
            <a:spLocks noGrp="1"/>
          </p:cNvSpPr>
          <p:nvPr>
            <p:ph type="body" idx="1"/>
          </p:nvPr>
        </p:nvSpPr>
        <p:spPr/>
        <p:txBody>
          <a:bodyPr/>
          <a:lstStyle/>
          <a:p>
            <a:r>
              <a:rPr lang="en-US" dirty="0">
                <a:solidFill>
                  <a:srgbClr val="5A5A5A"/>
                </a:solidFill>
              </a:rPr>
              <a:t>Application package: </a:t>
            </a:r>
            <a:r>
              <a:rPr lang="en-US" dirty="0" err="1">
                <a:solidFill>
                  <a:srgbClr val="5A5A5A"/>
                </a:solidFill>
              </a:rPr>
              <a:t>com.google.android.apps.maps</a:t>
            </a:r>
            <a:endParaRPr lang="en-US" dirty="0"/>
          </a:p>
        </p:txBody>
      </p:sp>
    </p:spTree>
    <p:extLst>
      <p:ext uri="{BB962C8B-B14F-4D97-AF65-F5344CB8AC3E}">
        <p14:creationId xmlns:p14="http://schemas.microsoft.com/office/powerpoint/2010/main" val="132373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78BF55F-0844-832B-A522-2F13515ABBDA}"/>
              </a:ext>
            </a:extLst>
          </p:cNvPr>
          <p:cNvPicPr>
            <a:picLocks noChangeAspect="1"/>
          </p:cNvPicPr>
          <p:nvPr/>
        </p:nvPicPr>
        <p:blipFill>
          <a:blip r:embed="rId3"/>
          <a:stretch>
            <a:fillRect/>
          </a:stretch>
        </p:blipFill>
        <p:spPr>
          <a:xfrm>
            <a:off x="838200" y="2323027"/>
            <a:ext cx="6702997" cy="2662365"/>
          </a:xfrm>
          <a:prstGeom prst="rect">
            <a:avLst/>
          </a:prstGeom>
        </p:spPr>
      </p:pic>
    </p:spTree>
    <p:extLst>
      <p:ext uri="{BB962C8B-B14F-4D97-AF65-F5344CB8AC3E}">
        <p14:creationId xmlns:p14="http://schemas.microsoft.com/office/powerpoint/2010/main" val="4138222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F68F8-A765-776F-AAA9-82D419D5D3AA}"/>
              </a:ext>
            </a:extLst>
          </p:cNvPr>
          <p:cNvSpPr>
            <a:spLocks noGrp="1"/>
          </p:cNvSpPr>
          <p:nvPr>
            <p:ph type="title"/>
          </p:nvPr>
        </p:nvSpPr>
        <p:spPr/>
        <p:txBody>
          <a:bodyPr wrap="square"/>
          <a:lstStyle/>
          <a:p>
            <a:r>
              <a:rPr sz="2800" b="1" dirty="0">
                <a:solidFill>
                  <a:srgbClr val="232323"/>
                </a:solidFill>
                <a:latin typeface="Arial" panose="020B0604020202020204" pitchFamily="34" charset="0"/>
                <a:cs typeface="Arial" panose="020B0604020202020204" pitchFamily="34" charset="0"/>
              </a:rPr>
              <a:t>Forensic Evidence Categories</a:t>
            </a:r>
          </a:p>
        </p:txBody>
      </p:sp>
      <p:sp>
        <p:nvSpPr>
          <p:cNvPr id="3" name="Content Placeholder 2">
            <a:extLst>
              <a:ext uri="{FF2B5EF4-FFF2-40B4-BE49-F238E27FC236}">
                <a16:creationId xmlns:a16="http://schemas.microsoft.com/office/drawing/2014/main" id="{AD404FA2-B866-D134-BFF6-B55868EEABB9}"/>
              </a:ext>
            </a:extLst>
          </p:cNvPr>
          <p:cNvSpPr>
            <a:spLocks noGrp="1"/>
          </p:cNvSpPr>
          <p:nvPr>
            <p:ph idx="1"/>
          </p:nvPr>
        </p:nvSpPr>
        <p:spPr/>
        <p:txBody>
          <a:bodyPr wrap="square">
            <a:normAutofit/>
          </a:bodyPr>
          <a:lstStyle/>
          <a:p>
            <a:pPr>
              <a:spcAft>
                <a:spcPts val="700"/>
              </a:spcAft>
              <a:defRPr sz="1700">
                <a:solidFill>
                  <a:srgbClr val="232323"/>
                </a:solidFill>
              </a:defRPr>
            </a:pPr>
            <a:r>
              <a:rPr dirty="0">
                <a:latin typeface="Arial" panose="020B0604020202020204" pitchFamily="34" charset="0"/>
                <a:cs typeface="Arial" panose="020B0604020202020204" pitchFamily="34" charset="0"/>
              </a:rPr>
              <a:t>Saved locations</a:t>
            </a:r>
            <a:r>
              <a:rPr lang="en-US"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saved or labeled places.</a:t>
            </a:r>
          </a:p>
          <a:p>
            <a:pPr>
              <a:spcAft>
                <a:spcPts val="700"/>
              </a:spcAft>
              <a:defRPr sz="1700">
                <a:solidFill>
                  <a:srgbClr val="232323"/>
                </a:solidFill>
              </a:defRPr>
            </a:pPr>
            <a:r>
              <a:rPr dirty="0">
                <a:latin typeface="Arial" panose="020B0604020202020204" pitchFamily="34" charset="0"/>
                <a:cs typeface="Arial" panose="020B0604020202020204" pitchFamily="34" charset="0"/>
              </a:rPr>
              <a:t>Navigation / offline use</a:t>
            </a:r>
            <a:r>
              <a:rPr lang="en-US" dirty="0">
                <a:latin typeface="Arial" panose="020B0604020202020204" pitchFamily="34" charset="0"/>
                <a:cs typeface="Arial" panose="020B0604020202020204" pitchFamily="34" charset="0"/>
              </a:rPr>
              <a:t>:</a:t>
            </a:r>
            <a:r>
              <a:rPr dirty="0">
                <a:latin typeface="Arial" panose="020B0604020202020204" pitchFamily="34" charset="0"/>
                <a:cs typeface="Arial" panose="020B0604020202020204" pitchFamily="34" charset="0"/>
              </a:rPr>
              <a:t> navigation and offline artifacts.</a:t>
            </a:r>
          </a:p>
          <a:p>
            <a:pPr>
              <a:spcAft>
                <a:spcPts val="700"/>
              </a:spcAft>
              <a:defRPr sz="1700">
                <a:solidFill>
                  <a:srgbClr val="232323"/>
                </a:solidFill>
              </a:defRPr>
            </a:pPr>
            <a:r>
              <a:rPr lang="en-GB" dirty="0">
                <a:latin typeface="Arial" panose="020B0604020202020204" pitchFamily="34" charset="0"/>
                <a:cs typeface="Arial" panose="020B0604020202020204" pitchFamily="34" charset="0"/>
              </a:rPr>
              <a:t>Synchronization metadata : show when and what data was synced, potentially linking to other devices or backups.</a:t>
            </a:r>
          </a:p>
          <a:p>
            <a:pPr>
              <a:spcAft>
                <a:spcPts val="700"/>
              </a:spcAft>
              <a:defRPr sz="1700">
                <a:solidFill>
                  <a:srgbClr val="232323"/>
                </a:solidFill>
              </a:defRPr>
            </a:pPr>
            <a:r>
              <a:rPr lang="en-GB" dirty="0">
                <a:latin typeface="Arial" panose="020B0604020202020204" pitchFamily="34" charset="0"/>
                <a:cs typeface="Arial" panose="020B0604020202020204" pitchFamily="34" charset="0"/>
              </a:rPr>
              <a:t>Notifications / event databases: reveal how the user interacts with the app and what notifications they received</a:t>
            </a:r>
          </a:p>
          <a:p>
            <a:pPr>
              <a:spcAft>
                <a:spcPts val="700"/>
              </a:spcAft>
              <a:defRPr sz="1700">
                <a:solidFill>
                  <a:srgbClr val="232323"/>
                </a:solidFill>
              </a:defRPr>
            </a:pPr>
            <a:r>
              <a:rPr dirty="0">
                <a:latin typeface="Arial" panose="020B0604020202020204" pitchFamily="34" charset="0"/>
                <a:cs typeface="Arial" panose="020B0604020202020204" pitchFamily="34" charset="0"/>
              </a:rPr>
              <a:t>User-generated photo metadata </a:t>
            </a:r>
            <a:endParaRPr lang="en-US" dirty="0">
              <a:latin typeface="Arial" panose="020B0604020202020204" pitchFamily="34" charset="0"/>
              <a:cs typeface="Arial" panose="020B0604020202020204" pitchFamily="34" charset="0"/>
            </a:endParaRPr>
          </a:p>
          <a:p>
            <a:pPr marL="0" indent="0">
              <a:spcAft>
                <a:spcPts val="700"/>
              </a:spcAft>
              <a:buNone/>
              <a:defRPr sz="1700">
                <a:solidFill>
                  <a:srgbClr val="232323"/>
                </a:solidFill>
              </a:defRPr>
            </a:pPr>
            <a:r>
              <a:rPr dirty="0">
                <a:latin typeface="Arial" panose="020B0604020202020204" pitchFamily="34" charset="0"/>
                <a:cs typeface="Arial" panose="020B0604020202020204" pitchFamily="34" charset="0"/>
              </a:rPr>
              <a:t>Corroboration rule — a stored coordinate or route can reflect a search, saved place, or planned trip; it does not by itself prove the device physically visited that location.</a:t>
            </a:r>
          </a:p>
        </p:txBody>
      </p:sp>
    </p:spTree>
    <p:extLst>
      <p:ext uri="{BB962C8B-B14F-4D97-AF65-F5344CB8AC3E}">
        <p14:creationId xmlns:p14="http://schemas.microsoft.com/office/powerpoint/2010/main" val="2984344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235311"/>
            <a:ext cx="10972800" cy="548640"/>
          </a:xfrm>
          <a:prstGeom prst="rect">
            <a:avLst/>
          </a:prstGeom>
          <a:noFill/>
        </p:spPr>
        <p:txBody>
          <a:bodyPr wrap="none">
            <a:spAutoFit/>
          </a:bodyPr>
          <a:lstStyle/>
          <a:p>
            <a:r>
              <a:rPr sz="3000" b="1" dirty="0">
                <a:solidFill>
                  <a:srgbClr val="2D2D2D"/>
                </a:solidFill>
              </a:rPr>
              <a:t>Clean Artifact Triage Matrix</a:t>
            </a:r>
          </a:p>
        </p:txBody>
      </p:sp>
      <p:pic>
        <p:nvPicPr>
          <p:cNvPr id="62" name="Picture 61">
            <a:extLst>
              <a:ext uri="{FF2B5EF4-FFF2-40B4-BE49-F238E27FC236}">
                <a16:creationId xmlns:a16="http://schemas.microsoft.com/office/drawing/2014/main" id="{655A2156-41AF-60D3-69AA-2A4CD0ADE071}"/>
              </a:ext>
            </a:extLst>
          </p:cNvPr>
          <p:cNvPicPr>
            <a:picLocks noChangeAspect="1"/>
          </p:cNvPicPr>
          <p:nvPr/>
        </p:nvPicPr>
        <p:blipFill>
          <a:blip r:embed="rId2"/>
          <a:stretch>
            <a:fillRect/>
          </a:stretch>
        </p:blipFill>
        <p:spPr>
          <a:xfrm>
            <a:off x="0" y="1174782"/>
            <a:ext cx="12192000" cy="516277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1">
            <a:extLst>
              <a:ext uri="{FF2B5EF4-FFF2-40B4-BE49-F238E27FC236}">
                <a16:creationId xmlns:a16="http://schemas.microsoft.com/office/drawing/2014/main" id="{702DF2B8-73CF-4FBA-A656-15D7CB514F1D}"/>
              </a:ext>
            </a:extLst>
          </p:cNvPr>
          <p:cNvSpPr txBox="1"/>
          <p:nvPr/>
        </p:nvSpPr>
        <p:spPr>
          <a:xfrm>
            <a:off x="1002251" y="1714822"/>
            <a:ext cx="2984535" cy="369332"/>
          </a:xfrm>
          <a:prstGeom prst="rect">
            <a:avLst/>
          </a:prstGeom>
          <a:solidFill>
            <a:schemeClr val="accent4"/>
          </a:solid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Show Google Maps databases</a:t>
            </a:r>
            <a:endParaRPr lang="en-US" dirty="0"/>
          </a:p>
        </p:txBody>
      </p:sp>
      <p:pic>
        <p:nvPicPr>
          <p:cNvPr id="3" name="Picture 2">
            <a:extLst>
              <a:ext uri="{FF2B5EF4-FFF2-40B4-BE49-F238E27FC236}">
                <a16:creationId xmlns:a16="http://schemas.microsoft.com/office/drawing/2014/main" id="{F107CECB-C827-9D90-F719-C3FBD5B50DDD}"/>
              </a:ext>
            </a:extLst>
          </p:cNvPr>
          <p:cNvPicPr>
            <a:picLocks noChangeAspect="1"/>
          </p:cNvPicPr>
          <p:nvPr/>
        </p:nvPicPr>
        <p:blipFill>
          <a:blip r:embed="rId3"/>
          <a:stretch>
            <a:fillRect/>
          </a:stretch>
        </p:blipFill>
        <p:spPr>
          <a:xfrm>
            <a:off x="1002251" y="2141134"/>
            <a:ext cx="9575350" cy="2568025"/>
          </a:xfrm>
          <a:prstGeom prst="rect">
            <a:avLst/>
          </a:prstGeom>
        </p:spPr>
      </p:pic>
      <p:sp>
        <p:nvSpPr>
          <p:cNvPr id="9" name="TextBox 8"/>
          <p:cNvSpPr txBox="1"/>
          <p:nvPr/>
        </p:nvSpPr>
        <p:spPr>
          <a:xfrm>
            <a:off x="822960" y="320040"/>
            <a:ext cx="10515600" cy="731520"/>
          </a:xfrm>
          <a:prstGeom prst="rect">
            <a:avLst/>
          </a:prstGeom>
          <a:noFill/>
        </p:spPr>
        <p:txBody>
          <a:bodyPr wrap="square">
            <a:spAutoFit/>
          </a:bodyPr>
          <a:lstStyle/>
          <a:p>
            <a:r>
              <a:rPr sz="2800" b="1" dirty="0">
                <a:solidFill>
                  <a:srgbClr val="232323"/>
                </a:solidFill>
              </a:rPr>
              <a:t>Enumerate Google Maps Databases</a:t>
            </a:r>
          </a:p>
        </p:txBody>
      </p:sp>
    </p:spTree>
    <p:extLst>
      <p:ext uri="{BB962C8B-B14F-4D97-AF65-F5344CB8AC3E}">
        <p14:creationId xmlns:p14="http://schemas.microsoft.com/office/powerpoint/2010/main" val="2175411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9DB5439-FC63-62FF-8AD5-A77EE135E188}"/>
              </a:ext>
            </a:extLst>
          </p:cNvPr>
          <p:cNvGraphicFramePr>
            <a:graphicFrameLocks noGrp="1"/>
          </p:cNvGraphicFramePr>
          <p:nvPr>
            <p:extLst>
              <p:ext uri="{D42A27DB-BD31-4B8C-83A1-F6EECF244321}">
                <p14:modId xmlns:p14="http://schemas.microsoft.com/office/powerpoint/2010/main" val="2809133062"/>
              </p:ext>
            </p:extLst>
          </p:nvPr>
        </p:nvGraphicFramePr>
        <p:xfrm>
          <a:off x="854925" y="1202458"/>
          <a:ext cx="10385502" cy="4530840"/>
        </p:xfrm>
        <a:graphic>
          <a:graphicData uri="http://schemas.openxmlformats.org/drawingml/2006/table">
            <a:tbl>
              <a:tblPr>
                <a:tableStyleId>{5940675A-B579-460E-94D1-54222C63F5DA}</a:tableStyleId>
              </a:tblPr>
              <a:tblGrid>
                <a:gridCol w="2103865">
                  <a:extLst>
                    <a:ext uri="{9D8B030D-6E8A-4147-A177-3AD203B41FA5}">
                      <a16:colId xmlns:a16="http://schemas.microsoft.com/office/drawing/2014/main" val="3012202327"/>
                    </a:ext>
                  </a:extLst>
                </a:gridCol>
                <a:gridCol w="3612710">
                  <a:extLst>
                    <a:ext uri="{9D8B030D-6E8A-4147-A177-3AD203B41FA5}">
                      <a16:colId xmlns:a16="http://schemas.microsoft.com/office/drawing/2014/main" val="1241241121"/>
                    </a:ext>
                  </a:extLst>
                </a:gridCol>
                <a:gridCol w="4668927">
                  <a:extLst>
                    <a:ext uri="{9D8B030D-6E8A-4147-A177-3AD203B41FA5}">
                      <a16:colId xmlns:a16="http://schemas.microsoft.com/office/drawing/2014/main" val="2371016474"/>
                    </a:ext>
                  </a:extLst>
                </a:gridCol>
              </a:tblGrid>
              <a:tr h="110859">
                <a:tc>
                  <a:txBody>
                    <a:bodyPr/>
                    <a:lstStyle/>
                    <a:p>
                      <a:pPr>
                        <a:buNone/>
                      </a:pPr>
                      <a:r>
                        <a:rPr lang="en-US" sz="1600"/>
                        <a:t>File Name</a:t>
                      </a:r>
                    </a:p>
                  </a:txBody>
                  <a:tcPr marL="55080" marR="55080" marT="27540" marB="27540" anchor="ctr"/>
                </a:tc>
                <a:tc>
                  <a:txBody>
                    <a:bodyPr/>
                    <a:lstStyle/>
                    <a:p>
                      <a:pPr>
                        <a:buNone/>
                      </a:pPr>
                      <a:r>
                        <a:rPr lang="en-US" sz="1600"/>
                        <a:t>Purpose</a:t>
                      </a:r>
                    </a:p>
                  </a:txBody>
                  <a:tcPr marL="55080" marR="55080" marT="27540" marB="27540" anchor="ctr"/>
                </a:tc>
                <a:tc>
                  <a:txBody>
                    <a:bodyPr/>
                    <a:lstStyle/>
                    <a:p>
                      <a:pPr>
                        <a:buNone/>
                      </a:pPr>
                      <a:r>
                        <a:rPr lang="en-US" sz="1600"/>
                        <a:t>Forensic Evidence Contained</a:t>
                      </a:r>
                    </a:p>
                  </a:txBody>
                  <a:tcPr marL="55080" marR="55080" marT="27540" marB="27540" anchor="ctr"/>
                </a:tc>
                <a:extLst>
                  <a:ext uri="{0D108BD9-81ED-4DB2-BD59-A6C34878D82A}">
                    <a16:rowId xmlns:a16="http://schemas.microsoft.com/office/drawing/2014/main" val="4126737108"/>
                  </a:ext>
                </a:extLst>
              </a:tr>
              <a:tr h="438659">
                <a:tc>
                  <a:txBody>
                    <a:bodyPr/>
                    <a:lstStyle/>
                    <a:p>
                      <a:pPr>
                        <a:buNone/>
                      </a:pPr>
                      <a:r>
                        <a:rPr lang="en-US" sz="1600" b="1">
                          <a:highlight>
                            <a:srgbClr val="FFFF00"/>
                          </a:highlight>
                        </a:rPr>
                        <a:t>gmm_myplaces.db</a:t>
                      </a:r>
                      <a:endParaRPr lang="en-US" sz="1600">
                        <a:highlight>
                          <a:srgbClr val="FFFF00"/>
                        </a:highlight>
                      </a:endParaRPr>
                    </a:p>
                  </a:txBody>
                  <a:tcPr marL="55080" marR="55080" marT="27540" marB="27540" anchor="ctr"/>
                </a:tc>
                <a:tc>
                  <a:txBody>
                    <a:bodyPr/>
                    <a:lstStyle/>
                    <a:p>
                      <a:pPr>
                        <a:buNone/>
                      </a:pPr>
                      <a:r>
                        <a:rPr lang="en-GB" sz="1600">
                          <a:highlight>
                            <a:srgbClr val="FFFF00"/>
                          </a:highlight>
                        </a:rPr>
                        <a:t>💾 Stores My Places and Saved Locations (favorites, starred, labeled places).</a:t>
                      </a:r>
                    </a:p>
                  </a:txBody>
                  <a:tcPr marL="55080" marR="55080" marT="27540" marB="27540" anchor="ctr"/>
                </a:tc>
                <a:tc>
                  <a:txBody>
                    <a:bodyPr/>
                    <a:lstStyle/>
                    <a:p>
                      <a:pPr>
                        <a:buNone/>
                      </a:pPr>
                      <a:r>
                        <a:rPr lang="en-GB" sz="1600" dirty="0">
                          <a:highlight>
                            <a:srgbClr val="FFFF00"/>
                          </a:highlight>
                        </a:rPr>
                        <a:t>- User-saved home/work/“starred” locations- </a:t>
                      </a:r>
                      <a:r>
                        <a:rPr lang="en-GB" sz="1600" dirty="0" err="1">
                          <a:highlight>
                            <a:srgbClr val="FFFF00"/>
                          </a:highlight>
                        </a:rPr>
                        <a:t>Favorites</a:t>
                      </a:r>
                      <a:r>
                        <a:rPr lang="en-GB" sz="1600" dirty="0">
                          <a:highlight>
                            <a:srgbClr val="FFFF00"/>
                          </a:highlight>
                        </a:rPr>
                        <a:t> and “Want to go” lists- Custom-</a:t>
                      </a:r>
                      <a:r>
                        <a:rPr lang="en-GB" sz="1600" dirty="0" err="1">
                          <a:highlight>
                            <a:srgbClr val="FFFF00"/>
                          </a:highlight>
                        </a:rPr>
                        <a:t>labeled</a:t>
                      </a:r>
                      <a:r>
                        <a:rPr lang="en-GB" sz="1600" dirty="0">
                          <a:highlight>
                            <a:srgbClr val="FFFF00"/>
                          </a:highlight>
                        </a:rPr>
                        <a:t> addresses- Timestamps of save/update</a:t>
                      </a:r>
                    </a:p>
                  </a:txBody>
                  <a:tcPr marL="55080" marR="55080" marT="27540" marB="27540" anchor="ctr"/>
                </a:tc>
                <a:extLst>
                  <a:ext uri="{0D108BD9-81ED-4DB2-BD59-A6C34878D82A}">
                    <a16:rowId xmlns:a16="http://schemas.microsoft.com/office/drawing/2014/main" val="3688701741"/>
                  </a:ext>
                </a:extLst>
              </a:tr>
              <a:tr h="274161">
                <a:tc>
                  <a:txBody>
                    <a:bodyPr/>
                    <a:lstStyle/>
                    <a:p>
                      <a:pPr>
                        <a:buNone/>
                      </a:pPr>
                      <a:r>
                        <a:rPr lang="en-US" sz="1600" b="1" dirty="0" err="1">
                          <a:highlight>
                            <a:srgbClr val="FFFF00"/>
                          </a:highlight>
                        </a:rPr>
                        <a:t>gmm_storage.db</a:t>
                      </a:r>
                      <a:endParaRPr lang="en-US" sz="1600" dirty="0">
                        <a:highlight>
                          <a:srgbClr val="FFFF00"/>
                        </a:highlight>
                      </a:endParaRPr>
                    </a:p>
                  </a:txBody>
                  <a:tcPr marL="55080" marR="55080" marT="27540" marB="27540" anchor="ctr"/>
                </a:tc>
                <a:tc>
                  <a:txBody>
                    <a:bodyPr/>
                    <a:lstStyle/>
                    <a:p>
                      <a:pPr>
                        <a:buNone/>
                      </a:pPr>
                      <a:r>
                        <a:rPr lang="en-GB" sz="1600">
                          <a:highlight>
                            <a:srgbClr val="FFFF00"/>
                          </a:highlight>
                        </a:rPr>
                        <a:t>📦 General storage for cached data — search queries, recent views, temporary map tiles.</a:t>
                      </a:r>
                    </a:p>
                  </a:txBody>
                  <a:tcPr marL="55080" marR="55080" marT="27540" marB="27540" anchor="ctr"/>
                </a:tc>
                <a:tc>
                  <a:txBody>
                    <a:bodyPr/>
                    <a:lstStyle/>
                    <a:p>
                      <a:pPr>
                        <a:buNone/>
                      </a:pPr>
                      <a:r>
                        <a:rPr lang="en-GB" sz="1600" dirty="0">
                          <a:highlight>
                            <a:srgbClr val="FFFF00"/>
                          </a:highlight>
                        </a:rPr>
                        <a:t>- Recently searched addresses and coordinates- Cached routes or viewed POIs- Session timestamps</a:t>
                      </a:r>
                    </a:p>
                  </a:txBody>
                  <a:tcPr marL="55080" marR="55080" marT="27540" marB="27540" anchor="ctr"/>
                </a:tc>
                <a:extLst>
                  <a:ext uri="{0D108BD9-81ED-4DB2-BD59-A6C34878D82A}">
                    <a16:rowId xmlns:a16="http://schemas.microsoft.com/office/drawing/2014/main" val="217339768"/>
                  </a:ext>
                </a:extLst>
              </a:tr>
              <a:tr h="356410">
                <a:tc>
                  <a:txBody>
                    <a:bodyPr/>
                    <a:lstStyle/>
                    <a:p>
                      <a:pPr>
                        <a:buNone/>
                      </a:pPr>
                      <a:r>
                        <a:rPr lang="en-US" sz="1600" b="1"/>
                        <a:t>gmm_sync.db</a:t>
                      </a:r>
                      <a:endParaRPr lang="en-US" sz="1600"/>
                    </a:p>
                  </a:txBody>
                  <a:tcPr marL="55080" marR="55080" marT="27540" marB="27540" anchor="ctr"/>
                </a:tc>
                <a:tc>
                  <a:txBody>
                    <a:bodyPr/>
                    <a:lstStyle/>
                    <a:p>
                      <a:pPr>
                        <a:buNone/>
                      </a:pPr>
                      <a:r>
                        <a:rPr lang="en-GB" sz="1600"/>
                        <a:t>🔄 Sync metadata for account-linked data between device and Google cloud.</a:t>
                      </a:r>
                    </a:p>
                  </a:txBody>
                  <a:tcPr marL="55080" marR="55080" marT="27540" marB="27540" anchor="ctr"/>
                </a:tc>
                <a:tc>
                  <a:txBody>
                    <a:bodyPr/>
                    <a:lstStyle/>
                    <a:p>
                      <a:pPr>
                        <a:buNone/>
                      </a:pPr>
                      <a:r>
                        <a:rPr lang="en-GB" sz="1600" dirty="0"/>
                        <a:t>- Sync tokens, account IDs- Flags for what was synced (My Places, history)- Useful for proving account linkage</a:t>
                      </a:r>
                    </a:p>
                  </a:txBody>
                  <a:tcPr marL="55080" marR="55080" marT="27540" marB="27540" anchor="ctr"/>
                </a:tc>
                <a:extLst>
                  <a:ext uri="{0D108BD9-81ED-4DB2-BD59-A6C34878D82A}">
                    <a16:rowId xmlns:a16="http://schemas.microsoft.com/office/drawing/2014/main" val="2012809314"/>
                  </a:ext>
                </a:extLst>
              </a:tr>
              <a:tr h="356410">
                <a:tc>
                  <a:txBody>
                    <a:bodyPr/>
                    <a:lstStyle/>
                    <a:p>
                      <a:pPr>
                        <a:buNone/>
                      </a:pPr>
                      <a:r>
                        <a:rPr lang="en-US" sz="1600" b="1"/>
                        <a:t>inbox_notifications.db</a:t>
                      </a:r>
                      <a:endParaRPr lang="en-US" sz="1600"/>
                    </a:p>
                  </a:txBody>
                  <a:tcPr marL="55080" marR="55080" marT="27540" marB="27540" anchor="ctr"/>
                </a:tc>
                <a:tc>
                  <a:txBody>
                    <a:bodyPr/>
                    <a:lstStyle/>
                    <a:p>
                      <a:pPr>
                        <a:buNone/>
                      </a:pPr>
                      <a:r>
                        <a:rPr lang="en-GB" sz="1600"/>
                        <a:t>🔔 Stores notifications generated by Maps (traffic, new place suggestions, reviews).</a:t>
                      </a:r>
                    </a:p>
                  </a:txBody>
                  <a:tcPr marL="55080" marR="55080" marT="27540" marB="27540" anchor="ctr"/>
                </a:tc>
                <a:tc>
                  <a:txBody>
                    <a:bodyPr/>
                    <a:lstStyle/>
                    <a:p>
                      <a:pPr>
                        <a:buNone/>
                      </a:pPr>
                      <a:r>
                        <a:rPr lang="en-GB" sz="1600"/>
                        <a:t>- Notification text &amp; timestamps- Links to suggested routes or reviews- May show user interaction with Google recommendations</a:t>
                      </a:r>
                    </a:p>
                  </a:txBody>
                  <a:tcPr marL="55080" marR="55080" marT="27540" marB="27540" anchor="ctr"/>
                </a:tc>
                <a:extLst>
                  <a:ext uri="{0D108BD9-81ED-4DB2-BD59-A6C34878D82A}">
                    <a16:rowId xmlns:a16="http://schemas.microsoft.com/office/drawing/2014/main" val="183887343"/>
                  </a:ext>
                </a:extLst>
              </a:tr>
              <a:tr h="274161">
                <a:tc>
                  <a:txBody>
                    <a:bodyPr/>
                    <a:lstStyle/>
                    <a:p>
                      <a:pPr>
                        <a:buNone/>
                      </a:pPr>
                      <a:r>
                        <a:rPr lang="en-US" sz="1600" b="1"/>
                        <a:t>ue3.db</a:t>
                      </a:r>
                      <a:endParaRPr lang="en-US" sz="1600"/>
                    </a:p>
                  </a:txBody>
                  <a:tcPr marL="55080" marR="55080" marT="27540" marB="27540" anchor="ctr"/>
                </a:tc>
                <a:tc>
                  <a:txBody>
                    <a:bodyPr/>
                    <a:lstStyle/>
                    <a:p>
                      <a:pPr>
                        <a:buNone/>
                      </a:pPr>
                      <a:r>
                        <a:rPr lang="en-GB" sz="1600"/>
                        <a:t>📍 “User Events 3” — captures certain local analytics or trip/session data.</a:t>
                      </a:r>
                    </a:p>
                  </a:txBody>
                  <a:tcPr marL="55080" marR="55080" marT="27540" marB="27540" anchor="ctr"/>
                </a:tc>
                <a:tc>
                  <a:txBody>
                    <a:bodyPr/>
                    <a:lstStyle/>
                    <a:p>
                      <a:pPr>
                        <a:buNone/>
                      </a:pPr>
                      <a:r>
                        <a:rPr lang="en-US" sz="1600"/>
                        <a:t>- Location coordinates- Movement events- Session identifiers (used for timeline/trip reconstruction)</a:t>
                      </a:r>
                    </a:p>
                  </a:txBody>
                  <a:tcPr marL="55080" marR="55080" marT="27540" marB="27540" anchor="ctr"/>
                </a:tc>
                <a:extLst>
                  <a:ext uri="{0D108BD9-81ED-4DB2-BD59-A6C34878D82A}">
                    <a16:rowId xmlns:a16="http://schemas.microsoft.com/office/drawing/2014/main" val="1945199653"/>
                  </a:ext>
                </a:extLst>
              </a:tr>
              <a:tr h="356410">
                <a:tc>
                  <a:txBody>
                    <a:bodyPr/>
                    <a:lstStyle/>
                    <a:p>
                      <a:pPr>
                        <a:buNone/>
                      </a:pPr>
                      <a:r>
                        <a:rPr lang="en-US" sz="1600" b="1"/>
                        <a:t>ugc_photos_location_data.db</a:t>
                      </a:r>
                      <a:endParaRPr lang="en-US" sz="1600"/>
                    </a:p>
                  </a:txBody>
                  <a:tcPr marL="55080" marR="55080" marT="27540" marB="27540" anchor="ctr"/>
                </a:tc>
                <a:tc>
                  <a:txBody>
                    <a:bodyPr/>
                    <a:lstStyle/>
                    <a:p>
                      <a:pPr>
                        <a:buNone/>
                      </a:pPr>
                      <a:r>
                        <a:rPr lang="en-GB" sz="1600"/>
                        <a:t>🖼 “User Generated Content” — metadata for photos tagged with location info.</a:t>
                      </a:r>
                    </a:p>
                  </a:txBody>
                  <a:tcPr marL="55080" marR="55080" marT="27540" marB="27540" anchor="ctr"/>
                </a:tc>
                <a:tc>
                  <a:txBody>
                    <a:bodyPr/>
                    <a:lstStyle/>
                    <a:p>
                      <a:pPr>
                        <a:buNone/>
                      </a:pPr>
                      <a:r>
                        <a:rPr lang="en-GB" sz="1600" dirty="0"/>
                        <a:t>- Image filenames or URIs- Associated latitude/longitude- Timestamps- Links to Google Photos/Maps uploads</a:t>
                      </a:r>
                    </a:p>
                  </a:txBody>
                  <a:tcPr marL="55080" marR="55080" marT="27540" marB="27540" anchor="ctr"/>
                </a:tc>
                <a:extLst>
                  <a:ext uri="{0D108BD9-81ED-4DB2-BD59-A6C34878D82A}">
                    <a16:rowId xmlns:a16="http://schemas.microsoft.com/office/drawing/2014/main" val="184311414"/>
                  </a:ext>
                </a:extLst>
              </a:tr>
            </a:tbl>
          </a:graphicData>
        </a:graphic>
      </p:graphicFrame>
      <p:sp>
        <p:nvSpPr>
          <p:cNvPr id="3" name="TextBox 2"/>
          <p:cNvSpPr txBox="1"/>
          <p:nvPr/>
        </p:nvSpPr>
        <p:spPr>
          <a:xfrm>
            <a:off x="822960" y="320040"/>
            <a:ext cx="10515600" cy="731520"/>
          </a:xfrm>
          <a:prstGeom prst="rect">
            <a:avLst/>
          </a:prstGeom>
          <a:noFill/>
        </p:spPr>
        <p:txBody>
          <a:bodyPr wrap="square">
            <a:spAutoFit/>
          </a:bodyPr>
          <a:lstStyle/>
          <a:p>
            <a:r>
              <a:rPr sz="2600" b="1">
                <a:solidFill>
                  <a:srgbClr val="232323"/>
                </a:solidFill>
              </a:rPr>
              <a:t>Database Triage: What to Examine First</a:t>
            </a:r>
          </a:p>
        </p:txBody>
      </p:sp>
    </p:spTree>
    <p:extLst>
      <p:ext uri="{BB962C8B-B14F-4D97-AF65-F5344CB8AC3E}">
        <p14:creationId xmlns:p14="http://schemas.microsoft.com/office/powerpoint/2010/main" val="4121208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0120" y="1828800"/>
            <a:ext cx="10241280" cy="502920"/>
          </a:xfrm>
          <a:prstGeom prst="rect">
            <a:avLst/>
          </a:prstGeom>
          <a:noFill/>
        </p:spPr>
        <p:txBody>
          <a:bodyPr wrap="none">
            <a:spAutoFit/>
          </a:bodyPr>
          <a:lstStyle/>
          <a:p>
            <a:pPr>
              <a:defRPr sz="1800" b="1">
                <a:solidFill>
                  <a:srgbClr val="F06E23"/>
                </a:solidFill>
              </a:defRPr>
            </a:pPr>
            <a:r>
              <a:t>Section 2</a:t>
            </a:r>
          </a:p>
        </p:txBody>
      </p:sp>
      <p:sp>
        <p:nvSpPr>
          <p:cNvPr id="3" name="TextBox 2"/>
          <p:cNvSpPr txBox="1"/>
          <p:nvPr/>
        </p:nvSpPr>
        <p:spPr>
          <a:xfrm>
            <a:off x="960120" y="2423160"/>
            <a:ext cx="10241280" cy="914400"/>
          </a:xfrm>
          <a:prstGeom prst="rect">
            <a:avLst/>
          </a:prstGeom>
          <a:noFill/>
        </p:spPr>
        <p:txBody>
          <a:bodyPr wrap="none">
            <a:spAutoFit/>
          </a:bodyPr>
          <a:lstStyle/>
          <a:p>
            <a:pPr>
              <a:defRPr sz="3400" b="1">
                <a:solidFill>
                  <a:srgbClr val="232323"/>
                </a:solidFill>
              </a:defRPr>
            </a:pPr>
            <a:r>
              <a:t>Saved Places and Coordinate Artifacts</a:t>
            </a:r>
          </a:p>
        </p:txBody>
      </p:sp>
      <p:sp>
        <p:nvSpPr>
          <p:cNvPr id="4" name="TextBox 3"/>
          <p:cNvSpPr txBox="1"/>
          <p:nvPr/>
        </p:nvSpPr>
        <p:spPr>
          <a:xfrm>
            <a:off x="987552" y="3520440"/>
            <a:ext cx="9692640" cy="731520"/>
          </a:xfrm>
          <a:prstGeom prst="rect">
            <a:avLst/>
          </a:prstGeom>
          <a:noFill/>
        </p:spPr>
        <p:txBody>
          <a:bodyPr wrap="none">
            <a:spAutoFit/>
          </a:bodyPr>
          <a:lstStyle/>
          <a:p>
            <a:pPr>
              <a:defRPr sz="1900">
                <a:solidFill>
                  <a:srgbClr val="5A5A5A"/>
                </a:solidFill>
              </a:defRPr>
            </a:pPr>
            <a:r>
              <a:t>gmm_myplaces.db, E6 coordinates, and serialized records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AEBE5C-0266-0C30-F8D8-7A9D98B8F394}"/>
              </a:ext>
            </a:extLst>
          </p:cNvPr>
          <p:cNvSpPr>
            <a:spLocks noGrp="1"/>
          </p:cNvSpPr>
          <p:nvPr>
            <p:ph type="title"/>
          </p:nvPr>
        </p:nvSpPr>
        <p:spPr/>
        <p:txBody>
          <a:bodyPr/>
          <a:lstStyle/>
          <a:p>
            <a:r>
              <a:rPr sz="1800" dirty="0">
                <a:solidFill>
                  <a:srgbClr val="5A5A5A"/>
                </a:solidFill>
              </a:rPr>
              <a:t>Saved-place and sync-related artifacts</a:t>
            </a:r>
          </a:p>
        </p:txBody>
      </p:sp>
      <p:sp>
        <p:nvSpPr>
          <p:cNvPr id="5" name="Text Placeholder 4">
            <a:extLst>
              <a:ext uri="{FF2B5EF4-FFF2-40B4-BE49-F238E27FC236}">
                <a16:creationId xmlns:a16="http://schemas.microsoft.com/office/drawing/2014/main" id="{035CC28F-C6EB-158D-0677-B30CA6F33BBE}"/>
              </a:ext>
            </a:extLst>
          </p:cNvPr>
          <p:cNvSpPr>
            <a:spLocks noGrp="1"/>
          </p:cNvSpPr>
          <p:nvPr>
            <p:ph type="body" idx="1"/>
          </p:nvPr>
        </p:nvSpPr>
        <p:spPr/>
        <p:txBody>
          <a:bodyPr/>
          <a:lstStyle/>
          <a:p>
            <a:r>
              <a:rPr lang="en-US" dirty="0"/>
              <a:t>Location Tracking: </a:t>
            </a:r>
            <a:r>
              <a:rPr lang="en-US" b="1" dirty="0" err="1">
                <a:solidFill>
                  <a:srgbClr val="703B96"/>
                </a:solidFill>
              </a:rPr>
              <a:t>gmm_myplaces.db</a:t>
            </a:r>
            <a:endParaRPr lang="en-US" b="1" dirty="0">
              <a:solidFill>
                <a:srgbClr val="703B96"/>
              </a:solidFill>
            </a:endParaRPr>
          </a:p>
        </p:txBody>
      </p:sp>
    </p:spTree>
    <p:extLst>
      <p:ext uri="{BB962C8B-B14F-4D97-AF65-F5344CB8AC3E}">
        <p14:creationId xmlns:p14="http://schemas.microsoft.com/office/powerpoint/2010/main" val="3156652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EF4693-9B86-31FF-1D44-B9C100180417}"/>
              </a:ext>
            </a:extLst>
          </p:cNvPr>
          <p:cNvPicPr>
            <a:picLocks noChangeAspect="1"/>
          </p:cNvPicPr>
          <p:nvPr/>
        </p:nvPicPr>
        <p:blipFill>
          <a:blip r:embed="rId2"/>
          <a:stretch>
            <a:fillRect/>
          </a:stretch>
        </p:blipFill>
        <p:spPr>
          <a:xfrm>
            <a:off x="799516" y="248934"/>
            <a:ext cx="7247248" cy="518205"/>
          </a:xfrm>
          <a:prstGeom prst="rect">
            <a:avLst/>
          </a:prstGeom>
        </p:spPr>
      </p:pic>
      <p:pic>
        <p:nvPicPr>
          <p:cNvPr id="7" name="Picture 6">
            <a:extLst>
              <a:ext uri="{FF2B5EF4-FFF2-40B4-BE49-F238E27FC236}">
                <a16:creationId xmlns:a16="http://schemas.microsoft.com/office/drawing/2014/main" id="{AA83D93E-1ED1-9A04-BBEB-E8FC16A94942}"/>
              </a:ext>
            </a:extLst>
          </p:cNvPr>
          <p:cNvPicPr>
            <a:picLocks noChangeAspect="1"/>
          </p:cNvPicPr>
          <p:nvPr/>
        </p:nvPicPr>
        <p:blipFill>
          <a:blip r:embed="rId3"/>
          <a:stretch>
            <a:fillRect/>
          </a:stretch>
        </p:blipFill>
        <p:spPr>
          <a:xfrm>
            <a:off x="8351371" y="65002"/>
            <a:ext cx="2331434" cy="1124815"/>
          </a:xfrm>
          <a:prstGeom prst="rect">
            <a:avLst/>
          </a:prstGeom>
        </p:spPr>
      </p:pic>
      <p:pic>
        <p:nvPicPr>
          <p:cNvPr id="9" name="Picture 8">
            <a:extLst>
              <a:ext uri="{FF2B5EF4-FFF2-40B4-BE49-F238E27FC236}">
                <a16:creationId xmlns:a16="http://schemas.microsoft.com/office/drawing/2014/main" id="{46DA54BC-93D6-6918-F1AC-FA71E15247CA}"/>
              </a:ext>
            </a:extLst>
          </p:cNvPr>
          <p:cNvPicPr>
            <a:picLocks noChangeAspect="1"/>
          </p:cNvPicPr>
          <p:nvPr/>
        </p:nvPicPr>
        <p:blipFill>
          <a:blip r:embed="rId4"/>
          <a:stretch>
            <a:fillRect/>
          </a:stretch>
        </p:blipFill>
        <p:spPr>
          <a:xfrm>
            <a:off x="860624" y="1189817"/>
            <a:ext cx="10107994" cy="5199785"/>
          </a:xfrm>
          <a:prstGeom prst="rect">
            <a:avLst/>
          </a:prstGeom>
        </p:spPr>
      </p:pic>
      <p:sp>
        <p:nvSpPr>
          <p:cNvPr id="13" name="TextBox 12">
            <a:extLst>
              <a:ext uri="{FF2B5EF4-FFF2-40B4-BE49-F238E27FC236}">
                <a16:creationId xmlns:a16="http://schemas.microsoft.com/office/drawing/2014/main" id="{77182F61-FCC2-CAE2-6A86-385E372C31D0}"/>
              </a:ext>
            </a:extLst>
          </p:cNvPr>
          <p:cNvSpPr txBox="1"/>
          <p:nvPr/>
        </p:nvSpPr>
        <p:spPr>
          <a:xfrm>
            <a:off x="860624" y="3856639"/>
            <a:ext cx="2472341" cy="738664"/>
          </a:xfrm>
          <a:prstGeom prst="rect">
            <a:avLst/>
          </a:prstGeom>
          <a:noFill/>
        </p:spPr>
        <p:txBody>
          <a:bodyPr wrap="square">
            <a:spAutoFit/>
          </a:bodyPr>
          <a:lstStyle/>
          <a:p>
            <a:r>
              <a:rPr sz="1400" dirty="0"/>
              <a:t>A corpus groups a category of data managed by the application sync mechanism.</a:t>
            </a:r>
          </a:p>
        </p:txBody>
      </p:sp>
      <p:sp>
        <p:nvSpPr>
          <p:cNvPr id="15" name="TextBox 14">
            <a:extLst>
              <a:ext uri="{FF2B5EF4-FFF2-40B4-BE49-F238E27FC236}">
                <a16:creationId xmlns:a16="http://schemas.microsoft.com/office/drawing/2014/main" id="{6D91B2AA-CE78-81E1-AF16-F1AD176771A4}"/>
              </a:ext>
            </a:extLst>
          </p:cNvPr>
          <p:cNvSpPr txBox="1"/>
          <p:nvPr/>
        </p:nvSpPr>
        <p:spPr>
          <a:xfrm>
            <a:off x="929204" y="5310105"/>
            <a:ext cx="2172136" cy="1015663"/>
          </a:xfrm>
          <a:prstGeom prst="rect">
            <a:avLst/>
          </a:prstGeom>
          <a:noFill/>
        </p:spPr>
        <p:txBody>
          <a:bodyPr wrap="square">
            <a:spAutoFit/>
          </a:bodyPr>
          <a:lstStyle/>
          <a:p>
            <a:r>
              <a:rPr sz="1200" dirty="0"/>
              <a:t>A sync item represents one record associated with that corpus; its meaning must be established from schema and decoded content.</a:t>
            </a:r>
          </a:p>
        </p:txBody>
      </p:sp>
      <p:sp>
        <p:nvSpPr>
          <p:cNvPr id="2" name="Rectangle 1">
            <a:extLst>
              <a:ext uri="{FF2B5EF4-FFF2-40B4-BE49-F238E27FC236}">
                <a16:creationId xmlns:a16="http://schemas.microsoft.com/office/drawing/2014/main" id="{C4E9A12E-C39D-834D-29A6-8D979F957D9D}"/>
              </a:ext>
            </a:extLst>
          </p:cNvPr>
          <p:cNvSpPr/>
          <p:nvPr/>
        </p:nvSpPr>
        <p:spPr>
          <a:xfrm>
            <a:off x="674557" y="4946754"/>
            <a:ext cx="10294061" cy="14428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045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C9E71C-0598-0A20-8F9B-070F30C12812}"/>
              </a:ext>
            </a:extLst>
          </p:cNvPr>
          <p:cNvPicPr>
            <a:picLocks noChangeAspect="1"/>
          </p:cNvPicPr>
          <p:nvPr/>
        </p:nvPicPr>
        <p:blipFill>
          <a:blip r:embed="rId3"/>
          <a:stretch>
            <a:fillRect/>
          </a:stretch>
        </p:blipFill>
        <p:spPr>
          <a:xfrm>
            <a:off x="697125" y="500545"/>
            <a:ext cx="7832515" cy="1406811"/>
          </a:xfrm>
          <a:prstGeom prst="rect">
            <a:avLst/>
          </a:prstGeom>
        </p:spPr>
      </p:pic>
      <p:pic>
        <p:nvPicPr>
          <p:cNvPr id="12" name="Picture 11">
            <a:extLst>
              <a:ext uri="{FF2B5EF4-FFF2-40B4-BE49-F238E27FC236}">
                <a16:creationId xmlns:a16="http://schemas.microsoft.com/office/drawing/2014/main" id="{E8FC3C45-83FF-FCEF-72CE-6A019A51CBDA}"/>
              </a:ext>
            </a:extLst>
          </p:cNvPr>
          <p:cNvPicPr>
            <a:picLocks noChangeAspect="1"/>
          </p:cNvPicPr>
          <p:nvPr/>
        </p:nvPicPr>
        <p:blipFill>
          <a:blip r:embed="rId4"/>
          <a:stretch>
            <a:fillRect/>
          </a:stretch>
        </p:blipFill>
        <p:spPr>
          <a:xfrm>
            <a:off x="4548710" y="2024802"/>
            <a:ext cx="6664015" cy="4729083"/>
          </a:xfrm>
          <a:prstGeom prst="rect">
            <a:avLst/>
          </a:prstGeom>
        </p:spPr>
      </p:pic>
      <p:pic>
        <p:nvPicPr>
          <p:cNvPr id="13" name="Picture 12">
            <a:extLst>
              <a:ext uri="{FF2B5EF4-FFF2-40B4-BE49-F238E27FC236}">
                <a16:creationId xmlns:a16="http://schemas.microsoft.com/office/drawing/2014/main" id="{2ECD2528-6746-B1C9-49A8-BD2B1E568FBE}"/>
              </a:ext>
            </a:extLst>
          </p:cNvPr>
          <p:cNvPicPr>
            <a:picLocks noChangeAspect="1"/>
          </p:cNvPicPr>
          <p:nvPr/>
        </p:nvPicPr>
        <p:blipFill>
          <a:blip r:embed="rId5"/>
          <a:stretch>
            <a:fillRect/>
          </a:stretch>
        </p:blipFill>
        <p:spPr>
          <a:xfrm>
            <a:off x="799828" y="2514554"/>
            <a:ext cx="2977120" cy="1402127"/>
          </a:xfrm>
          <a:prstGeom prst="rect">
            <a:avLst/>
          </a:prstGeom>
        </p:spPr>
      </p:pic>
      <p:sp>
        <p:nvSpPr>
          <p:cNvPr id="14" name="TextBox 13"/>
          <p:cNvSpPr txBox="1"/>
          <p:nvPr/>
        </p:nvSpPr>
        <p:spPr>
          <a:xfrm>
            <a:off x="697125" y="-42832"/>
            <a:ext cx="10515600" cy="731520"/>
          </a:xfrm>
          <a:prstGeom prst="rect">
            <a:avLst/>
          </a:prstGeom>
          <a:noFill/>
        </p:spPr>
        <p:txBody>
          <a:bodyPr wrap="square">
            <a:spAutoFit/>
          </a:bodyPr>
          <a:lstStyle/>
          <a:p>
            <a:r>
              <a:rPr sz="2500" b="1" dirty="0">
                <a:solidFill>
                  <a:srgbClr val="232323"/>
                </a:solidFill>
              </a:rPr>
              <a:t>Inspect the </a:t>
            </a:r>
            <a:r>
              <a:rPr sz="2500" b="1" dirty="0" err="1">
                <a:solidFill>
                  <a:srgbClr val="232323"/>
                </a:solidFill>
              </a:rPr>
              <a:t>sync_item</a:t>
            </a:r>
            <a:r>
              <a:rPr sz="2500" b="1" dirty="0">
                <a:solidFill>
                  <a:srgbClr val="232323"/>
                </a:solidFill>
              </a:rPr>
              <a:t> Record and Serialized Data</a:t>
            </a:r>
          </a:p>
        </p:txBody>
      </p:sp>
    </p:spTree>
    <p:extLst>
      <p:ext uri="{BB962C8B-B14F-4D97-AF65-F5344CB8AC3E}">
        <p14:creationId xmlns:p14="http://schemas.microsoft.com/office/powerpoint/2010/main" val="577834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65725E-307D-41F1-7D4B-3E5D0B875DC5}"/>
              </a:ext>
            </a:extLst>
          </p:cNvPr>
          <p:cNvPicPr>
            <a:picLocks noChangeAspect="1"/>
          </p:cNvPicPr>
          <p:nvPr/>
        </p:nvPicPr>
        <p:blipFill>
          <a:blip r:embed="rId3"/>
          <a:stretch>
            <a:fillRect/>
          </a:stretch>
        </p:blipFill>
        <p:spPr>
          <a:xfrm>
            <a:off x="921541" y="849426"/>
            <a:ext cx="9258640" cy="5567817"/>
          </a:xfrm>
          <a:prstGeom prst="rect">
            <a:avLst/>
          </a:prstGeom>
        </p:spPr>
      </p:pic>
      <p:sp>
        <p:nvSpPr>
          <p:cNvPr id="4" name="TextBox 3"/>
          <p:cNvSpPr txBox="1"/>
          <p:nvPr/>
        </p:nvSpPr>
        <p:spPr>
          <a:xfrm>
            <a:off x="838200" y="117906"/>
            <a:ext cx="10515600" cy="731520"/>
          </a:xfrm>
          <a:prstGeom prst="rect">
            <a:avLst/>
          </a:prstGeom>
          <a:noFill/>
        </p:spPr>
        <p:txBody>
          <a:bodyPr wrap="square">
            <a:spAutoFit/>
          </a:bodyPr>
          <a:lstStyle/>
          <a:p>
            <a:r>
              <a:rPr sz="2500" b="1" dirty="0">
                <a:solidFill>
                  <a:srgbClr val="232323"/>
                </a:solidFill>
              </a:rPr>
              <a:t>Interpret </a:t>
            </a:r>
            <a:r>
              <a:rPr sz="2500" b="1" dirty="0" err="1">
                <a:solidFill>
                  <a:srgbClr val="232323"/>
                </a:solidFill>
              </a:rPr>
              <a:t>sync_corpus</a:t>
            </a:r>
            <a:r>
              <a:rPr sz="2500" b="1" dirty="0">
                <a:solidFill>
                  <a:srgbClr val="232323"/>
                </a:solidFill>
              </a:rPr>
              <a:t> vs. </a:t>
            </a:r>
            <a:r>
              <a:rPr sz="2500" b="1" dirty="0" err="1">
                <a:solidFill>
                  <a:srgbClr val="232323"/>
                </a:solidFill>
              </a:rPr>
              <a:t>sync_item</a:t>
            </a:r>
            <a:r>
              <a:rPr sz="2500" b="1" dirty="0">
                <a:solidFill>
                  <a:srgbClr val="232323"/>
                </a:solidFill>
              </a:rPr>
              <a:t> Timestamps</a:t>
            </a:r>
          </a:p>
        </p:txBody>
      </p:sp>
    </p:spTree>
    <p:extLst>
      <p:ext uri="{BB962C8B-B14F-4D97-AF65-F5344CB8AC3E}">
        <p14:creationId xmlns:p14="http://schemas.microsoft.com/office/powerpoint/2010/main" val="1226175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F7C0E-8F15-CE08-19BC-40130ADBC19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E1A16CC-B6EB-688C-5D33-CF17D39204F9}"/>
              </a:ext>
            </a:extLst>
          </p:cNvPr>
          <p:cNvPicPr>
            <a:picLocks noChangeAspect="1"/>
          </p:cNvPicPr>
          <p:nvPr/>
        </p:nvPicPr>
        <p:blipFill>
          <a:blip r:embed="rId2"/>
          <a:stretch>
            <a:fillRect/>
          </a:stretch>
        </p:blipFill>
        <p:spPr>
          <a:xfrm>
            <a:off x="1097008" y="975311"/>
            <a:ext cx="9121616" cy="1638349"/>
          </a:xfrm>
          <a:prstGeom prst="rect">
            <a:avLst/>
          </a:prstGeom>
        </p:spPr>
      </p:pic>
      <p:sp>
        <p:nvSpPr>
          <p:cNvPr id="6" name="TextBox 5">
            <a:extLst>
              <a:ext uri="{FF2B5EF4-FFF2-40B4-BE49-F238E27FC236}">
                <a16:creationId xmlns:a16="http://schemas.microsoft.com/office/drawing/2014/main" id="{33B5A375-7A06-8F33-8B13-90D9F1B8F375}"/>
              </a:ext>
            </a:extLst>
          </p:cNvPr>
          <p:cNvSpPr txBox="1"/>
          <p:nvPr/>
        </p:nvSpPr>
        <p:spPr>
          <a:xfrm>
            <a:off x="1013188" y="2803274"/>
            <a:ext cx="577623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t>E6 coordinates are stored in microdegrees:</a:t>
            </a:r>
          </a:p>
          <a:p>
            <a:r>
              <a:t>latitude = lat_e6 / 1,000,000</a:t>
            </a:r>
          </a:p>
          <a:p>
            <a:r>
              <a:t>longitude = long_e6 / 1,000,000</a:t>
            </a:r>
          </a:p>
          <a:p>
            <a:endParaRPr/>
          </a:p>
          <a:p>
            <a:r>
              <a:t>After conversion, map or geocode the coordinate and document the service used.</a:t>
            </a:r>
          </a:p>
        </p:txBody>
      </p:sp>
      <p:pic>
        <p:nvPicPr>
          <p:cNvPr id="8" name="Picture 7">
            <a:extLst>
              <a:ext uri="{FF2B5EF4-FFF2-40B4-BE49-F238E27FC236}">
                <a16:creationId xmlns:a16="http://schemas.microsoft.com/office/drawing/2014/main" id="{01B48C48-A115-74EB-F1F9-B26E87A7F6FE}"/>
              </a:ext>
            </a:extLst>
          </p:cNvPr>
          <p:cNvPicPr>
            <a:picLocks noChangeAspect="1"/>
          </p:cNvPicPr>
          <p:nvPr/>
        </p:nvPicPr>
        <p:blipFill>
          <a:blip r:embed="rId3"/>
          <a:stretch>
            <a:fillRect/>
          </a:stretch>
        </p:blipFill>
        <p:spPr>
          <a:xfrm>
            <a:off x="6789420" y="2861762"/>
            <a:ext cx="3681366" cy="3345522"/>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98D28B3-8429-567C-1C11-E02137E7139B}"/>
                  </a:ext>
                </a:extLst>
              </p14:cNvPr>
              <p14:cNvContentPartPr/>
              <p14:nvPr/>
            </p14:nvContentPartPr>
            <p14:xfrm>
              <a:off x="8711848" y="2168927"/>
              <a:ext cx="883800" cy="441000"/>
            </p14:xfrm>
          </p:contentPart>
        </mc:Choice>
        <mc:Fallback xmlns="">
          <p:pic>
            <p:nvPicPr>
              <p:cNvPr id="2" name="Ink 1">
                <a:extLst>
                  <a:ext uri="{FF2B5EF4-FFF2-40B4-BE49-F238E27FC236}">
                    <a16:creationId xmlns:a16="http://schemas.microsoft.com/office/drawing/2014/main" id="{898D28B3-8429-567C-1C11-E02137E7139B}"/>
                  </a:ext>
                </a:extLst>
              </p:cNvPr>
              <p:cNvPicPr/>
              <p:nvPr/>
            </p:nvPicPr>
            <p:blipFill>
              <a:blip r:embed="rId7"/>
              <a:stretch>
                <a:fillRect/>
              </a:stretch>
            </p:blipFill>
            <p:spPr>
              <a:xfrm>
                <a:off x="8693848" y="2151287"/>
                <a:ext cx="919440" cy="476640"/>
              </a:xfrm>
              <a:prstGeom prst="rect">
                <a:avLst/>
              </a:prstGeom>
            </p:spPr>
          </p:pic>
        </mc:Fallback>
      </mc:AlternateContent>
      <p:grpSp>
        <p:nvGrpSpPr>
          <p:cNvPr id="14" name="Group 13">
            <a:extLst>
              <a:ext uri="{FF2B5EF4-FFF2-40B4-BE49-F238E27FC236}">
                <a16:creationId xmlns:a16="http://schemas.microsoft.com/office/drawing/2014/main" id="{AC83E115-2E33-22A5-4B17-5BB17EB18673}"/>
              </a:ext>
            </a:extLst>
          </p:cNvPr>
          <p:cNvGrpSpPr/>
          <p:nvPr/>
        </p:nvGrpSpPr>
        <p:grpSpPr>
          <a:xfrm>
            <a:off x="10437328" y="1692647"/>
            <a:ext cx="1273680" cy="550800"/>
            <a:chOff x="10437328" y="1692647"/>
            <a:chExt cx="1273680" cy="550800"/>
          </a:xfrm>
        </p:grpSpPr>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4B040010-5C21-CD0A-56F8-E2CDA353B2C8}"/>
                    </a:ext>
                  </a:extLst>
                </p14:cNvPr>
                <p14:cNvContentPartPr/>
                <p14:nvPr/>
              </p14:nvContentPartPr>
              <p14:xfrm>
                <a:off x="10437328" y="1918727"/>
                <a:ext cx="164520" cy="324720"/>
              </p14:xfrm>
            </p:contentPart>
          </mc:Choice>
          <mc:Fallback xmlns="">
            <p:pic>
              <p:nvPicPr>
                <p:cNvPr id="4" name="Ink 3">
                  <a:extLst>
                    <a:ext uri="{FF2B5EF4-FFF2-40B4-BE49-F238E27FC236}">
                      <a16:creationId xmlns:a16="http://schemas.microsoft.com/office/drawing/2014/main" id="{4B040010-5C21-CD0A-56F8-E2CDA353B2C8}"/>
                    </a:ext>
                  </a:extLst>
                </p:cNvPr>
                <p:cNvPicPr/>
                <p:nvPr/>
              </p:nvPicPr>
              <p:blipFill>
                <a:blip r:embed="rId9"/>
                <a:stretch>
                  <a:fillRect/>
                </a:stretch>
              </p:blipFill>
              <p:spPr>
                <a:xfrm>
                  <a:off x="10419688" y="1901087"/>
                  <a:ext cx="20016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6A414F42-4A1C-DAFA-AF92-F4451462F4DB}"/>
                    </a:ext>
                  </a:extLst>
                </p14:cNvPr>
                <p14:cNvContentPartPr/>
                <p14:nvPr/>
              </p14:nvContentPartPr>
              <p14:xfrm>
                <a:off x="10592488" y="1910447"/>
                <a:ext cx="31320" cy="329400"/>
              </p14:xfrm>
            </p:contentPart>
          </mc:Choice>
          <mc:Fallback xmlns="">
            <p:pic>
              <p:nvPicPr>
                <p:cNvPr id="5" name="Ink 4">
                  <a:extLst>
                    <a:ext uri="{FF2B5EF4-FFF2-40B4-BE49-F238E27FC236}">
                      <a16:creationId xmlns:a16="http://schemas.microsoft.com/office/drawing/2014/main" id="{6A414F42-4A1C-DAFA-AF92-F4451462F4DB}"/>
                    </a:ext>
                  </a:extLst>
                </p:cNvPr>
                <p:cNvPicPr/>
                <p:nvPr/>
              </p:nvPicPr>
              <p:blipFill>
                <a:blip r:embed="rId11"/>
                <a:stretch>
                  <a:fillRect/>
                </a:stretch>
              </p:blipFill>
              <p:spPr>
                <a:xfrm>
                  <a:off x="10574848" y="1892447"/>
                  <a:ext cx="6696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4B1C1C93-7AC4-4B3A-C070-53DD59ABD882}"/>
                    </a:ext>
                  </a:extLst>
                </p14:cNvPr>
                <p14:cNvContentPartPr/>
                <p14:nvPr/>
              </p14:nvContentPartPr>
              <p14:xfrm>
                <a:off x="10695448" y="2087207"/>
                <a:ext cx="78840" cy="121680"/>
              </p14:xfrm>
            </p:contentPart>
          </mc:Choice>
          <mc:Fallback xmlns="">
            <p:pic>
              <p:nvPicPr>
                <p:cNvPr id="9" name="Ink 8">
                  <a:extLst>
                    <a:ext uri="{FF2B5EF4-FFF2-40B4-BE49-F238E27FC236}">
                      <a16:creationId xmlns:a16="http://schemas.microsoft.com/office/drawing/2014/main" id="{4B1C1C93-7AC4-4B3A-C070-53DD59ABD882}"/>
                    </a:ext>
                  </a:extLst>
                </p:cNvPr>
                <p:cNvPicPr/>
                <p:nvPr/>
              </p:nvPicPr>
              <p:blipFill>
                <a:blip r:embed="rId13"/>
                <a:stretch>
                  <a:fillRect/>
                </a:stretch>
              </p:blipFill>
              <p:spPr>
                <a:xfrm>
                  <a:off x="10677448" y="2069207"/>
                  <a:ext cx="1144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424CB256-D1AC-585C-EBEE-63CE597B13BD}"/>
                    </a:ext>
                  </a:extLst>
                </p14:cNvPr>
                <p14:cNvContentPartPr/>
                <p14:nvPr/>
              </p14:nvContentPartPr>
              <p14:xfrm>
                <a:off x="10912888" y="2076047"/>
                <a:ext cx="81360" cy="88920"/>
              </p14:xfrm>
            </p:contentPart>
          </mc:Choice>
          <mc:Fallback xmlns="">
            <p:pic>
              <p:nvPicPr>
                <p:cNvPr id="10" name="Ink 9">
                  <a:extLst>
                    <a:ext uri="{FF2B5EF4-FFF2-40B4-BE49-F238E27FC236}">
                      <a16:creationId xmlns:a16="http://schemas.microsoft.com/office/drawing/2014/main" id="{424CB256-D1AC-585C-EBEE-63CE597B13BD}"/>
                    </a:ext>
                  </a:extLst>
                </p:cNvPr>
                <p:cNvPicPr/>
                <p:nvPr/>
              </p:nvPicPr>
              <p:blipFill>
                <a:blip r:embed="rId15"/>
                <a:stretch>
                  <a:fillRect/>
                </a:stretch>
              </p:blipFill>
              <p:spPr>
                <a:xfrm>
                  <a:off x="10895248" y="2058047"/>
                  <a:ext cx="11700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AE35AB67-F7F0-533C-8392-856D97A82DB0}"/>
                    </a:ext>
                  </a:extLst>
                </p14:cNvPr>
                <p14:cNvContentPartPr/>
                <p14:nvPr/>
              </p14:nvContentPartPr>
              <p14:xfrm>
                <a:off x="11047168" y="1990367"/>
                <a:ext cx="120240" cy="122400"/>
              </p14:xfrm>
            </p:contentPart>
          </mc:Choice>
          <mc:Fallback xmlns="">
            <p:pic>
              <p:nvPicPr>
                <p:cNvPr id="11" name="Ink 10">
                  <a:extLst>
                    <a:ext uri="{FF2B5EF4-FFF2-40B4-BE49-F238E27FC236}">
                      <a16:creationId xmlns:a16="http://schemas.microsoft.com/office/drawing/2014/main" id="{AE35AB67-F7F0-533C-8392-856D97A82DB0}"/>
                    </a:ext>
                  </a:extLst>
                </p:cNvPr>
                <p:cNvPicPr/>
                <p:nvPr/>
              </p:nvPicPr>
              <p:blipFill>
                <a:blip r:embed="rId17"/>
                <a:stretch>
                  <a:fillRect/>
                </a:stretch>
              </p:blipFill>
              <p:spPr>
                <a:xfrm>
                  <a:off x="11029168" y="1972727"/>
                  <a:ext cx="1558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2505E6AA-0B59-861D-553A-CEAC6627EADD}"/>
                    </a:ext>
                  </a:extLst>
                </p14:cNvPr>
                <p14:cNvContentPartPr/>
                <p14:nvPr/>
              </p14:nvContentPartPr>
              <p14:xfrm>
                <a:off x="11283328" y="1692647"/>
                <a:ext cx="199800" cy="376560"/>
              </p14:xfrm>
            </p:contentPart>
          </mc:Choice>
          <mc:Fallback xmlns="">
            <p:pic>
              <p:nvPicPr>
                <p:cNvPr id="12" name="Ink 11">
                  <a:extLst>
                    <a:ext uri="{FF2B5EF4-FFF2-40B4-BE49-F238E27FC236}">
                      <a16:creationId xmlns:a16="http://schemas.microsoft.com/office/drawing/2014/main" id="{2505E6AA-0B59-861D-553A-CEAC6627EADD}"/>
                    </a:ext>
                  </a:extLst>
                </p:cNvPr>
                <p:cNvPicPr/>
                <p:nvPr/>
              </p:nvPicPr>
              <p:blipFill>
                <a:blip r:embed="rId19"/>
                <a:stretch>
                  <a:fillRect/>
                </a:stretch>
              </p:blipFill>
              <p:spPr>
                <a:xfrm>
                  <a:off x="11265328" y="1675007"/>
                  <a:ext cx="235440" cy="412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DA426CF2-925F-07CD-2613-3AF7FB4D03DC}"/>
                    </a:ext>
                  </a:extLst>
                </p14:cNvPr>
                <p14:cNvContentPartPr/>
                <p14:nvPr/>
              </p14:nvContentPartPr>
              <p14:xfrm>
                <a:off x="11604448" y="1827647"/>
                <a:ext cx="106560" cy="165960"/>
              </p14:xfrm>
            </p:contentPart>
          </mc:Choice>
          <mc:Fallback xmlns="">
            <p:pic>
              <p:nvPicPr>
                <p:cNvPr id="13" name="Ink 12">
                  <a:extLst>
                    <a:ext uri="{FF2B5EF4-FFF2-40B4-BE49-F238E27FC236}">
                      <a16:creationId xmlns:a16="http://schemas.microsoft.com/office/drawing/2014/main" id="{DA426CF2-925F-07CD-2613-3AF7FB4D03DC}"/>
                    </a:ext>
                  </a:extLst>
                </p:cNvPr>
                <p:cNvPicPr/>
                <p:nvPr/>
              </p:nvPicPr>
              <p:blipFill>
                <a:blip r:embed="rId21"/>
                <a:stretch>
                  <a:fillRect/>
                </a:stretch>
              </p:blipFill>
              <p:spPr>
                <a:xfrm>
                  <a:off x="11586448" y="1809647"/>
                  <a:ext cx="142200" cy="201600"/>
                </a:xfrm>
                <a:prstGeom prst="rect">
                  <a:avLst/>
                </a:prstGeom>
              </p:spPr>
            </p:pic>
          </mc:Fallback>
        </mc:AlternateContent>
      </p:grpSp>
      <p:grpSp>
        <p:nvGrpSpPr>
          <p:cNvPr id="21" name="Group 20">
            <a:extLst>
              <a:ext uri="{FF2B5EF4-FFF2-40B4-BE49-F238E27FC236}">
                <a16:creationId xmlns:a16="http://schemas.microsoft.com/office/drawing/2014/main" id="{9AEFB165-B671-02D9-3FB5-1F923E33D88A}"/>
              </a:ext>
            </a:extLst>
          </p:cNvPr>
          <p:cNvGrpSpPr/>
          <p:nvPr/>
        </p:nvGrpSpPr>
        <p:grpSpPr>
          <a:xfrm>
            <a:off x="9783568" y="2141207"/>
            <a:ext cx="423720" cy="249480"/>
            <a:chOff x="9783568" y="2141207"/>
            <a:chExt cx="423720" cy="249480"/>
          </a:xfrm>
        </p:grpSpPr>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8FC52ECB-597A-21FE-2E33-34973B9A5D6F}"/>
                    </a:ext>
                  </a:extLst>
                </p14:cNvPr>
                <p14:cNvContentPartPr/>
                <p14:nvPr/>
              </p14:nvContentPartPr>
              <p14:xfrm>
                <a:off x="9810208" y="2162807"/>
                <a:ext cx="397080" cy="110520"/>
              </p14:xfrm>
            </p:contentPart>
          </mc:Choice>
          <mc:Fallback xmlns="">
            <p:pic>
              <p:nvPicPr>
                <p:cNvPr id="19" name="Ink 18">
                  <a:extLst>
                    <a:ext uri="{FF2B5EF4-FFF2-40B4-BE49-F238E27FC236}">
                      <a16:creationId xmlns:a16="http://schemas.microsoft.com/office/drawing/2014/main" id="{8FC52ECB-597A-21FE-2E33-34973B9A5D6F}"/>
                    </a:ext>
                  </a:extLst>
                </p:cNvPr>
                <p:cNvPicPr/>
                <p:nvPr/>
              </p:nvPicPr>
              <p:blipFill>
                <a:blip r:embed="rId23"/>
                <a:stretch>
                  <a:fillRect/>
                </a:stretch>
              </p:blipFill>
              <p:spPr>
                <a:xfrm>
                  <a:off x="9792568" y="2144807"/>
                  <a:ext cx="43272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4B10C702-1A21-0D13-09F1-E7659671D709}"/>
                    </a:ext>
                  </a:extLst>
                </p14:cNvPr>
                <p14:cNvContentPartPr/>
                <p14:nvPr/>
              </p14:nvContentPartPr>
              <p14:xfrm>
                <a:off x="9783568" y="2141207"/>
                <a:ext cx="177120" cy="249480"/>
              </p14:xfrm>
            </p:contentPart>
          </mc:Choice>
          <mc:Fallback xmlns="">
            <p:pic>
              <p:nvPicPr>
                <p:cNvPr id="20" name="Ink 19">
                  <a:extLst>
                    <a:ext uri="{FF2B5EF4-FFF2-40B4-BE49-F238E27FC236}">
                      <a16:creationId xmlns:a16="http://schemas.microsoft.com/office/drawing/2014/main" id="{4B10C702-1A21-0D13-09F1-E7659671D709}"/>
                    </a:ext>
                  </a:extLst>
                </p:cNvPr>
                <p:cNvPicPr/>
                <p:nvPr/>
              </p:nvPicPr>
              <p:blipFill>
                <a:blip r:embed="rId25"/>
                <a:stretch>
                  <a:fillRect/>
                </a:stretch>
              </p:blipFill>
              <p:spPr>
                <a:xfrm>
                  <a:off x="9765928" y="2123207"/>
                  <a:ext cx="212760" cy="285120"/>
                </a:xfrm>
                <a:prstGeom prst="rect">
                  <a:avLst/>
                </a:prstGeom>
              </p:spPr>
            </p:pic>
          </mc:Fallback>
        </mc:AlternateContent>
      </p:grpSp>
      <p:sp>
        <p:nvSpPr>
          <p:cNvPr id="22" name="TextBox 21"/>
          <p:cNvSpPr txBox="1"/>
          <p:nvPr/>
        </p:nvSpPr>
        <p:spPr>
          <a:xfrm>
            <a:off x="822960" y="320040"/>
            <a:ext cx="10515600" cy="731520"/>
          </a:xfrm>
          <a:prstGeom prst="rect">
            <a:avLst/>
          </a:prstGeom>
          <a:noFill/>
        </p:spPr>
        <p:txBody>
          <a:bodyPr wrap="square">
            <a:spAutoFit/>
          </a:bodyPr>
          <a:lstStyle/>
          <a:p>
            <a:r>
              <a:rPr sz="2800" b="1">
                <a:solidFill>
                  <a:srgbClr val="232323"/>
                </a:solidFill>
              </a:rPr>
              <a:t>Decode E6 Coordinates</a:t>
            </a:r>
          </a:p>
        </p:txBody>
      </p:sp>
    </p:spTree>
    <p:extLst>
      <p:ext uri="{BB962C8B-B14F-4D97-AF65-F5344CB8AC3E}">
        <p14:creationId xmlns:p14="http://schemas.microsoft.com/office/powerpoint/2010/main" val="1958439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none">
            <a:spAutoFit/>
          </a:bodyPr>
          <a:lstStyle/>
          <a:p>
            <a:r>
              <a:rPr sz="3000" b="1">
                <a:solidFill>
                  <a:srgbClr val="2D2D2D"/>
                </a:solidFill>
              </a:rPr>
              <a:t>Coordinate and Timestamp Validation Checklist</a:t>
            </a:r>
          </a:p>
        </p:txBody>
      </p:sp>
      <p:sp>
        <p:nvSpPr>
          <p:cNvPr id="3" name="TextBox 2"/>
          <p:cNvSpPr txBox="1"/>
          <p:nvPr/>
        </p:nvSpPr>
        <p:spPr>
          <a:xfrm>
            <a:off x="658368" y="1202016"/>
            <a:ext cx="10789920" cy="320040"/>
          </a:xfrm>
          <a:prstGeom prst="rect">
            <a:avLst/>
          </a:prstGeom>
          <a:noFill/>
        </p:spPr>
        <p:txBody>
          <a:bodyPr wrap="none">
            <a:spAutoFit/>
          </a:bodyPr>
          <a:lstStyle/>
          <a:p>
            <a:r>
              <a:rPr sz="1300" dirty="0">
                <a:solidFill>
                  <a:srgbClr val="5F5F5F"/>
                </a:solidFill>
              </a:rPr>
              <a:t>A stricter process for avoiding overclaiming</a:t>
            </a:r>
          </a:p>
        </p:txBody>
      </p:sp>
      <p:sp>
        <p:nvSpPr>
          <p:cNvPr id="4" name="Rounded Rectangle 3"/>
          <p:cNvSpPr/>
          <p:nvPr/>
        </p:nvSpPr>
        <p:spPr>
          <a:xfrm>
            <a:off x="658368" y="1736940"/>
            <a:ext cx="5212080" cy="1325880"/>
          </a:xfrm>
          <a:prstGeom prst="roundRect">
            <a:avLst/>
          </a:prstGeom>
          <a:solidFill>
            <a:srgbClr val="FAFAFA"/>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736940"/>
            <a:ext cx="73152" cy="1325880"/>
          </a:xfrm>
          <a:prstGeom prst="rect">
            <a:avLst/>
          </a:prstGeom>
          <a:solidFill>
            <a:srgbClr val="F47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846667"/>
            <a:ext cx="4937760" cy="256032"/>
          </a:xfrm>
          <a:prstGeom prst="rect">
            <a:avLst/>
          </a:prstGeom>
          <a:noFill/>
        </p:spPr>
        <p:txBody>
          <a:bodyPr wrap="none">
            <a:spAutoFit/>
          </a:bodyPr>
          <a:lstStyle/>
          <a:p>
            <a:r>
              <a:rPr sz="1400" b="1">
                <a:solidFill>
                  <a:srgbClr val="2D2D2D"/>
                </a:solidFill>
              </a:rPr>
              <a:t>Coordinate validation</a:t>
            </a:r>
          </a:p>
        </p:txBody>
      </p:sp>
      <p:sp>
        <p:nvSpPr>
          <p:cNvPr id="7" name="TextBox 6"/>
          <p:cNvSpPr txBox="1"/>
          <p:nvPr/>
        </p:nvSpPr>
        <p:spPr>
          <a:xfrm>
            <a:off x="822960" y="2166708"/>
            <a:ext cx="4892040" cy="822959"/>
          </a:xfrm>
          <a:prstGeom prst="rect">
            <a:avLst/>
          </a:prstGeom>
          <a:noFill/>
        </p:spPr>
        <p:txBody>
          <a:bodyPr wrap="square">
            <a:spAutoFit/>
          </a:bodyPr>
          <a:lstStyle/>
          <a:p>
            <a:pPr>
              <a:spcAft>
                <a:spcPts val="300"/>
              </a:spcAft>
              <a:defRPr sz="1250">
                <a:solidFill>
                  <a:srgbClr val="2D2D2D"/>
                </a:solidFill>
              </a:defRPr>
            </a:pPr>
            <a:r>
              <a:rPr dirty="0"/>
              <a:t>Confirm the field name and scale: E6 = value / 1,000,000.</a:t>
            </a:r>
          </a:p>
          <a:p>
            <a:pPr>
              <a:spcAft>
                <a:spcPts val="300"/>
              </a:spcAft>
              <a:defRPr sz="1250">
                <a:solidFill>
                  <a:srgbClr val="2D2D2D"/>
                </a:solidFill>
              </a:defRPr>
            </a:pPr>
            <a:r>
              <a:rPr dirty="0"/>
              <a:t>Preserve the raw integer and the converted decimal coordinate in notes.</a:t>
            </a:r>
          </a:p>
        </p:txBody>
      </p:sp>
      <p:sp>
        <p:nvSpPr>
          <p:cNvPr id="8" name="Rounded Rectangle 7"/>
          <p:cNvSpPr/>
          <p:nvPr/>
        </p:nvSpPr>
        <p:spPr>
          <a:xfrm>
            <a:off x="6281928" y="1736940"/>
            <a:ext cx="5212080" cy="1325880"/>
          </a:xfrm>
          <a:prstGeom prst="roundRect">
            <a:avLst/>
          </a:prstGeom>
          <a:solidFill>
            <a:srgbClr val="FAFAFA"/>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81928" y="1736940"/>
            <a:ext cx="73152" cy="1325880"/>
          </a:xfrm>
          <a:prstGeom prst="rect">
            <a:avLst/>
          </a:prstGeom>
          <a:solidFill>
            <a:srgbClr val="F47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846667"/>
            <a:ext cx="4937760" cy="256032"/>
          </a:xfrm>
          <a:prstGeom prst="rect">
            <a:avLst/>
          </a:prstGeom>
          <a:noFill/>
        </p:spPr>
        <p:txBody>
          <a:bodyPr wrap="none">
            <a:spAutoFit/>
          </a:bodyPr>
          <a:lstStyle/>
          <a:p>
            <a:r>
              <a:rPr sz="1400" b="1">
                <a:solidFill>
                  <a:srgbClr val="2D2D2D"/>
                </a:solidFill>
              </a:rPr>
              <a:t>Timestamp validation</a:t>
            </a:r>
          </a:p>
        </p:txBody>
      </p:sp>
      <p:sp>
        <p:nvSpPr>
          <p:cNvPr id="11" name="TextBox 10"/>
          <p:cNvSpPr txBox="1"/>
          <p:nvPr/>
        </p:nvSpPr>
        <p:spPr>
          <a:xfrm>
            <a:off x="6446520" y="2166708"/>
            <a:ext cx="4892040" cy="822959"/>
          </a:xfrm>
          <a:prstGeom prst="rect">
            <a:avLst/>
          </a:prstGeom>
          <a:noFill/>
        </p:spPr>
        <p:txBody>
          <a:bodyPr wrap="square">
            <a:spAutoFit/>
          </a:bodyPr>
          <a:lstStyle/>
          <a:p>
            <a:pPr>
              <a:spcAft>
                <a:spcPts val="300"/>
              </a:spcAft>
              <a:defRPr sz="1250">
                <a:solidFill>
                  <a:srgbClr val="2D2D2D"/>
                </a:solidFill>
              </a:defRPr>
            </a:pPr>
            <a:r>
              <a:rPr dirty="0"/>
              <a:t>Identify the unit: seconds, milliseconds, microseconds, or app-specific encoding.</a:t>
            </a:r>
          </a:p>
          <a:p>
            <a:pPr>
              <a:spcAft>
                <a:spcPts val="300"/>
              </a:spcAft>
              <a:defRPr sz="1250">
                <a:solidFill>
                  <a:srgbClr val="2D2D2D"/>
                </a:solidFill>
              </a:defRPr>
            </a:pPr>
            <a:r>
              <a:rPr dirty="0"/>
              <a:t>Flag negative, zero, or far-future values as suspicious until decoded.</a:t>
            </a:r>
          </a:p>
        </p:txBody>
      </p:sp>
      <p:sp>
        <p:nvSpPr>
          <p:cNvPr id="12" name="Rounded Rectangle 11"/>
          <p:cNvSpPr/>
          <p:nvPr/>
        </p:nvSpPr>
        <p:spPr>
          <a:xfrm>
            <a:off x="658368" y="3382860"/>
            <a:ext cx="5212080" cy="1325880"/>
          </a:xfrm>
          <a:prstGeom prst="roundRect">
            <a:avLst/>
          </a:prstGeom>
          <a:solidFill>
            <a:srgbClr val="FAFAFA"/>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 y="3382860"/>
            <a:ext cx="73152" cy="1325880"/>
          </a:xfrm>
          <a:prstGeom prst="rect">
            <a:avLst/>
          </a:prstGeom>
          <a:solidFill>
            <a:srgbClr val="F47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492588"/>
            <a:ext cx="4937760" cy="256032"/>
          </a:xfrm>
          <a:prstGeom prst="rect">
            <a:avLst/>
          </a:prstGeom>
          <a:noFill/>
        </p:spPr>
        <p:txBody>
          <a:bodyPr wrap="none">
            <a:spAutoFit/>
          </a:bodyPr>
          <a:lstStyle/>
          <a:p>
            <a:r>
              <a:rPr sz="1400" b="1">
                <a:solidFill>
                  <a:srgbClr val="2D2D2D"/>
                </a:solidFill>
              </a:rPr>
              <a:t>Mapping validation</a:t>
            </a:r>
          </a:p>
        </p:txBody>
      </p:sp>
      <p:sp>
        <p:nvSpPr>
          <p:cNvPr id="15" name="TextBox 14"/>
          <p:cNvSpPr txBox="1"/>
          <p:nvPr/>
        </p:nvSpPr>
        <p:spPr>
          <a:xfrm>
            <a:off x="822960" y="3812628"/>
            <a:ext cx="4892040" cy="822959"/>
          </a:xfrm>
          <a:prstGeom prst="rect">
            <a:avLst/>
          </a:prstGeom>
          <a:noFill/>
        </p:spPr>
        <p:txBody>
          <a:bodyPr wrap="square">
            <a:spAutoFit/>
          </a:bodyPr>
          <a:lstStyle/>
          <a:p>
            <a:pPr>
              <a:spcAft>
                <a:spcPts val="300"/>
              </a:spcAft>
              <a:defRPr sz="1250">
                <a:solidFill>
                  <a:srgbClr val="2D2D2D"/>
                </a:solidFill>
              </a:defRPr>
            </a:pPr>
            <a:r>
              <a:t>Record the mapping/geocoding service used.</a:t>
            </a:r>
          </a:p>
          <a:p>
            <a:pPr>
              <a:spcAft>
                <a:spcPts val="300"/>
              </a:spcAft>
              <a:defRPr sz="1250">
                <a:solidFill>
                  <a:srgbClr val="2D2D2D"/>
                </a:solidFill>
              </a:defRPr>
            </a:pPr>
            <a:r>
              <a:t>Do not substitute a nearby place name for the exact coordinate without documenting uncertainty.</a:t>
            </a:r>
          </a:p>
        </p:txBody>
      </p:sp>
      <p:sp>
        <p:nvSpPr>
          <p:cNvPr id="16" name="Rounded Rectangle 15"/>
          <p:cNvSpPr/>
          <p:nvPr/>
        </p:nvSpPr>
        <p:spPr>
          <a:xfrm>
            <a:off x="6281928" y="3382860"/>
            <a:ext cx="5212080" cy="1325880"/>
          </a:xfrm>
          <a:prstGeom prst="roundRect">
            <a:avLst/>
          </a:prstGeom>
          <a:solidFill>
            <a:srgbClr val="FAFAFA"/>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81928" y="3382860"/>
            <a:ext cx="73152" cy="1325880"/>
          </a:xfrm>
          <a:prstGeom prst="rect">
            <a:avLst/>
          </a:prstGeom>
          <a:solidFill>
            <a:srgbClr val="F47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492588"/>
            <a:ext cx="4937760" cy="256032"/>
          </a:xfrm>
          <a:prstGeom prst="rect">
            <a:avLst/>
          </a:prstGeom>
          <a:noFill/>
        </p:spPr>
        <p:txBody>
          <a:bodyPr wrap="none">
            <a:spAutoFit/>
          </a:bodyPr>
          <a:lstStyle/>
          <a:p>
            <a:r>
              <a:rPr sz="1400" b="1">
                <a:solidFill>
                  <a:srgbClr val="2D2D2D"/>
                </a:solidFill>
              </a:rPr>
              <a:t>Inference validation</a:t>
            </a:r>
          </a:p>
        </p:txBody>
      </p:sp>
      <p:sp>
        <p:nvSpPr>
          <p:cNvPr id="19" name="TextBox 18"/>
          <p:cNvSpPr txBox="1"/>
          <p:nvPr/>
        </p:nvSpPr>
        <p:spPr>
          <a:xfrm>
            <a:off x="6446520" y="3812628"/>
            <a:ext cx="4892040" cy="822959"/>
          </a:xfrm>
          <a:prstGeom prst="rect">
            <a:avLst/>
          </a:prstGeom>
          <a:noFill/>
        </p:spPr>
        <p:txBody>
          <a:bodyPr wrap="square">
            <a:spAutoFit/>
          </a:bodyPr>
          <a:lstStyle/>
          <a:p>
            <a:pPr>
              <a:spcAft>
                <a:spcPts val="300"/>
              </a:spcAft>
              <a:defRPr sz="1250">
                <a:solidFill>
                  <a:srgbClr val="2D2D2D"/>
                </a:solidFill>
              </a:defRPr>
            </a:pPr>
            <a:r>
              <a:t>A coordinate can represent a searched place, saved place, route endpoint, cached resource, or sync artifact.</a:t>
            </a:r>
          </a:p>
          <a:p>
            <a:pPr>
              <a:spcAft>
                <a:spcPts val="300"/>
              </a:spcAft>
              <a:defRPr sz="1250">
                <a:solidFill>
                  <a:srgbClr val="2D2D2D"/>
                </a:solidFill>
              </a:defRPr>
            </a:pPr>
            <a:r>
              <a:t>Physical presence requires corroboration.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BB314-7538-70D6-1569-FE979169F510}"/>
              </a:ext>
            </a:extLst>
          </p:cNvPr>
          <p:cNvPicPr>
            <a:picLocks noChangeAspect="1"/>
          </p:cNvPicPr>
          <p:nvPr/>
        </p:nvPicPr>
        <p:blipFill>
          <a:blip r:embed="rId3"/>
          <a:stretch>
            <a:fillRect/>
          </a:stretch>
        </p:blipFill>
        <p:spPr>
          <a:xfrm>
            <a:off x="838200" y="1690688"/>
            <a:ext cx="10524132" cy="4831499"/>
          </a:xfrm>
          <a:prstGeom prst="rect">
            <a:avLst/>
          </a:prstGeom>
        </p:spPr>
      </p:pic>
      <p:sp>
        <p:nvSpPr>
          <p:cNvPr id="5" name="Title 4">
            <a:extLst>
              <a:ext uri="{FF2B5EF4-FFF2-40B4-BE49-F238E27FC236}">
                <a16:creationId xmlns:a16="http://schemas.microsoft.com/office/drawing/2014/main" id="{4F077155-BA0F-888E-1CC4-5CD3A90509FE}"/>
              </a:ext>
            </a:extLst>
          </p:cNvPr>
          <p:cNvSpPr>
            <a:spLocks noGrp="1"/>
          </p:cNvSpPr>
          <p:nvPr>
            <p:ph type="title"/>
          </p:nvPr>
        </p:nvSpPr>
        <p:spPr/>
        <p:txBody>
          <a:bodyPr wrap="square"/>
          <a:lstStyle/>
          <a:p>
            <a:r>
              <a:rPr sz="2800" b="1">
                <a:solidFill>
                  <a:srgbClr val="232323"/>
                </a:solidFill>
              </a:rPr>
              <a:t>Decode the Serialized BLOB with Python</a:t>
            </a:r>
          </a:p>
        </p:txBody>
      </p:sp>
    </p:spTree>
    <p:extLst>
      <p:ext uri="{BB962C8B-B14F-4D97-AF65-F5344CB8AC3E}">
        <p14:creationId xmlns:p14="http://schemas.microsoft.com/office/powerpoint/2010/main" val="1434000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81846B-E7D3-1DAC-0ADA-8D9FA65E5C87}"/>
              </a:ext>
            </a:extLst>
          </p:cNvPr>
          <p:cNvPicPr>
            <a:picLocks noChangeAspect="1"/>
          </p:cNvPicPr>
          <p:nvPr/>
        </p:nvPicPr>
        <p:blipFill>
          <a:blip r:embed="rId2"/>
          <a:stretch>
            <a:fillRect/>
          </a:stretch>
        </p:blipFill>
        <p:spPr>
          <a:xfrm>
            <a:off x="2163812" y="1581027"/>
            <a:ext cx="7353568" cy="3349959"/>
          </a:xfrm>
          <a:prstGeom prst="rect">
            <a:avLst/>
          </a:prstGeom>
        </p:spPr>
      </p:pic>
      <p:sp>
        <p:nvSpPr>
          <p:cNvPr id="5" name="TextBox 4"/>
          <p:cNvSpPr txBox="1"/>
          <p:nvPr/>
        </p:nvSpPr>
        <p:spPr>
          <a:xfrm>
            <a:off x="822960" y="320040"/>
            <a:ext cx="10515600" cy="731520"/>
          </a:xfrm>
          <a:prstGeom prst="rect">
            <a:avLst/>
          </a:prstGeom>
          <a:noFill/>
        </p:spPr>
        <p:txBody>
          <a:bodyPr wrap="square">
            <a:spAutoFit/>
          </a:bodyPr>
          <a:lstStyle/>
          <a:p>
            <a:r>
              <a:rPr sz="2800" b="1">
                <a:solidFill>
                  <a:srgbClr val="232323"/>
                </a:solidFill>
              </a:rPr>
              <a:t>BLOB-Decoding Logic</a:t>
            </a:r>
          </a:p>
        </p:txBody>
      </p:sp>
    </p:spTree>
    <p:extLst>
      <p:ext uri="{BB962C8B-B14F-4D97-AF65-F5344CB8AC3E}">
        <p14:creationId xmlns:p14="http://schemas.microsoft.com/office/powerpoint/2010/main" val="3523534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9252DF-3D01-F86F-3395-9CA454F3B7FC}"/>
              </a:ext>
            </a:extLst>
          </p:cNvPr>
          <p:cNvPicPr>
            <a:picLocks noChangeAspect="1"/>
          </p:cNvPicPr>
          <p:nvPr/>
        </p:nvPicPr>
        <p:blipFill>
          <a:blip r:embed="rId2"/>
          <a:stretch>
            <a:fillRect/>
          </a:stretch>
        </p:blipFill>
        <p:spPr>
          <a:xfrm>
            <a:off x="1862739" y="1443946"/>
            <a:ext cx="8100762" cy="2606266"/>
          </a:xfrm>
          <a:prstGeom prst="rect">
            <a:avLst/>
          </a:prstGeom>
        </p:spPr>
      </p:pic>
      <p:pic>
        <p:nvPicPr>
          <p:cNvPr id="6" name="Picture 5">
            <a:extLst>
              <a:ext uri="{FF2B5EF4-FFF2-40B4-BE49-F238E27FC236}">
                <a16:creationId xmlns:a16="http://schemas.microsoft.com/office/drawing/2014/main" id="{80314454-3927-305C-B4B4-866517D3C2C1}"/>
              </a:ext>
            </a:extLst>
          </p:cNvPr>
          <p:cNvPicPr>
            <a:picLocks noChangeAspect="1"/>
          </p:cNvPicPr>
          <p:nvPr/>
        </p:nvPicPr>
        <p:blipFill>
          <a:blip r:embed="rId3"/>
          <a:stretch>
            <a:fillRect/>
          </a:stretch>
        </p:blipFill>
        <p:spPr>
          <a:xfrm>
            <a:off x="1138735" y="4781506"/>
            <a:ext cx="10493649" cy="1013548"/>
          </a:xfrm>
          <a:prstGeom prst="rect">
            <a:avLst/>
          </a:prstGeom>
        </p:spPr>
      </p:pic>
      <p:sp>
        <p:nvSpPr>
          <p:cNvPr id="7" name="TextBox 6">
            <a:extLst>
              <a:ext uri="{FF2B5EF4-FFF2-40B4-BE49-F238E27FC236}">
                <a16:creationId xmlns:a16="http://schemas.microsoft.com/office/drawing/2014/main" id="{6D788F18-79E5-86D8-480A-F84D43883E7F}"/>
              </a:ext>
            </a:extLst>
          </p:cNvPr>
          <p:cNvSpPr txBox="1"/>
          <p:nvPr/>
        </p:nvSpPr>
        <p:spPr>
          <a:xfrm>
            <a:off x="7254240" y="4231193"/>
            <a:ext cx="1490793" cy="369332"/>
          </a:xfrm>
          <a:prstGeom prst="rect">
            <a:avLst/>
          </a:prstGeom>
          <a:noFill/>
        </p:spPr>
        <p:txBody>
          <a:bodyPr wrap="none" rtlCol="0">
            <a:spAutoFit/>
          </a:bodyPr>
          <a:lstStyle/>
          <a:p>
            <a:r>
              <a:rPr lang="en-US" dirty="0"/>
              <a:t>Decoded blob</a:t>
            </a:r>
          </a:p>
        </p:txBody>
      </p:sp>
      <p:cxnSp>
        <p:nvCxnSpPr>
          <p:cNvPr id="9" name="Straight Arrow Connector 8">
            <a:extLst>
              <a:ext uri="{FF2B5EF4-FFF2-40B4-BE49-F238E27FC236}">
                <a16:creationId xmlns:a16="http://schemas.microsoft.com/office/drawing/2014/main" id="{9C9D091C-C7D1-2B2C-EE19-FD1191F2057B}"/>
              </a:ext>
            </a:extLst>
          </p:cNvPr>
          <p:cNvCxnSpPr>
            <a:stCxn id="7" idx="2"/>
          </p:cNvCxnSpPr>
          <p:nvPr/>
        </p:nvCxnSpPr>
        <p:spPr>
          <a:xfrm flipH="1">
            <a:off x="7917180" y="4600525"/>
            <a:ext cx="82457" cy="39819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822960" y="320040"/>
            <a:ext cx="10515600" cy="731520"/>
          </a:xfrm>
          <a:prstGeom prst="rect">
            <a:avLst/>
          </a:prstGeom>
          <a:noFill/>
        </p:spPr>
        <p:txBody>
          <a:bodyPr wrap="square">
            <a:spAutoFit/>
          </a:bodyPr>
          <a:lstStyle/>
          <a:p>
            <a:r>
              <a:rPr sz="2800" b="1">
                <a:solidFill>
                  <a:srgbClr val="232323"/>
                </a:solidFill>
              </a:rPr>
              <a:t>Validate the Decoded Output</a:t>
            </a:r>
          </a:p>
        </p:txBody>
      </p:sp>
    </p:spTree>
    <p:extLst>
      <p:ext uri="{BB962C8B-B14F-4D97-AF65-F5344CB8AC3E}">
        <p14:creationId xmlns:p14="http://schemas.microsoft.com/office/powerpoint/2010/main" val="2216108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0120" y="1828800"/>
            <a:ext cx="10241280" cy="502920"/>
          </a:xfrm>
          <a:prstGeom prst="rect">
            <a:avLst/>
          </a:prstGeom>
          <a:noFill/>
        </p:spPr>
        <p:txBody>
          <a:bodyPr wrap="none">
            <a:spAutoFit/>
          </a:bodyPr>
          <a:lstStyle/>
          <a:p>
            <a:pPr>
              <a:defRPr sz="1800" b="1">
                <a:solidFill>
                  <a:srgbClr val="F06E23"/>
                </a:solidFill>
              </a:defRPr>
            </a:pPr>
            <a:r>
              <a:t>Section 3</a:t>
            </a:r>
          </a:p>
        </p:txBody>
      </p:sp>
      <p:sp>
        <p:nvSpPr>
          <p:cNvPr id="3" name="TextBox 2"/>
          <p:cNvSpPr txBox="1"/>
          <p:nvPr/>
        </p:nvSpPr>
        <p:spPr>
          <a:xfrm>
            <a:off x="960120" y="2423160"/>
            <a:ext cx="10241280" cy="914400"/>
          </a:xfrm>
          <a:prstGeom prst="rect">
            <a:avLst/>
          </a:prstGeom>
          <a:noFill/>
        </p:spPr>
        <p:txBody>
          <a:bodyPr wrap="none">
            <a:spAutoFit/>
          </a:bodyPr>
          <a:lstStyle/>
          <a:p>
            <a:pPr>
              <a:defRPr sz="3400" b="1">
                <a:solidFill>
                  <a:srgbClr val="232323"/>
                </a:solidFill>
              </a:defRPr>
            </a:pPr>
            <a:r>
              <a:t>Navigation and Offline Storage</a:t>
            </a:r>
          </a:p>
        </p:txBody>
      </p:sp>
      <p:sp>
        <p:nvSpPr>
          <p:cNvPr id="4" name="TextBox 3"/>
          <p:cNvSpPr txBox="1"/>
          <p:nvPr/>
        </p:nvSpPr>
        <p:spPr>
          <a:xfrm>
            <a:off x="987552" y="3520440"/>
            <a:ext cx="9692640" cy="731520"/>
          </a:xfrm>
          <a:prstGeom prst="rect">
            <a:avLst/>
          </a:prstGeom>
          <a:noFill/>
        </p:spPr>
        <p:txBody>
          <a:bodyPr wrap="none">
            <a:spAutoFit/>
          </a:bodyPr>
          <a:lstStyle/>
          <a:p>
            <a:pPr>
              <a:defRPr sz="1900">
                <a:solidFill>
                  <a:srgbClr val="5A5A5A"/>
                </a:solidFill>
              </a:defRPr>
            </a:pPr>
            <a:r>
              <a:t>gmm_storage.db and navigation-related key–value records</a:t>
            </a:r>
          </a:p>
        </p:txBody>
      </p:sp>
      <p:sp>
        <p:nvSpPr>
          <p:cNvPr id="5" name="Rectangle 4"/>
          <p:cNvSpPr/>
          <p:nvPr/>
        </p:nvSpPr>
        <p:spPr>
          <a:xfrm>
            <a:off x="0" y="0"/>
            <a:ext cx="12191695" cy="109728"/>
          </a:xfrm>
          <a:prstGeom prst="rect">
            <a:avLst/>
          </a:prstGeom>
          <a:solidFill>
            <a:srgbClr val="F06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A575A9-D917-52B3-CA65-04C7E327F92D}"/>
              </a:ext>
            </a:extLst>
          </p:cNvPr>
          <p:cNvSpPr>
            <a:spLocks noGrp="1"/>
          </p:cNvSpPr>
          <p:nvPr>
            <p:ph type="title"/>
          </p:nvPr>
        </p:nvSpPr>
        <p:spPr/>
        <p:txBody>
          <a:bodyPr/>
          <a:lstStyle/>
          <a:p>
            <a:r>
              <a:rPr sz="1800" dirty="0">
                <a:solidFill>
                  <a:srgbClr val="5A5A5A"/>
                </a:solidFill>
              </a:rPr>
              <a:t>Travel planning, navigation, and offline-storage artifacts</a:t>
            </a:r>
          </a:p>
        </p:txBody>
      </p:sp>
      <p:sp>
        <p:nvSpPr>
          <p:cNvPr id="6" name="Text Placeholder 5">
            <a:extLst>
              <a:ext uri="{FF2B5EF4-FFF2-40B4-BE49-F238E27FC236}">
                <a16:creationId xmlns:a16="http://schemas.microsoft.com/office/drawing/2014/main" id="{613DBCEA-6232-0E93-5277-D747CC48DD34}"/>
              </a:ext>
            </a:extLst>
          </p:cNvPr>
          <p:cNvSpPr>
            <a:spLocks noGrp="1"/>
          </p:cNvSpPr>
          <p:nvPr>
            <p:ph type="body" idx="1"/>
          </p:nvPr>
        </p:nvSpPr>
        <p:spPr/>
        <p:txBody>
          <a:bodyPr/>
          <a:lstStyle/>
          <a:p>
            <a:r>
              <a:rPr lang="en-US" dirty="0"/>
              <a:t>Travel Planning: Offline Map information: </a:t>
            </a:r>
            <a:r>
              <a:rPr lang="en-US" b="1" dirty="0" err="1">
                <a:solidFill>
                  <a:srgbClr val="703B96"/>
                </a:solidFill>
              </a:rPr>
              <a:t>gmm_storage.db</a:t>
            </a:r>
            <a:endParaRPr lang="en-US" b="1" dirty="0">
              <a:solidFill>
                <a:srgbClr val="703B96"/>
              </a:solidFill>
            </a:endParaRPr>
          </a:p>
          <a:p>
            <a:endParaRPr lang="en-US" dirty="0"/>
          </a:p>
        </p:txBody>
      </p:sp>
    </p:spTree>
    <p:extLst>
      <p:ext uri="{BB962C8B-B14F-4D97-AF65-F5344CB8AC3E}">
        <p14:creationId xmlns:p14="http://schemas.microsoft.com/office/powerpoint/2010/main" val="181722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89C13-5445-A311-F179-A7AAAF78D031}"/>
              </a:ext>
            </a:extLst>
          </p:cNvPr>
          <p:cNvSpPr>
            <a:spLocks noGrp="1"/>
          </p:cNvSpPr>
          <p:nvPr>
            <p:ph type="title"/>
          </p:nvPr>
        </p:nvSpPr>
        <p:spPr/>
        <p:txBody>
          <a:bodyPr wrap="square"/>
          <a:lstStyle/>
          <a:p>
            <a:r>
              <a:rPr sz="2800" b="1">
                <a:solidFill>
                  <a:srgbClr val="232323"/>
                </a:solidFill>
              </a:rPr>
              <a:t>Inspect gmm_storage.db and gmm_storage_table</a:t>
            </a:r>
          </a:p>
        </p:txBody>
      </p:sp>
      <p:pic>
        <p:nvPicPr>
          <p:cNvPr id="4" name="Picture 3">
            <a:extLst>
              <a:ext uri="{FF2B5EF4-FFF2-40B4-BE49-F238E27FC236}">
                <a16:creationId xmlns:a16="http://schemas.microsoft.com/office/drawing/2014/main" id="{FA049EE5-BF3E-787E-236D-963BD45D40B3}"/>
              </a:ext>
            </a:extLst>
          </p:cNvPr>
          <p:cNvPicPr>
            <a:picLocks noChangeAspect="1"/>
          </p:cNvPicPr>
          <p:nvPr/>
        </p:nvPicPr>
        <p:blipFill>
          <a:blip r:embed="rId2"/>
          <a:stretch>
            <a:fillRect/>
          </a:stretch>
        </p:blipFill>
        <p:spPr>
          <a:xfrm>
            <a:off x="838200" y="1923965"/>
            <a:ext cx="7322820" cy="1958340"/>
          </a:xfrm>
          <a:prstGeom prst="rect">
            <a:avLst/>
          </a:prstGeom>
        </p:spPr>
      </p:pic>
      <p:pic>
        <p:nvPicPr>
          <p:cNvPr id="6" name="Picture 5">
            <a:extLst>
              <a:ext uri="{FF2B5EF4-FFF2-40B4-BE49-F238E27FC236}">
                <a16:creationId xmlns:a16="http://schemas.microsoft.com/office/drawing/2014/main" id="{A7F8BD3D-A3C9-2DB5-650A-F22D47502863}"/>
              </a:ext>
            </a:extLst>
          </p:cNvPr>
          <p:cNvPicPr>
            <a:picLocks noChangeAspect="1"/>
          </p:cNvPicPr>
          <p:nvPr/>
        </p:nvPicPr>
        <p:blipFill>
          <a:blip r:embed="rId3"/>
          <a:srcRect r="2884"/>
          <a:stretch/>
        </p:blipFill>
        <p:spPr>
          <a:xfrm>
            <a:off x="838200" y="4484914"/>
            <a:ext cx="10709432" cy="651532"/>
          </a:xfrm>
          <a:prstGeom prst="rect">
            <a:avLst/>
          </a:prstGeom>
        </p:spPr>
      </p:pic>
      <p:sp>
        <p:nvSpPr>
          <p:cNvPr id="7" name="TextBox 6">
            <a:extLst>
              <a:ext uri="{FF2B5EF4-FFF2-40B4-BE49-F238E27FC236}">
                <a16:creationId xmlns:a16="http://schemas.microsoft.com/office/drawing/2014/main" id="{3A82190C-77E6-6D82-42FB-FD10463CA16F}"/>
              </a:ext>
            </a:extLst>
          </p:cNvPr>
          <p:cNvSpPr txBox="1"/>
          <p:nvPr/>
        </p:nvSpPr>
        <p:spPr>
          <a:xfrm>
            <a:off x="838200" y="4115582"/>
            <a:ext cx="2060308" cy="369332"/>
          </a:xfrm>
          <a:prstGeom prst="rect">
            <a:avLst/>
          </a:prstGeom>
          <a:solidFill>
            <a:schemeClr val="accent4"/>
          </a:solidFill>
        </p:spPr>
        <p:txBody>
          <a:bodyPr wrap="none" rtlCol="0">
            <a:spAutoFit/>
          </a:bodyPr>
          <a:lstStyle/>
          <a:p>
            <a:r>
              <a:rPr lang="en-US" dirty="0" err="1"/>
              <a:t>gmm_storage_table</a:t>
            </a:r>
            <a:endParaRPr lang="en-US" dirty="0"/>
          </a:p>
        </p:txBody>
      </p:sp>
    </p:spTree>
    <p:extLst>
      <p:ext uri="{BB962C8B-B14F-4D97-AF65-F5344CB8AC3E}">
        <p14:creationId xmlns:p14="http://schemas.microsoft.com/office/powerpoint/2010/main" val="3490599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F20B8-F9E9-C390-FD18-EBD1AA16B067}"/>
              </a:ext>
            </a:extLst>
          </p:cNvPr>
          <p:cNvSpPr>
            <a:spLocks noGrp="1"/>
          </p:cNvSpPr>
          <p:nvPr>
            <p:ph type="title"/>
          </p:nvPr>
        </p:nvSpPr>
        <p:spPr/>
        <p:txBody>
          <a:bodyPr wrap="square"/>
          <a:lstStyle/>
          <a:p>
            <a:r>
              <a:rPr sz="2800" b="1">
                <a:solidFill>
                  <a:srgbClr val="232323"/>
                </a:solidFill>
              </a:rPr>
              <a:t>gmm_storage_table: Key–Value Structure</a:t>
            </a:r>
          </a:p>
        </p:txBody>
      </p:sp>
      <p:sp>
        <p:nvSpPr>
          <p:cNvPr id="5" name="Content Placeholder 4">
            <a:extLst>
              <a:ext uri="{FF2B5EF4-FFF2-40B4-BE49-F238E27FC236}">
                <a16:creationId xmlns:a16="http://schemas.microsoft.com/office/drawing/2014/main" id="{1834D8E0-474C-8ABC-DCD6-A0337A749A2C}"/>
              </a:ext>
            </a:extLst>
          </p:cNvPr>
          <p:cNvSpPr>
            <a:spLocks noGrp="1"/>
          </p:cNvSpPr>
          <p:nvPr>
            <p:ph idx="1"/>
          </p:nvPr>
        </p:nvSpPr>
        <p:spPr>
          <a:xfrm>
            <a:off x="838200" y="5086292"/>
            <a:ext cx="10515600" cy="1010603"/>
          </a:xfrm>
          <a:solidFill>
            <a:schemeClr val="accent4">
              <a:lumMod val="20000"/>
              <a:lumOff val="80000"/>
            </a:schemeClr>
          </a:solidFill>
          <a:ln>
            <a:solidFill>
              <a:schemeClr val="accent2"/>
            </a:solidFill>
          </a:ln>
        </p:spPr>
        <p:txBody>
          <a:bodyPr>
            <a:normAutofit lnSpcReduction="10000"/>
          </a:bodyPr>
          <a:lstStyle/>
          <a:p>
            <a:pPr>
              <a:spcAft>
                <a:spcPts val="700"/>
              </a:spcAft>
              <a:defRPr sz="1600">
                <a:solidFill>
                  <a:srgbClr val="232323"/>
                </a:solidFill>
              </a:defRPr>
            </a:pPr>
            <a:r>
              <a:rPr lang="en-GB" dirty="0">
                <a:latin typeface="Arial" panose="020B0604020202020204" pitchFamily="34" charset="0"/>
                <a:cs typeface="Arial" panose="020B0604020202020204" pitchFamily="34" charset="0"/>
              </a:rPr>
              <a:t>Treat the key name as a lead, not a complete interpretation: examine the associated BLOB and surrounding records.</a:t>
            </a:r>
          </a:p>
          <a:p>
            <a:pPr>
              <a:spcAft>
                <a:spcPts val="700"/>
              </a:spcAft>
              <a:defRPr sz="1600">
                <a:solidFill>
                  <a:srgbClr val="232323"/>
                </a:solidFill>
              </a:defRPr>
            </a:pPr>
            <a:r>
              <a:rPr lang="en-GB" dirty="0">
                <a:latin typeface="Arial" panose="020B0604020202020204" pitchFamily="34" charset="0"/>
                <a:cs typeface="Arial" panose="020B0604020202020204" pitchFamily="34" charset="0"/>
              </a:rPr>
              <a:t>Preserve the raw database before decoding or transforming values.</a:t>
            </a:r>
          </a:p>
          <a:p>
            <a:endParaRPr dirty="0"/>
          </a:p>
        </p:txBody>
      </p:sp>
      <p:pic>
        <p:nvPicPr>
          <p:cNvPr id="4" name="Picture 3">
            <a:extLst>
              <a:ext uri="{FF2B5EF4-FFF2-40B4-BE49-F238E27FC236}">
                <a16:creationId xmlns:a16="http://schemas.microsoft.com/office/drawing/2014/main" id="{EE3346D9-39E9-3051-6F2A-7626A2CAE742}"/>
              </a:ext>
            </a:extLst>
          </p:cNvPr>
          <p:cNvPicPr>
            <a:picLocks noChangeAspect="1"/>
          </p:cNvPicPr>
          <p:nvPr/>
        </p:nvPicPr>
        <p:blipFill>
          <a:blip r:embed="rId2"/>
          <a:stretch>
            <a:fillRect/>
          </a:stretch>
        </p:blipFill>
        <p:spPr>
          <a:xfrm>
            <a:off x="838200" y="2000176"/>
            <a:ext cx="3901885" cy="2122244"/>
          </a:xfrm>
          <a:prstGeom prst="rect">
            <a:avLst/>
          </a:prstGeom>
        </p:spPr>
      </p:pic>
      <p:sp>
        <p:nvSpPr>
          <p:cNvPr id="3" name="Content Placeholder 4">
            <a:extLst>
              <a:ext uri="{FF2B5EF4-FFF2-40B4-BE49-F238E27FC236}">
                <a16:creationId xmlns:a16="http://schemas.microsoft.com/office/drawing/2014/main" id="{88F02336-BF6A-3883-E4E6-90F8E4A56302}"/>
              </a:ext>
            </a:extLst>
          </p:cNvPr>
          <p:cNvSpPr txBox="1">
            <a:spLocks/>
          </p:cNvSpPr>
          <p:nvPr/>
        </p:nvSpPr>
        <p:spPr>
          <a:xfrm>
            <a:off x="4930140" y="1825626"/>
            <a:ext cx="6423660" cy="2821876"/>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Arial" panose="020B0604020202020204" pitchFamily="34" charset="0"/>
                <a:cs typeface="Arial" panose="020B0604020202020204" pitchFamily="34" charset="0"/>
              </a:rPr>
              <a:t>Stores miscellaneous app data in a key-value format </a:t>
            </a:r>
          </a:p>
          <a:p>
            <a:pPr lvl="1"/>
            <a:r>
              <a:rPr lang="en-GB" dirty="0" err="1">
                <a:solidFill>
                  <a:srgbClr val="7030A0"/>
                </a:solidFill>
                <a:latin typeface="Arial" panose="020B0604020202020204" pitchFamily="34" charset="0"/>
                <a:cs typeface="Arial" panose="020B0604020202020204" pitchFamily="34" charset="0"/>
              </a:rPr>
              <a:t>key_pri</a:t>
            </a:r>
            <a:r>
              <a:rPr lang="en-GB" dirty="0">
                <a:latin typeface="Arial" panose="020B0604020202020204" pitchFamily="34" charset="0"/>
                <a:cs typeface="Arial" panose="020B0604020202020204" pitchFamily="34" charset="0"/>
              </a:rPr>
              <a:t>, </a:t>
            </a:r>
            <a:r>
              <a:rPr lang="en-GB" dirty="0" err="1">
                <a:solidFill>
                  <a:srgbClr val="7030A0"/>
                </a:solidFill>
                <a:latin typeface="Arial" panose="020B0604020202020204" pitchFamily="34" charset="0"/>
                <a:cs typeface="Arial" panose="020B0604020202020204" pitchFamily="34" charset="0"/>
              </a:rPr>
              <a:t>key_sec</a:t>
            </a:r>
            <a:r>
              <a:rPr lang="en-GB" dirty="0">
                <a:latin typeface="Arial" panose="020B0604020202020204" pitchFamily="34" charset="0"/>
                <a:cs typeface="Arial" panose="020B0604020202020204" pitchFamily="34" charset="0"/>
              </a:rPr>
              <a:t>, and </a:t>
            </a:r>
            <a:r>
              <a:rPr lang="en-GB" dirty="0">
                <a:solidFill>
                  <a:srgbClr val="7030A0"/>
                </a:solidFill>
                <a:latin typeface="Arial" panose="020B0604020202020204" pitchFamily="34" charset="0"/>
                <a:cs typeface="Arial" panose="020B0604020202020204" pitchFamily="34" charset="0"/>
              </a:rPr>
              <a:t>data (BLOB). </a:t>
            </a:r>
          </a:p>
          <a:p>
            <a:r>
              <a:rPr lang="en-GB" dirty="0">
                <a:latin typeface="Arial" panose="020B0604020202020204" pitchFamily="34" charset="0"/>
                <a:cs typeface="Arial" panose="020B0604020202020204" pitchFamily="34" charset="0"/>
              </a:rPr>
              <a:t>The table contains four rows, and the evidence that can be extracted</a:t>
            </a:r>
          </a:p>
          <a:p>
            <a:pPr lvl="1"/>
            <a:r>
              <a:rPr lang="en-GB" dirty="0" err="1">
                <a:solidFill>
                  <a:srgbClr val="7030A0"/>
                </a:solidFill>
                <a:latin typeface="Arial" panose="020B0604020202020204" pitchFamily="34" charset="0"/>
                <a:cs typeface="Arial" panose="020B0604020202020204" pitchFamily="34" charset="0"/>
              </a:rPr>
              <a:t>key_pri</a:t>
            </a:r>
            <a:r>
              <a:rPr lang="en-GB" dirty="0">
                <a:solidFill>
                  <a:srgbClr val="7030A0"/>
                </a:solidFill>
                <a:latin typeface="Arial" panose="020B0604020202020204" pitchFamily="34" charset="0"/>
                <a:cs typeface="Arial" panose="020B0604020202020204" pitchFamily="34" charset="0"/>
              </a:rPr>
              <a:t> = "</a:t>
            </a:r>
            <a:r>
              <a:rPr lang="en-GB" dirty="0" err="1">
                <a:solidFill>
                  <a:srgbClr val="7030A0"/>
                </a:solidFill>
                <a:latin typeface="Arial" panose="020B0604020202020204" pitchFamily="34" charset="0"/>
                <a:cs typeface="Arial" panose="020B0604020202020204" pitchFamily="34" charset="0"/>
              </a:rPr>
              <a:t>uri</a:t>
            </a:r>
            <a:r>
              <a:rPr lang="en-GB" dirty="0">
                <a:solidFill>
                  <a:srgbClr val="7030A0"/>
                </a:solidFill>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map-related resources (e.g., map tiles, offline maps)</a:t>
            </a:r>
            <a:endParaRPr lang="en-GB" dirty="0">
              <a:solidFill>
                <a:srgbClr val="7030A0"/>
              </a:solidFill>
              <a:latin typeface="Arial" panose="020B0604020202020204" pitchFamily="34" charset="0"/>
              <a:cs typeface="Arial" panose="020B0604020202020204" pitchFamily="34" charset="0"/>
            </a:endParaRPr>
          </a:p>
          <a:p>
            <a:pPr lvl="1"/>
            <a:r>
              <a:rPr lang="en-GB" dirty="0" err="1">
                <a:solidFill>
                  <a:srgbClr val="7030A0"/>
                </a:solidFill>
                <a:latin typeface="Arial" panose="020B0604020202020204" pitchFamily="34" charset="0"/>
                <a:cs typeface="Arial" panose="020B0604020202020204" pitchFamily="34" charset="0"/>
              </a:rPr>
              <a:t>key_pri</a:t>
            </a:r>
            <a:r>
              <a:rPr lang="en-GB" dirty="0">
                <a:solidFill>
                  <a:srgbClr val="7030A0"/>
                </a:solidFill>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 "</a:t>
            </a:r>
            <a:r>
              <a:rPr lang="en-GB" dirty="0" err="1">
                <a:solidFill>
                  <a:srgbClr val="7030A0"/>
                </a:solidFill>
                <a:latin typeface="Arial" panose="020B0604020202020204" pitchFamily="34" charset="0"/>
                <a:cs typeface="Arial" panose="020B0604020202020204" pitchFamily="34" charset="0"/>
              </a:rPr>
              <a:t>CompletedNavigation</a:t>
            </a:r>
            <a:r>
              <a:rPr lang="en-GB" dirty="0">
                <a:latin typeface="Arial" panose="020B0604020202020204" pitchFamily="34" charset="0"/>
                <a:cs typeface="Arial" panose="020B0604020202020204" pitchFamily="34" charset="0"/>
              </a:rPr>
              <a:t>“ (a completed navigation session)</a:t>
            </a:r>
          </a:p>
          <a:p>
            <a:pPr lvl="1"/>
            <a:r>
              <a:rPr lang="en-GB" dirty="0" err="1">
                <a:solidFill>
                  <a:srgbClr val="7030A0"/>
                </a:solidFill>
                <a:latin typeface="Arial" panose="020B0604020202020204" pitchFamily="34" charset="0"/>
                <a:cs typeface="Arial" panose="020B0604020202020204" pitchFamily="34" charset="0"/>
              </a:rPr>
              <a:t>key_pri</a:t>
            </a:r>
            <a:r>
              <a:rPr lang="en-GB" dirty="0">
                <a:solidFill>
                  <a:srgbClr val="7030A0"/>
                </a:solidFill>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 "</a:t>
            </a:r>
            <a:r>
              <a:rPr lang="en-GB" dirty="0" err="1">
                <a:solidFill>
                  <a:srgbClr val="7030A0"/>
                </a:solidFill>
                <a:latin typeface="Arial" panose="020B0604020202020204" pitchFamily="34" charset="0"/>
                <a:cs typeface="Arial" panose="020B0604020202020204" pitchFamily="34" charset="0"/>
              </a:rPr>
              <a:t>CompletedNavigationSETUP_NOTIFICATION_MODEL</a:t>
            </a:r>
            <a:r>
              <a:rPr lang="en-GB" dirty="0">
                <a:latin typeface="Arial" panose="020B0604020202020204" pitchFamily="34" charset="0"/>
                <a:cs typeface="Arial" panose="020B0604020202020204" pitchFamily="34" charset="0"/>
              </a:rPr>
              <a:t>" (notification settings or state post-navigation)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87570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3B338-BA35-7FC8-5DE0-1DDA43196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EA154-F242-9FAB-F7C0-3FFB1F1BCF7E}"/>
              </a:ext>
            </a:extLst>
          </p:cNvPr>
          <p:cNvSpPr>
            <a:spLocks noGrp="1"/>
          </p:cNvSpPr>
          <p:nvPr>
            <p:ph type="title"/>
          </p:nvPr>
        </p:nvSpPr>
        <p:spPr/>
        <p:txBody>
          <a:bodyPr wrap="square"/>
          <a:lstStyle/>
          <a:p>
            <a:r>
              <a:rPr sz="2800" b="1">
                <a:solidFill>
                  <a:srgbClr val="232323"/>
                </a:solidFill>
              </a:rPr>
              <a:t>What the BLOB May Reveal After Decoding</a:t>
            </a:r>
          </a:p>
        </p:txBody>
      </p:sp>
      <p:sp>
        <p:nvSpPr>
          <p:cNvPr id="5" name="Content Placeholder 4">
            <a:extLst>
              <a:ext uri="{FF2B5EF4-FFF2-40B4-BE49-F238E27FC236}">
                <a16:creationId xmlns:a16="http://schemas.microsoft.com/office/drawing/2014/main" id="{542FF938-B082-F7C7-6B51-0ECD1E119016}"/>
              </a:ext>
            </a:extLst>
          </p:cNvPr>
          <p:cNvSpPr>
            <a:spLocks noGrp="1"/>
          </p:cNvSpPr>
          <p:nvPr>
            <p:ph idx="1"/>
          </p:nvPr>
        </p:nvSpPr>
        <p:spPr>
          <a:xfrm>
            <a:off x="952500" y="2560366"/>
            <a:ext cx="10401300" cy="2648448"/>
          </a:xfrm>
        </p:spPr>
        <p:txBody>
          <a:bodyPr>
            <a:normAutofit fontScale="70000" lnSpcReduction="20000"/>
          </a:bodyPr>
          <a:lstStyle/>
          <a:p>
            <a:r>
              <a:rPr lang="en-GB" dirty="0" err="1">
                <a:latin typeface="Arial" panose="020B0604020202020204" pitchFamily="34" charset="0"/>
                <a:cs typeface="Arial" panose="020B0604020202020204" pitchFamily="34" charset="0"/>
              </a:rPr>
              <a:t>uri</a:t>
            </a:r>
            <a:r>
              <a:rPr lang="en-GB" dirty="0">
                <a:latin typeface="Arial" panose="020B0604020202020204" pitchFamily="34" charset="0"/>
                <a:cs typeface="Arial" panose="020B0604020202020204" pitchFamily="34" charset="0"/>
              </a:rPr>
              <a:t> — may reference map-related or offline resources (regions, expiration dates); determine the URI type from decoded content.</a:t>
            </a:r>
          </a:p>
          <a:p>
            <a:r>
              <a:rPr lang="en-GB" dirty="0" err="1">
                <a:latin typeface="Arial" panose="020B0604020202020204" pitchFamily="34" charset="0"/>
                <a:cs typeface="Arial" panose="020B0604020202020204" pitchFamily="34" charset="0"/>
              </a:rPr>
              <a:t>CompletedNavigation</a:t>
            </a:r>
            <a:r>
              <a:rPr lang="en-GB" dirty="0">
                <a:latin typeface="Arial" panose="020B0604020202020204" pitchFamily="34" charset="0"/>
                <a:cs typeface="Arial" panose="020B0604020202020204" pitchFamily="34" charset="0"/>
              </a:rPr>
              <a:t> — may contain navigation-session fields such as origin/destination coordinates, distance, duration, mode, or timestamps.</a:t>
            </a:r>
          </a:p>
          <a:p>
            <a:r>
              <a:rPr lang="en-GB" dirty="0" err="1">
                <a:latin typeface="Arial" panose="020B0604020202020204" pitchFamily="34" charset="0"/>
                <a:cs typeface="Arial" panose="020B0604020202020204" pitchFamily="34" charset="0"/>
              </a:rPr>
              <a:t>CompletedNavigationSETUP_NOTIFICATION_MODEL</a:t>
            </a:r>
            <a:r>
              <a:rPr lang="en-GB" dirty="0">
                <a:latin typeface="Arial" panose="020B0604020202020204" pitchFamily="34" charset="0"/>
                <a:cs typeface="Arial" panose="020B0604020202020204" pitchFamily="34" charset="0"/>
              </a:rPr>
              <a:t> — may contain post-navigation notification state or related metadata.</a:t>
            </a:r>
          </a:p>
          <a:p>
            <a:endParaRPr lang="en-GB" dirty="0">
              <a:latin typeface="Arial" panose="020B0604020202020204" pitchFamily="34" charset="0"/>
              <a:cs typeface="Arial" panose="020B0604020202020204" pitchFamily="34" charset="0"/>
            </a:endParaRPr>
          </a:p>
          <a:p>
            <a:pPr marL="0" indent="0">
              <a:buNone/>
            </a:pPr>
            <a:r>
              <a:rPr lang="en-GB" dirty="0">
                <a:latin typeface="Arial" panose="020B0604020202020204" pitchFamily="34" charset="0"/>
                <a:cs typeface="Arial" panose="020B0604020202020204" pitchFamily="34" charset="0"/>
              </a:rPr>
              <a:t>Interpretation caution — field presence and meaning depend on the app version and serialization schema. Validate against the actual decoded record.</a:t>
            </a:r>
          </a:p>
        </p:txBody>
      </p:sp>
      <p:pic>
        <p:nvPicPr>
          <p:cNvPr id="4" name="Picture 3">
            <a:extLst>
              <a:ext uri="{FF2B5EF4-FFF2-40B4-BE49-F238E27FC236}">
                <a16:creationId xmlns:a16="http://schemas.microsoft.com/office/drawing/2014/main" id="{D307DE1D-4CC1-7B54-4970-8390040E53A0}"/>
              </a:ext>
            </a:extLst>
          </p:cNvPr>
          <p:cNvPicPr>
            <a:picLocks noChangeAspect="1"/>
          </p:cNvPicPr>
          <p:nvPr/>
        </p:nvPicPr>
        <p:blipFill>
          <a:blip r:embed="rId3"/>
          <a:stretch>
            <a:fillRect/>
          </a:stretch>
        </p:blipFill>
        <p:spPr>
          <a:xfrm>
            <a:off x="8311058" y="109891"/>
            <a:ext cx="3728543" cy="2027963"/>
          </a:xfrm>
          <a:prstGeom prst="rect">
            <a:avLst/>
          </a:prstGeom>
        </p:spPr>
      </p:pic>
    </p:spTree>
    <p:extLst>
      <p:ext uri="{BB962C8B-B14F-4D97-AF65-F5344CB8AC3E}">
        <p14:creationId xmlns:p14="http://schemas.microsoft.com/office/powerpoint/2010/main" val="1916941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0120" y="1828800"/>
            <a:ext cx="10241280" cy="502920"/>
          </a:xfrm>
          <a:prstGeom prst="rect">
            <a:avLst/>
          </a:prstGeom>
          <a:noFill/>
        </p:spPr>
        <p:txBody>
          <a:bodyPr wrap="none">
            <a:spAutoFit/>
          </a:bodyPr>
          <a:lstStyle/>
          <a:p>
            <a:pPr>
              <a:defRPr sz="1800" b="1">
                <a:solidFill>
                  <a:srgbClr val="F06E23"/>
                </a:solidFill>
              </a:defRPr>
            </a:pPr>
            <a:r>
              <a:t>Section 4</a:t>
            </a:r>
          </a:p>
        </p:txBody>
      </p:sp>
      <p:sp>
        <p:nvSpPr>
          <p:cNvPr id="3" name="TextBox 2"/>
          <p:cNvSpPr txBox="1"/>
          <p:nvPr/>
        </p:nvSpPr>
        <p:spPr>
          <a:xfrm>
            <a:off x="960120" y="2423160"/>
            <a:ext cx="10241280" cy="914400"/>
          </a:xfrm>
          <a:prstGeom prst="rect">
            <a:avLst/>
          </a:prstGeom>
          <a:noFill/>
        </p:spPr>
        <p:txBody>
          <a:bodyPr wrap="none">
            <a:spAutoFit/>
          </a:bodyPr>
          <a:lstStyle/>
          <a:p>
            <a:pPr>
              <a:defRPr sz="3400" b="1">
                <a:solidFill>
                  <a:srgbClr val="232323"/>
                </a:solidFill>
              </a:defRPr>
            </a:pPr>
            <a:r>
              <a:t>Synchronization Metadata</a:t>
            </a:r>
          </a:p>
        </p:txBody>
      </p:sp>
      <p:sp>
        <p:nvSpPr>
          <p:cNvPr id="4" name="TextBox 3"/>
          <p:cNvSpPr txBox="1"/>
          <p:nvPr/>
        </p:nvSpPr>
        <p:spPr>
          <a:xfrm>
            <a:off x="987552" y="3520440"/>
            <a:ext cx="9692640" cy="731520"/>
          </a:xfrm>
          <a:prstGeom prst="rect">
            <a:avLst/>
          </a:prstGeom>
          <a:noFill/>
        </p:spPr>
        <p:txBody>
          <a:bodyPr wrap="none">
            <a:spAutoFit/>
          </a:bodyPr>
          <a:lstStyle/>
          <a:p>
            <a:pPr>
              <a:defRPr sz="1900">
                <a:solidFill>
                  <a:srgbClr val="5A5A5A"/>
                </a:solidFill>
              </a:defRPr>
            </a:pPr>
            <a:r>
              <a:t>gmm_sync.db and cross-database correlation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CC60D6-5079-42AE-670F-5A077862913C}"/>
              </a:ext>
            </a:extLst>
          </p:cNvPr>
          <p:cNvSpPr>
            <a:spLocks noGrp="1"/>
          </p:cNvSpPr>
          <p:nvPr>
            <p:ph type="title"/>
          </p:nvPr>
        </p:nvSpPr>
        <p:spPr>
          <a:xfrm>
            <a:off x="831850" y="4073979"/>
            <a:ext cx="10515600" cy="488496"/>
          </a:xfrm>
        </p:spPr>
        <p:txBody>
          <a:bodyPr/>
          <a:lstStyle/>
          <a:p>
            <a:r>
              <a:rPr sz="1800" dirty="0">
                <a:solidFill>
                  <a:srgbClr val="5A5A5A"/>
                </a:solidFill>
              </a:rPr>
              <a:t>Synchronization metadata and cross-database correlation</a:t>
            </a:r>
          </a:p>
        </p:txBody>
      </p:sp>
      <p:sp>
        <p:nvSpPr>
          <p:cNvPr id="5" name="Text Placeholder 4">
            <a:extLst>
              <a:ext uri="{FF2B5EF4-FFF2-40B4-BE49-F238E27FC236}">
                <a16:creationId xmlns:a16="http://schemas.microsoft.com/office/drawing/2014/main" id="{C6AD6A51-CFF4-556E-BAD0-08BE4659C519}"/>
              </a:ext>
            </a:extLst>
          </p:cNvPr>
          <p:cNvSpPr>
            <a:spLocks noGrp="1"/>
          </p:cNvSpPr>
          <p:nvPr>
            <p:ph type="body" idx="1"/>
          </p:nvPr>
        </p:nvSpPr>
        <p:spPr/>
        <p:txBody>
          <a:bodyPr/>
          <a:lstStyle/>
          <a:p>
            <a:r>
              <a:rPr lang="en-US" dirty="0"/>
              <a:t>Map data Synchronization: </a:t>
            </a:r>
            <a:r>
              <a:rPr lang="en-US" b="1" dirty="0" err="1">
                <a:solidFill>
                  <a:srgbClr val="703B96"/>
                </a:solidFill>
              </a:rPr>
              <a:t>gmm_sync.db</a:t>
            </a:r>
            <a:endParaRPr lang="en-US" b="1" dirty="0">
              <a:solidFill>
                <a:srgbClr val="703B96"/>
              </a:solidFill>
            </a:endParaRPr>
          </a:p>
          <a:p>
            <a:endParaRPr lang="en-US" dirty="0"/>
          </a:p>
        </p:txBody>
      </p:sp>
    </p:spTree>
    <p:extLst>
      <p:ext uri="{BB962C8B-B14F-4D97-AF65-F5344CB8AC3E}">
        <p14:creationId xmlns:p14="http://schemas.microsoft.com/office/powerpoint/2010/main" val="420166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422F3-F43B-350D-395E-56F2546F4F6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52B4A37-F38D-2A25-9A16-AF35A233AB4D}"/>
              </a:ext>
            </a:extLst>
          </p:cNvPr>
          <p:cNvPicPr>
            <a:picLocks noChangeAspect="1"/>
          </p:cNvPicPr>
          <p:nvPr/>
        </p:nvPicPr>
        <p:blipFill>
          <a:blip r:embed="rId3"/>
          <a:stretch>
            <a:fillRect/>
          </a:stretch>
        </p:blipFill>
        <p:spPr>
          <a:xfrm>
            <a:off x="975360" y="1891911"/>
            <a:ext cx="7945709" cy="698889"/>
          </a:xfrm>
          <a:prstGeom prst="rect">
            <a:avLst/>
          </a:prstGeom>
        </p:spPr>
      </p:pic>
      <p:sp>
        <p:nvSpPr>
          <p:cNvPr id="3" name="Title 2">
            <a:extLst>
              <a:ext uri="{FF2B5EF4-FFF2-40B4-BE49-F238E27FC236}">
                <a16:creationId xmlns:a16="http://schemas.microsoft.com/office/drawing/2014/main" id="{A5EE520D-C1DA-74DA-F8AE-349C19482560}"/>
              </a:ext>
            </a:extLst>
          </p:cNvPr>
          <p:cNvSpPr>
            <a:spLocks noGrp="1"/>
          </p:cNvSpPr>
          <p:nvPr>
            <p:ph type="title"/>
          </p:nvPr>
        </p:nvSpPr>
        <p:spPr/>
        <p:txBody>
          <a:bodyPr wrap="square"/>
          <a:lstStyle/>
          <a:p>
            <a:r>
              <a:rPr sz="2800" b="1">
                <a:solidFill>
                  <a:srgbClr val="232323"/>
                </a:solidFill>
              </a:rPr>
              <a:t>gmm_sync.db: Purpose and Investigative Role</a:t>
            </a:r>
          </a:p>
        </p:txBody>
      </p:sp>
      <p:sp>
        <p:nvSpPr>
          <p:cNvPr id="5" name="Content Placeholder 4">
            <a:extLst>
              <a:ext uri="{FF2B5EF4-FFF2-40B4-BE49-F238E27FC236}">
                <a16:creationId xmlns:a16="http://schemas.microsoft.com/office/drawing/2014/main" id="{8EE1124C-DE49-6605-C99F-BEB8AC13836F}"/>
              </a:ext>
            </a:extLst>
          </p:cNvPr>
          <p:cNvSpPr>
            <a:spLocks noGrp="1"/>
          </p:cNvSpPr>
          <p:nvPr>
            <p:ph idx="1"/>
          </p:nvPr>
        </p:nvSpPr>
        <p:spPr>
          <a:xfrm>
            <a:off x="838200" y="2792023"/>
            <a:ext cx="10515600" cy="2482106"/>
          </a:xfrm>
        </p:spPr>
        <p:txBody>
          <a:bodyPr wrap="square">
            <a:normAutofit/>
          </a:bodyPr>
          <a:lstStyle/>
          <a:p>
            <a:pPr>
              <a:spcAft>
                <a:spcPts val="700"/>
              </a:spcAft>
              <a:defRPr sz="1800">
                <a:solidFill>
                  <a:srgbClr val="232323"/>
                </a:solidFill>
              </a:defRPr>
            </a:pPr>
            <a:r>
              <a:rPr dirty="0">
                <a:latin typeface="Arial" panose="020B0604020202020204" pitchFamily="34" charset="0"/>
                <a:cs typeface="Arial" panose="020B0604020202020204" pitchFamily="34" charset="0"/>
              </a:rPr>
              <a:t>Contains local metadata used by Google Maps synchronization mechanisms.</a:t>
            </a:r>
          </a:p>
          <a:p>
            <a:pPr>
              <a:spcAft>
                <a:spcPts val="700"/>
              </a:spcAft>
              <a:defRPr sz="1800">
                <a:solidFill>
                  <a:srgbClr val="232323"/>
                </a:solidFill>
              </a:defRPr>
            </a:pPr>
            <a:r>
              <a:rPr dirty="0">
                <a:latin typeface="Arial" panose="020B0604020202020204" pitchFamily="34" charset="0"/>
                <a:cs typeface="Arial" panose="020B0604020202020204" pitchFamily="34" charset="0"/>
              </a:rPr>
              <a:t>Can link records to corpora, client/server identifiers, coordinates, and timestamps when those fields are populated.</a:t>
            </a:r>
          </a:p>
          <a:p>
            <a:pPr>
              <a:spcAft>
                <a:spcPts val="700"/>
              </a:spcAft>
              <a:defRPr sz="1800">
                <a:solidFill>
                  <a:srgbClr val="232323"/>
                </a:solidFill>
              </a:defRPr>
            </a:pPr>
            <a:r>
              <a:rPr dirty="0">
                <a:latin typeface="Arial" panose="020B0604020202020204" pitchFamily="34" charset="0"/>
                <a:cs typeface="Arial" panose="020B0604020202020204" pitchFamily="34" charset="0"/>
              </a:rPr>
              <a:t>Use it to correlate locally stored sync metadata with artifacts in other Maps databases.</a:t>
            </a:r>
          </a:p>
          <a:p>
            <a:pPr>
              <a:spcAft>
                <a:spcPts val="700"/>
              </a:spcAft>
              <a:defRPr sz="1800">
                <a:solidFill>
                  <a:srgbClr val="232323"/>
                </a:solidFill>
              </a:defRPr>
            </a:pPr>
            <a:r>
              <a:rPr dirty="0">
                <a:latin typeface="Arial" panose="020B0604020202020204" pitchFamily="34" charset="0"/>
                <a:cs typeface="Arial" panose="020B0604020202020204" pitchFamily="34" charset="0"/>
              </a:rPr>
              <a:t>Do not infer cloud availability solely from one local field; corroborate sync status with related records and account evidence.</a:t>
            </a:r>
          </a:p>
        </p:txBody>
      </p:sp>
    </p:spTree>
    <p:extLst>
      <p:ext uri="{BB962C8B-B14F-4D97-AF65-F5344CB8AC3E}">
        <p14:creationId xmlns:p14="http://schemas.microsoft.com/office/powerpoint/2010/main" val="8027028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BA8AA6E-D609-E59B-1AAB-88125300B971}"/>
              </a:ext>
            </a:extLst>
          </p:cNvPr>
          <p:cNvPicPr>
            <a:picLocks noChangeAspect="1"/>
          </p:cNvPicPr>
          <p:nvPr/>
        </p:nvPicPr>
        <p:blipFill>
          <a:blip r:embed="rId3"/>
          <a:stretch>
            <a:fillRect/>
          </a:stretch>
        </p:blipFill>
        <p:spPr>
          <a:xfrm>
            <a:off x="845820" y="1664444"/>
            <a:ext cx="10188415" cy="1528262"/>
          </a:xfrm>
          <a:prstGeom prst="rect">
            <a:avLst/>
          </a:prstGeom>
        </p:spPr>
      </p:pic>
      <p:sp>
        <p:nvSpPr>
          <p:cNvPr id="31" name="Title 30">
            <a:extLst>
              <a:ext uri="{FF2B5EF4-FFF2-40B4-BE49-F238E27FC236}">
                <a16:creationId xmlns:a16="http://schemas.microsoft.com/office/drawing/2014/main" id="{07207AA9-E832-3C54-F51A-AF1B61585993}"/>
              </a:ext>
            </a:extLst>
          </p:cNvPr>
          <p:cNvSpPr>
            <a:spLocks noGrp="1"/>
          </p:cNvSpPr>
          <p:nvPr>
            <p:ph type="title"/>
          </p:nvPr>
        </p:nvSpPr>
        <p:spPr/>
        <p:txBody>
          <a:bodyPr wrap="square"/>
          <a:lstStyle/>
          <a:p>
            <a:r>
              <a:rPr sz="2800" b="1">
                <a:solidFill>
                  <a:srgbClr val="232323"/>
                </a:solidFill>
              </a:rPr>
              <a:t>sync_item_data: Fields to Examine</a:t>
            </a:r>
          </a:p>
        </p:txBody>
      </p:sp>
      <p:sp>
        <p:nvSpPr>
          <p:cNvPr id="32" name="Content Placeholder 31">
            <a:extLst>
              <a:ext uri="{FF2B5EF4-FFF2-40B4-BE49-F238E27FC236}">
                <a16:creationId xmlns:a16="http://schemas.microsoft.com/office/drawing/2014/main" id="{7AA40154-84B2-D0D3-28BC-39FBDE68DB90}"/>
              </a:ext>
            </a:extLst>
          </p:cNvPr>
          <p:cNvSpPr>
            <a:spLocks noGrp="1"/>
          </p:cNvSpPr>
          <p:nvPr>
            <p:ph idx="1"/>
          </p:nvPr>
        </p:nvSpPr>
        <p:spPr>
          <a:xfrm>
            <a:off x="838200" y="3429000"/>
            <a:ext cx="10515600" cy="2307492"/>
          </a:xfrm>
        </p:spPr>
        <p:txBody>
          <a:bodyPr wrap="square">
            <a:normAutofit fontScale="62500" lnSpcReduction="20000"/>
          </a:bodyPr>
          <a:lstStyle/>
          <a:p>
            <a:r>
              <a:rPr lang="en-GB" dirty="0">
                <a:latin typeface="Arial" panose="020B0604020202020204" pitchFamily="34" charset="0"/>
                <a:cs typeface="Arial" panose="020B0604020202020204" pitchFamily="34" charset="0"/>
              </a:rPr>
              <a:t>The </a:t>
            </a:r>
            <a:r>
              <a:rPr lang="en-GB" dirty="0" err="1">
                <a:solidFill>
                  <a:srgbClr val="7030A0"/>
                </a:solidFill>
                <a:latin typeface="Arial" panose="020B0604020202020204" pitchFamily="34" charset="0"/>
                <a:cs typeface="Arial" panose="020B0604020202020204" pitchFamily="34" charset="0"/>
              </a:rPr>
              <a:t>sync_item_data</a:t>
            </a:r>
            <a:r>
              <a:rPr lang="en-GB" dirty="0">
                <a:solidFill>
                  <a:srgbClr val="7030A0"/>
                </a:solidFill>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table </a:t>
            </a:r>
          </a:p>
          <a:p>
            <a:pPr lvl="1"/>
            <a:r>
              <a:rPr lang="en-GB" dirty="0">
                <a:latin typeface="Arial" panose="020B0604020202020204" pitchFamily="34" charset="0"/>
                <a:cs typeface="Arial" panose="020B0604020202020204" pitchFamily="34" charset="0"/>
              </a:rPr>
              <a:t>Stores individual items that need to be synchronized between the device and Google’s servers as part of the Google Maps app’s sync process. </a:t>
            </a:r>
          </a:p>
          <a:p>
            <a:pPr lvl="1"/>
            <a:r>
              <a:rPr lang="en-GB" dirty="0">
                <a:latin typeface="Arial" panose="020B0604020202020204" pitchFamily="34" charset="0"/>
                <a:cs typeface="Arial" panose="020B0604020202020204" pitchFamily="34" charset="0"/>
              </a:rPr>
              <a:t>Each row represents a specific piece of data (e.g., a saved place, a location history entry, or user settings) queued for sync.</a:t>
            </a:r>
          </a:p>
          <a:p>
            <a:r>
              <a:rPr lang="en-GB" dirty="0">
                <a:latin typeface="Arial" panose="020B0604020202020204" pitchFamily="34" charset="0"/>
                <a:cs typeface="Arial" panose="020B0604020202020204" pitchFamily="34" charset="0"/>
              </a:rPr>
              <a:t>Role in Google Maps</a:t>
            </a:r>
          </a:p>
          <a:p>
            <a:pPr lvl="1"/>
            <a:r>
              <a:rPr lang="en-GB" dirty="0">
                <a:latin typeface="Arial" panose="020B0604020202020204" pitchFamily="34" charset="0"/>
                <a:cs typeface="Arial" panose="020B0604020202020204" pitchFamily="34" charset="0"/>
              </a:rPr>
              <a:t>This table acts as a sync queue, tracking items that have been created or modified on the device and need to be uploaded to Google’s servers (or downloaded from the server to the device). </a:t>
            </a:r>
          </a:p>
          <a:p>
            <a:pPr lvl="1"/>
            <a:r>
              <a:rPr lang="en-GB" dirty="0">
                <a:latin typeface="Arial" panose="020B0604020202020204" pitchFamily="34" charset="0"/>
                <a:cs typeface="Arial" panose="020B0604020202020204" pitchFamily="34" charset="0"/>
              </a:rPr>
              <a:t>It includes detailed metadata like location coordinates, timestamps, and client/server IDs to manage the sync process.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0724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none">
            <a:spAutoFit/>
          </a:bodyPr>
          <a:lstStyle/>
          <a:p>
            <a:r>
              <a:rPr sz="3000" b="1">
                <a:solidFill>
                  <a:srgbClr val="2D2D2D"/>
                </a:solidFill>
              </a:rPr>
              <a:t>Synchronization Interpretation Cautions</a:t>
            </a:r>
          </a:p>
        </p:txBody>
      </p:sp>
      <p:sp>
        <p:nvSpPr>
          <p:cNvPr id="3" name="TextBox 2"/>
          <p:cNvSpPr txBox="1"/>
          <p:nvPr/>
        </p:nvSpPr>
        <p:spPr>
          <a:xfrm>
            <a:off x="621792" y="969264"/>
            <a:ext cx="10789920" cy="320040"/>
          </a:xfrm>
          <a:prstGeom prst="rect">
            <a:avLst/>
          </a:prstGeom>
          <a:noFill/>
        </p:spPr>
        <p:txBody>
          <a:bodyPr wrap="none">
            <a:spAutoFit/>
          </a:bodyPr>
          <a:lstStyle/>
          <a:p>
            <a:r>
              <a:rPr sz="1300">
                <a:solidFill>
                  <a:srgbClr val="5F5F5F"/>
                </a:solidFill>
              </a:rPr>
              <a:t>The sync database is useful, but several fields are easy to overread</a:t>
            </a:r>
          </a:p>
        </p:txBody>
      </p:sp>
      <p:sp>
        <p:nvSpPr>
          <p:cNvPr id="4" name="Rounded Rectangle 3"/>
          <p:cNvSpPr/>
          <p:nvPr/>
        </p:nvSpPr>
        <p:spPr>
          <a:xfrm>
            <a:off x="621792" y="1833880"/>
            <a:ext cx="3474720" cy="2468880"/>
          </a:xfrm>
          <a:prstGeom prst="roundRect">
            <a:avLst/>
          </a:prstGeom>
          <a:solidFill>
            <a:srgbClr val="FAFAFA"/>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21792" y="1833880"/>
            <a:ext cx="73152" cy="2468880"/>
          </a:xfrm>
          <a:prstGeom prst="rect">
            <a:avLst/>
          </a:prstGeom>
          <a:solidFill>
            <a:srgbClr val="F47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6384" y="1943607"/>
            <a:ext cx="3200400" cy="256032"/>
          </a:xfrm>
          <a:prstGeom prst="rect">
            <a:avLst/>
          </a:prstGeom>
          <a:noFill/>
        </p:spPr>
        <p:txBody>
          <a:bodyPr wrap="none">
            <a:spAutoFit/>
          </a:bodyPr>
          <a:lstStyle/>
          <a:p>
            <a:r>
              <a:rPr sz="1400" b="1">
                <a:solidFill>
                  <a:srgbClr val="2D2D2D"/>
                </a:solidFill>
              </a:rPr>
              <a:t>corpus</a:t>
            </a:r>
          </a:p>
        </p:txBody>
      </p:sp>
      <p:sp>
        <p:nvSpPr>
          <p:cNvPr id="7" name="TextBox 6"/>
          <p:cNvSpPr txBox="1"/>
          <p:nvPr/>
        </p:nvSpPr>
        <p:spPr>
          <a:xfrm>
            <a:off x="786384" y="2263648"/>
            <a:ext cx="3154679" cy="1423467"/>
          </a:xfrm>
          <a:prstGeom prst="rect">
            <a:avLst/>
          </a:prstGeom>
          <a:noFill/>
        </p:spPr>
        <p:txBody>
          <a:bodyPr wrap="square">
            <a:spAutoFit/>
          </a:bodyPr>
          <a:lstStyle/>
          <a:p>
            <a:pPr marL="285750" indent="-285750">
              <a:spcAft>
                <a:spcPts val="300"/>
              </a:spcAft>
              <a:buFont typeface="Arial" panose="020B0604020202020204" pitchFamily="34" charset="0"/>
              <a:buChar char="•"/>
              <a:defRPr sz="1250">
                <a:solidFill>
                  <a:srgbClr val="2D2D2D"/>
                </a:solidFill>
              </a:defRPr>
            </a:pPr>
            <a:r>
              <a:rPr sz="1400" dirty="0"/>
              <a:t>Treat numeric corpus values as categories to be resolved through related tables, schema, or decoded content.</a:t>
            </a:r>
          </a:p>
          <a:p>
            <a:pPr marL="285750" indent="-285750">
              <a:spcAft>
                <a:spcPts val="300"/>
              </a:spcAft>
              <a:buFont typeface="Arial" panose="020B0604020202020204" pitchFamily="34" charset="0"/>
              <a:buChar char="•"/>
              <a:defRPr sz="1250">
                <a:solidFill>
                  <a:srgbClr val="2D2D2D"/>
                </a:solidFill>
              </a:defRPr>
            </a:pPr>
            <a:r>
              <a:rPr sz="1400" dirty="0"/>
              <a:t>Do not label a corpus only from intuition.</a:t>
            </a:r>
          </a:p>
        </p:txBody>
      </p:sp>
      <p:sp>
        <p:nvSpPr>
          <p:cNvPr id="8" name="Rounded Rectangle 7"/>
          <p:cNvSpPr/>
          <p:nvPr/>
        </p:nvSpPr>
        <p:spPr>
          <a:xfrm>
            <a:off x="4370832" y="1833880"/>
            <a:ext cx="3474720" cy="2468880"/>
          </a:xfrm>
          <a:prstGeom prst="roundRect">
            <a:avLst/>
          </a:prstGeom>
          <a:solidFill>
            <a:srgbClr val="FAFAFA"/>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70832" y="1833880"/>
            <a:ext cx="73152" cy="2468880"/>
          </a:xfrm>
          <a:prstGeom prst="rect">
            <a:avLst/>
          </a:prstGeom>
          <a:solidFill>
            <a:srgbClr val="F47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35423" y="1943607"/>
            <a:ext cx="3200400" cy="256032"/>
          </a:xfrm>
          <a:prstGeom prst="rect">
            <a:avLst/>
          </a:prstGeom>
          <a:noFill/>
        </p:spPr>
        <p:txBody>
          <a:bodyPr wrap="none">
            <a:spAutoFit/>
          </a:bodyPr>
          <a:lstStyle/>
          <a:p>
            <a:r>
              <a:rPr sz="1400" b="1">
                <a:solidFill>
                  <a:srgbClr val="2D2D2D"/>
                </a:solidFill>
              </a:rPr>
              <a:t>client_id / server_id</a:t>
            </a:r>
          </a:p>
        </p:txBody>
      </p:sp>
      <p:sp>
        <p:nvSpPr>
          <p:cNvPr id="11" name="TextBox 10"/>
          <p:cNvSpPr txBox="1"/>
          <p:nvPr/>
        </p:nvSpPr>
        <p:spPr>
          <a:xfrm>
            <a:off x="4535423" y="2263648"/>
            <a:ext cx="3154679" cy="1423467"/>
          </a:xfrm>
          <a:prstGeom prst="rect">
            <a:avLst/>
          </a:prstGeom>
          <a:noFill/>
        </p:spPr>
        <p:txBody>
          <a:bodyPr wrap="square">
            <a:spAutoFit/>
          </a:bodyPr>
          <a:lstStyle/>
          <a:p>
            <a:pPr marL="285750" indent="-285750">
              <a:spcAft>
                <a:spcPts val="300"/>
              </a:spcAft>
              <a:buFont typeface="Arial" panose="020B0604020202020204" pitchFamily="34" charset="0"/>
              <a:buChar char="•"/>
              <a:defRPr sz="1250">
                <a:solidFill>
                  <a:srgbClr val="2D2D2D"/>
                </a:solidFill>
              </a:defRPr>
            </a:pPr>
            <a:r>
              <a:rPr sz="1400" dirty="0"/>
              <a:t>A </a:t>
            </a:r>
            <a:r>
              <a:rPr sz="1400" dirty="0" err="1"/>
              <a:t>server_id</a:t>
            </a:r>
            <a:r>
              <a:rPr sz="1400" dirty="0"/>
              <a:t> can support cloud-linkage analysis.</a:t>
            </a:r>
          </a:p>
          <a:p>
            <a:pPr marL="285750" indent="-285750">
              <a:spcAft>
                <a:spcPts val="300"/>
              </a:spcAft>
              <a:buFont typeface="Arial" panose="020B0604020202020204" pitchFamily="34" charset="0"/>
              <a:buChar char="•"/>
              <a:defRPr sz="1250">
                <a:solidFill>
                  <a:srgbClr val="2D2D2D"/>
                </a:solidFill>
              </a:defRPr>
            </a:pPr>
            <a:r>
              <a:rPr sz="1400" dirty="0"/>
              <a:t>A NULL </a:t>
            </a:r>
            <a:r>
              <a:rPr sz="1400" dirty="0" err="1"/>
              <a:t>server_id</a:t>
            </a:r>
            <a:r>
              <a:rPr sz="1400" dirty="0"/>
              <a:t> means no server identifier is present in that row; it does not prove cloud absence everywhere.</a:t>
            </a:r>
          </a:p>
        </p:txBody>
      </p:sp>
      <p:sp>
        <p:nvSpPr>
          <p:cNvPr id="12" name="Rounded Rectangle 11"/>
          <p:cNvSpPr/>
          <p:nvPr/>
        </p:nvSpPr>
        <p:spPr>
          <a:xfrm>
            <a:off x="8119871" y="1833880"/>
            <a:ext cx="3474720" cy="2468880"/>
          </a:xfrm>
          <a:prstGeom prst="roundRect">
            <a:avLst/>
          </a:prstGeom>
          <a:solidFill>
            <a:srgbClr val="FAFAFA"/>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19871" y="1833880"/>
            <a:ext cx="73152" cy="2468880"/>
          </a:xfrm>
          <a:prstGeom prst="rect">
            <a:avLst/>
          </a:prstGeom>
          <a:solidFill>
            <a:srgbClr val="F47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84463" y="1943607"/>
            <a:ext cx="3200400" cy="256032"/>
          </a:xfrm>
          <a:prstGeom prst="rect">
            <a:avLst/>
          </a:prstGeom>
          <a:noFill/>
        </p:spPr>
        <p:txBody>
          <a:bodyPr wrap="none">
            <a:spAutoFit/>
          </a:bodyPr>
          <a:lstStyle/>
          <a:p>
            <a:r>
              <a:rPr sz="1400" b="1">
                <a:solidFill>
                  <a:srgbClr val="2D2D2D"/>
                </a:solidFill>
              </a:rPr>
              <a:t>timestamp / coordinates</a:t>
            </a:r>
          </a:p>
        </p:txBody>
      </p:sp>
      <p:sp>
        <p:nvSpPr>
          <p:cNvPr id="15" name="TextBox 14"/>
          <p:cNvSpPr txBox="1"/>
          <p:nvPr/>
        </p:nvSpPr>
        <p:spPr>
          <a:xfrm>
            <a:off x="8284463" y="2263648"/>
            <a:ext cx="3154679" cy="1208023"/>
          </a:xfrm>
          <a:prstGeom prst="rect">
            <a:avLst/>
          </a:prstGeom>
          <a:noFill/>
        </p:spPr>
        <p:txBody>
          <a:bodyPr wrap="square">
            <a:spAutoFit/>
          </a:bodyPr>
          <a:lstStyle/>
          <a:p>
            <a:pPr marL="285750" indent="-285750">
              <a:spcAft>
                <a:spcPts val="300"/>
              </a:spcAft>
              <a:buFont typeface="Arial" panose="020B0604020202020204" pitchFamily="34" charset="0"/>
              <a:buChar char="•"/>
              <a:defRPr sz="1250">
                <a:solidFill>
                  <a:srgbClr val="2D2D2D"/>
                </a:solidFill>
              </a:defRPr>
            </a:pPr>
            <a:r>
              <a:rPr sz="1400" dirty="0"/>
              <a:t>Validate timestamp scale before timeline use.</a:t>
            </a:r>
          </a:p>
          <a:p>
            <a:pPr marL="285750" indent="-285750">
              <a:spcAft>
                <a:spcPts val="300"/>
              </a:spcAft>
              <a:buFont typeface="Arial" panose="020B0604020202020204" pitchFamily="34" charset="0"/>
              <a:buChar char="•"/>
              <a:defRPr sz="1250">
                <a:solidFill>
                  <a:srgbClr val="2D2D2D"/>
                </a:solidFill>
              </a:defRPr>
            </a:pPr>
            <a:r>
              <a:rPr sz="1400" dirty="0"/>
              <a:t>Coordinates identify an artifact location context, not automatically user presence.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A9F446-B40C-3665-BB8F-87A5DCDB9EBC}"/>
              </a:ext>
            </a:extLst>
          </p:cNvPr>
          <p:cNvPicPr>
            <a:picLocks noChangeAspect="1"/>
          </p:cNvPicPr>
          <p:nvPr/>
        </p:nvPicPr>
        <p:blipFill>
          <a:blip r:embed="rId3"/>
          <a:stretch>
            <a:fillRect/>
          </a:stretch>
        </p:blipFill>
        <p:spPr>
          <a:xfrm>
            <a:off x="869198" y="604691"/>
            <a:ext cx="9022194" cy="2428069"/>
          </a:xfrm>
          <a:prstGeom prst="rect">
            <a:avLst/>
          </a:prstGeom>
        </p:spPr>
      </p:pic>
      <p:sp>
        <p:nvSpPr>
          <p:cNvPr id="8" name="TextBox 1">
            <a:extLst>
              <a:ext uri="{FF2B5EF4-FFF2-40B4-BE49-F238E27FC236}">
                <a16:creationId xmlns:a16="http://schemas.microsoft.com/office/drawing/2014/main" id="{06121F91-80CC-4633-9658-A7AA5F45C9AF}"/>
              </a:ext>
            </a:extLst>
          </p:cNvPr>
          <p:cNvSpPr txBox="1"/>
          <p:nvPr/>
        </p:nvSpPr>
        <p:spPr>
          <a:xfrm>
            <a:off x="869198" y="182352"/>
            <a:ext cx="9892587" cy="369332"/>
          </a:xfrm>
          <a:prstGeom prst="rect">
            <a:avLst/>
          </a:prstGeom>
          <a:solidFill>
            <a:schemeClr val="accent4"/>
          </a:solid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dirty="0">
                <a:solidFill>
                  <a:srgbClr val="232323"/>
                </a:solidFill>
              </a:rPr>
              <a:t>Correlate </a:t>
            </a:r>
            <a:r>
              <a:rPr dirty="0" err="1">
                <a:solidFill>
                  <a:srgbClr val="FF0000"/>
                </a:solidFill>
              </a:rPr>
              <a:t>sync_item_data</a:t>
            </a:r>
            <a:r>
              <a:rPr dirty="0">
                <a:solidFill>
                  <a:srgbClr val="FF0000"/>
                </a:solidFill>
              </a:rPr>
              <a:t> </a:t>
            </a:r>
            <a:r>
              <a:rPr dirty="0">
                <a:solidFill>
                  <a:srgbClr val="232323"/>
                </a:solidFill>
              </a:rPr>
              <a:t>with </a:t>
            </a:r>
            <a:r>
              <a:rPr dirty="0" err="1">
                <a:solidFill>
                  <a:srgbClr val="FF0000"/>
                </a:solidFill>
              </a:rPr>
              <a:t>gmm_myplaces.db</a:t>
            </a:r>
            <a:endParaRPr dirty="0">
              <a:solidFill>
                <a:srgbClr val="FF0000"/>
              </a:solidFill>
            </a:endParaRPr>
          </a:p>
        </p:txBody>
      </p:sp>
      <p:pic>
        <p:nvPicPr>
          <p:cNvPr id="13" name="Picture 12">
            <a:extLst>
              <a:ext uri="{FF2B5EF4-FFF2-40B4-BE49-F238E27FC236}">
                <a16:creationId xmlns:a16="http://schemas.microsoft.com/office/drawing/2014/main" id="{D887FB0D-9AEA-0728-AB7B-CC658E8E8520}"/>
              </a:ext>
            </a:extLst>
          </p:cNvPr>
          <p:cNvPicPr>
            <a:picLocks noChangeAspect="1"/>
          </p:cNvPicPr>
          <p:nvPr/>
        </p:nvPicPr>
        <p:blipFill>
          <a:blip r:embed="rId4"/>
          <a:stretch>
            <a:fillRect/>
          </a:stretch>
        </p:blipFill>
        <p:spPr>
          <a:xfrm>
            <a:off x="815068" y="3901620"/>
            <a:ext cx="7832515" cy="1406811"/>
          </a:xfrm>
          <a:prstGeom prst="rect">
            <a:avLst/>
          </a:prstGeom>
        </p:spPr>
      </p:pic>
      <p:sp>
        <p:nvSpPr>
          <p:cNvPr id="14" name="TextBox 1">
            <a:extLst>
              <a:ext uri="{FF2B5EF4-FFF2-40B4-BE49-F238E27FC236}">
                <a16:creationId xmlns:a16="http://schemas.microsoft.com/office/drawing/2014/main" id="{87220153-665C-A4B4-AF4B-89ED948C3AF8}"/>
              </a:ext>
            </a:extLst>
          </p:cNvPr>
          <p:cNvSpPr txBox="1"/>
          <p:nvPr/>
        </p:nvSpPr>
        <p:spPr>
          <a:xfrm>
            <a:off x="815068" y="3532288"/>
            <a:ext cx="3764813" cy="369332"/>
          </a:xfrm>
          <a:prstGeom prst="rect">
            <a:avLst/>
          </a:prstGeom>
          <a:solidFill>
            <a:schemeClr val="accent4"/>
          </a:solid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err="1">
                <a:solidFill>
                  <a:srgbClr val="FF0000"/>
                </a:solidFill>
                <a:cs typeface="Calibri"/>
              </a:rPr>
              <a:t>sync_item</a:t>
            </a:r>
            <a:r>
              <a:rPr lang="en-US" dirty="0">
                <a:solidFill>
                  <a:srgbClr val="FF0000"/>
                </a:solidFill>
                <a:cs typeface="Calibri"/>
              </a:rPr>
              <a:t> </a:t>
            </a:r>
            <a:r>
              <a:rPr lang="en-US" dirty="0">
                <a:cs typeface="Calibri"/>
              </a:rPr>
              <a:t>table in </a:t>
            </a:r>
            <a:r>
              <a:rPr lang="en-US" dirty="0" err="1">
                <a:solidFill>
                  <a:srgbClr val="7030A0"/>
                </a:solidFill>
                <a:cs typeface="Calibri"/>
              </a:rPr>
              <a:t>gmm_myplaces.db</a:t>
            </a:r>
            <a:r>
              <a:rPr lang="en-US" dirty="0">
                <a:solidFill>
                  <a:srgbClr val="7030A0"/>
                </a:solidFill>
                <a:cs typeface="Calibri"/>
              </a:rPr>
              <a:t> </a:t>
            </a:r>
          </a:p>
        </p:txBody>
      </p:sp>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BE2EB418-5A05-203D-5A0B-3886180D518C}"/>
                  </a:ext>
                </a:extLst>
              </p14:cNvPr>
              <p14:cNvContentPartPr/>
              <p14:nvPr/>
            </p14:nvContentPartPr>
            <p14:xfrm>
              <a:off x="527693" y="1802895"/>
              <a:ext cx="855720" cy="3034080"/>
            </p14:xfrm>
          </p:contentPart>
        </mc:Choice>
        <mc:Fallback xmlns="">
          <p:pic>
            <p:nvPicPr>
              <p:cNvPr id="15" name="Ink 14">
                <a:extLst>
                  <a:ext uri="{FF2B5EF4-FFF2-40B4-BE49-F238E27FC236}">
                    <a16:creationId xmlns:a16="http://schemas.microsoft.com/office/drawing/2014/main" id="{BE2EB418-5A05-203D-5A0B-3886180D518C}"/>
                  </a:ext>
                </a:extLst>
              </p:cNvPr>
              <p:cNvPicPr/>
              <p:nvPr/>
            </p:nvPicPr>
            <p:blipFill>
              <a:blip r:embed="rId6"/>
              <a:stretch>
                <a:fillRect/>
              </a:stretch>
            </p:blipFill>
            <p:spPr>
              <a:xfrm>
                <a:off x="519053" y="1793895"/>
                <a:ext cx="873360" cy="3051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477F4993-8C3A-5A65-B039-73105207D388}"/>
                  </a:ext>
                </a:extLst>
              </p14:cNvPr>
              <p14:cNvContentPartPr/>
              <p14:nvPr/>
            </p14:nvContentPartPr>
            <p14:xfrm>
              <a:off x="1257060" y="4640581"/>
              <a:ext cx="137520" cy="206280"/>
            </p14:xfrm>
          </p:contentPart>
        </mc:Choice>
        <mc:Fallback xmlns="">
          <p:pic>
            <p:nvPicPr>
              <p:cNvPr id="17" name="Ink 16">
                <a:extLst>
                  <a:ext uri="{FF2B5EF4-FFF2-40B4-BE49-F238E27FC236}">
                    <a16:creationId xmlns:a16="http://schemas.microsoft.com/office/drawing/2014/main" id="{477F4993-8C3A-5A65-B039-73105207D388}"/>
                  </a:ext>
                </a:extLst>
              </p:cNvPr>
              <p:cNvPicPr/>
              <p:nvPr/>
            </p:nvPicPr>
            <p:blipFill>
              <a:blip r:embed="rId8"/>
              <a:stretch>
                <a:fillRect/>
              </a:stretch>
            </p:blipFill>
            <p:spPr>
              <a:xfrm>
                <a:off x="1248420" y="4631581"/>
                <a:ext cx="15516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AF54A7C6-7996-06D8-5610-E2BAF16F65E7}"/>
                  </a:ext>
                </a:extLst>
              </p14:cNvPr>
              <p14:cNvContentPartPr/>
              <p14:nvPr/>
            </p14:nvContentPartPr>
            <p14:xfrm>
              <a:off x="1212780" y="4854001"/>
              <a:ext cx="136080" cy="46440"/>
            </p14:xfrm>
          </p:contentPart>
        </mc:Choice>
        <mc:Fallback xmlns="">
          <p:pic>
            <p:nvPicPr>
              <p:cNvPr id="18" name="Ink 17">
                <a:extLst>
                  <a:ext uri="{FF2B5EF4-FFF2-40B4-BE49-F238E27FC236}">
                    <a16:creationId xmlns:a16="http://schemas.microsoft.com/office/drawing/2014/main" id="{AF54A7C6-7996-06D8-5610-E2BAF16F65E7}"/>
                  </a:ext>
                </a:extLst>
              </p:cNvPr>
              <p:cNvPicPr/>
              <p:nvPr/>
            </p:nvPicPr>
            <p:blipFill>
              <a:blip r:embed="rId10"/>
              <a:stretch>
                <a:fillRect/>
              </a:stretch>
            </p:blipFill>
            <p:spPr>
              <a:xfrm>
                <a:off x="1203780" y="4845001"/>
                <a:ext cx="153720" cy="64080"/>
              </a:xfrm>
              <a:prstGeom prst="rect">
                <a:avLst/>
              </a:prstGeom>
            </p:spPr>
          </p:pic>
        </mc:Fallback>
      </mc:AlternateContent>
      <p:sp>
        <p:nvSpPr>
          <p:cNvPr id="19" name="TextBox 18">
            <a:extLst>
              <a:ext uri="{FF2B5EF4-FFF2-40B4-BE49-F238E27FC236}">
                <a16:creationId xmlns:a16="http://schemas.microsoft.com/office/drawing/2014/main" id="{E017011E-ABC0-2FC9-03B7-6AF9AC52A747}"/>
              </a:ext>
            </a:extLst>
          </p:cNvPr>
          <p:cNvSpPr txBox="1"/>
          <p:nvPr/>
        </p:nvSpPr>
        <p:spPr>
          <a:xfrm>
            <a:off x="53527" y="3147476"/>
            <a:ext cx="1754326" cy="369332"/>
          </a:xfrm>
          <a:prstGeom prst="rect">
            <a:avLst/>
          </a:prstGeom>
          <a:noFill/>
        </p:spPr>
        <p:txBody>
          <a:bodyPr wrap="none" rtlCol="0">
            <a:spAutoFit/>
          </a:bodyPr>
          <a:lstStyle/>
          <a:p>
            <a:r>
              <a:rPr lang="en-US" dirty="0">
                <a:solidFill>
                  <a:srgbClr val="FF0000"/>
                </a:solidFill>
              </a:rPr>
              <a:t>sync information</a:t>
            </a:r>
          </a:p>
        </p:txBody>
      </p:sp>
      <p:sp>
        <p:nvSpPr>
          <p:cNvPr id="20" name="Rectangle 19">
            <a:extLst>
              <a:ext uri="{FF2B5EF4-FFF2-40B4-BE49-F238E27FC236}">
                <a16:creationId xmlns:a16="http://schemas.microsoft.com/office/drawing/2014/main" id="{55BA657E-7BF0-8F5A-1656-3E4B8E835BDE}"/>
              </a:ext>
            </a:extLst>
          </p:cNvPr>
          <p:cNvSpPr/>
          <p:nvPr/>
        </p:nvSpPr>
        <p:spPr>
          <a:xfrm>
            <a:off x="1226820" y="1363981"/>
            <a:ext cx="388620" cy="8387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423CBF7-0657-E1EB-E773-978A292ED8B9}"/>
              </a:ext>
            </a:extLst>
          </p:cNvPr>
          <p:cNvSpPr txBox="1"/>
          <p:nvPr/>
        </p:nvSpPr>
        <p:spPr>
          <a:xfrm>
            <a:off x="8647583" y="3045440"/>
            <a:ext cx="3506077" cy="2523768"/>
          </a:xfrm>
          <a:prstGeom prst="rect">
            <a:avLst/>
          </a:prstGeom>
          <a:noFill/>
        </p:spPr>
        <p:txBody>
          <a:bodyPr wrap="square">
            <a:spAutoFit/>
          </a:bodyPr>
          <a:lstStyle/>
          <a:p>
            <a:r>
              <a:rPr dirty="0"/>
              <a:t>Interpretation:</a:t>
            </a:r>
          </a:p>
          <a:p>
            <a:r>
              <a:rPr sz="1400" dirty="0"/>
              <a:t>• Rows with valid coordinates can identify locations associated with a sync record.</a:t>
            </a:r>
          </a:p>
          <a:p>
            <a:r>
              <a:rPr sz="1400" dirty="0"/>
              <a:t>• A valid timestamp can support timeline correlation; invalid or zero values should not be forced into a date.</a:t>
            </a:r>
          </a:p>
          <a:p>
            <a:r>
              <a:rPr sz="1400" dirty="0"/>
              <a:t>• Use corpus IDs and client/server IDs to cross-reference related records.</a:t>
            </a:r>
          </a:p>
          <a:p>
            <a:r>
              <a:rPr sz="1400" dirty="0"/>
              <a:t>• A coordinate associated with a saved/synced record does not, by itself, prove physical presence.</a:t>
            </a:r>
          </a:p>
        </p:txBody>
      </p:sp>
      <p:sp>
        <p:nvSpPr>
          <p:cNvPr id="4" name="TextBox 3">
            <a:extLst>
              <a:ext uri="{FF2B5EF4-FFF2-40B4-BE49-F238E27FC236}">
                <a16:creationId xmlns:a16="http://schemas.microsoft.com/office/drawing/2014/main" id="{42394E3B-A29B-B75E-435F-3A8F199378BD}"/>
              </a:ext>
            </a:extLst>
          </p:cNvPr>
          <p:cNvSpPr txBox="1"/>
          <p:nvPr/>
        </p:nvSpPr>
        <p:spPr>
          <a:xfrm>
            <a:off x="815068" y="5462616"/>
            <a:ext cx="9269641" cy="1169551"/>
          </a:xfrm>
          <a:prstGeom prst="rect">
            <a:avLst/>
          </a:prstGeom>
          <a:noFill/>
        </p:spPr>
        <p:txBody>
          <a:bodyPr wrap="square">
            <a:spAutoFit/>
          </a:bodyPr>
          <a:lstStyle/>
          <a:p>
            <a:r>
              <a:rPr lang="en-GB" sz="1400" b="1" dirty="0"/>
              <a:t>Summary:</a:t>
            </a:r>
            <a:r>
              <a:rPr lang="en-GB" sz="1400" dirty="0"/>
              <a:t> </a:t>
            </a:r>
          </a:p>
          <a:p>
            <a:pPr marL="285750" indent="-285750">
              <a:buFont typeface="Arial" panose="020B0604020202020204" pitchFamily="34" charset="0"/>
              <a:buChar char="•"/>
            </a:pPr>
            <a:r>
              <a:rPr lang="en-GB" sz="1400" dirty="0"/>
              <a:t>The </a:t>
            </a:r>
            <a:r>
              <a:rPr lang="en-GB" sz="1400" dirty="0" err="1">
                <a:solidFill>
                  <a:srgbClr val="FF0000"/>
                </a:solidFill>
              </a:rPr>
              <a:t>sync_item_data</a:t>
            </a:r>
            <a:r>
              <a:rPr lang="en-GB" sz="1400" dirty="0">
                <a:solidFill>
                  <a:srgbClr val="FF0000"/>
                </a:solidFill>
              </a:rPr>
              <a:t> </a:t>
            </a:r>
            <a:r>
              <a:rPr lang="en-GB" sz="1400" dirty="0"/>
              <a:t>table provides valuable location data (Rows 1–3) and timeline insights (Row 3), particularly for tracking user movements (e.g., Raleigh, NC, and NYC). </a:t>
            </a:r>
          </a:p>
          <a:p>
            <a:pPr marL="285750" indent="-285750">
              <a:buFont typeface="Arial" panose="020B0604020202020204" pitchFamily="34" charset="0"/>
              <a:buChar char="•"/>
            </a:pPr>
            <a:r>
              <a:rPr lang="en-GB" sz="1400" dirty="0"/>
              <a:t>Pending sync items (Rows 4–6) offer potential insights into user contributions and data recovery, while user settings (Row 7) are less useful. </a:t>
            </a:r>
          </a:p>
        </p:txBody>
      </p:sp>
    </p:spTree>
    <p:extLst>
      <p:ext uri="{BB962C8B-B14F-4D97-AF65-F5344CB8AC3E}">
        <p14:creationId xmlns:p14="http://schemas.microsoft.com/office/powerpoint/2010/main" val="38968998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0120" y="1828800"/>
            <a:ext cx="10241280" cy="502920"/>
          </a:xfrm>
          <a:prstGeom prst="rect">
            <a:avLst/>
          </a:prstGeom>
          <a:noFill/>
        </p:spPr>
        <p:txBody>
          <a:bodyPr wrap="none">
            <a:spAutoFit/>
          </a:bodyPr>
          <a:lstStyle/>
          <a:p>
            <a:pPr>
              <a:defRPr sz="1800" b="1">
                <a:solidFill>
                  <a:srgbClr val="F06E23"/>
                </a:solidFill>
              </a:defRPr>
            </a:pPr>
            <a:r>
              <a:t>Section 5</a:t>
            </a:r>
          </a:p>
        </p:txBody>
      </p:sp>
      <p:sp>
        <p:nvSpPr>
          <p:cNvPr id="3" name="TextBox 2"/>
          <p:cNvSpPr txBox="1"/>
          <p:nvPr/>
        </p:nvSpPr>
        <p:spPr>
          <a:xfrm>
            <a:off x="960120" y="2423160"/>
            <a:ext cx="10241280" cy="914400"/>
          </a:xfrm>
          <a:prstGeom prst="rect">
            <a:avLst/>
          </a:prstGeom>
          <a:noFill/>
        </p:spPr>
        <p:txBody>
          <a:bodyPr wrap="none">
            <a:spAutoFit/>
          </a:bodyPr>
          <a:lstStyle/>
          <a:p>
            <a:pPr>
              <a:defRPr sz="3400" b="1">
                <a:solidFill>
                  <a:srgbClr val="232323"/>
                </a:solidFill>
              </a:defRPr>
            </a:pPr>
            <a:r>
              <a:t>File-Based Navigation Artifacts</a:t>
            </a:r>
          </a:p>
        </p:txBody>
      </p:sp>
      <p:sp>
        <p:nvSpPr>
          <p:cNvPr id="4" name="TextBox 3"/>
          <p:cNvSpPr txBox="1"/>
          <p:nvPr/>
        </p:nvSpPr>
        <p:spPr>
          <a:xfrm>
            <a:off x="987552" y="3520440"/>
            <a:ext cx="9692640" cy="731520"/>
          </a:xfrm>
          <a:prstGeom prst="rect">
            <a:avLst/>
          </a:prstGeom>
          <a:noFill/>
        </p:spPr>
        <p:txBody>
          <a:bodyPr wrap="none">
            <a:spAutoFit/>
          </a:bodyPr>
          <a:lstStyle/>
          <a:p>
            <a:pPr>
              <a:defRPr sz="1900">
                <a:solidFill>
                  <a:srgbClr val="5A5A5A"/>
                </a:solidFill>
              </a:defRPr>
            </a:pPr>
            <a:r>
              <a:t>Files that can complement SQLite database evidence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94BD197-BF2E-ACF5-2740-779AF5CE5F29}"/>
              </a:ext>
            </a:extLst>
          </p:cNvPr>
          <p:cNvPicPr>
            <a:picLocks noChangeAspect="1"/>
          </p:cNvPicPr>
          <p:nvPr/>
        </p:nvPicPr>
        <p:blipFill>
          <a:blip r:embed="rId3"/>
          <a:stretch>
            <a:fillRect/>
          </a:stretch>
        </p:blipFill>
        <p:spPr>
          <a:xfrm>
            <a:off x="947886" y="2224932"/>
            <a:ext cx="8566606" cy="2903327"/>
          </a:xfrm>
          <a:prstGeom prst="rect">
            <a:avLst/>
          </a:prstGeom>
        </p:spPr>
      </p:pic>
      <p:sp>
        <p:nvSpPr>
          <p:cNvPr id="9" name="Title 8">
            <a:extLst>
              <a:ext uri="{FF2B5EF4-FFF2-40B4-BE49-F238E27FC236}">
                <a16:creationId xmlns:a16="http://schemas.microsoft.com/office/drawing/2014/main" id="{A65E006B-0C37-FDAB-9DDB-90AEA2502E05}"/>
              </a:ext>
            </a:extLst>
          </p:cNvPr>
          <p:cNvSpPr>
            <a:spLocks noGrp="1"/>
          </p:cNvSpPr>
          <p:nvPr>
            <p:ph type="title"/>
          </p:nvPr>
        </p:nvSpPr>
        <p:spPr/>
        <p:txBody>
          <a:bodyPr wrap="square"/>
          <a:lstStyle/>
          <a:p>
            <a:r>
              <a:rPr sz="2800" b="1">
                <a:solidFill>
                  <a:srgbClr val="232323"/>
                </a:solidFill>
              </a:rPr>
              <a:t>Locate the Google Maps files Directory</a:t>
            </a:r>
          </a:p>
        </p:txBody>
      </p:sp>
      <p:sp>
        <p:nvSpPr>
          <p:cNvPr id="3" name="TextBox 2">
            <a:extLst>
              <a:ext uri="{FF2B5EF4-FFF2-40B4-BE49-F238E27FC236}">
                <a16:creationId xmlns:a16="http://schemas.microsoft.com/office/drawing/2014/main" id="{515CCAE4-DB18-F2A2-6492-C66129146A38}"/>
              </a:ext>
            </a:extLst>
          </p:cNvPr>
          <p:cNvSpPr txBox="1"/>
          <p:nvPr/>
        </p:nvSpPr>
        <p:spPr>
          <a:xfrm>
            <a:off x="947886" y="1690688"/>
            <a:ext cx="6174154" cy="369332"/>
          </a:xfrm>
          <a:prstGeom prst="rect">
            <a:avLst/>
          </a:prstGeom>
          <a:noFill/>
        </p:spPr>
        <p:txBody>
          <a:bodyPr wrap="square">
            <a:spAutoFit/>
          </a:bodyPr>
          <a:lstStyle/>
          <a:p>
            <a:r>
              <a:rPr lang="en-GB" dirty="0">
                <a:solidFill>
                  <a:srgbClr val="5A5A5A"/>
                </a:solidFill>
              </a:rPr>
              <a:t>Inspect ordinary files in addition to databases</a:t>
            </a:r>
            <a:endParaRPr lang="en-US" sz="1600" dirty="0"/>
          </a:p>
        </p:txBody>
      </p:sp>
    </p:spTree>
    <p:extLst>
      <p:ext uri="{BB962C8B-B14F-4D97-AF65-F5344CB8AC3E}">
        <p14:creationId xmlns:p14="http://schemas.microsoft.com/office/powerpoint/2010/main" val="9993985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089C7-5076-4C75-096C-885525088547}"/>
              </a:ext>
            </a:extLst>
          </p:cNvPr>
          <p:cNvSpPr>
            <a:spLocks noGrp="1"/>
          </p:cNvSpPr>
          <p:nvPr>
            <p:ph type="title"/>
          </p:nvPr>
        </p:nvSpPr>
        <p:spPr/>
        <p:txBody>
          <a:bodyPr wrap="square"/>
          <a:lstStyle/>
          <a:p>
            <a:r>
              <a:rPr sz="2800" b="1">
                <a:solidFill>
                  <a:srgbClr val="232323"/>
                </a:solidFill>
              </a:rPr>
              <a:t>Identify Navigation-Related Files</a:t>
            </a:r>
          </a:p>
        </p:txBody>
      </p:sp>
      <p:pic>
        <p:nvPicPr>
          <p:cNvPr id="4" name="Picture 3">
            <a:extLst>
              <a:ext uri="{FF2B5EF4-FFF2-40B4-BE49-F238E27FC236}">
                <a16:creationId xmlns:a16="http://schemas.microsoft.com/office/drawing/2014/main" id="{0FA441B3-D5E7-ABDE-E261-00075242B2DD}"/>
              </a:ext>
            </a:extLst>
          </p:cNvPr>
          <p:cNvPicPr>
            <a:picLocks noChangeAspect="1"/>
          </p:cNvPicPr>
          <p:nvPr/>
        </p:nvPicPr>
        <p:blipFill>
          <a:blip r:embed="rId2"/>
          <a:stretch>
            <a:fillRect/>
          </a:stretch>
        </p:blipFill>
        <p:spPr>
          <a:xfrm>
            <a:off x="838200" y="1690688"/>
            <a:ext cx="10478408" cy="4823878"/>
          </a:xfrm>
          <a:prstGeom prst="rect">
            <a:avLst/>
          </a:prstGeom>
        </p:spPr>
      </p:pic>
    </p:spTree>
    <p:extLst>
      <p:ext uri="{BB962C8B-B14F-4D97-AF65-F5344CB8AC3E}">
        <p14:creationId xmlns:p14="http://schemas.microsoft.com/office/powerpoint/2010/main" val="7008279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F568EC-7B6D-7678-E64D-E83029F56E56}"/>
              </a:ext>
            </a:extLst>
          </p:cNvPr>
          <p:cNvSpPr>
            <a:spLocks noGrp="1"/>
          </p:cNvSpPr>
          <p:nvPr>
            <p:ph type="title"/>
          </p:nvPr>
        </p:nvSpPr>
        <p:spPr/>
        <p:txBody>
          <a:bodyPr wrap="square"/>
          <a:lstStyle/>
          <a:p>
            <a:r>
              <a:rPr sz="2800" b="1">
                <a:solidFill>
                  <a:srgbClr val="232323"/>
                </a:solidFill>
              </a:rPr>
              <a:t>Locate Offline Saved-Direction Artifacts</a:t>
            </a:r>
          </a:p>
        </p:txBody>
      </p:sp>
      <p:pic>
        <p:nvPicPr>
          <p:cNvPr id="6" name="Picture 5">
            <a:extLst>
              <a:ext uri="{FF2B5EF4-FFF2-40B4-BE49-F238E27FC236}">
                <a16:creationId xmlns:a16="http://schemas.microsoft.com/office/drawing/2014/main" id="{09C449EC-77E4-5425-3B84-C3C7EAB88D0D}"/>
              </a:ext>
            </a:extLst>
          </p:cNvPr>
          <p:cNvPicPr>
            <a:picLocks noChangeAspect="1"/>
          </p:cNvPicPr>
          <p:nvPr/>
        </p:nvPicPr>
        <p:blipFill>
          <a:blip r:embed="rId2"/>
          <a:stretch>
            <a:fillRect/>
          </a:stretch>
        </p:blipFill>
        <p:spPr>
          <a:xfrm>
            <a:off x="838200" y="1691859"/>
            <a:ext cx="10417443" cy="4801016"/>
          </a:xfrm>
          <a:prstGeom prst="rect">
            <a:avLst/>
          </a:prstGeom>
        </p:spPr>
      </p:pic>
    </p:spTree>
    <p:extLst>
      <p:ext uri="{BB962C8B-B14F-4D97-AF65-F5344CB8AC3E}">
        <p14:creationId xmlns:p14="http://schemas.microsoft.com/office/powerpoint/2010/main" val="3137535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CBB3A-CEE1-4277-91C3-A4E657FFA093}"/>
              </a:ext>
            </a:extLst>
          </p:cNvPr>
          <p:cNvSpPr>
            <a:spLocks noGrp="1"/>
          </p:cNvSpPr>
          <p:nvPr>
            <p:ph type="title"/>
          </p:nvPr>
        </p:nvSpPr>
        <p:spPr/>
        <p:txBody>
          <a:bodyPr wrap="square"/>
          <a:lstStyle/>
          <a:p>
            <a:r>
              <a:rPr sz="2800" b="1">
                <a:solidFill>
                  <a:srgbClr val="232323"/>
                </a:solidFill>
              </a:rPr>
              <a:t>Review Offline-Direction Content</a:t>
            </a:r>
          </a:p>
        </p:txBody>
      </p:sp>
      <p:pic>
        <p:nvPicPr>
          <p:cNvPr id="16" name="Picture 4" descr="Text&#10;&#10;Description automatically generated">
            <a:extLst>
              <a:ext uri="{FF2B5EF4-FFF2-40B4-BE49-F238E27FC236}">
                <a16:creationId xmlns:a16="http://schemas.microsoft.com/office/drawing/2014/main" id="{D39C21C3-B553-4A67-8EB0-97DA48F2D719}"/>
              </a:ext>
            </a:extLst>
          </p:cNvPr>
          <p:cNvPicPr>
            <a:picLocks noChangeAspect="1"/>
          </p:cNvPicPr>
          <p:nvPr/>
        </p:nvPicPr>
        <p:blipFill>
          <a:blip r:embed="rId2"/>
          <a:stretch>
            <a:fillRect/>
          </a:stretch>
        </p:blipFill>
        <p:spPr>
          <a:xfrm>
            <a:off x="836909" y="2252231"/>
            <a:ext cx="7973878" cy="3276931"/>
          </a:xfrm>
          <a:prstGeom prst="rect">
            <a:avLst/>
          </a:prstGeom>
        </p:spPr>
      </p:pic>
      <p:sp>
        <p:nvSpPr>
          <p:cNvPr id="18" name="Rectangle 17">
            <a:extLst>
              <a:ext uri="{FF2B5EF4-FFF2-40B4-BE49-F238E27FC236}">
                <a16:creationId xmlns:a16="http://schemas.microsoft.com/office/drawing/2014/main" id="{EA111976-6C5D-4634-979F-57753FD5D1CC}"/>
              </a:ext>
            </a:extLst>
          </p:cNvPr>
          <p:cNvSpPr/>
          <p:nvPr/>
        </p:nvSpPr>
        <p:spPr>
          <a:xfrm>
            <a:off x="835030" y="2365758"/>
            <a:ext cx="7973408" cy="5290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BACB443-1098-4305-9295-5629973D0BF7}"/>
              </a:ext>
            </a:extLst>
          </p:cNvPr>
          <p:cNvSpPr/>
          <p:nvPr/>
        </p:nvSpPr>
        <p:spPr>
          <a:xfrm>
            <a:off x="835030" y="4070572"/>
            <a:ext cx="7921747" cy="4903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5736972-2697-44F7-AB4A-3B74DFD97C88}"/>
              </a:ext>
            </a:extLst>
          </p:cNvPr>
          <p:cNvSpPr/>
          <p:nvPr/>
        </p:nvSpPr>
        <p:spPr>
          <a:xfrm>
            <a:off x="835030" y="5013385"/>
            <a:ext cx="7973408" cy="5032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1FAE548-5AD9-0626-358F-D5FF02D4CC45}"/>
              </a:ext>
            </a:extLst>
          </p:cNvPr>
          <p:cNvPicPr>
            <a:picLocks noChangeAspect="1"/>
          </p:cNvPicPr>
          <p:nvPr/>
        </p:nvPicPr>
        <p:blipFill>
          <a:blip r:embed="rId3"/>
          <a:stretch>
            <a:fillRect/>
          </a:stretch>
        </p:blipFill>
        <p:spPr>
          <a:xfrm>
            <a:off x="835030" y="1680681"/>
            <a:ext cx="7270110" cy="571550"/>
          </a:xfrm>
          <a:prstGeom prst="rect">
            <a:avLst/>
          </a:prstGeom>
        </p:spPr>
      </p:pic>
    </p:spTree>
    <p:extLst>
      <p:ext uri="{BB962C8B-B14F-4D97-AF65-F5344CB8AC3E}">
        <p14:creationId xmlns:p14="http://schemas.microsoft.com/office/powerpoint/2010/main" val="25572687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0120" y="1828800"/>
            <a:ext cx="10241280" cy="502920"/>
          </a:xfrm>
          <a:prstGeom prst="rect">
            <a:avLst/>
          </a:prstGeom>
          <a:noFill/>
        </p:spPr>
        <p:txBody>
          <a:bodyPr wrap="none">
            <a:spAutoFit/>
          </a:bodyPr>
          <a:lstStyle/>
          <a:p>
            <a:pPr>
              <a:defRPr sz="1800" b="1">
                <a:solidFill>
                  <a:srgbClr val="F06E23"/>
                </a:solidFill>
              </a:defRPr>
            </a:pPr>
            <a:r>
              <a:t>Section 6</a:t>
            </a:r>
          </a:p>
        </p:txBody>
      </p:sp>
      <p:sp>
        <p:nvSpPr>
          <p:cNvPr id="3" name="TextBox 2"/>
          <p:cNvSpPr txBox="1"/>
          <p:nvPr/>
        </p:nvSpPr>
        <p:spPr>
          <a:xfrm>
            <a:off x="960120" y="2423160"/>
            <a:ext cx="10241280" cy="914400"/>
          </a:xfrm>
          <a:prstGeom prst="rect">
            <a:avLst/>
          </a:prstGeom>
          <a:noFill/>
        </p:spPr>
        <p:txBody>
          <a:bodyPr wrap="none">
            <a:spAutoFit/>
          </a:bodyPr>
          <a:lstStyle/>
          <a:p>
            <a:pPr>
              <a:defRPr sz="3400" b="1">
                <a:solidFill>
                  <a:srgbClr val="232323"/>
                </a:solidFill>
              </a:defRPr>
            </a:pPr>
            <a:r>
              <a:t>Supporting Databases</a:t>
            </a:r>
          </a:p>
        </p:txBody>
      </p:sp>
      <p:sp>
        <p:nvSpPr>
          <p:cNvPr id="4" name="TextBox 3"/>
          <p:cNvSpPr txBox="1"/>
          <p:nvPr/>
        </p:nvSpPr>
        <p:spPr>
          <a:xfrm>
            <a:off x="987552" y="3520440"/>
            <a:ext cx="9692640" cy="731520"/>
          </a:xfrm>
          <a:prstGeom prst="rect">
            <a:avLst/>
          </a:prstGeom>
          <a:noFill/>
        </p:spPr>
        <p:txBody>
          <a:bodyPr wrap="none">
            <a:spAutoFit/>
          </a:bodyPr>
          <a:lstStyle/>
          <a:p>
            <a:pPr>
              <a:defRPr sz="1900">
                <a:solidFill>
                  <a:srgbClr val="5A5A5A"/>
                </a:solidFill>
              </a:defRPr>
            </a:pPr>
            <a:r>
              <a:t>Notifications, event data, and user-generated photo metadata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7AB93-31EE-408A-F99C-0A863E97AC2B}"/>
              </a:ext>
            </a:extLst>
          </p:cNvPr>
          <p:cNvSpPr>
            <a:spLocks noGrp="1"/>
          </p:cNvSpPr>
          <p:nvPr>
            <p:ph type="title"/>
          </p:nvPr>
        </p:nvSpPr>
        <p:spPr/>
        <p:txBody>
          <a:bodyPr/>
          <a:lstStyle/>
          <a:p>
            <a:r>
              <a:rPr sz="1800" dirty="0">
                <a:solidFill>
                  <a:srgbClr val="5A5A5A"/>
                </a:solidFill>
              </a:rPr>
              <a:t>Supporting behavioral / notification artifacts</a:t>
            </a:r>
          </a:p>
        </p:txBody>
      </p:sp>
      <p:sp>
        <p:nvSpPr>
          <p:cNvPr id="3" name="Text Placeholder 2">
            <a:extLst>
              <a:ext uri="{FF2B5EF4-FFF2-40B4-BE49-F238E27FC236}">
                <a16:creationId xmlns:a16="http://schemas.microsoft.com/office/drawing/2014/main" id="{2945BDCF-1825-42E9-BA0C-B9DDF3C52428}"/>
              </a:ext>
            </a:extLst>
          </p:cNvPr>
          <p:cNvSpPr>
            <a:spLocks noGrp="1"/>
          </p:cNvSpPr>
          <p:nvPr>
            <p:ph type="body" idx="1"/>
          </p:nvPr>
        </p:nvSpPr>
        <p:spPr/>
        <p:txBody>
          <a:bodyPr/>
          <a:lstStyle/>
          <a:p>
            <a:r>
              <a:rPr lang="en-US" dirty="0"/>
              <a:t>Behavioral Patterns: </a:t>
            </a:r>
            <a:r>
              <a:rPr lang="en-GB" b="1" dirty="0">
                <a:solidFill>
                  <a:srgbClr val="F06E23"/>
                </a:solidFill>
              </a:rPr>
              <a:t>ue3.db and </a:t>
            </a:r>
            <a:r>
              <a:rPr lang="en-GB" b="1" dirty="0" err="1">
                <a:solidFill>
                  <a:srgbClr val="F06E23"/>
                </a:solidFill>
              </a:rPr>
              <a:t>inbox_notifications.db</a:t>
            </a:r>
            <a:endParaRPr lang="en-GB" b="1" dirty="0">
              <a:solidFill>
                <a:srgbClr val="F06E23"/>
              </a:solidFill>
            </a:endParaRPr>
          </a:p>
          <a:p>
            <a:endParaRPr lang="en-US" dirty="0"/>
          </a:p>
        </p:txBody>
      </p:sp>
    </p:spTree>
    <p:extLst>
      <p:ext uri="{BB962C8B-B14F-4D97-AF65-F5344CB8AC3E}">
        <p14:creationId xmlns:p14="http://schemas.microsoft.com/office/powerpoint/2010/main" val="21959260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45A9C5-1963-BDC5-3D36-DC37F1FF74A0}"/>
              </a:ext>
            </a:extLst>
          </p:cNvPr>
          <p:cNvSpPr>
            <a:spLocks noGrp="1"/>
          </p:cNvSpPr>
          <p:nvPr>
            <p:ph type="title"/>
          </p:nvPr>
        </p:nvSpPr>
        <p:spPr/>
        <p:txBody>
          <a:bodyPr wrap="square"/>
          <a:lstStyle/>
          <a:p>
            <a:r>
              <a:rPr sz="2600" b="1">
                <a:solidFill>
                  <a:srgbClr val="232323"/>
                </a:solidFill>
              </a:rPr>
              <a:t>ue3.db and inbox_notifications.db: Dataset Result</a:t>
            </a:r>
          </a:p>
        </p:txBody>
      </p:sp>
      <p:pic>
        <p:nvPicPr>
          <p:cNvPr id="6" name="Picture 5">
            <a:extLst>
              <a:ext uri="{FF2B5EF4-FFF2-40B4-BE49-F238E27FC236}">
                <a16:creationId xmlns:a16="http://schemas.microsoft.com/office/drawing/2014/main" id="{F254793B-C974-88C4-7C8E-F8C34E517237}"/>
              </a:ext>
            </a:extLst>
          </p:cNvPr>
          <p:cNvPicPr>
            <a:picLocks noChangeAspect="1"/>
          </p:cNvPicPr>
          <p:nvPr/>
        </p:nvPicPr>
        <p:blipFill>
          <a:blip r:embed="rId2"/>
          <a:stretch>
            <a:fillRect/>
          </a:stretch>
        </p:blipFill>
        <p:spPr>
          <a:xfrm>
            <a:off x="1005520" y="2244004"/>
            <a:ext cx="9251207" cy="2480396"/>
          </a:xfrm>
          <a:prstGeom prst="rect">
            <a:avLst/>
          </a:prstGeom>
        </p:spPr>
      </p:pic>
      <p:sp>
        <p:nvSpPr>
          <p:cNvPr id="8" name="TextBox 7"/>
          <p:cNvSpPr txBox="1"/>
          <p:nvPr/>
        </p:nvSpPr>
        <p:spPr>
          <a:xfrm>
            <a:off x="939018" y="5277716"/>
            <a:ext cx="9095935" cy="584775"/>
          </a:xfrm>
          <a:prstGeom prst="rect">
            <a:avLst/>
          </a:prstGeom>
          <a:noFill/>
        </p:spPr>
        <p:txBody>
          <a:bodyPr wrap="square">
            <a:spAutoFit/>
          </a:bodyPr>
          <a:lstStyle/>
          <a:p>
            <a:pPr>
              <a:defRPr sz="1600">
                <a:solidFill>
                  <a:srgbClr val="5A5A5A"/>
                </a:solidFill>
              </a:defRPr>
            </a:pPr>
            <a:r>
              <a:rPr dirty="0"/>
              <a:t>In this extraction, the examined tables contain no records. Report that observation; do not generalize it to all devices or app versions.</a:t>
            </a:r>
          </a:p>
        </p:txBody>
      </p:sp>
    </p:spTree>
    <p:extLst>
      <p:ext uri="{BB962C8B-B14F-4D97-AF65-F5344CB8AC3E}">
        <p14:creationId xmlns:p14="http://schemas.microsoft.com/office/powerpoint/2010/main" val="18182414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14CA-D74F-BC04-2ED5-3667D23F24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5E7E27-E931-C540-98D2-A0AFD8C02217}"/>
              </a:ext>
            </a:extLst>
          </p:cNvPr>
          <p:cNvSpPr>
            <a:spLocks noGrp="1"/>
          </p:cNvSpPr>
          <p:nvPr>
            <p:ph type="title"/>
          </p:nvPr>
        </p:nvSpPr>
        <p:spPr>
          <a:xfrm>
            <a:off x="831850" y="3907692"/>
            <a:ext cx="10515600" cy="654783"/>
          </a:xfrm>
        </p:spPr>
        <p:txBody>
          <a:bodyPr/>
          <a:lstStyle/>
          <a:p>
            <a:r>
              <a:rPr sz="3000" b="1" dirty="0">
                <a:solidFill>
                  <a:srgbClr val="F47321"/>
                </a:solidFill>
              </a:rPr>
              <a:t>User-Generated Photo Location Metadata</a:t>
            </a:r>
          </a:p>
        </p:txBody>
      </p:sp>
      <p:sp>
        <p:nvSpPr>
          <p:cNvPr id="5" name="Text Placeholder 4">
            <a:extLst>
              <a:ext uri="{FF2B5EF4-FFF2-40B4-BE49-F238E27FC236}">
                <a16:creationId xmlns:a16="http://schemas.microsoft.com/office/drawing/2014/main" id="{63271C2C-CBB6-151A-AC34-C40A4DCC90D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381998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3B5E52-7AA0-F51C-D08C-6A001FB44D7D}"/>
              </a:ext>
            </a:extLst>
          </p:cNvPr>
          <p:cNvPicPr>
            <a:picLocks noChangeAspect="1"/>
          </p:cNvPicPr>
          <p:nvPr/>
        </p:nvPicPr>
        <p:blipFill>
          <a:blip r:embed="rId3"/>
          <a:stretch>
            <a:fillRect/>
          </a:stretch>
        </p:blipFill>
        <p:spPr>
          <a:xfrm>
            <a:off x="830502" y="826746"/>
            <a:ext cx="7338696" cy="541067"/>
          </a:xfrm>
          <a:prstGeom prst="rect">
            <a:avLst/>
          </a:prstGeom>
        </p:spPr>
      </p:pic>
      <p:pic>
        <p:nvPicPr>
          <p:cNvPr id="5" name="Picture 4">
            <a:extLst>
              <a:ext uri="{FF2B5EF4-FFF2-40B4-BE49-F238E27FC236}">
                <a16:creationId xmlns:a16="http://schemas.microsoft.com/office/drawing/2014/main" id="{DFC87D48-7752-9476-5A7F-56AEBC7B53EF}"/>
              </a:ext>
            </a:extLst>
          </p:cNvPr>
          <p:cNvPicPr>
            <a:picLocks noChangeAspect="1"/>
          </p:cNvPicPr>
          <p:nvPr/>
        </p:nvPicPr>
        <p:blipFill>
          <a:blip r:embed="rId4"/>
          <a:stretch>
            <a:fillRect/>
          </a:stretch>
        </p:blipFill>
        <p:spPr>
          <a:xfrm>
            <a:off x="830502" y="1634454"/>
            <a:ext cx="1783235" cy="815411"/>
          </a:xfrm>
          <a:prstGeom prst="rect">
            <a:avLst/>
          </a:prstGeom>
        </p:spPr>
      </p:pic>
      <p:pic>
        <p:nvPicPr>
          <p:cNvPr id="7" name="Picture 6">
            <a:extLst>
              <a:ext uri="{FF2B5EF4-FFF2-40B4-BE49-F238E27FC236}">
                <a16:creationId xmlns:a16="http://schemas.microsoft.com/office/drawing/2014/main" id="{476F9C24-BFD2-CA8A-74C7-95B64DDB4FD9}"/>
              </a:ext>
            </a:extLst>
          </p:cNvPr>
          <p:cNvPicPr>
            <a:picLocks noChangeAspect="1"/>
          </p:cNvPicPr>
          <p:nvPr/>
        </p:nvPicPr>
        <p:blipFill>
          <a:blip r:embed="rId5"/>
          <a:stretch>
            <a:fillRect/>
          </a:stretch>
        </p:blipFill>
        <p:spPr>
          <a:xfrm>
            <a:off x="2727613" y="1565552"/>
            <a:ext cx="8478393" cy="4675228"/>
          </a:xfrm>
          <a:prstGeom prst="rect">
            <a:avLst/>
          </a:prstGeom>
        </p:spPr>
      </p:pic>
      <p:sp>
        <p:nvSpPr>
          <p:cNvPr id="8" name="TextBox 7"/>
          <p:cNvSpPr txBox="1"/>
          <p:nvPr/>
        </p:nvSpPr>
        <p:spPr>
          <a:xfrm>
            <a:off x="822960" y="320040"/>
            <a:ext cx="10515600" cy="731520"/>
          </a:xfrm>
          <a:prstGeom prst="rect">
            <a:avLst/>
          </a:prstGeom>
          <a:noFill/>
        </p:spPr>
        <p:txBody>
          <a:bodyPr wrap="square">
            <a:spAutoFit/>
          </a:bodyPr>
          <a:lstStyle/>
          <a:p>
            <a:r>
              <a:rPr sz="2500" b="1">
                <a:solidFill>
                  <a:srgbClr val="232323"/>
                </a:solidFill>
              </a:rPr>
              <a:t>ugc_photos_location_data.db: Tables to Examine</a:t>
            </a:r>
          </a:p>
        </p:txBody>
      </p:sp>
    </p:spTree>
    <p:extLst>
      <p:ext uri="{BB962C8B-B14F-4D97-AF65-F5344CB8AC3E}">
        <p14:creationId xmlns:p14="http://schemas.microsoft.com/office/powerpoint/2010/main" val="36151921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CCAE3D-0C26-32EE-89BA-F0C3521DC1FD}"/>
              </a:ext>
            </a:extLst>
          </p:cNvPr>
          <p:cNvPicPr>
            <a:picLocks noChangeAspect="1"/>
          </p:cNvPicPr>
          <p:nvPr/>
        </p:nvPicPr>
        <p:blipFill>
          <a:blip r:embed="rId2"/>
          <a:stretch>
            <a:fillRect/>
          </a:stretch>
        </p:blipFill>
        <p:spPr>
          <a:xfrm>
            <a:off x="961823" y="2762899"/>
            <a:ext cx="10442967" cy="1013494"/>
          </a:xfrm>
          <a:prstGeom prst="rect">
            <a:avLst/>
          </a:prstGeom>
        </p:spPr>
      </p:pic>
      <p:sp>
        <p:nvSpPr>
          <p:cNvPr id="8" name="TextBox 7">
            <a:extLst>
              <a:ext uri="{FF2B5EF4-FFF2-40B4-BE49-F238E27FC236}">
                <a16:creationId xmlns:a16="http://schemas.microsoft.com/office/drawing/2014/main" id="{5A09CCE7-2094-03BB-494B-7AD8C28F05AF}"/>
              </a:ext>
            </a:extLst>
          </p:cNvPr>
          <p:cNvSpPr txBox="1"/>
          <p:nvPr/>
        </p:nvSpPr>
        <p:spPr>
          <a:xfrm>
            <a:off x="1554480" y="1512606"/>
            <a:ext cx="7641003" cy="369332"/>
          </a:xfrm>
          <a:prstGeom prst="rect">
            <a:avLst/>
          </a:prstGeom>
          <a:noFill/>
        </p:spPr>
        <p:txBody>
          <a:bodyPr wrap="none" rtlCol="0">
            <a:spAutoFit/>
          </a:bodyPr>
          <a:lstStyle/>
          <a:p>
            <a:endParaRPr/>
          </a:p>
        </p:txBody>
      </p:sp>
      <p:sp>
        <p:nvSpPr>
          <p:cNvPr id="9" name="TextBox 8"/>
          <p:cNvSpPr txBox="1"/>
          <p:nvPr/>
        </p:nvSpPr>
        <p:spPr>
          <a:xfrm>
            <a:off x="822960" y="320040"/>
            <a:ext cx="10515600" cy="731520"/>
          </a:xfrm>
          <a:prstGeom prst="rect">
            <a:avLst/>
          </a:prstGeom>
          <a:noFill/>
        </p:spPr>
        <p:txBody>
          <a:bodyPr wrap="square">
            <a:spAutoFit/>
          </a:bodyPr>
          <a:lstStyle/>
          <a:p>
            <a:r>
              <a:rPr sz="2400" b="1" dirty="0">
                <a:solidFill>
                  <a:srgbClr val="232323"/>
                </a:solidFill>
              </a:rPr>
              <a:t>No Photo-Location Records in the Examined Tables</a:t>
            </a:r>
          </a:p>
        </p:txBody>
      </p:sp>
      <p:sp>
        <p:nvSpPr>
          <p:cNvPr id="10" name="TextBox 9"/>
          <p:cNvSpPr txBox="1"/>
          <p:nvPr/>
        </p:nvSpPr>
        <p:spPr>
          <a:xfrm>
            <a:off x="868680" y="1417320"/>
            <a:ext cx="10241280" cy="1143000"/>
          </a:xfrm>
          <a:prstGeom prst="rect">
            <a:avLst/>
          </a:prstGeom>
          <a:noFill/>
        </p:spPr>
        <p:txBody>
          <a:bodyPr wrap="square">
            <a:spAutoFit/>
          </a:bodyPr>
          <a:lstStyle/>
          <a:p>
            <a:pPr>
              <a:defRPr sz="2000" b="1">
                <a:solidFill>
                  <a:srgbClr val="232323"/>
                </a:solidFill>
              </a:defRPr>
            </a:pPr>
            <a:r>
              <a:t>Finding: the examined tables contain no photo-location rows in this extraction.</a:t>
            </a:r>
          </a:p>
          <a:p>
            <a:pPr>
              <a:defRPr sz="1800">
                <a:solidFill>
                  <a:srgbClr val="5A5A5A"/>
                </a:solidFill>
              </a:defRPr>
            </a:pPr>
            <a:r>
              <a:t>Interpretation: report the absence of local records at acquisition time. Do not infer that the user never uploaded or shared photos.</a:t>
            </a:r>
          </a:p>
        </p:txBody>
      </p:sp>
    </p:spTree>
    <p:extLst>
      <p:ext uri="{BB962C8B-B14F-4D97-AF65-F5344CB8AC3E}">
        <p14:creationId xmlns:p14="http://schemas.microsoft.com/office/powerpoint/2010/main" val="21401165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none">
            <a:spAutoFit/>
          </a:bodyPr>
          <a:lstStyle/>
          <a:p>
            <a:r>
              <a:rPr sz="3000" b="1">
                <a:solidFill>
                  <a:srgbClr val="2D2D2D"/>
                </a:solidFill>
              </a:rPr>
              <a:t>Reporting Language: Stronger and Safer Claims</a:t>
            </a:r>
          </a:p>
        </p:txBody>
      </p:sp>
      <p:sp>
        <p:nvSpPr>
          <p:cNvPr id="3" name="TextBox 2"/>
          <p:cNvSpPr txBox="1"/>
          <p:nvPr/>
        </p:nvSpPr>
        <p:spPr>
          <a:xfrm>
            <a:off x="621792" y="969264"/>
            <a:ext cx="10789920" cy="320040"/>
          </a:xfrm>
          <a:prstGeom prst="rect">
            <a:avLst/>
          </a:prstGeom>
          <a:noFill/>
        </p:spPr>
        <p:txBody>
          <a:bodyPr wrap="none">
            <a:spAutoFit/>
          </a:bodyPr>
          <a:lstStyle/>
          <a:p>
            <a:r>
              <a:rPr sz="1300">
                <a:solidFill>
                  <a:srgbClr val="5F5F5F"/>
                </a:solidFill>
              </a:rPr>
              <a:t>Model the wording students should use in lab reports</a:t>
            </a:r>
          </a:p>
        </p:txBody>
      </p:sp>
      <p:sp>
        <p:nvSpPr>
          <p:cNvPr id="4" name="Rounded Rectangle 3"/>
          <p:cNvSpPr/>
          <p:nvPr/>
        </p:nvSpPr>
        <p:spPr>
          <a:xfrm>
            <a:off x="621792" y="1828799"/>
            <a:ext cx="5303520" cy="1234440"/>
          </a:xfrm>
          <a:prstGeom prst="roundRect">
            <a:avLst/>
          </a:prstGeom>
          <a:solidFill>
            <a:srgbClr val="FFF9F7"/>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21792" y="1828799"/>
            <a:ext cx="73152" cy="12344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6383" y="1938527"/>
            <a:ext cx="5029200" cy="256032"/>
          </a:xfrm>
          <a:prstGeom prst="rect">
            <a:avLst/>
          </a:prstGeom>
          <a:noFill/>
        </p:spPr>
        <p:txBody>
          <a:bodyPr wrap="none">
            <a:spAutoFit/>
          </a:bodyPr>
          <a:lstStyle/>
          <a:p>
            <a:r>
              <a:rPr sz="1400" b="1">
                <a:solidFill>
                  <a:srgbClr val="2D2D2D"/>
                </a:solidFill>
              </a:rPr>
              <a:t>Too strong</a:t>
            </a:r>
          </a:p>
        </p:txBody>
      </p:sp>
      <p:sp>
        <p:nvSpPr>
          <p:cNvPr id="7" name="TextBox 6"/>
          <p:cNvSpPr txBox="1"/>
          <p:nvPr/>
        </p:nvSpPr>
        <p:spPr>
          <a:xfrm>
            <a:off x="786383" y="2258567"/>
            <a:ext cx="4983480" cy="731520"/>
          </a:xfrm>
          <a:prstGeom prst="rect">
            <a:avLst/>
          </a:prstGeom>
          <a:noFill/>
        </p:spPr>
        <p:txBody>
          <a:bodyPr wrap="square">
            <a:spAutoFit/>
          </a:bodyPr>
          <a:lstStyle/>
          <a:p>
            <a:pPr>
              <a:spcAft>
                <a:spcPts val="300"/>
              </a:spcAft>
              <a:defRPr sz="1250">
                <a:solidFill>
                  <a:srgbClr val="2D2D2D"/>
                </a:solidFill>
              </a:defRPr>
            </a:pPr>
            <a:r>
              <a:t>“The user visited this location.”</a:t>
            </a:r>
          </a:p>
          <a:p>
            <a:pPr>
              <a:spcAft>
                <a:spcPts val="300"/>
              </a:spcAft>
              <a:defRPr sz="1250">
                <a:solidFill>
                  <a:srgbClr val="2D2D2D"/>
                </a:solidFill>
              </a:defRPr>
            </a:pPr>
            <a:r>
              <a:t>“The user never uploaded photos.”</a:t>
            </a:r>
          </a:p>
          <a:p>
            <a:pPr>
              <a:spcAft>
                <a:spcPts val="300"/>
              </a:spcAft>
              <a:defRPr sz="1250">
                <a:solidFill>
                  <a:srgbClr val="2D2D2D"/>
                </a:solidFill>
              </a:defRPr>
            </a:pPr>
            <a:r>
              <a:t>“This record was synced to the cloud.”</a:t>
            </a:r>
          </a:p>
        </p:txBody>
      </p:sp>
      <p:sp>
        <p:nvSpPr>
          <p:cNvPr id="8" name="Rounded Rectangle 7"/>
          <p:cNvSpPr/>
          <p:nvPr/>
        </p:nvSpPr>
        <p:spPr>
          <a:xfrm>
            <a:off x="6199632" y="1828799"/>
            <a:ext cx="5303520" cy="1234440"/>
          </a:xfrm>
          <a:prstGeom prst="roundRect">
            <a:avLst/>
          </a:prstGeom>
          <a:solidFill>
            <a:srgbClr val="F7FCF8"/>
          </a:solidFill>
          <a:ln w="12700">
            <a:solidFill>
              <a:srgbClr val="DAD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9632" y="1828799"/>
            <a:ext cx="73152" cy="1234440"/>
          </a:xfrm>
          <a:prstGeom prst="rect">
            <a:avLst/>
          </a:prstGeom>
          <a:solidFill>
            <a:srgbClr val="00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64224" y="1938527"/>
            <a:ext cx="5029200" cy="256032"/>
          </a:xfrm>
          <a:prstGeom prst="rect">
            <a:avLst/>
          </a:prstGeom>
          <a:noFill/>
        </p:spPr>
        <p:txBody>
          <a:bodyPr wrap="none">
            <a:spAutoFit/>
          </a:bodyPr>
          <a:lstStyle/>
          <a:p>
            <a:r>
              <a:rPr sz="1400" b="1">
                <a:solidFill>
                  <a:srgbClr val="2D2D2D"/>
                </a:solidFill>
              </a:rPr>
              <a:t>Better forensic wording</a:t>
            </a:r>
          </a:p>
        </p:txBody>
      </p:sp>
      <p:sp>
        <p:nvSpPr>
          <p:cNvPr id="11" name="TextBox 10"/>
          <p:cNvSpPr txBox="1"/>
          <p:nvPr/>
        </p:nvSpPr>
        <p:spPr>
          <a:xfrm>
            <a:off x="6364224" y="2258567"/>
            <a:ext cx="4983480" cy="731520"/>
          </a:xfrm>
          <a:prstGeom prst="rect">
            <a:avLst/>
          </a:prstGeom>
          <a:noFill/>
        </p:spPr>
        <p:txBody>
          <a:bodyPr wrap="square">
            <a:spAutoFit/>
          </a:bodyPr>
          <a:lstStyle/>
          <a:p>
            <a:pPr>
              <a:spcAft>
                <a:spcPts val="300"/>
              </a:spcAft>
              <a:defRPr sz="1250">
                <a:solidFill>
                  <a:srgbClr val="2D2D2D"/>
                </a:solidFill>
              </a:defRPr>
            </a:pPr>
            <a:r>
              <a:t>“This extraction contains a Google Maps artifact with this coordinate.”</a:t>
            </a:r>
          </a:p>
          <a:p>
            <a:pPr>
              <a:spcAft>
                <a:spcPts val="300"/>
              </a:spcAft>
              <a:defRPr sz="1250">
                <a:solidFill>
                  <a:srgbClr val="2D2D2D"/>
                </a:solidFill>
              </a:defRPr>
            </a:pPr>
            <a:r>
              <a:t>“The examined local photo-location tables contain no rows.”</a:t>
            </a:r>
          </a:p>
          <a:p>
            <a:pPr>
              <a:spcAft>
                <a:spcPts val="300"/>
              </a:spcAft>
              <a:defRPr sz="1250">
                <a:solidFill>
                  <a:srgbClr val="2D2D2D"/>
                </a:solidFill>
              </a:defRPr>
            </a:pPr>
            <a:r>
              <a:t>“This row contains / lacks a server_id field value.”</a:t>
            </a:r>
          </a:p>
        </p:txBody>
      </p:sp>
      <p:sp>
        <p:nvSpPr>
          <p:cNvPr id="12" name="TextBox 11"/>
          <p:cNvSpPr txBox="1"/>
          <p:nvPr/>
        </p:nvSpPr>
        <p:spPr>
          <a:xfrm>
            <a:off x="676656" y="3794761"/>
            <a:ext cx="10515600" cy="1097280"/>
          </a:xfrm>
          <a:prstGeom prst="rect">
            <a:avLst/>
          </a:prstGeom>
          <a:noFill/>
        </p:spPr>
        <p:txBody>
          <a:bodyPr wrap="square">
            <a:spAutoFit/>
          </a:bodyPr>
          <a:lstStyle/>
          <a:p>
            <a:pPr>
              <a:spcAft>
                <a:spcPts val="800"/>
              </a:spcAft>
              <a:defRPr sz="1800">
                <a:solidFill>
                  <a:srgbClr val="1F4E79"/>
                </a:solidFill>
              </a:defRPr>
            </a:pPr>
            <a:r>
              <a:rPr dirty="0"/>
              <a:t>Reporting standard: preserve the raw artifact, decoded value, interpretation, uncertainty, and corroborating evidence in separate sentences.</a:t>
            </a:r>
          </a:p>
        </p:txBody>
      </p:sp>
      <p:sp>
        <p:nvSpPr>
          <p:cNvPr id="13" name="Rectangle 12"/>
          <p:cNvSpPr/>
          <p:nvPr/>
        </p:nvSpPr>
        <p:spPr>
          <a:xfrm>
            <a:off x="0" y="6748272"/>
            <a:ext cx="12192000" cy="27432"/>
          </a:xfrm>
          <a:prstGeom prst="rect">
            <a:avLst/>
          </a:prstGeom>
          <a:solidFill>
            <a:srgbClr val="F47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41D9B-2CD1-4A62-A542-FC90C9BDA6D5}"/>
              </a:ext>
            </a:extLst>
          </p:cNvPr>
          <p:cNvSpPr>
            <a:spLocks noGrp="1"/>
          </p:cNvSpPr>
          <p:nvPr>
            <p:ph type="title"/>
          </p:nvPr>
        </p:nvSpPr>
        <p:spPr/>
        <p:txBody>
          <a:bodyPr wrap="square"/>
          <a:lstStyle/>
          <a:p>
            <a:r>
              <a:rPr sz="2800" b="1">
                <a:solidFill>
                  <a:srgbClr val="232323"/>
                </a:solidFill>
              </a:rPr>
              <a:t>Google Maps Forensic Workflow</a:t>
            </a:r>
          </a:p>
        </p:txBody>
      </p:sp>
      <p:sp>
        <p:nvSpPr>
          <p:cNvPr id="3" name="Content Placeholder 2">
            <a:extLst>
              <a:ext uri="{FF2B5EF4-FFF2-40B4-BE49-F238E27FC236}">
                <a16:creationId xmlns:a16="http://schemas.microsoft.com/office/drawing/2014/main" id="{2AEADFF0-64FD-4BC0-B0B0-C813334DAF94}"/>
              </a:ext>
            </a:extLst>
          </p:cNvPr>
          <p:cNvSpPr>
            <a:spLocks noGrp="1"/>
          </p:cNvSpPr>
          <p:nvPr>
            <p:ph idx="1"/>
          </p:nvPr>
        </p:nvSpPr>
        <p:spPr/>
        <p:txBody>
          <a:bodyPr vert="horz" wrap="square" lIns="91440" tIns="45720" rIns="91440" bIns="45720" rtlCol="0" anchor="t">
            <a:normAutofit/>
          </a:bodyPr>
          <a:lstStyle/>
          <a:p>
            <a:pPr marL="0" indent="0">
              <a:spcAft>
                <a:spcPts val="700"/>
              </a:spcAft>
              <a:buNone/>
              <a:defRPr sz="1700">
                <a:solidFill>
                  <a:srgbClr val="232323"/>
                </a:solidFill>
              </a:defRPr>
            </a:pPr>
            <a:r>
              <a:rPr sz="1800" dirty="0"/>
              <a:t>1. Identify the package and preserve the acquired application directory.</a:t>
            </a:r>
          </a:p>
          <a:p>
            <a:pPr marL="0" indent="0">
              <a:spcAft>
                <a:spcPts val="700"/>
              </a:spcAft>
              <a:buNone/>
              <a:defRPr sz="1700">
                <a:solidFill>
                  <a:srgbClr val="232323"/>
                </a:solidFill>
              </a:defRPr>
            </a:pPr>
            <a:r>
              <a:rPr sz="1800" dirty="0"/>
              <a:t>2. Inventory databases and files before focusing on individual artifacts.</a:t>
            </a:r>
          </a:p>
          <a:p>
            <a:pPr marL="0" indent="0">
              <a:spcAft>
                <a:spcPts val="700"/>
              </a:spcAft>
              <a:buNone/>
              <a:defRPr sz="1700">
                <a:solidFill>
                  <a:srgbClr val="232323"/>
                </a:solidFill>
              </a:defRPr>
            </a:pPr>
            <a:r>
              <a:rPr sz="1800" dirty="0"/>
              <a:t>3. Examine schema, tables, keys, and raw values; document app/device context.</a:t>
            </a:r>
          </a:p>
          <a:p>
            <a:pPr marL="0" indent="0">
              <a:spcAft>
                <a:spcPts val="700"/>
              </a:spcAft>
              <a:buNone/>
              <a:defRPr sz="1700">
                <a:solidFill>
                  <a:srgbClr val="232323"/>
                </a:solidFill>
              </a:defRPr>
            </a:pPr>
            <a:r>
              <a:rPr sz="1800" dirty="0"/>
              <a:t>4. Decode serialized BLOBs while retaining the original evidence.</a:t>
            </a:r>
          </a:p>
          <a:p>
            <a:pPr marL="0" indent="0">
              <a:spcAft>
                <a:spcPts val="700"/>
              </a:spcAft>
              <a:buNone/>
              <a:defRPr sz="1700">
                <a:solidFill>
                  <a:srgbClr val="232323"/>
                </a:solidFill>
              </a:defRPr>
            </a:pPr>
            <a:r>
              <a:rPr sz="1800" dirty="0"/>
              <a:t>5. Normalize coordinates and timestamps only after validating units and formats.</a:t>
            </a:r>
          </a:p>
          <a:p>
            <a:pPr marL="0" indent="0">
              <a:spcAft>
                <a:spcPts val="700"/>
              </a:spcAft>
              <a:buNone/>
              <a:defRPr sz="1700">
                <a:solidFill>
                  <a:srgbClr val="232323"/>
                </a:solidFill>
              </a:defRPr>
            </a:pPr>
            <a:r>
              <a:rPr sz="1800" dirty="0"/>
              <a:t>6. Correlate saved-place, navigation, sync, notification, and file-based artifacts.</a:t>
            </a:r>
          </a:p>
          <a:p>
            <a:pPr marL="0" indent="0">
              <a:spcAft>
                <a:spcPts val="700"/>
              </a:spcAft>
              <a:buNone/>
              <a:defRPr sz="1700">
                <a:solidFill>
                  <a:srgbClr val="232323"/>
                </a:solidFill>
              </a:defRPr>
            </a:pPr>
            <a:r>
              <a:rPr sz="1800" dirty="0"/>
              <a:t>7. Separate what the artifact shows from what you infer about user behavior.</a:t>
            </a:r>
          </a:p>
          <a:p>
            <a:pPr marL="0" indent="0">
              <a:spcAft>
                <a:spcPts val="700"/>
              </a:spcAft>
              <a:buNone/>
              <a:defRPr sz="1700">
                <a:solidFill>
                  <a:srgbClr val="232323"/>
                </a:solidFill>
              </a:defRPr>
            </a:pPr>
            <a:r>
              <a:rPr sz="1800" dirty="0"/>
              <a:t>8. Corroborate significant location or timeline conclusions with independent evidence.</a:t>
            </a:r>
          </a:p>
        </p:txBody>
      </p:sp>
    </p:spTree>
    <p:extLst>
      <p:ext uri="{BB962C8B-B14F-4D97-AF65-F5344CB8AC3E}">
        <p14:creationId xmlns:p14="http://schemas.microsoft.com/office/powerpoint/2010/main" val="341839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5214313" cy="553998"/>
          </a:xfrm>
          <a:prstGeom prst="rect">
            <a:avLst/>
          </a:prstGeom>
          <a:noFill/>
        </p:spPr>
        <p:txBody>
          <a:bodyPr wrap="none">
            <a:spAutoFit/>
          </a:bodyPr>
          <a:lstStyle/>
          <a:p>
            <a:r>
              <a:rPr sz="3000" b="1" dirty="0">
                <a:solidFill>
                  <a:srgbClr val="2D2D2D"/>
                </a:solidFill>
              </a:rPr>
              <a:t>Suggested Deliverable Checklist</a:t>
            </a:r>
          </a:p>
        </p:txBody>
      </p:sp>
      <p:sp>
        <p:nvSpPr>
          <p:cNvPr id="4" name="TextBox 3"/>
          <p:cNvSpPr txBox="1"/>
          <p:nvPr/>
        </p:nvSpPr>
        <p:spPr>
          <a:xfrm>
            <a:off x="697914" y="1589587"/>
            <a:ext cx="10515600" cy="2267287"/>
          </a:xfrm>
          <a:prstGeom prst="rect">
            <a:avLst/>
          </a:prstGeom>
          <a:noFill/>
        </p:spPr>
        <p:txBody>
          <a:bodyPr wrap="square">
            <a:spAutoFit/>
          </a:bodyPr>
          <a:lstStyle/>
          <a:p>
            <a:pPr marL="285750" indent="-285750">
              <a:spcAft>
                <a:spcPts val="800"/>
              </a:spcAft>
              <a:buFont typeface="Arial" panose="020B0604020202020204" pitchFamily="34" charset="0"/>
              <a:buChar char="•"/>
              <a:defRPr sz="1800">
                <a:solidFill>
                  <a:srgbClr val="2D2D2D"/>
                </a:solidFill>
              </a:defRPr>
            </a:pPr>
            <a:r>
              <a:rPr dirty="0">
                <a:latin typeface="Arial" panose="020B0604020202020204" pitchFamily="34" charset="0"/>
                <a:cs typeface="Arial" panose="020B0604020202020204" pitchFamily="34" charset="0"/>
              </a:rPr>
              <a:t>Package path and acquisition context identified.</a:t>
            </a:r>
          </a:p>
          <a:p>
            <a:pPr marL="285750" indent="-285750">
              <a:spcAft>
                <a:spcPts val="800"/>
              </a:spcAft>
              <a:buFont typeface="Arial" panose="020B0604020202020204" pitchFamily="34" charset="0"/>
              <a:buChar char="•"/>
              <a:defRPr sz="1800">
                <a:solidFill>
                  <a:srgbClr val="2D2D2D"/>
                </a:solidFill>
              </a:defRPr>
            </a:pPr>
            <a:r>
              <a:rPr dirty="0">
                <a:latin typeface="Arial" panose="020B0604020202020204" pitchFamily="34" charset="0"/>
                <a:cs typeface="Arial" panose="020B0604020202020204" pitchFamily="34" charset="0"/>
              </a:rPr>
              <a:t>Database/file inventory with screenshots or command output.</a:t>
            </a:r>
          </a:p>
          <a:p>
            <a:pPr marL="285750" indent="-285750">
              <a:spcAft>
                <a:spcPts val="800"/>
              </a:spcAft>
              <a:buFont typeface="Arial" panose="020B0604020202020204" pitchFamily="34" charset="0"/>
              <a:buChar char="•"/>
              <a:defRPr sz="1800">
                <a:solidFill>
                  <a:srgbClr val="2D2D2D"/>
                </a:solidFill>
              </a:defRPr>
            </a:pPr>
            <a:r>
              <a:rPr dirty="0">
                <a:latin typeface="Arial" panose="020B0604020202020204" pitchFamily="34" charset="0"/>
                <a:cs typeface="Arial" panose="020B0604020202020204" pitchFamily="34" charset="0"/>
              </a:rPr>
              <a:t>At least one artifact explained with raw value → decoded value → interpretation.</a:t>
            </a:r>
          </a:p>
          <a:p>
            <a:pPr marL="285750" indent="-285750">
              <a:spcAft>
                <a:spcPts val="800"/>
              </a:spcAft>
              <a:buFont typeface="Arial" panose="020B0604020202020204" pitchFamily="34" charset="0"/>
              <a:buChar char="•"/>
              <a:defRPr sz="1800">
                <a:solidFill>
                  <a:srgbClr val="2D2D2D"/>
                </a:solidFill>
              </a:defRPr>
            </a:pPr>
            <a:r>
              <a:rPr dirty="0">
                <a:latin typeface="Arial" panose="020B0604020202020204" pitchFamily="34" charset="0"/>
                <a:cs typeface="Arial" panose="020B0604020202020204" pitchFamily="34" charset="0"/>
              </a:rPr>
              <a:t>Coordinate/timestamp conversion shown, including unit assumptions.</a:t>
            </a:r>
          </a:p>
          <a:p>
            <a:pPr marL="285750" indent="-285750">
              <a:spcAft>
                <a:spcPts val="800"/>
              </a:spcAft>
              <a:buFont typeface="Arial" panose="020B0604020202020204" pitchFamily="34" charset="0"/>
              <a:buChar char="•"/>
              <a:defRPr sz="1800">
                <a:solidFill>
                  <a:srgbClr val="2D2D2D"/>
                </a:solidFill>
              </a:defRPr>
            </a:pPr>
            <a:r>
              <a:rPr dirty="0">
                <a:latin typeface="Arial" panose="020B0604020202020204" pitchFamily="34" charset="0"/>
                <a:cs typeface="Arial" panose="020B0604020202020204" pitchFamily="34" charset="0"/>
              </a:rPr>
              <a:t>Limitations stated: BLOBs, empty tables, invalid timestamps, and cloud/local uncertainty.</a:t>
            </a:r>
          </a:p>
          <a:p>
            <a:pPr marL="285750" indent="-285750">
              <a:spcAft>
                <a:spcPts val="800"/>
              </a:spcAft>
              <a:buFont typeface="Arial" panose="020B0604020202020204" pitchFamily="34" charset="0"/>
              <a:buChar char="•"/>
              <a:defRPr sz="1800">
                <a:solidFill>
                  <a:srgbClr val="2D2D2D"/>
                </a:solidFill>
              </a:defRPr>
            </a:pPr>
            <a:r>
              <a:rPr dirty="0">
                <a:latin typeface="Arial" panose="020B0604020202020204" pitchFamily="34" charset="0"/>
                <a:cs typeface="Arial" panose="020B0604020202020204" pitchFamily="34" charset="0"/>
              </a:rPr>
              <a:t>Corroboration attempted across at least two artifact sources.</a:t>
            </a:r>
          </a:p>
        </p:txBody>
      </p:sp>
      <p:sp>
        <p:nvSpPr>
          <p:cNvPr id="5" name="Rectangle 4"/>
          <p:cNvSpPr/>
          <p:nvPr/>
        </p:nvSpPr>
        <p:spPr>
          <a:xfrm>
            <a:off x="0" y="6748272"/>
            <a:ext cx="12192000" cy="27432"/>
          </a:xfrm>
          <a:prstGeom prst="rect">
            <a:avLst/>
          </a:prstGeom>
          <a:solidFill>
            <a:srgbClr val="F47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97597" y="1825674"/>
            <a:ext cx="10058400" cy="3082895"/>
          </a:xfrm>
          <a:prstGeom prst="rect">
            <a:avLst/>
          </a:prstGeom>
          <a:noFill/>
        </p:spPr>
        <p:txBody>
          <a:bodyPr wrap="square">
            <a:spAutoFit/>
          </a:bodyPr>
          <a:lstStyle/>
          <a:p>
            <a:pPr marL="342900" indent="-342900">
              <a:spcAft>
                <a:spcPts val="700"/>
              </a:spcAft>
              <a:buFont typeface="Arial" panose="020B0604020202020204" pitchFamily="34" charset="0"/>
              <a:buChar char="•"/>
              <a:defRPr sz="1900">
                <a:solidFill>
                  <a:srgbClr val="232323"/>
                </a:solidFill>
              </a:defRPr>
            </a:pPr>
            <a:r>
              <a:rPr dirty="0"/>
              <a:t>Google Maps evidence is distributed across multiple SQLite databases and ordinary files.</a:t>
            </a:r>
          </a:p>
          <a:p>
            <a:pPr marL="342900" indent="-342900">
              <a:spcAft>
                <a:spcPts val="700"/>
              </a:spcAft>
              <a:buFont typeface="Arial" panose="020B0604020202020204" pitchFamily="34" charset="0"/>
              <a:buChar char="•"/>
              <a:defRPr sz="1900">
                <a:solidFill>
                  <a:srgbClr val="232323"/>
                </a:solidFill>
              </a:defRPr>
            </a:pPr>
            <a:r>
              <a:rPr dirty="0"/>
              <a:t>Coordinates and route data can reflect saved, searched, synchronized, or navigated locations—context determines meaning.</a:t>
            </a:r>
          </a:p>
          <a:p>
            <a:pPr marL="342900" indent="-342900">
              <a:spcAft>
                <a:spcPts val="700"/>
              </a:spcAft>
              <a:buFont typeface="Arial" panose="020B0604020202020204" pitchFamily="34" charset="0"/>
              <a:buChar char="•"/>
              <a:defRPr sz="1900">
                <a:solidFill>
                  <a:srgbClr val="232323"/>
                </a:solidFill>
              </a:defRPr>
            </a:pPr>
            <a:r>
              <a:rPr dirty="0"/>
              <a:t>Serialized BLOBs can contain high-value evidence, but decoding must be validated against the actual schema and app version.</a:t>
            </a:r>
          </a:p>
          <a:p>
            <a:pPr marL="342900" indent="-342900">
              <a:spcAft>
                <a:spcPts val="700"/>
              </a:spcAft>
              <a:buFont typeface="Arial" panose="020B0604020202020204" pitchFamily="34" charset="0"/>
              <a:buChar char="•"/>
              <a:defRPr sz="1900">
                <a:solidFill>
                  <a:srgbClr val="232323"/>
                </a:solidFill>
              </a:defRPr>
            </a:pPr>
            <a:r>
              <a:rPr dirty="0"/>
              <a:t>Empty tables are evidence about the examined extraction, not proof that an activity never occurred.</a:t>
            </a:r>
          </a:p>
          <a:p>
            <a:pPr marL="342900" indent="-342900">
              <a:spcAft>
                <a:spcPts val="700"/>
              </a:spcAft>
              <a:buFont typeface="Arial" panose="020B0604020202020204" pitchFamily="34" charset="0"/>
              <a:buChar char="•"/>
              <a:defRPr sz="1900">
                <a:solidFill>
                  <a:srgbClr val="232323"/>
                </a:solidFill>
              </a:defRPr>
            </a:pPr>
            <a:r>
              <a:rPr dirty="0"/>
              <a:t>The strongest forensic conclusion combines artifact interpretation with independent corroboration.</a:t>
            </a:r>
          </a:p>
        </p:txBody>
      </p:sp>
      <p:sp>
        <p:nvSpPr>
          <p:cNvPr id="6" name="Title 5">
            <a:extLst>
              <a:ext uri="{FF2B5EF4-FFF2-40B4-BE49-F238E27FC236}">
                <a16:creationId xmlns:a16="http://schemas.microsoft.com/office/drawing/2014/main" id="{5B62AD0F-A64C-501D-2694-DCDEF6F0B990}"/>
              </a:ext>
            </a:extLst>
          </p:cNvPr>
          <p:cNvSpPr>
            <a:spLocks noGrp="1"/>
          </p:cNvSpPr>
          <p:nvPr>
            <p:ph type="title"/>
          </p:nvPr>
        </p:nvSpPr>
        <p:spPr/>
        <p:txBody>
          <a:bodyPr/>
          <a:lstStyle/>
          <a:p>
            <a:r>
              <a:rPr lang="en-US" b="1" dirty="0">
                <a:solidFill>
                  <a:srgbClr val="232323"/>
                </a:solidFill>
              </a:rPr>
              <a:t>Key Takeaways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1162</TotalTime>
  <Words>6725</Words>
  <Application>Microsoft Office PowerPoint</Application>
  <PresentationFormat>Widescreen</PresentationFormat>
  <Paragraphs>445</Paragraphs>
  <Slides>49</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Calibri Light</vt:lpstr>
      <vt:lpstr>Office Theme</vt:lpstr>
      <vt:lpstr>Pixel 3 GMS App Investigations</vt:lpstr>
      <vt:lpstr>Learning Objectives</vt:lpstr>
      <vt:lpstr>Google Maps as a Forensic Evidence Source</vt:lpstr>
      <vt:lpstr>From User Action to Forensic Artifact</vt:lpstr>
      <vt:lpstr>Questions Google Maps Artifacts Can Help Address</vt:lpstr>
      <vt:lpstr>PowerPoint Presentation</vt:lpstr>
      <vt:lpstr>PowerPoint Presentation</vt:lpstr>
      <vt:lpstr>Locate the Google Maps Application Directory </vt:lpstr>
      <vt:lpstr>PowerPoint Presentation</vt:lpstr>
      <vt:lpstr>Forensic Evidence Categories</vt:lpstr>
      <vt:lpstr>PowerPoint Presentation</vt:lpstr>
      <vt:lpstr>PowerPoint Presentation</vt:lpstr>
      <vt:lpstr>PowerPoint Presentation</vt:lpstr>
      <vt:lpstr>PowerPoint Presentation</vt:lpstr>
      <vt:lpstr>Saved-place and sync-related artifacts</vt:lpstr>
      <vt:lpstr>PowerPoint Presentation</vt:lpstr>
      <vt:lpstr>PowerPoint Presentation</vt:lpstr>
      <vt:lpstr>PowerPoint Presentation</vt:lpstr>
      <vt:lpstr>PowerPoint Presentation</vt:lpstr>
      <vt:lpstr>PowerPoint Presentation</vt:lpstr>
      <vt:lpstr>Decode the Serialized BLOB with Python</vt:lpstr>
      <vt:lpstr>PowerPoint Presentation</vt:lpstr>
      <vt:lpstr>PowerPoint Presentation</vt:lpstr>
      <vt:lpstr>PowerPoint Presentation</vt:lpstr>
      <vt:lpstr>Travel planning, navigation, and offline-storage artifacts</vt:lpstr>
      <vt:lpstr>Inspect gmm_storage.db and gmm_storage_table</vt:lpstr>
      <vt:lpstr>gmm_storage_table: Key–Value Structure</vt:lpstr>
      <vt:lpstr>What the BLOB May Reveal After Decoding</vt:lpstr>
      <vt:lpstr>PowerPoint Presentation</vt:lpstr>
      <vt:lpstr>Synchronization metadata and cross-database correlation</vt:lpstr>
      <vt:lpstr>gmm_sync.db: Purpose and Investigative Role</vt:lpstr>
      <vt:lpstr>sync_item_data: Fields to Examine</vt:lpstr>
      <vt:lpstr>PowerPoint Presentation</vt:lpstr>
      <vt:lpstr>PowerPoint Presentation</vt:lpstr>
      <vt:lpstr>PowerPoint Presentation</vt:lpstr>
      <vt:lpstr>Locate the Google Maps files Directory</vt:lpstr>
      <vt:lpstr>Identify Navigation-Related Files</vt:lpstr>
      <vt:lpstr>Locate Offline Saved-Direction Artifacts</vt:lpstr>
      <vt:lpstr>Review Offline-Direction Content</vt:lpstr>
      <vt:lpstr>PowerPoint Presentation</vt:lpstr>
      <vt:lpstr>Supporting behavioral / notification artifacts</vt:lpstr>
      <vt:lpstr>ue3.db and inbox_notifications.db: Dataset Result</vt:lpstr>
      <vt:lpstr>User-Generated Photo Location Metadata</vt:lpstr>
      <vt:lpstr>PowerPoint Presentation</vt:lpstr>
      <vt:lpstr>PowerPoint Presentation</vt:lpstr>
      <vt:lpstr>PowerPoint Presentation</vt:lpstr>
      <vt:lpstr>Google Maps Forensic Workflow</vt:lpstr>
      <vt:lpstr>PowerPoint Presentation</vt:lpstr>
      <vt:lpstr>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Installing Visual Studio Code</dc:title>
  <dc:creator>Weifeng Xu</dc:creator>
  <cp:lastModifiedBy>Weifeng Xu</cp:lastModifiedBy>
  <cp:revision>47</cp:revision>
  <dcterms:created xsi:type="dcterms:W3CDTF">2021-01-18T02:02:41Z</dcterms:created>
  <dcterms:modified xsi:type="dcterms:W3CDTF">2026-09-30T21:55:58Z</dcterms:modified>
</cp:coreProperties>
</file>