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ink/ink1.xml" ContentType="application/inkml+xml"/>
  <Override PartName="/ppt/ink/ink2.xml" ContentType="application/inkml+xml"/>
  <Override PartName="/ppt/ink/ink3.xml" ContentType="application/inkml+xml"/>
  <Override PartName="/ppt/ink/ink4.xml" ContentType="application/inkml+xml"/>
  <Override PartName="/ppt/ink/ink5.xml" ContentType="application/inkml+xml"/>
  <Override PartName="/ppt/ink/ink6.xml" ContentType="application/inkml+xml"/>
  <Override PartName="/ppt/ink/ink7.xml" ContentType="application/inkml+xml"/>
  <Override PartName="/ppt/ink/ink8.xml" ContentType="application/inkml+xml"/>
  <Override PartName="/ppt/ink/ink9.xml" ContentType="application/inkml+xml"/>
  <Override PartName="/ppt/ink/ink10.xml" ContentType="application/inkml+xml"/>
  <Override PartName="/ppt/ink/ink11.xml" ContentType="application/inkml+xml"/>
  <Override PartName="/ppt/ink/ink12.xml" ContentType="application/inkml+xml"/>
  <Override PartName="/ppt/ink/ink13.xml" ContentType="application/inkml+xml"/>
  <Override PartName="/ppt/notesSlides/notesSlide7.xml" ContentType="application/vnd.openxmlformats-officedocument.presentationml.notesSlide+xml"/>
  <Override PartName="/ppt/ink/ink14.xml" ContentType="application/inkml+xml"/>
  <Override PartName="/ppt/ink/ink15.xml" ContentType="application/inkml+xml"/>
  <Override PartName="/ppt/ink/ink16.xml" ContentType="application/inkml+xml"/>
  <Override PartName="/ppt/ink/ink17.xml" ContentType="application/inkml+xml"/>
  <Override PartName="/ppt/ink/ink18.xml" ContentType="application/inkml+xml"/>
  <Override PartName="/ppt/ink/ink19.xml" ContentType="application/inkml+xml"/>
  <Override PartName="/ppt/ink/ink20.xml" ContentType="application/inkml+xml"/>
  <Override PartName="/ppt/ink/ink21.xml" ContentType="application/inkml+xml"/>
  <Override PartName="/ppt/ink/ink22.xml" ContentType="application/inkml+xml"/>
  <Override PartName="/ppt/notesSlides/notesSlide8.xml" ContentType="application/vnd.openxmlformats-officedocument.presentationml.notesSlide+xml"/>
  <Override PartName="/ppt/notesSlides/notesSlide9.xml" ContentType="application/vnd.openxmlformats-officedocument.presentationml.notesSlide+xml"/>
  <Override PartName="/ppt/ink/ink23.xml" ContentType="application/inkml+xml"/>
  <Override PartName="/ppt/ink/ink24.xml" ContentType="application/inkml+xml"/>
  <Override PartName="/ppt/ink/ink25.xml" ContentType="application/inkml+xml"/>
  <Override PartName="/ppt/ink/ink26.xml" ContentType="application/inkml+xml"/>
  <Override PartName="/ppt/ink/ink27.xml" ContentType="application/inkml+xml"/>
  <Override PartName="/ppt/ink/ink28.xml" ContentType="application/inkml+xml"/>
  <Override PartName="/ppt/ink/ink29.xml" ContentType="application/inkml+xml"/>
  <Override PartName="/ppt/ink/ink30.xml" ContentType="application/inkml+xml"/>
  <Override PartName="/ppt/ink/ink31.xml" ContentType="application/inkml+xml"/>
  <Override PartName="/ppt/ink/ink32.xml" ContentType="application/inkml+xml"/>
  <Override PartName="/ppt/notesSlides/notesSlide10.xml" ContentType="application/vnd.openxmlformats-officedocument.presentationml.notesSlide+xml"/>
  <Override PartName="/ppt/ink/ink33.xml" ContentType="application/inkml+xml"/>
  <Override PartName="/ppt/ink/ink34.xml" ContentType="application/inkml+xml"/>
  <Override PartName="/ppt/ink/ink35.xml" ContentType="application/inkml+xml"/>
  <Override PartName="/ppt/ink/ink36.xml" ContentType="application/inkml+xml"/>
  <Override PartName="/ppt/ink/ink37.xml" ContentType="application/inkml+xml"/>
  <Override PartName="/ppt/ink/ink38.xml" ContentType="application/inkml+xml"/>
  <Override PartName="/ppt/ink/ink39.xml" ContentType="application/inkml+xml"/>
  <Override PartName="/ppt/ink/ink40.xml" ContentType="application/inkml+xml"/>
  <Override PartName="/ppt/ink/ink41.xml" ContentType="application/inkml+xml"/>
  <Override PartName="/ppt/ink/ink42.xml" ContentType="application/inkml+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74"/>
  </p:notesMasterIdLst>
  <p:sldIdLst>
    <p:sldId id="256" r:id="rId2"/>
    <p:sldId id="581" r:id="rId3"/>
    <p:sldId id="500" r:id="rId4"/>
    <p:sldId id="523" r:id="rId5"/>
    <p:sldId id="573" r:id="rId6"/>
    <p:sldId id="547" r:id="rId7"/>
    <p:sldId id="387" r:id="rId8"/>
    <p:sldId id="461" r:id="rId9"/>
    <p:sldId id="501" r:id="rId10"/>
    <p:sldId id="469" r:id="rId11"/>
    <p:sldId id="582" r:id="rId12"/>
    <p:sldId id="548" r:id="rId13"/>
    <p:sldId id="583" r:id="rId14"/>
    <p:sldId id="557" r:id="rId15"/>
    <p:sldId id="563" r:id="rId16"/>
    <p:sldId id="550" r:id="rId17"/>
    <p:sldId id="549" r:id="rId18"/>
    <p:sldId id="553" r:id="rId19"/>
    <p:sldId id="554" r:id="rId20"/>
    <p:sldId id="556" r:id="rId21"/>
    <p:sldId id="558" r:id="rId22"/>
    <p:sldId id="559" r:id="rId23"/>
    <p:sldId id="564" r:id="rId24"/>
    <p:sldId id="574" r:id="rId25"/>
    <p:sldId id="565" r:id="rId26"/>
    <p:sldId id="560" r:id="rId27"/>
    <p:sldId id="481" r:id="rId28"/>
    <p:sldId id="566" r:id="rId29"/>
    <p:sldId id="527" r:id="rId30"/>
    <p:sldId id="567" r:id="rId31"/>
    <p:sldId id="575" r:id="rId32"/>
    <p:sldId id="568" r:id="rId33"/>
    <p:sldId id="528" r:id="rId34"/>
    <p:sldId id="530" r:id="rId35"/>
    <p:sldId id="529" r:id="rId36"/>
    <p:sldId id="569" r:id="rId37"/>
    <p:sldId id="555" r:id="rId38"/>
    <p:sldId id="526" r:id="rId39"/>
    <p:sldId id="544" r:id="rId40"/>
    <p:sldId id="551" r:id="rId41"/>
    <p:sldId id="552" r:id="rId42"/>
    <p:sldId id="531" r:id="rId43"/>
    <p:sldId id="478" r:id="rId44"/>
    <p:sldId id="525" r:id="rId45"/>
    <p:sldId id="561" r:id="rId46"/>
    <p:sldId id="545" r:id="rId47"/>
    <p:sldId id="546" r:id="rId48"/>
    <p:sldId id="562" r:id="rId49"/>
    <p:sldId id="536" r:id="rId50"/>
    <p:sldId id="480" r:id="rId51"/>
    <p:sldId id="511" r:id="rId52"/>
    <p:sldId id="504" r:id="rId53"/>
    <p:sldId id="578" r:id="rId54"/>
    <p:sldId id="577" r:id="rId55"/>
    <p:sldId id="579" r:id="rId56"/>
    <p:sldId id="477" r:id="rId57"/>
    <p:sldId id="587" r:id="rId58"/>
    <p:sldId id="390" r:id="rId59"/>
    <p:sldId id="391" r:id="rId60"/>
    <p:sldId id="540" r:id="rId61"/>
    <p:sldId id="576" r:id="rId62"/>
    <p:sldId id="485" r:id="rId63"/>
    <p:sldId id="541" r:id="rId64"/>
    <p:sldId id="486" r:id="rId65"/>
    <p:sldId id="542" r:id="rId66"/>
    <p:sldId id="543" r:id="rId67"/>
    <p:sldId id="538" r:id="rId68"/>
    <p:sldId id="585" r:id="rId69"/>
    <p:sldId id="570" r:id="rId70"/>
    <p:sldId id="572" r:id="rId71"/>
    <p:sldId id="586" r:id="rId72"/>
    <p:sldId id="571" r:id="rId7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Weifeng Xu" initials="WX" lastIdx="3" clrIdx="0">
    <p:extLst>
      <p:ext uri="{19B8F6BF-5375-455C-9EA6-DF929625EA0E}">
        <p15:presenceInfo xmlns:p15="http://schemas.microsoft.com/office/powerpoint/2012/main" userId="Weifeng Xu" providerId="Non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AB51D6"/>
    <a:srgbClr val="D81E00"/>
    <a:srgbClr val="AEAEAE"/>
    <a:srgbClr val="FF9A00"/>
    <a:srgbClr val="00AAD6"/>
    <a:srgbClr val="318EFD"/>
    <a:srgbClr val="007DB5"/>
    <a:srgbClr val="F3F3F3"/>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284E427A-3D55-4303-BF80-6455036E1DE7}" styleName="Themed Style 1 - Accent 2">
    <a:tblBg>
      <a:fillRef idx="2">
        <a:schemeClr val="accent2"/>
      </a:fillRef>
      <a:effectRef idx="1">
        <a:schemeClr val="accent2"/>
      </a:effectRef>
    </a:tblBg>
    <a:wholeTbl>
      <a:tcTxStyle>
        <a:fontRef idx="minor">
          <a:scrgbClr r="0" g="0" b="0"/>
        </a:fontRef>
        <a:schemeClr val="dk1"/>
      </a:tcTxStyle>
      <a:tcStyle>
        <a:tcBdr>
          <a:left>
            <a:lnRef idx="1">
              <a:schemeClr val="accent2"/>
            </a:lnRef>
          </a:left>
          <a:right>
            <a:lnRef idx="1">
              <a:schemeClr val="accent2"/>
            </a:lnRef>
          </a:right>
          <a:top>
            <a:lnRef idx="1">
              <a:schemeClr val="accent2"/>
            </a:lnRef>
          </a:top>
          <a:bottom>
            <a:lnRef idx="1">
              <a:schemeClr val="accent2"/>
            </a:lnRef>
          </a:bottom>
          <a:insideH>
            <a:lnRef idx="1">
              <a:schemeClr val="accent2"/>
            </a:lnRef>
          </a:insideH>
          <a:insideV>
            <a:lnRef idx="1">
              <a:schemeClr val="accent2"/>
            </a:lnRef>
          </a:insideV>
        </a:tcBdr>
        <a:fill>
          <a:noFill/>
        </a:fill>
      </a:tcStyle>
    </a:wholeTbl>
    <a:band1H>
      <a:tcStyle>
        <a:tcBdr/>
        <a:fill>
          <a:solidFill>
            <a:schemeClr val="accent2">
              <a:alpha val="40000"/>
            </a:schemeClr>
          </a:solidFill>
        </a:fill>
      </a:tcStyle>
    </a:band1H>
    <a:band2H>
      <a:tcStyle>
        <a:tcBdr/>
      </a:tcStyle>
    </a:band2H>
    <a:band1V>
      <a:tcStyle>
        <a:tcBdr>
          <a:top>
            <a:lnRef idx="1">
              <a:schemeClr val="accent2"/>
            </a:lnRef>
          </a:top>
          <a:bottom>
            <a:lnRef idx="1">
              <a:schemeClr val="accent2"/>
            </a:lnRef>
          </a:bottom>
        </a:tcBdr>
        <a:fill>
          <a:solidFill>
            <a:schemeClr val="accent2">
              <a:alpha val="40000"/>
            </a:schemeClr>
          </a:solidFill>
        </a:fill>
      </a:tcStyle>
    </a:band1V>
    <a:band2V>
      <a:tcStyle>
        <a:tcBdr/>
      </a:tcStyle>
    </a:band2V>
    <a:lastCol>
      <a:tcTxStyle b="on"/>
      <a:tcStyle>
        <a:tcBdr>
          <a:left>
            <a:lnRef idx="2">
              <a:schemeClr val="accent2"/>
            </a:lnRef>
          </a:left>
          <a:right>
            <a:lnRef idx="1">
              <a:schemeClr val="accent2"/>
            </a:lnRef>
          </a:right>
          <a:top>
            <a:lnRef idx="1">
              <a:schemeClr val="accent2"/>
            </a:lnRef>
          </a:top>
          <a:bottom>
            <a:lnRef idx="1">
              <a:schemeClr val="accent2"/>
            </a:lnRef>
          </a:bottom>
          <a:insideH>
            <a:lnRef idx="1">
              <a:schemeClr val="accent2"/>
            </a:lnRef>
          </a:insideH>
          <a:insideV>
            <a:ln>
              <a:noFill/>
            </a:ln>
          </a:insideV>
        </a:tcBdr>
      </a:tcStyle>
    </a:lastCol>
    <a:firstCol>
      <a:tcTxStyle b="on"/>
      <a:tcStyle>
        <a:tcBdr>
          <a:left>
            <a:lnRef idx="1">
              <a:schemeClr val="accent2"/>
            </a:lnRef>
          </a:left>
          <a:right>
            <a:lnRef idx="2">
              <a:schemeClr val="accent2"/>
            </a:lnRef>
          </a:right>
          <a:top>
            <a:lnRef idx="1">
              <a:schemeClr val="accent2"/>
            </a:lnRef>
          </a:top>
          <a:bottom>
            <a:lnRef idx="1">
              <a:schemeClr val="accent2"/>
            </a:lnRef>
          </a:bottom>
          <a:insideH>
            <a:lnRef idx="1">
              <a:schemeClr val="accent2"/>
            </a:lnRef>
          </a:insideH>
          <a:insideV>
            <a:ln>
              <a:noFill/>
            </a:ln>
          </a:insideV>
        </a:tcBdr>
      </a:tcStyle>
    </a:firstCol>
    <a:lastRow>
      <a:tcTxStyle b="on"/>
      <a:tcStyle>
        <a:tcBdr>
          <a:left>
            <a:lnRef idx="1">
              <a:schemeClr val="accent2"/>
            </a:lnRef>
          </a:left>
          <a:right>
            <a:lnRef idx="1">
              <a:schemeClr val="accent2"/>
            </a:lnRef>
          </a:right>
          <a:top>
            <a:lnRef idx="2">
              <a:schemeClr val="accent2"/>
            </a:lnRef>
          </a:top>
          <a:bottom>
            <a:lnRef idx="2">
              <a:schemeClr val="accent2"/>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2"/>
            </a:lnRef>
          </a:left>
          <a:right>
            <a:lnRef idx="1">
              <a:schemeClr val="accent2"/>
            </a:lnRef>
          </a:right>
          <a:top>
            <a:lnRef idx="1">
              <a:schemeClr val="accent2"/>
            </a:lnRef>
          </a:top>
          <a:bottom>
            <a:lnRef idx="2">
              <a:schemeClr val="lt1"/>
            </a:lnRef>
          </a:bottom>
          <a:insideH>
            <a:ln>
              <a:noFill/>
            </a:ln>
          </a:insideH>
          <a:insideV>
            <a:ln>
              <a:noFill/>
            </a:ln>
          </a:insideV>
        </a:tcBdr>
        <a:fill>
          <a:solidFill>
            <a:schemeClr val="accent2"/>
          </a:solidFill>
        </a:fill>
      </a:tcStyle>
    </a:firstRow>
  </a:tblStyle>
  <a:tblStyle styleId="{69C7853C-536D-4A76-A0AE-DD22124D55A5}" styleName="Themed Style 1 - Accent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5A111915-BE36-4E01-A7E5-04B1672EAD32}" styleName="Light Style 2 - Accent 5">
    <a:wholeTbl>
      <a:tcTxStyle>
        <a:fontRef idx="minor">
          <a:scrgbClr r="0" g="0" b="0"/>
        </a:fontRef>
        <a:schemeClr val="tx1"/>
      </a:tcTxStyle>
      <a:tcStyle>
        <a:tcBdr>
          <a:left>
            <a:lnRef idx="1">
              <a:schemeClr val="accent5"/>
            </a:lnRef>
          </a:left>
          <a:right>
            <a:lnRef idx="1">
              <a:schemeClr val="accent5"/>
            </a:lnRef>
          </a:right>
          <a:top>
            <a:lnRef idx="1">
              <a:schemeClr val="accent5"/>
            </a:lnRef>
          </a:top>
          <a:bottom>
            <a:lnRef idx="1">
              <a:schemeClr val="accent5"/>
            </a:lnRef>
          </a:bottom>
          <a:insideH>
            <a:ln>
              <a:noFill/>
            </a:ln>
          </a:insideH>
          <a:insideV>
            <a:ln>
              <a:noFill/>
            </a:ln>
          </a:insideV>
        </a:tcBdr>
        <a:fill>
          <a:noFill/>
        </a:fill>
      </a:tcStyle>
    </a:wholeTbl>
    <a:band1H>
      <a:tcStyle>
        <a:tcBdr>
          <a:top>
            <a:lnRef idx="1">
              <a:schemeClr val="accent5"/>
            </a:lnRef>
          </a:top>
          <a:bottom>
            <a:lnRef idx="1">
              <a:schemeClr val="accent5"/>
            </a:lnRef>
          </a:bottom>
        </a:tcBdr>
      </a:tcStyle>
    </a:band1H>
    <a:band1V>
      <a:tcStyle>
        <a:tcBdr>
          <a:left>
            <a:lnRef idx="1">
              <a:schemeClr val="accent5"/>
            </a:lnRef>
          </a:left>
          <a:right>
            <a:lnRef idx="1">
              <a:schemeClr val="accent5"/>
            </a:lnRef>
          </a:right>
        </a:tcBdr>
      </a:tcStyle>
    </a:band1V>
    <a:band2V>
      <a:tcStyle>
        <a:tcBdr>
          <a:left>
            <a:lnRef idx="1">
              <a:schemeClr val="accent5"/>
            </a:lnRef>
          </a:left>
          <a:right>
            <a:lnRef idx="1">
              <a:schemeClr val="accent5"/>
            </a:lnRef>
          </a:right>
        </a:tcBdr>
      </a:tcStyle>
    </a:band2V>
    <a:lastCol>
      <a:tcTxStyle b="on"/>
      <a:tcStyle>
        <a:tcBdr/>
      </a:tcStyle>
    </a:lastCol>
    <a:firstCol>
      <a:tcTxStyle b="on"/>
      <a:tcStyle>
        <a:tcBdr/>
      </a:tcStyle>
    </a:firstCol>
    <a:lastRow>
      <a:tcTxStyle b="on"/>
      <a:tcStyle>
        <a:tcBdr>
          <a:top>
            <a:ln w="50800" cmpd="dbl">
              <a:solidFill>
                <a:schemeClr val="accent5"/>
              </a:solidFill>
            </a:ln>
          </a:top>
        </a:tcBdr>
      </a:tcStyle>
    </a:lastRow>
    <a:firstRow>
      <a:tcTxStyle b="on">
        <a:fontRef idx="minor">
          <a:scrgbClr r="0" g="0" b="0"/>
        </a:fontRef>
        <a:schemeClr val="bg1"/>
      </a:tcTxStyle>
      <a:tcStyle>
        <a:tcBdr/>
        <a:fillRef idx="1">
          <a:schemeClr val="accent5"/>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1338" autoAdjust="0"/>
    <p:restoredTop sz="89388" autoAdjust="0"/>
  </p:normalViewPr>
  <p:slideViewPr>
    <p:cSldViewPr snapToGrid="0">
      <p:cViewPr>
        <p:scale>
          <a:sx n="100" d="100"/>
          <a:sy n="100" d="100"/>
        </p:scale>
        <p:origin x="485" y="25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16" Type="http://schemas.openxmlformats.org/officeDocument/2006/relationships/slide" Target="slides/slide1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74" Type="http://schemas.openxmlformats.org/officeDocument/2006/relationships/notesMaster" Target="notesMasters/notesMaster1.xml"/><Relationship Id="rId79" Type="http://schemas.openxmlformats.org/officeDocument/2006/relationships/tableStyles" Target="tableStyles.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viewProps" Target="viewProps.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commentAuthors" Target="commentAuthor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presProps" Target="presProps.xml"/><Relationship Id="rId7" Type="http://schemas.openxmlformats.org/officeDocument/2006/relationships/slide" Target="slides/slide6.xml"/><Relationship Id="rId71" Type="http://schemas.openxmlformats.org/officeDocument/2006/relationships/slide" Target="slides/slide70.xml"/><Relationship Id="rId2" Type="http://schemas.openxmlformats.org/officeDocument/2006/relationships/slide" Target="slides/slide1.xml"/><Relationship Id="rId29" Type="http://schemas.openxmlformats.org/officeDocument/2006/relationships/slide" Target="slides/slide28.xml"/></Relationships>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12T15:37:02.182"/>
    </inkml:context>
    <inkml:brush xml:id="br0">
      <inkml:brushProperty name="width" value="0.05" units="cm"/>
      <inkml:brushProperty name="height" value="0.05" units="cm"/>
      <inkml:brushProperty name="color" value="#FFC114"/>
    </inkml:brush>
  </inkml:definitions>
  <inkml:trace contextRef="#ctx0" brushRef="#br0">249 1 24575,'-5'2'0,"1"0"0,0 0 0,-1 0 0,1 0 0,0 1 0,0 0 0,0 0 0,1 0 0,-1 0 0,1 1 0,-6 7 0,0-2 0,0 1 0,-1-1 0,0-1 0,0 0 0,0 0 0,-1-1 0,0 0 0,-14 6 0,21-11 0,0 0 0,-1 0 0,1 1 0,0-1 0,1 1 0,-1 0 0,0 1 0,1-1 0,0 0 0,-1 1 0,2 0 0,-1 0 0,0 0 0,1 0 0,-1 0 0,-2 9 0,0 2 0,1 1 0,1 0 0,-3 27 0,-2 13 0,6-44 0,1-1 0,0 1 0,1-1 0,0 1 0,1-1 0,0 1 0,1-1 0,0 1 0,1-1 0,0 0 0,0 0 0,9 17 0,-6-21 0,0 0 0,0 0 0,0-1 0,0 1 0,1-2 0,0 1 0,1-1 0,10 7 0,14 10 0,-14-6 0,30 34 0,-31-30 0,33 27 0,-44-42 0,0 0 0,0 0 0,1-1 0,0 0 0,0-1 0,0 0 0,0 0 0,0 0 0,14 3 0,24 2 0,-17-1 0,1-3 0,49 3 0,-70-6 0,1-1 0,0-1 0,-1 0 0,1 0 0,0 0 0,13-5 0,-19 5 0,-1-1 0,1 1 0,-1-1 0,1 1 0,-1-1 0,1 0 0,-1 0 0,0 0 0,0 0 0,0 0 0,0-1 0,0 1 0,-1 0 0,1-1 0,-1 0 0,1 1 0,-1-1 0,0 0 0,0 0 0,0 1 0,-1-1 0,1 0 0,0-3 0,1-9 0,-1 0 0,0 0 0,-1 0 0,-1 0 0,0 0 0,-1 1 0,-5-22 0,-2 6 0,-1 0 0,-20-41 0,10 23 0,14 31 0,-2-1 0,-12-22 0,16 34 0,0 0 0,0 1 0,-1-1 0,0 1 0,0 0 0,0 0 0,0 1 0,-1 0 0,0 0 0,-7-5 0,-4 0-1365,1 1-5461</inkml:trace>
</inkml:ink>
</file>

<file path=ppt/ink/ink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12T15:37:15.142"/>
    </inkml:context>
    <inkml:brush xml:id="br0">
      <inkml:brushProperty name="width" value="0.05" units="cm"/>
      <inkml:brushProperty name="height" value="0.05" units="cm"/>
      <inkml:brushProperty name="color" value="#FFC114"/>
    </inkml:brush>
  </inkml:definitions>
  <inkml:trace contextRef="#ctx0" brushRef="#br0">184 1 24575,'-7'0'0,"0"0"0,0 0 0,-1 1 0,1 0 0,0 0 0,0 1 0,-7 2 0,10-2 0,0 0 0,0 1 0,0-1 0,0 1 0,1 0 0,-1 0 0,1 0 0,0 0 0,0 0 0,0 1 0,0 0 0,-3 5 0,0-1 0,0 2 0,0-1 0,1 1 0,0-1 0,1 2 0,0-1 0,1 0 0,0 1 0,0-1 0,1 1 0,-1 11 0,-7 50 0,6-55 0,1 0 0,1 0 0,0 0 0,2 24 0,0-36 0,1-1 0,0 1 0,0-1 0,0 1 0,0-1 0,1 1 0,-1-1 0,1 0 0,0 1 0,1-1 0,-1 0 0,1 0 0,0-1 0,0 1 0,0-1 0,0 1 0,0-1 0,1 0 0,0 0 0,6 4 0,1-2 0,0 0 0,0-1 0,0 0 0,1 0 0,0-2 0,-1 1 0,1-1 0,0-1 0,0 0 0,13-1 0,-3 0 0,38 7 0,51 10 0,-101-16 0,1 0 0,-1-1 0,0 0 0,0-1 0,0-1 0,1 1 0,-1-1 0,17-7 0,-23 7 0,0 0 0,-1-1 0,1 0 0,-1 0 0,1 0 0,-1 0 0,0-1 0,0 1 0,-1-1 0,5-6 0,19-22 0,-21 27 0,0-1 0,0 1 0,-1-1 0,0 0 0,0-1 0,0 1 0,-1-1 0,0 1 0,0-1 0,-1 0 0,4-14 0,-3 6 0,0 0 0,-1 1 0,-1-1 0,-1-30 0,0 41 0,-1-1 0,1 0 0,-1 1 0,0-1 0,-1 0 0,1 1 0,-1-1 0,0 1 0,0 0 0,0-1 0,0 1 0,-1 0 0,0 0 0,0 1 0,0-1 0,0 1 0,0-1 0,-1 1 0,0 0 0,-7-5 0,2 4 0,0 0 0,0 0 0,0 1 0,0 0 0,-1 1 0,1 0 0,-1 0 0,1 1 0,-16 0 0,-135 2-1365,140-1-5461</inkml:trace>
</inkml:ink>
</file>

<file path=ppt/ink/ink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12T15:37:26.847"/>
    </inkml:context>
    <inkml:brush xml:id="br0">
      <inkml:brushProperty name="width" value="0.05" units="cm"/>
      <inkml:brushProperty name="height" value="0.05" units="cm"/>
      <inkml:brushProperty name="color" value="#FFC114"/>
    </inkml:brush>
  </inkml:definitions>
  <inkml:trace contextRef="#ctx0" brushRef="#br0">368 1 24575,'-66'-1'0,"-74"3"0,137-2 0,0 0 0,0 1 0,0-1 0,0 1 0,0 0 0,0 0 0,1 0 0,-1 0 0,0 1 0,0-1 0,1 1 0,-1-1 0,1 1 0,0 0 0,-1 0 0,1 0 0,0 0 0,0 0 0,0 1 0,0-1 0,1 1 0,-1-1 0,1 1 0,-1-1 0,1 1 0,0 0 0,-1 4 0,-1 7 0,0 0 0,1 1 0,1-1 0,0 26 0,2-26 0,-2 0 0,0 0 0,-2 14 0,-12 51 0,11-51 0,-13 44 0,6-38 0,1 0 0,2 1 0,1 0 0,2 0 0,-1 58 0,11-26 0,-4-62 0,0-1 0,0 1 0,0-1 0,1 1 0,0-1 0,0 0 0,0 0 0,0 0 0,1 0 0,-1 0 0,1 0 0,5 4 0,1 2 0,0 0 0,-1 1 0,0 0 0,0 1 0,-1-1 0,9 22 0,-14-29 0,2 3 0,1 0 0,0 0 0,1 0 0,-1-1 0,1 0 0,1 0 0,-1-1 0,1 1 0,13 7 0,-10-7 0,0 1 0,-1 1 0,0 0 0,9 9 0,-11-8 0,1-1 0,0-1 0,1 1 0,0-1 0,0-1 0,0 0 0,1 0 0,0 0 0,0-2 0,0 1 0,0-1 0,1-1 0,13 4 0,-15-6 0,-1 1 0,0-2 0,0 1 0,1-1 0,-1 0 0,0 0 0,0-1 0,1-1 0,-1 1 0,0-1 0,0 0 0,0-1 0,-1 0 0,1 0 0,-1-1 0,1 0 0,-1 0 0,10-8 0,0-4 0,0-1 0,29-37 0,-39 45 0,-2 1 0,1-1 0,-1 1 0,0-1 0,-1 0 0,0-1 0,-1 1 0,1-1 0,-2 1 0,1-1 0,1-20 0,-2-8 0,-4-61 0,0 34 0,2 43 0,1 2 0,-1 1 0,-1-1 0,0 1 0,-2-1 0,0 1 0,-1 0 0,-10-27 0,-4-8 0,16 45 0,-1 0 0,1 0 0,-2 0 0,1 0 0,-1 0 0,-1 1 0,0 0 0,0 0 0,0 0 0,-10-9 0,7 9-109,-3-3-142,0-1 0,0 0 0,1 0-1,-12-20 1,15 20-6575</inkml:trace>
</inkml:ink>
</file>

<file path=ppt/ink/ink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12T15:37:33.749"/>
    </inkml:context>
    <inkml:brush xml:id="br0">
      <inkml:brushProperty name="width" value="0.05" units="cm"/>
      <inkml:brushProperty name="height" value="0.05" units="cm"/>
      <inkml:brushProperty name="color" value="#FFC114"/>
    </inkml:brush>
  </inkml:definitions>
  <inkml:trace contextRef="#ctx0" brushRef="#br0">9470 0 24575,'-1'4'0,"0"0"0,0 1 0,-1-1 0,1 0 0,-1-1 0,0 1 0,0 0 0,-5 5 0,-3 10 0,5-12 0,1 0 0,-1 0 0,0 0 0,-1-1 0,1 0 0,-1 0 0,-1 0 0,1-1 0,-1 0 0,0 0 0,-8 4 0,5-2 0,1-1 0,-1 2 0,1-1 0,-15 17 0,17-17 0,-1 0 0,1 0 0,-2-1 0,1 0 0,-1 0 0,0-1 0,0 0 0,-10 4 0,8-4 0,-1 1 0,1 1 0,0-1 0,-15 14 0,-32 29 0,39-35 0,1 1 0,0 1 0,1 1 0,1 1 0,-18 25 0,10-4 0,-27 38 0,45-70 0,0 0 0,-1-1 0,1 1 0,-1-1 0,0 0 0,-1-1 0,-14 9 0,14-10 0,1 1 0,-1 1 0,1-1 0,0 1 0,0 0 0,1 1 0,0 0 0,0 0 0,0 0 0,-6 12 0,-14 18 0,-11-3 0,31-29 0,-1 1 0,1-1 0,0 1 0,1 0 0,0 0 0,-5 8 0,2-3 0,0 0 0,0-1 0,-1 0 0,0 0 0,-20 15 0,6-5 0,8-5 0,0 1 0,-14 21 0,17-21 0,-1-1 0,0 0 0,-17 14 0,-14 17 0,23-21 0,16-21 0,0 0 0,0 1 0,0-2 0,-1 1 0,0-1 0,0 0 0,-11 5 0,11-6 0,0 1 0,0-1 0,0 1 0,0 1 0,1-1 0,0 1 0,-1 0 0,-5 7 0,-6 6 0,-1 0 0,-1-1 0,-32 21 0,24-18 0,-30 28 0,40-34 0,0 0 0,-32 19 0,31-21 0,-1 2 0,-23 20 0,-20 19 0,50-41 0,-2-2 0,0 0 0,-18 10 0,21-14 0,0 2 0,0-1 0,1 1 0,0 1 0,0 0 0,-15 16 0,5-4 0,0 0 0,-2-2 0,-38 26 0,-59 27 0,49-31 0,20-9 0,23-13 0,-57 27 0,61-36 0,0 1 0,0 1 0,1 1 0,1 1 0,0 1 0,1 1 0,-25 23 0,40-34 0,1-1 0,0 1 0,-1-1 0,0-1 0,0 1 0,0-1 0,0 1 0,0-1 0,-1-1 0,-9 3 0,8-2 0,-1 0 0,0 1 0,1 0 0,-11 5 0,-140 86 0,143-87 0,1 0 0,-23 6 0,-19 9 0,-48 36 0,43-22 0,-15-2 0,61-28 0,0 0 0,0 1 0,0 0 0,1 1 0,0 1 0,-21 17 0,28-20 0,0 0 0,0 0 0,-1-1 0,1 0 0,-1-1 0,0 1 0,-1-1 0,-14 4 0,13-4 0,-1 1 0,1 1 0,-15 9 0,-10 6 0,-5 1 0,25-13 0,0-1 0,0-1 0,-1 0 0,-23 7 0,18-7 0,1 0 0,-1 2 0,2 1 0,-1 0 0,1 2 0,-20 15 0,15-10 0,-1-2 0,-49 24 0,49-27 0,0 1 0,0 2 0,-23 18 0,21-14 0,-51 27 0,45-29 0,-51 34 0,63-37 0,-1-1 0,-1-2 0,0 0 0,-42 13 0,50-19 0,0 2 0,1-1 0,0 2 0,-17 11 0,-9 6 0,-8-1 0,-76 28 0,-14 9 0,79-33 0,23-10 0,1 2 0,-36 27 0,47-31 0,-32 12 0,45-23 0,0 0 0,0 1 0,-18 12 0,-14 11 0,-68 35 0,40-24 0,10-1 0,40-25 0,0 0 0,-1-2 0,-30 13 0,30-15 0,0 1 0,1 0 0,0 2 0,1 0 0,-22 19 0,17-15 0,0-1 0,-50 22 0,43-23 0,-44 29 0,70-39 0,-85 52 0,-23 12 0,69-46 0,15-8 0,0 1 0,-43 31 0,40-24 0,-36 20 0,39-26 0,-53 42 0,62-43 0,0-2 0,-1 0 0,0-1 0,-28 11 0,35-17 0,-32 24 0,38-24 0,0-1 0,-1 1 0,-18 8 0,-14 3 0,19-7 0,-1-2 0,-45 13 0,56-18 0,0 1 0,0 0 0,1 1 0,0 0 0,0 1 0,0 0 0,-13 11 0,12-8 0,0-2 0,0 0 0,0 0 0,-1-1 0,-19 7 0,-12 1 0,0 2 0,0 2 0,2 2 0,-44 29 0,78-46 0,1 1 0,-1-2 0,0 1 0,-11 2 0,13-4 0,0 0 0,0 0 0,0 1 0,0 0 0,1 0 0,-1 0 0,1 1 0,-11 9 0,7-6 0,-1 1 0,0-2 0,0 1 0,0-2 0,0 1 0,-18 4 0,-31 16 0,47-20 0,0-1 0,-1 0 0,0-1 0,0 0 0,-22 2 0,-5 2 0,17-3 0,0 2 0,-39 16 0,7-5 0,42-15 0,-1 1 0,-19 9 0,8-2 0,-2-2 0,1-1 0,-1-1 0,0-1 0,-54 4 0,68-8 0,0 1 0,0 1 0,1 0 0,-15 6 0,-28 9 0,47-15 0,1-1 0,-1 1 0,1 0 0,0 1 0,0 0 0,1 0 0,-1 1 0,-8 9 0,6-7 0,0 1 0,0-2 0,-19 11 0,-175 95 0,184-104 0,-42 11 0,49-17 0,0 1 0,0 0 0,0 1 0,0 0 0,1 1 0,0 1 0,-22 14 0,19-10 0,-1-1 0,-1-1 0,1-1 0,-2 0 0,1-1 0,-24 6 0,-14 7 0,8-2 0,-67 30 0,100-41-170,-1-1-1,0 0 0,0-1 1,-1 0-1,1-1 0,-1-1 1,-24 2-1,21-4-6655</inkml:trace>
</inkml:ink>
</file>

<file path=ppt/ink/ink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12T15:37:36.560"/>
    </inkml:context>
    <inkml:brush xml:id="br0">
      <inkml:brushProperty name="width" value="0.05" units="cm"/>
      <inkml:brushProperty name="height" value="0.05" units="cm"/>
      <inkml:brushProperty name="color" value="#FFC114"/>
    </inkml:brush>
  </inkml:definitions>
  <inkml:trace contextRef="#ctx0" brushRef="#br0">1968 1 24516,'-1968'3067'0</inkml:trace>
</inkml:ink>
</file>

<file path=ppt/ink/ink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14T14:25:55.899"/>
    </inkml:context>
    <inkml:brush xml:id="br0">
      <inkml:brushProperty name="width" value="0.05" units="cm"/>
      <inkml:brushProperty name="height" value="0.05" units="cm"/>
      <inkml:brushProperty name="color" value="#E71224"/>
    </inkml:brush>
  </inkml:definitions>
  <inkml:trace contextRef="#ctx0" brushRef="#br0">807 3974 24575,'-1'-1'0,"1"0"0,0 0 0,-1 0 0,0 0 0,1 0 0,-1 0 0,1 0 0,-1 0 0,0 1 0,0-1 0,1 0 0,-1 1 0,0-1 0,0 0 0,0 1 0,0-1 0,0 1 0,0-1 0,0 1 0,-1-1 0,-26-10 0,20 9 0,-14-8 0,0-1 0,-28-19 0,5 3 0,14 6 0,0 0 0,1-3 0,1 0 0,-45-49 0,34 41 0,35 29 0,0 0 0,0 0 0,1 0 0,-1-1 0,1 0 0,0 0 0,0 0 0,0 0 0,1-1 0,-1 1 0,1-1 0,0 0 0,-2-6 0,1 2 0,-1 0 0,0 0 0,-1 0 0,0 1 0,0-1 0,0 2 0,-12-12 0,-18-22 0,28 29 0,1-1 0,1 0 0,0 0 0,1 0 0,-8-28 0,8 23 0,0 1 0,-2 0 0,-10-22 0,2 12 0,1 0 0,2-2 0,1 1 0,2-2 0,0 1 0,-7-54 0,-5-22 0,2 15 0,12 66 0,1 0 0,2-1 0,-3-45 0,8-481 0,0 540 0,0 1 0,1-1 0,0 1 0,0 0 0,1 0 0,8-16 0,-7 15 0,0 0 0,0 0 0,-1 0 0,-1 0 0,2-15 0,-1-2 0,1 0 0,1 0 0,1 1 0,2 0 0,1 0 0,0 1 0,17-30 0,15-31 0,-35 73 0,1-1 0,-2 0 0,0 0 0,4-24 0,-4 18 0,12-34 0,-6 30 0,2 1 0,30-46 0,-37 60 0,-1-1 0,1 1 0,5-21 0,10-17 0,7-21 0,-23 52 0,2 1 0,15-30 0,47-54 0,35-27 0,-96 116 0,1 1 0,0 0 0,0 1 0,1 0 0,0 0 0,1 1 0,13-8 0,-19 12 0,0-1 0,0 0 0,0 0 0,0 0 0,-1 0 0,6-10 0,-6 9 0,0 0 0,1 0 0,-1 1 0,1 0 0,0-1 0,7-4 0,-1 2 0,-1-1 0,-1 0 0,13-15 0,-13 14 0,0 0 0,1 0 0,13-9 0,9-2 0,39-19 0,8-4 0,-64 34 0,0 1 0,1 1 0,0 1 0,0 0 0,1 0 0,20-4 0,-19 6 0,0-1 0,-1 0 0,1-2 0,-2 0 0,1-1 0,23-17 0,-33 23 0,0-1 0,1 1 0,-1 0 0,1 1 0,0 0 0,0 0 0,9 0 0,-7 0 0,0 0 0,0 0 0,-1-1 0,14-5 0,-8 2 0,0 1 0,1 0 0,-1 1 0,1 1 0,17-1 0,-18 2 0,0 0 0,1-1 0,-1-1 0,-1 0 0,29-13 0,-30 12 0,-1 0 0,1 1 0,1 0 0,-1 1 0,0 0 0,1 1 0,13 0 0,-12 1 0,0-1 0,-1 0 0,1-1 0,-1-1 0,26-9 0,-31 9 0,1 1 0,0 0 0,0 1 0,1 0 0,14-1 0,-15 2 0,0 0 0,0-1 0,0 0 0,0 0 0,19-8 0,2-3 0,0 2 0,1 1 0,1 1 0,57-7 0,52-13 0,-117 23 0,0 2 0,45-4 0,-42 6 0,-16 0 0,0 0 0,0-1 0,0 0 0,0-1 0,0 0 0,-1-1 0,0 0 0,18-12 0,-22 13 19,1 1 0,0 0-1,0 0 1,12-2 0,8-3-1478,-15 3-5367</inkml:trace>
</inkml:ink>
</file>

<file path=ppt/ink/ink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14T14:25:56.990"/>
    </inkml:context>
    <inkml:brush xml:id="br0">
      <inkml:brushProperty name="width" value="0.05" units="cm"/>
      <inkml:brushProperty name="height" value="0.05" units="cm"/>
      <inkml:brushProperty name="color" value="#E71224"/>
    </inkml:brush>
  </inkml:definitions>
  <inkml:trace contextRef="#ctx0" brushRef="#br0">1 1 24575,'11'1'0,"-1"1"0,1 0 0,-1 1 0,1 1 0,-1-1 0,0 2 0,0-1 0,-1 1 0,10 7 0,23 10 0,-20-12 0,1-1 0,0 0 0,31 6 0,-49-15 0,-1 1 0,0 0 0,0 0 0,0 1 0,0-1 0,0 1 0,0 0 0,0 0 0,0 0 0,0 0 0,-1 1 0,0 0 0,1 0 0,-1-1 0,0 2 0,0-1 0,4 6 0,-4-3 0,-1 0 0,1 1 0,-1-1 0,0 1 0,-1-1 0,1 1 0,-1 0 0,-1-1 0,1 1 0,-2 10 0,2-5 0,-1 0 0,0 1 0,-1-1 0,0 0 0,-1 0 0,0-1 0,-1 1 0,0 0 0,-1-1 0,-1 1 0,-9 18 0,-4 1 0,-20 51 0,30-66-170,1-1-1,-2 0 0,0-1 1,0 0-1,-2-1 0,0 0 1,-22 21-1,22-25-6655</inkml:trace>
</inkml:ink>
</file>

<file path=ppt/ink/ink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14T14:25:59.530"/>
    </inkml:context>
    <inkml:brush xml:id="br0">
      <inkml:brushProperty name="width" value="0.05" units="cm"/>
      <inkml:brushProperty name="height" value="0.05" units="cm"/>
      <inkml:brushProperty name="color" value="#E71224"/>
    </inkml:brush>
  </inkml:definitions>
  <inkml:trace contextRef="#ctx0" brushRef="#br0">44 1371 24575,'-16'-45'0,"6"-5"0,2-1 0,-1-79 0,8 42 0,3-78 0,3 139 0,1 0 0,2 1 0,0 0 0,21-44 0,24-27 0,-44 81 0,1-1 0,1 1 0,0 1 0,1 0 0,22-21 0,12-14 0,-41 45 0,2-1 0,-1 1 0,1 0 0,0 0 0,0 1 0,0 0 0,0 0 0,1 1 0,9-3 0,-5 1 0,0 0 0,-1-1 0,11-6 0,-6 2 0,1 1 0,-1 1 0,34-12 0,-3 2 0,-35 14 0,-1 0 0,1 1 0,22-3 0,-21 4 0,1 0 0,23-9 0,109-39 0,-89 25 0,-47 19 0,1 1 0,0 0 0,0 1 0,0 1 0,0-1 0,19-2 0,11 3 0,-17 2 0,-1-1 0,23-6 0,81-14 0,-102 18 0,0 1 0,0 1 0,26 1 0,-27 2 0,1-2 0,-1-1 0,32-6 0,33-5 0,-18 4 0,-51 7 0,39-1 0,-42 3 0,1 0 0,-1-2 0,18-3 0,2-12 97,-18 7-1559,-6 4-5364</inkml:trace>
</inkml:ink>
</file>

<file path=ppt/ink/ink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14T14:26:00.918"/>
    </inkml:context>
    <inkml:brush xml:id="br0">
      <inkml:brushProperty name="width" value="0.05" units="cm"/>
      <inkml:brushProperty name="height" value="0.05" units="cm"/>
      <inkml:brushProperty name="color" value="#E71224"/>
    </inkml:brush>
  </inkml:definitions>
  <inkml:trace contextRef="#ctx0" brushRef="#br0">48 1 24575,'1'4'0,"1"0"0,0 0 0,1 0 0,-1-1 0,0 1 0,1 0 0,0-1 0,0 0 0,0 1 0,0-1 0,7 4 0,0 2 0,18 17 0,11 11 0,-31-27 0,-3-5 0,0 0 0,-1 0 0,1 0 0,-1 1 0,-1 0 0,1-1 0,-1 1 0,0 0 0,-1 1 0,1-1 0,-1 1 0,0-1 0,-1 1 0,1-1 0,-1 9 0,0-7 0,-2 0 0,1-1 0,-1 1 0,0 0 0,0-1 0,-1 1 0,0 0 0,0-1 0,-7 13 0,0-4 0,0-1 0,-1 0 0,-15 17 0,19-24 0,-3 3 0,-1 0 0,0 0 0,-16 13 0,20-18 0,0-1 0,1 1 0,-1 1 0,1-1 0,1 1 0,-1-1 0,1 1 0,0 1 0,1-1 0,-4 12 0,-9 16 0,8-22-1365,0-3-5461</inkml:trace>
</inkml:ink>
</file>

<file path=ppt/ink/ink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14T14:26:03.932"/>
    </inkml:context>
    <inkml:brush xml:id="br0">
      <inkml:brushProperty name="width" value="0.05" units="cm"/>
      <inkml:brushProperty name="height" value="0.05" units="cm"/>
      <inkml:brushProperty name="color" value="#E71224"/>
    </inkml:brush>
  </inkml:definitions>
  <inkml:trace contextRef="#ctx0" brushRef="#br0">132 1 24575,'1'68'0,"-3"75"0,-8-85 0,7-42 0,0-1 0,-2 24 0,5 29 0,1-43 0,-1 0 0,-1 1 0,-1-1 0,-1 0 0,-2 0 0,-13 45 0,14-58 0,1 0 0,1 0 0,0 0 0,0 1 0,1-1 0,1 17 0,1-15 0,-2 1 0,0 0 0,-1-1 0,-3 15 0,-1-5 0,-3 42 0,-2 9 0,7-52 0,1 0 0,1 1 0,2 30 0,1-30 0,-1 0 0,-2 0 0,-4 26 0,-2 4 0,2 1 0,3-1 0,5 81 0,0-31 0,-2-64 0,-1-8 0,1-1 0,2 0 0,10 55 0,53 167 0,-41-108 0,-8-86 0,15 68 0,-28-113 0,0-1 0,1 0 0,1 0 0,11 22 0,-10-25 0,-1 1 0,-1 0 0,0 0 0,0 0 0,-1 0 0,0 0 0,1 15 0,-2-11 0,1 0 0,1 0 0,0 0 0,1-1 0,1 0 0,0 0 0,1 0 0,0-1 0,15 19 0,-7-7 0,17 34 0,-22-38 0,1 0 0,25 33 0,-20-31 0,16 30 0,-11-9 0,-14-27 0,1 0 0,1-1 0,0-1 0,20 26 0,38 41 0,-5-18 0,-50-52 0,0 0 0,0-1 0,17 11 0,20 18 0,-42-34 0,0 0 0,0 0 0,0-1 0,1 0 0,0 0 0,0-1 0,0 0 0,0 0 0,1-1 0,0 0 0,-1-1 0,1 0 0,0 0 0,10 0 0,-5 1 0,-1 0 0,0 1 0,16 7 0,-18-7 0,0 0 0,0 0 0,1-1 0,-1-1 0,14 2 0,67 8 0,-91-12-42,0 1-1,1-1 0,-1 0 1,0 0-1,0 0 0,0 0 1,0 0-1,1-1 0,-1 1 1,0 0-1,0 0 0,0-1 1,0 1-1,0-1 0,0 1 1,0-1-1,0 1 0,0-1 1,0 0-1,0 1 0,0-1 1,0 0-1,0 0 0,-1 0 1,1 0-1,0 0 0,0 0 1,-1 0-1,1 0 0,-1 0 1,1-1-1,3-10-6783</inkml:trace>
</inkml:ink>
</file>

<file path=ppt/ink/ink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14T14:26:05.152"/>
    </inkml:context>
    <inkml:brush xml:id="br0">
      <inkml:brushProperty name="width" value="0.05" units="cm"/>
      <inkml:brushProperty name="height" value="0.05" units="cm"/>
      <inkml:brushProperty name="color" value="#E71224"/>
    </inkml:brush>
  </inkml:definitions>
  <inkml:trace contextRef="#ctx0" brushRef="#br0">94 1 24575,'1'5'0,"0"0"0,0 1 0,1-1 0,-1 0 0,1 0 0,1 0 0,-1 0 0,1 0 0,0 0 0,0-1 0,0 0 0,0 1 0,1-1 0,7 7 0,-5-5 0,0 0 0,-1 1 0,0-1 0,0 1 0,6 12 0,-8-12 0,1-1 0,-1 0 0,1 0 0,1-1 0,-1 1 0,1-1 0,9 8 0,-10-10 0,0 1 0,0 0 0,0 0 0,-1 0 0,1 0 0,-1 1 0,0-1 0,0 1 0,0 0 0,-1 0 0,0 0 0,0 0 0,2 9 0,-2-8 0,-1 0 0,0 0 0,-1 0 0,1 1 0,-1-1 0,-1 0 0,1 1 0,-1-1 0,0 0 0,0 0 0,-1 0 0,0 0 0,0 0 0,0 0 0,-1 0 0,0-1 0,0 1 0,0-1 0,-1 0 0,-7 9 0,-6 3 0,-41 40 0,46-47 0,2 1 0,-1 0 0,1 1 0,-14 21 0,23-30 0,0-2-33,0 1 0,-1 0-1,1-1 1,0 1 0,0-1-1,-1 1 1,1-1 0,-1 1 0,0-1-1,1 0 1,-1 0 0,0 0-1,1 0 1,-1 0 0,0 0-1,0-1 1,0 1 0,0 0 0,0-1-1,0 0 1,0 1 0,0-1-1,0 0 1,0 0 0,0 0-1,0 0 1,0-1 0,0 1 0,0 0-1,0-1 1,0 0 0,0 1-1,0-1 1,0 0 0,0 0-1,1 0 1,-1 0 0,0 0 0,1 0-1,-3-3 1,-6-4-6793</inkml:trace>
</inkml:ink>
</file>

<file path=ppt/ink/ink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14T14:26:07.660"/>
    </inkml:context>
    <inkml:brush xml:id="br0">
      <inkml:brushProperty name="width" value="0.05" units="cm"/>
      <inkml:brushProperty name="height" value="0.05" units="cm"/>
      <inkml:brushProperty name="color" value="#E71224"/>
    </inkml:brush>
  </inkml:definitions>
  <inkml:trace contextRef="#ctx0" brushRef="#br0">873 1 24575,'-1'0'0,"0"0"0,1 0 0,-1 0 0,0 1 0,0-1 0,1 1 0,-1-1 0,0 0 0,1 1 0,-1-1 0,0 1 0,1 0 0,-1-1 0,1 1 0,-1-1 0,1 1 0,-1 0 0,1-1 0,-1 1 0,1 0 0,0 0 0,-1-1 0,1 1 0,0 0 0,0 1 0,-7 26 0,3-15 0,-8 25 0,-3 0 0,-1-2 0,-27 46 0,4-4 0,33-63 0,-1 0 0,0 0 0,-1-1 0,-1 0 0,0 0 0,-15 17 0,16-22 0,1 2 0,0-1 0,1 1 0,0 0 0,0 0 0,1 1 0,1 0 0,0 0 0,-3 17 0,-14 36 0,-8-3 0,18-40 0,1 1 0,-14 43 0,14-34 0,-1 0 0,-2-1 0,-22 37 0,15-29 0,-18 46 0,29-63 0,-1-1 0,-1-1 0,-26 38 0,19-32 0,-17 33 0,-4 28 0,-2 4 0,23-46 0,9-19 0,1 0 0,2 1 0,-7 45 0,11-53 0,-5 36 0,5-32 0,-1 1 0,-12 41 0,2-20 0,-11 61 0,24-106 0,-2 18 0,-1-1 0,-1 0 0,0 0 0,-12 27 0,11-33 0,2 0 0,-1 0 0,1 0 0,1 1 0,0-1 0,0 18 0,3 75 0,2-41 0,-3 827 0,2-864 0,0 0 0,2 0 0,12 42 0,4 18 0,-12-41 0,-4-22 0,0-1 0,1 35 0,-4-30 0,8 42 0,-4-42 0,1 42 0,-7-54 0,1 1 0,1-1 0,0 0 0,1 1 0,1-1 0,0 0 0,1 0 0,6 16 0,42 99 0,-5-1 0,-39-100 0,4 1 0,1 0 0,1-1 0,33 50 0,-41-67 0,0 0 0,-1 1 0,-1-1 0,0 1 0,0 0 0,-1 0 0,1 23 0,-2-22 0,0 0 0,1 1 0,0-1 0,1 0 0,1 0 0,8 17 0,67 107 0,-60-94 0,-18-37 0,1 0 0,0-1 0,0 1 0,1-1 0,-1 1 0,1-1 0,1 0 0,-1 0 0,1-1 0,10 10 0,-10-10 0,1 0 0,-1 1 0,-1-1 0,1 1 0,-1 0 0,0 1 0,-1-1 0,6 13 0,-6-12 0,1 1 0,-1-1 0,1-1 0,1 1 0,-1-1 0,1 1 0,7 6 0,-6-8 0,7 6 0,-1 0 0,0 0 0,0 1 0,-2 1 0,1 0 0,-2 0 0,14 24 0,-17-27 0,1 0 0,1-1 0,0 0 0,0 0 0,0 0 0,17 12 0,3 4 0,96 95 0,-67-74 0,-27-23 0,33 33 0,49 48 0,-105-99 0,1 0 0,-1 0 0,1-1 0,0 0 0,14 5 0,29 15 0,10 15 0,56 40 0,-101-67 0,0 0 0,0 0 0,1-2 0,1 0 0,-1-1 0,30 10 0,-27-13 0,0 0 0,1-2 0,0 0 0,0-1 0,41 0 0,80-5-1365,-133 2-5461</inkml:trace>
</inkml:ink>
</file>

<file path=ppt/ink/ink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14T14:26:09.039"/>
    </inkml:context>
    <inkml:brush xml:id="br0">
      <inkml:brushProperty name="width" value="0.05" units="cm"/>
      <inkml:brushProperty name="height" value="0.05" units="cm"/>
      <inkml:brushProperty name="color" value="#E71224"/>
    </inkml:brush>
  </inkml:definitions>
  <inkml:trace contextRef="#ctx0" brushRef="#br0">120 1 24575,'0'3'0,"0"1"0,1-1 0,0 1 0,-1 0 0,1-1 0,1 1 0,-1-1 0,0 1 0,1-1 0,0 0 0,0 0 0,3 5 0,35 35 0,-31-35 0,-1 1 0,15 17 0,-15-15 0,1 0 0,19 18 0,-21-23 0,0 0 0,0 1 0,-1 0 0,0 0 0,-1 1 0,1 0 0,-1 0 0,4 10 0,-8-16 0,-1 1 0,1-1 0,-1 1 0,0 0 0,0-1 0,0 1 0,0-1 0,-1 1 0,1-1 0,-1 1 0,1 0 0,-1-1 0,0 0 0,0 1 0,0-1 0,0 0 0,0 1 0,-1-1 0,1 0 0,-1 0 0,-3 4 0,-5 5 0,-2 1 0,-18 14 0,7-7 0,-66 74 0,79-84-101,3-2 140,-1 0 0,1-1 0,-2 0 0,1 0 0,-13 6 0,19-11-87,0 0-1,0-1 1,0 1 0,0 0-1,0-1 1,0 1 0,0-1-1,-1 0 1,1 0 0,0 0-1,0 0 1,0 0 0,0 0-1,-1-1 1,1 1 0,0-1-1,0 1 1,0-1 0,0 0-1,0 0 1,0 0 0,0 0 0,0 0-1,1 0 1,-1-1 0,0 1-1,1-1 1,-1 1 0,1-1-1,-3-2 1,-4-7-6778</inkml:trace>
</inkml:ink>
</file>

<file path=ppt/ink/ink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12T16:38:21.168"/>
    </inkml:context>
    <inkml:brush xml:id="br0">
      <inkml:brushProperty name="width" value="0.05" units="cm"/>
      <inkml:brushProperty name="height" value="0.05" units="cm"/>
      <inkml:brushProperty name="color" value="#E71224"/>
    </inkml:brush>
  </inkml:definitions>
  <inkml:trace contextRef="#ctx0" brushRef="#br0">2150 9396 24575,'1'-4'0,"0"0"0,0 0 0,0 0 0,1 0 0,0 1 0,0-1 0,0 0 0,4-5 0,4-8 0,3-7 0,30-43 0,-12 21 0,-27 38 0,0 1 0,-1-2 0,1 1 0,3-17 0,-6 18 0,1 0 0,0 0 0,0 0 0,1 1 0,0-1 0,0 1 0,1 0 0,4-6 0,1-1 0,0 0 0,-1 0 0,-1 0 0,0-1 0,-1 0 0,0 0 0,6-29 0,3-4 0,-9 32 0,1 1 0,1 0 0,0 1 0,1 0 0,0 0 0,21-21 0,-1-2 0,-20 24 0,-1-1 0,-1 0 0,0-1 0,5-13 0,-6 11 0,1 1 0,0 1 0,12-17 0,66-105 0,-7 9 0,-42 70-62,54-115 0,-50 90-3072,-33 67 3080,-1 0 0,7-27 0,-10 26 58,2 1 0,12-27 0,51-89 3369,-49 93-3362,-1-1 1,19-68-1,-8 24-10,4-22-1,7-18 0,14-32 0,-3 10 0,-41 118 0,-2-1 0,6-32 0,2-12 0,27-113 0,-7 86 0,-27 58 0,-2 0 0,-2 0 0,-1-1 0,-2-43 0,-3 48 0,2 0 0,11-69 0,-5 54 0,-3-1 0,-2 0 0,-4-58 0,-1 9 0,3 63 0,2 0 0,10-59 0,19-102 0,-21 131 0,-5 41 0,2-47 0,-6 37 0,9-42 0,-5 44 0,1-51 0,-7-538 0,-2 570 0,-20-106 0,4 41 0,-3-36 0,13 91 0,3 35 0,0-50 0,6 57 0,-1-1 0,0 1 0,-2-1 0,-1 1 0,-10-37 0,4 24 0,-7-50 0,-3-9 0,6 37 0,-18-61 0,12 43 0,15 51 0,-14-38 0,17 58 0,-4-13 0,-2 0 0,0 1 0,-19-29 0,20 33 0,0 0 0,1-1 0,0 1 0,-5-22 0,5 19 0,0-1 0,-13-25 0,-51-106 0,33 64 0,25 63 0,-1-1 0,-24-31 0,21 30 0,7 10 0,1-1 0,-10-23 0,12 24 0,0 0 0,-1 0 0,-14-19 0,-53-70 0,67 90 0,0 1 0,0-2 0,-5-15 0,7 17 0,0 1 0,0-1 0,-1 1 0,0 0 0,-10-13 0,-31-20 0,37 36 0,1-1 0,0 0 0,1-1 0,-1 0 0,-12-18 0,1-3 0,-2 2 0,-48-49 0,59 66 0,-40-52 0,33 41 0,-22-25 0,17 24 0,-1 1 0,-1 1 0,-1 2 0,0 0 0,-43-22 0,-60-40 0,106 69 0,0 0 0,0-2 0,1-1 0,-30-25 0,37 27 0,-1 0 0,-32-17 0,17 11 0,12 6 0,1 2 0,1 0 0,0-1 0,1-1 0,-18-19 0,26 24 0,-1 0 0,0 1 0,0 0 0,-18-9 0,-24-19 0,-37-30 0,82 60 0,0 1 0,0 0 0,0 0 0,0 1 0,-1 0 0,1 0 0,-10-3 0,10 4 0,-1 0 0,1-1 0,0 0 0,0 0 0,0 0 0,0-1 0,-8-7 0,4 3 0,1 1 0,-1 0 0,0 1 0,-1 0 0,1 1 0,-1 0 0,-15-4 0,-37-19 0,13 0 0,-68-43 0,106 64 0,-1 0 0,0 1 0,-15-6 0,-23-11 0,30 11 0,1 0 0,1-1 0,-34-31 0,49 41 0,-1 0 0,1 0 0,-1 0 0,1 1 0,-1 0 0,0 0 0,0 0 0,0 0 0,0 1 0,-1 0 0,-4-1 0,3 1 0,0 0 0,0-1 0,0 0 0,1 0 0,-11-6 0,-169-90 0,154 85 0,21 9 0,1 0 0,0-1 0,-18-11 0,2-3 0,5 3 0,0 2 0,-1 0 0,-1 1 0,-43-18 0,40 20 0,0-1 0,1-2 0,-44-30 0,36 22 0,-37-18 0,49 27 0,-7-3 0,28 16 0,-1 0 0,1 0 0,-1 0 0,1 0 0,-1 0 0,1 0 0,-1 1 0,1-1 0,-1 0 0,1 0 0,0 0 0,-1 1 0,1-1 0,-1 0 0,1 1 0,0-1 0,-1 0 0,1 1 0,0-1 0,-1 0 0,1 1 0,0-1 0,0 1 0,-1-1 0,1 1 0,0-1 0,0 1 0,0-1 0,0 1 0,0-1 0,0 0 0,-1 1 0,1-1 0,0 1 0,0-1 0,0 1 0,1 0 0,-2 24 0,1-22 0,1 16 0,1 1 0,1-1 0,1 0 0,13 37 0,2 14 0,-11-39-341,-2 0 0,-2 1-1,2 46 1,-7-59-6485</inkml:trace>
</inkml:ink>
</file>

<file path=ppt/ink/ink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12T16:38:22.209"/>
    </inkml:context>
    <inkml:brush xml:id="br0">
      <inkml:brushProperty name="width" value="0.05" units="cm"/>
      <inkml:brushProperty name="height" value="0.05" units="cm"/>
      <inkml:brushProperty name="color" value="#E71224"/>
    </inkml:brush>
  </inkml:definitions>
  <inkml:trace contextRef="#ctx0" brushRef="#br0">1 119 24575,'3'-1'0,"0"0"0,0 0 0,0-1 0,0 1 0,0-1 0,0 0 0,-1 1 0,1-1 0,-1 0 0,1-1 0,-1 1 0,0 0 0,4-5 0,12-11 0,-8 13 0,1 0 0,-1 0 0,1 1 0,0 0 0,0 1 0,0 1 0,1-1 0,18 0 0,31-8 0,52-10-1365,-95 15-5461</inkml:trace>
</inkml:ink>
</file>

<file path=ppt/ink/ink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9-16T00:26:55.872"/>
    </inkml:context>
    <inkml:brush xml:id="br0">
      <inkml:brushProperty name="width" value="0.05" units="cm"/>
      <inkml:brushProperty name="height" value="0.05" units="cm"/>
      <inkml:brushProperty name="color" value="#FF0066"/>
    </inkml:brush>
  </inkml:definitions>
  <inkml:trace contextRef="#ctx0" brushRef="#br0">2910 493 24536,'-1'20'0,"-2"-1"0,-3 0 0,-2 0 0,-2 0 0,-2 0 0,-2 0 0,-3-1 0,-2 1 0,-1-1 0,-3 0 0,-2-1 0,-2 0 0,-2 0 0,-2-1 0,-1 0 0,-3-1 0,-1 0 0,-2 0 0,-2-1 0,-1-1 0,-2 0 0,-1-1 0,-1 0 0,-2-1 0,-1-1 0,-2 0 0,0-1 0,-1 0 0,-2-2 0,0 1 0,-1-2 0,-1-1 0,0 0 0,-1 0 0,0-2 0,0 0 0,-1-2 0,0 1 0,0-2 0,-1 0 0,1-2 0,1 1 0,-1-2 0,1 0 0,0-2 0,1 0 0,0 0 0,1-1 0,1-2 0,1 1 0,0-2 0,2 0 0,0-1 0,2 0 0,1-1 0,2-1 0,1 0 0,1-1 0,2 0 0,1-1 0,2-1 0,2 0 0,2 0 0,1-1 0,2 0 0,2-1 0,2 0 0,2 0 0,3-1 0,1 0 0,2-1 0,2 1 0,3-1 0,2 0 0,2 0 0,2 0 0,2 0 0,3 0 0,2-1 0,2 1 0,2 0 0,3-1 0,2 1 0,2 0 0,2 0 0,2 0 0,3 1 0,2 0 0,2 0 0,1 0 0,3 0 0,2 1 0,2 1 0,2-1 0,2 2 0,1-1 0,2 1 0,2 1 0,2 0 0,1 0 0,2 1 0,1 1 0,1 1 0,2-1 0,1 2 0,2 0 0,0 1 0,2 1 0,0 0 0,1 1 0,1 1 0,1 0 0,0 1 0,1 1 0,0 0 0,1 2 0,-1 0 0,1 1 0,1 0 0,-1 2 0,0 0 0,0 1 0,-1 0 0,0 2 0,0 0 0,-1 1 0,0 1 0,-1 0 0,-1 1 0,0 1 0,-2 0 0,-1 1 0,0 1 0,-2 0 0,-1 2 0,-2-1 0,-1 1 0,-1 1 0,-2 1 0,-1 0 0,-2 0 0,-2 1 0,-1 1 0,-3-1 0,-1 2 0,-2-1 0,-2 1 0,-2 1 0,-2 0 0,-3 0 0,-1 0 0,-2 0 0,-3 1 0,-2 0 0,-2 0 0,-2 0 0,-2 1 0,-3-1 0,-2 0 0</inkml:trace>
</inkml:ink>
</file>

<file path=ppt/ink/ink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9-16T00:27:04.314"/>
    </inkml:context>
    <inkml:brush xml:id="br0">
      <inkml:brushProperty name="width" value="0.05" units="cm"/>
      <inkml:brushProperty name="height" value="0.05" units="cm"/>
      <inkml:brushProperty name="color" value="#FF0066"/>
    </inkml:brush>
  </inkml:definitions>
  <inkml:trace contextRef="#ctx0" brushRef="#br0">423 0 24575,'-14'0'0,"1"1"0,0 0 0,0 1 0,0 0 0,0 1 0,-22 8 0,27-8 0,1 0 0,-1 1 0,1 1 0,0-1 0,0 1 0,1 0 0,-1 0 0,1 1 0,0 0 0,1 0 0,-10 13 0,12-14 0,-1 0 0,-1-1 0,1 1 0,-1-1 0,0 0 0,0 0 0,0 0 0,0-1 0,-1 1 0,0-1 0,1-1 0,-1 1 0,0-1 0,0 0 0,-1 0 0,-6 0 0,-2 3 0,11-4 0,-1 1 0,1 0 0,0 0 0,-1 0 0,1 1 0,0 0 0,1 0 0,-1 0 0,0 0 0,1 0 0,0 1 0,0-1 0,0 1 0,0 0 0,0 0 0,-3 7 0,1-1 0,1 1 0,0 0 0,0 0 0,1 0 0,-2 19 0,-4 10 0,-1 18 0,10-54 0,0 0 0,0 0 0,1 0 0,-1 0 0,1 0 0,0 0 0,0 0 0,1 0 0,-1 0 0,1 0 0,-1 0 0,4 4 0,0 0 0,-1 0 0,2 0 0,-1 0 0,1-1 0,0 0 0,1 0 0,0 0 0,0-1 0,0 0 0,0 0 0,1-1 0,14 7 0,13 2 0,0-2 0,1-1 0,1-2 0,38 4 0,-24-4 0,-10 0 0,-21-4 0,0-1 0,25 2 0,-38-6 0,0 0 0,0 0 0,0-1 0,0 0 0,0 0 0,0 0 0,0-1 0,-1 0 0,1-1 0,9-4 0,-6 2 0,-1-1 0,0 0 0,0-1 0,-1 1 0,0-2 0,0 1 0,0-1 0,11-16 0,-7 5 0,0-1 0,-2 0 0,10-25 0,-11 25 0,-1 0 0,0 0 0,-2-1 0,-1 0 0,0-1 0,-1 1 0,1-39 0,-5 36-89,1 12-166,-1 0-1,-1 0 1,1 0 0,-5-18 0,0 16-6571</inkml:trace>
</inkml:ink>
</file>

<file path=ppt/ink/ink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9-16T00:27:08.992"/>
    </inkml:context>
    <inkml:brush xml:id="br0">
      <inkml:brushProperty name="width" value="0.05" units="cm"/>
      <inkml:brushProperty name="height" value="0.05" units="cm"/>
      <inkml:brushProperty name="color" value="#FF0066"/>
    </inkml:brush>
  </inkml:definitions>
  <inkml:trace contextRef="#ctx0" brushRef="#br0">0 1710 24575,'45'-16'0,"-13"12"0,0 1 0,60 4 0,-38 0 0,-41 0 0,-1 1 0,0 0 0,0 1 0,0 0 0,-1 1 0,1 1 0,-1 0 0,0 0 0,0 1 0,-1 0 0,15 12 0,-12-10 0,0-1 0,0-1 0,1 0 0,0-1 0,22 5 0,26 11 0,-10-2 0,-36-14 0,0 1 0,0 1 0,0 0 0,15 11 0,-20-13 0,0 1 0,0-2 0,0 0 0,0 0 0,1-1 0,-1 0 0,1-1 0,23 1 0,11 3 0,-27-3 0,0 2 0,0 0 0,35 15 0,51 23 0,-82-34 0,1-1 0,0-2 0,0 0 0,45 4 0,-42-6 0,48 15 0,-8-2 0,-30-8 0,-22-5 0,-1-1 0,28 3 0,-18-3 0,34 7 0,-14-2 0,2 1 0,-24-5 0,0 0 0,36 1 0,-31-4 0,41 8 0,-40-4 0,40 1 0,-13-6 0,0-1 0,106 14 0,-121-8 0,53-1 0,-57-3 0,1 1 0,37 7 0,-40-4 0,1-1 0,0-3 0,46-2 0,51 2 0,-61 9 0,-45-6 0,46 3 0,-53-7 0,6 0 0,1 0 0,-1 2 0,37 8 0,-21-1 0,1-1 0,0-2 0,74 1 0,545-8 0,-636 2 0,45 9 0,-44-6 0,43 3 0,-48-7 0,1 1 0,-1 1 0,29 7 0,-27-5 0,-1-2 0,0 0 0,35-2 0,-34 0 0,0 0 0,0 2 0,30 5 0,-18-1 0,-1-2 0,63 0 0,-59-4 0,-1 2 0,44 8 0,-44-5 0,48 2 0,17 2 0,115 12 0,-114-12 0,146-8 0,-115-3 0,136 18 0,-187-9 0,127-7 0,-88-2 0,294 2 0,-398-1 0,-1-1 0,0-1 0,1-1 0,-1 0 0,-1-2 0,25-9 0,13-5 0,107-23 0,-146 40 0,9-3 0,1-1 0,32-13 0,41-16 0,-65 18 0,-23 11 0,2 1 0,-1 0 0,1 1 0,0 0 0,0 1 0,0 0 0,0 1 0,24-3 0,-29 5 0,1 0 0,0 0 0,-1-1 0,1 0 0,-1 0 0,0-1 0,10-5 0,9-3 0,-11 6 0,1 1 0,0 1 0,29-3 0,0 0 0,89-26 0,-98 22 0,0 0 0,0 3 0,1 1 0,45-1 0,-60 5 0,0 0 0,0-1 0,-1-2 0,23-6 0,36-8 0,-63 17 0,-2-2 0,1 0 0,0 0 0,29-14 0,-38 14 0,1 0 0,0-1 0,-1 0 0,0 0 0,0-1 0,-1 0 0,1 0 0,-1 0 0,-1-1 0,9-12 0,-6 8 0,1-1 0,0 2 0,1-1 0,0 1 0,1 1 0,21-16 0,-12 10 0,84-71 0,-65 65 0,-34 20 0,0-2 0,1 1 0,-1-1 0,0 0 0,-1 0 0,1 0 0,7-7 0,19-29 0,-24 30 0,0 0 0,0 0 0,15-13 0,0 4 0,-8 7 0,0-1 0,-1-1 0,22-25 0,-12 9 0,-12 17 0,-1-1 0,-1 0 0,0 0 0,-1-1 0,0 0 0,-1-1 0,5-15 0,2-9 0,24-49 0,-21 52 0,20-59 0,-8 16 0,-19 56 0,-1 0 0,8-38 0,5-47 0,-19 97 0,-1 1 0,2-1 0,7-18 0,-6 19 0,-1 0 0,-1 0 0,0 0 0,3-15 0,4-36 0,-5 31 0,3-49 0,-7 61 0,2 0 0,4-20 0,-4 19 0,4-36 0,3-78 0,1-31 0,-11 161 0,0-25 0,0 24 0,-1 17 0,1-1-85,-2 0 0,1-1-1,-2 0 1,1 1 0,-1-1-1,-1 0 1,0-1 0,-1 1-1,0-1 1,-1 0 0,0 0-1,0 0 1,-1-1 0,0 0-1,-10 10 1,6-11-6741</inkml:trace>
</inkml:ink>
</file>

<file path=ppt/ink/ink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9-16T00:27:09.763"/>
    </inkml:context>
    <inkml:brush xml:id="br0">
      <inkml:brushProperty name="width" value="0.05" units="cm"/>
      <inkml:brushProperty name="height" value="0.05" units="cm"/>
      <inkml:brushProperty name="color" value="#FF0066"/>
    </inkml:brush>
  </inkml:definitions>
  <inkml:trace contextRef="#ctx0" brushRef="#br0">0 0 24575,'5'1'0,"0"1"0,0 0 0,-1-1 0,1 2 0,-1-1 0,1 0 0,-1 1 0,0 0 0,0 0 0,0 0 0,-1 0 0,1 1 0,-1 0 0,4 4 0,13 12 0,5 1 0,-14-13 0,0 1 0,-1 0 0,0 1 0,0 0 0,11 17 0,-17-23-105,0 0 0,0 0 0,0 0 0,0 0 0,0-1 0,1 1 0,0-1 0,0 0 0,0-1 0,0 1 0,6 2 0,-10-5 0,12 6-6721</inkml:trace>
</inkml:ink>
</file>

<file path=ppt/ink/ink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9-16T00:27:16.999"/>
    </inkml:context>
    <inkml:brush xml:id="br0">
      <inkml:brushProperty name="width" value="0.05" units="cm"/>
      <inkml:brushProperty name="height" value="0.05" units="cm"/>
      <inkml:brushProperty name="color" value="#FF0066"/>
    </inkml:brush>
  </inkml:definitions>
  <inkml:trace contextRef="#ctx0" brushRef="#br0">249 0 24575,'-11'1'0,"2"1"0,-1 0 0,0 1 0,0 0 0,1 1 0,-1 0 0,1 0 0,0 1 0,1 0 0,-1 0 0,1 1 0,-9 7 0,-25 16 0,34-24 0,1 0 0,0 0 0,0 1 0,0 0 0,0 1 0,1 0 0,0 0 0,1 0 0,-8 12 0,12-16 0,0 0 0,1 0 0,-1 0 0,0 0 0,1 0 0,0 0 0,-1 0 0,1 0 0,1 0 0,-1 1 0,0-1 0,1 0 0,-1 0 0,1 0 0,0 0 0,0 0 0,0 0 0,1-1 0,-1 1 0,1 0 0,-1 0 0,5 4 0,-3-3 0,1 0 0,0 0 0,0 0 0,1-1 0,-1 1 0,1-1 0,0 0 0,0 0 0,0-1 0,0 1 0,8 2 0,-9-4-65,0 0 0,0 0 0,0 1 0,0-1 0,-1 1 0,1 0 0,-1 0 0,1 1 0,-1-1 0,0 1 0,0 0 0,0-1 0,0 1 0,0 1 0,-1-1 0,1 0 0,-1 1 0,0-1 0,0 1 0,2 7 0,3 0-6761</inkml:trace>
</inkml:ink>
</file>

<file path=ppt/ink/ink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12T15:37:15.142"/>
    </inkml:context>
    <inkml:brush xml:id="br0">
      <inkml:brushProperty name="width" value="0.05" units="cm"/>
      <inkml:brushProperty name="height" value="0.05" units="cm"/>
      <inkml:brushProperty name="color" value="#FFC114"/>
    </inkml:brush>
  </inkml:definitions>
  <inkml:trace contextRef="#ctx0" brushRef="#br0">184 1 24575,'-7'0'0,"0"0"0,0 0 0,-1 1 0,1 0 0,0 0 0,0 1 0,-7 2 0,10-2 0,0 0 0,0 1 0,0-1 0,0 1 0,1 0 0,-1 0 0,1 0 0,0 0 0,0 0 0,0 1 0,0 0 0,-3 5 0,0-1 0,0 2 0,0-1 0,1 1 0,0-1 0,1 2 0,0-1 0,1 0 0,0 1 0,0-1 0,1 1 0,-1 11 0,-7 50 0,6-55 0,1 0 0,1 0 0,0 0 0,2 24 0,0-36 0,1-1 0,0 1 0,0-1 0,0 1 0,0-1 0,1 1 0,-1-1 0,1 0 0,0 1 0,1-1 0,-1 0 0,1 0 0,0-1 0,0 1 0,0-1 0,0 1 0,0-1 0,1 0 0,0 0 0,6 4 0,1-2 0,0 0 0,0-1 0,0 0 0,1 0 0,0-2 0,-1 1 0,1-1 0,0-1 0,0 0 0,13-1 0,-3 0 0,38 7 0,51 10 0,-101-16 0,1 0 0,-1-1 0,0 0 0,0-1 0,0-1 0,1 1 0,-1-1 0,17-7 0,-23 7 0,0 0 0,-1-1 0,1 0 0,-1 0 0,1 0 0,-1 0 0,0-1 0,0 1 0,-1-1 0,5-6 0,19-22 0,-21 27 0,0-1 0,0 1 0,-1-1 0,0 0 0,0-1 0,0 1 0,-1-1 0,0 1 0,0-1 0,-1 0 0,4-14 0,-3 6 0,0 0 0,-1 1 0,-1-1 0,-1-30 0,0 41 0,-1-1 0,1 0 0,-1 1 0,0-1 0,-1 0 0,1 1 0,-1-1 0,0 1 0,0 0 0,0-1 0,0 1 0,-1 0 0,0 0 0,0 1 0,0-1 0,0 1 0,0-1 0,-1 1 0,0 0 0,-7-5 0,2 4 0,0 0 0,0 0 0,0 1 0,0 0 0,-1 1 0,1 0 0,-1 0 0,1 1 0,-16 0 0,-135 2-1365,140-1-5461</inkml:trace>
</inkml:ink>
</file>

<file path=ppt/ink/ink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12T15:37:26.847"/>
    </inkml:context>
    <inkml:brush xml:id="br0">
      <inkml:brushProperty name="width" value="0.05" units="cm"/>
      <inkml:brushProperty name="height" value="0.05" units="cm"/>
      <inkml:brushProperty name="color" value="#FFC114"/>
    </inkml:brush>
  </inkml:definitions>
  <inkml:trace contextRef="#ctx0" brushRef="#br0">368 1 24575,'-66'-1'0,"-74"3"0,137-2 0,0 0 0,0 1 0,0-1 0,0 1 0,0 0 0,0 0 0,1 0 0,-1 0 0,0 1 0,0-1 0,1 1 0,-1-1 0,1 1 0,0 0 0,-1 0 0,1 0 0,0 0 0,0 0 0,0 1 0,0-1 0,1 1 0,-1-1 0,1 1 0,-1-1 0,1 1 0,0 0 0,-1 4 0,-1 7 0,0 0 0,1 1 0,1-1 0,0 26 0,2-26 0,-2 0 0,0 0 0,-2 14 0,-12 51 0,11-51 0,-13 44 0,6-38 0,1 0 0,2 1 0,1 0 0,2 0 0,-1 58 0,11-26 0,-4-62 0,0-1 0,0 1 0,0-1 0,1 1 0,0-1 0,0 0 0,0 0 0,0 0 0,1 0 0,-1 0 0,1 0 0,5 4 0,1 2 0,0 0 0,-1 1 0,0 0 0,0 1 0,-1-1 0,9 22 0,-14-29 0,2 3 0,1 0 0,0 0 0,1 0 0,-1-1 0,1 0 0,1 0 0,-1-1 0,1 1 0,13 7 0,-10-7 0,0 1 0,-1 1 0,0 0 0,9 9 0,-11-8 0,1-1 0,0-1 0,1 1 0,0-1 0,0-1 0,0 0 0,1 0 0,0 0 0,0-2 0,0 1 0,0-1 0,1-1 0,13 4 0,-15-6 0,-1 1 0,0-2 0,0 1 0,1-1 0,-1 0 0,0 0 0,0-1 0,1-1 0,-1 1 0,0-1 0,0 0 0,0-1 0,-1 0 0,1 0 0,-1-1 0,1 0 0,-1 0 0,10-8 0,0-4 0,0-1 0,29-37 0,-39 45 0,-2 1 0,1-1 0,-1 1 0,0-1 0,-1 0 0,0-1 0,-1 1 0,1-1 0,-2 1 0,1-1 0,1-20 0,-2-8 0,-4-61 0,0 34 0,2 43 0,1 2 0,-1 1 0,-1-1 0,0 1 0,-2-1 0,0 1 0,-1 0 0,-10-27 0,-4-8 0,16 45 0,-1 0 0,1 0 0,-2 0 0,1 0 0,-1 0 0,-1 1 0,0 0 0,0 0 0,0 0 0,-10-9 0,7 9-109,-3-3-142,0-1 0,0 0 0,1 0-1,-12-20 1,15 20-6575</inkml:trace>
</inkml:ink>
</file>

<file path=ppt/ink/ink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9-16T00:31:04.122"/>
    </inkml:context>
    <inkml:brush xml:id="br0">
      <inkml:brushProperty name="width" value="0.05" units="cm"/>
      <inkml:brushProperty name="height" value="0.05" units="cm"/>
      <inkml:brushProperty name="color" value="#FF0066"/>
    </inkml:brush>
  </inkml:definitions>
  <inkml:trace contextRef="#ctx0" brushRef="#br0">553 1 24575,'-13'0'0,"1"0"0,0 1 0,-1 1 0,1 0 0,0 0 0,0 1 0,0 1 0,-12 5 0,2-2 0,0-1 0,0-1 0,-38 4 0,27-4 0,11-2 0,0 1 0,-24 9 0,39-11 0,1 0 0,0 1 0,0 0 0,1 0 0,-1 0 0,1 1 0,-1-1 0,1 1 0,0 1 0,0-1 0,1 1 0,-5 5 0,-32 34 0,32-36 0,1 0 0,-1 1 0,2 0 0,-1 0 0,-8 15 0,15-21 0,-1 0 0,1 0 0,0 0 0,0 0 0,0 1 0,1-1 0,-1 0 0,1 0 0,-1 1 0,1-1 0,0 0 0,0 1 0,1-1 0,-1 0 0,1 0 0,0 1 0,0-1 0,0 0 0,0 0 0,0 0 0,0 0 0,1 0 0,0 0 0,2 3 0,2 2 0,2 1 0,-1-1 0,1 0 0,1-1 0,-1 0 0,1 0 0,10 5 0,-6-3 0,0 0 0,17 16 0,22 21 0,-43-40 0,0 0 0,0-1 0,0 0 0,1 0 0,17 5 0,19 11 0,6 0 0,-42-19 0,-1 2 0,0-1 0,0 1 0,0 1 0,15 10 0,-14-10 0,0 1 0,1-2 0,0 1 0,0-2 0,0 1 0,0-1 0,1-1 0,-1 0 0,19 0 0,0 2 0,53 16 0,-64-14 0,1 0 0,0-2 0,31 3 0,21 3 0,-51-6 0,-1 0 0,24-1 0,-19-3 0,104-4 0,-115 3 0,1-2 0,-1 0 0,0 0 0,0-2 0,0 1 0,24-14 0,-28 14 0,1 0 0,-1 0 0,1 1 0,0 0 0,0 1 0,1 0 0,-1 1 0,13 0 0,-12 1 0,0-1 0,0 0 0,0-1 0,0-1 0,0 1 0,22-10 0,-11 1 0,-5 3 0,31-20 0,-43 24 0,-1 0 0,1-1 0,-1 1 0,0-1 0,0-1 0,-1 1 0,1-1 0,6-11 0,-5 6 0,-1 0 0,0 0 0,7-23 0,-10 28 0,-1 1 0,0-1 0,-1 0 0,0 0 0,1 0 0,-2 0 0,1 1 0,-1-1 0,0 0 0,-2-8 0,-3-4 0,-1-1 0,-1 1 0,0 1 0,-2 0 0,0 0 0,0 0 0,-24-26 0,22 32 0,1-1 0,-2 2 0,1 0 0,-1 0 0,-1 1 0,-20-10 0,7 6 0,-2 2 0,-42-13 0,49 19 0,-1 2 0,0 1 0,1 0 0,-1 2 0,-27 2 0,-4 0 0,45-2 19,0 1 0,0 1 1,0 0-1,0 0 0,0 1 0,-15 7 0,14-6-394,-1 0 1,0-1-1,-18 4 0,14-5-6451</inkml:trace>
</inkml:ink>
</file>

<file path=ppt/ink/ink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9-16T00:31:07.906"/>
    </inkml:context>
    <inkml:brush xml:id="br0">
      <inkml:brushProperty name="width" value="0.05" units="cm"/>
      <inkml:brushProperty name="height" value="0.05" units="cm"/>
      <inkml:brushProperty name="color" value="#FF0066"/>
    </inkml:brush>
  </inkml:definitions>
  <inkml:trace contextRef="#ctx0" brushRef="#br0">418 1 24575,'-2'2'0,"1"1"0,-1-1 0,0 0 0,0 0 0,0 0 0,0 0 0,0 0 0,0 0 0,0 0 0,-1-1 0,1 1 0,-4 1 0,-5 4 0,-9 10 0,12-9 0,0-1 0,0 0 0,-1-1 0,0 0 0,0 0 0,0-1 0,0 0 0,-1 0 0,0-1 0,-18 4 0,21-6 0,0 1 0,1-1 0,-1 1 0,1 0 0,0 1 0,0-1 0,0 1 0,0 0 0,0 1 0,1-1 0,0 1 0,0 0 0,0 1 0,1-1 0,-6 9 0,-12 12 0,-12 11 0,12-13 0,-23 30 0,42-49 0,0 0 0,1 0 0,0 0 0,0 0 0,0 1 0,0-1 0,1 0 0,0 1 0,0-1 0,0 9 0,3 62 0,0-36 0,-2-35 0,5 52 0,-5-54 0,1 0 0,0 0 0,0 0 0,0 0 0,0 0 0,1 0 0,-1 0 0,1-1 0,-1 1 0,1 0 0,0-1 0,0 0 0,0 1 0,0-1 0,5 3 0,-1 0 0,-1-1 0,0 1 0,0 0 0,0 1 0,-1-1 0,0 1 0,5 7 0,-6-7 0,1-1 0,-1 0 0,1 0 0,0 0 0,0 0 0,1-1 0,0 1 0,-1-1 0,10 5 0,5 2 0,6 3 0,49 20 0,-57-28 0,-1-1 0,1-1 0,0-1 0,0 0 0,0-1 0,0-1 0,1 0 0,-1-2 0,0 0 0,0 0 0,26-7 0,96-29 0,-54 13 0,-12 13 0,-8 3 0,-60 7 0,0 0 0,1 0 0,-1-1 0,0 1 0,0-1 0,1 0 0,-1 0 0,6-4 0,-10 4 0,1 1 0,0-1 0,0 0 0,-1 0 0,1 0 0,-1 0 0,0 0 0,0-1 0,0 1 0,0 0 0,0-1 0,0 1 0,0 0 0,-1-1 0,1 1 0,-1-1 0,0 1 0,1-6 0,-2-192 0,-1 82 0,2 109 0,0 0 0,-1 0 0,0 0 0,0 0 0,-1 0 0,0 0 0,-5-13 0,5 19 0,0-1 0,1 1 0,-1 0 0,0 0 0,-1 0 0,1 0 0,0 1 0,-1-1 0,0 1 0,1-1 0,-1 1 0,0 0 0,0 0 0,-1 0 0,1 0 0,0 1 0,0-1 0,-1 1 0,1 0 0,-1 0 0,-6-1 0,-7 0-345,-1 1 1,-19 1-1,34 0 14,-15 1-6495</inkml:trace>
</inkml:ink>
</file>

<file path=ppt/ink/ink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9-16T00:31:12.369"/>
    </inkml:context>
    <inkml:brush xml:id="br0">
      <inkml:brushProperty name="width" value="0.05" units="cm"/>
      <inkml:brushProperty name="height" value="0.05" units="cm"/>
      <inkml:brushProperty name="color" value="#FF0066"/>
    </inkml:brush>
  </inkml:definitions>
  <inkml:trace contextRef="#ctx0" brushRef="#br0">0 846 24575,'83'-1'0,"92"3"0,-139 3 0,1 2 0,-1 1 0,52 20 0,-21-6 0,0-10 0,-17-4 0,-20-4 0,-1-1 0,1-1 0,58-4 0,-47 0 0,48 4 0,-36 8 0,-39-6 0,0-2 0,24 3 0,52-6 0,36 2 0,-73 8 0,-38-6 0,0 0 0,20 1 0,40 6 0,-54-6 0,41 2 0,-53-6 0,18 0 0,0 1 0,0 1 0,29 6 0,-27-3 0,1-2 0,60 0 0,-57-3 0,0 1 0,40 7 0,123 20 0,-179-25 0,0 0 0,0 1 0,17 7 0,39 8 0,-20-9 0,68 22 0,-89-25 0,1-1 0,1-2 0,-1-1 0,0-2 0,55-4 0,-2 0 0,-24 5 0,71-4 0,-68-7 0,-41 4 0,44-1 0,-64 6 0,32 0 0,0-1 0,47-9 0,-35 4 0,0 2 0,0 2 0,50 4 0,-5 0 0,2 0 0,106-4 0,-45-18 0,-95 12 0,-29 3 0,53-1 0,-16 7 0,78-2 0,-129-2 0,0-1 0,29-9 0,-31 8 0,0 1 0,0 0 0,30-3 0,-7 4 0,-1-3 0,68-16 0,34 2 0,-79 9 0,67-3 0,-89 11 0,-9-2 0,55-14 0,-40 7 0,-45 12 0,29-6 0,0-1 0,-1-2 0,1-1 0,47-24 0,-70 31 0,0 1 0,0-1 0,0 1 0,0 1 0,0-1 0,10-1 0,-10 3 0,0-1 0,0-1 0,1 1 0,-2-1 0,1 0 0,0-1 0,6-2 0,1-3 0,2 2 0,-1-1 0,19-4 0,10-4 0,-16 6 0,0 1 0,1 2 0,-1 1 0,37-3 0,-48 5 0,1-1 0,-1-1 0,0 0 0,0-1 0,-1-1 0,19-10 0,-25 12 0,0 0 0,0 1 0,0 0 0,1 0 0,-1 1 0,1 0 0,11-1 0,-13 2 0,-1 0 0,1 0 0,-1-1 0,13-6 0,-14 6 0,1-1 0,0 2 0,0-1 0,0 1 0,10-2 0,-1 0 0,-1 0 0,1-1 0,-1 0 0,-1-1 0,16-8 0,7-3 0,27-17 0,-44 23 0,39-18 0,-45 23 0,-1 0 0,-1-1 0,1-1 0,-1 0 0,-1-1 0,1 0 0,-2-1 0,1 0 0,15-19 0,-19 21 0,0 0 0,1 1 0,11-8 0,-12 10 0,1-1 0,-2 0 0,1 0 0,-1-1 0,9-11 0,-8 9 0,1 0 0,-1 1 0,16-14 0,-14 14 0,1-1 0,13-17 0,-11 10 0,-1-1 0,-1 0 0,-1-1 0,0 0 0,8-25 0,-15 38 0,1 0 0,-1 1 0,1-1 0,0 1 0,0-1 0,0 1 0,1 0 0,5-5 0,-5 6 0,-1-1 0,1 0 0,-1 0 0,1 0 0,-1-1 0,-1 1 0,4-7 0,-6 11 0,0 0 0,1-1 0,-1 1 0,0 0 0,0 0 0,0-1 0,0 1 0,0 0 0,0 0 0,0-1 0,0 1 0,0 0 0,0 0 0,0-1 0,0 1 0,0 0 0,0-1 0,0 1 0,0 0 0,0 0 0,0-1 0,0 1 0,0 0 0,0-1 0,0 1 0,0 0 0,-1 0 0,1-1 0,0 1 0,0 0 0,0 0 0,0 0 0,-1-1 0,1 1 0,0 0 0,0 0 0,-1 0 0,-11 0 0,-12 11 0,12-4 0,0-1 0,-1 0 0,1-1 0,-22 6 0,-16 7 0,26-8 0,16-8 0,1 1 0,-1 0 0,1 1 0,0 0 0,0 0 0,0 0 0,-9 9 0,15-12-72,1 0 29,-1-1 0,1 1-1,-1 0 1,0-1 0,1 1 0,-1 0 0,0-1 0,1 1 0,-1-1 0,0 1 0,0-1 0,1 1 0,-1-1-1,0 1 1,0-1 0,0 0 0,0 0 0,0 1 0,0-1 0,1 0 0,-1 0 0,0 0 0,0 0-1,0 0 1,0 0 0,0 0 0,0 0 0,0-1 0,-1 1 0</inkml:trace>
</inkml:ink>
</file>

<file path=ppt/ink/ink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9-16T00:31:12.983"/>
    </inkml:context>
    <inkml:brush xml:id="br0">
      <inkml:brushProperty name="width" value="0.05" units="cm"/>
      <inkml:brushProperty name="height" value="0.05" units="cm"/>
      <inkml:brushProperty name="color" value="#FF0066"/>
    </inkml:brush>
  </inkml:definitions>
  <inkml:trace contextRef="#ctx0" brushRef="#br0">1 1 24575,'3'0'0,"1"1"0,-1 1 0,1-1 0,-1 0 0,0 1 0,0 0 0,1-1 0,4 5 0,8 4 0,-1-1 0,0 1 0,0 0 0,0 1 0,-2 1 0,1 0 0,-2 1 0,1 0 0,-2 1 0,11 16 0,11 26-1365</inkml:trace>
</inkml:ink>
</file>

<file path=ppt/ink/ink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9-16T00:31:15.704"/>
    </inkml:context>
    <inkml:brush xml:id="br0">
      <inkml:brushProperty name="width" value="0.05" units="cm"/>
      <inkml:brushProperty name="height" value="0.05" units="cm"/>
      <inkml:brushProperty name="color" value="#FF0066"/>
    </inkml:brush>
  </inkml:definitions>
  <inkml:trace contextRef="#ctx0" brushRef="#br0">208 0 24575,'1'0'0,"-1"1"0,1-1 0,0 0 0,-1 0 0,1 0 0,0 1 0,-1-1 0,1 0 0,-1 1 0,1-1 0,0 0 0,-1 1 0,1-1 0,-1 1 0,1-1 0,-1 1 0,1-1 0,-1 1 0,1-1 0,-1 1 0,0 0 0,1-1 0,-1 1 0,0-1 0,0 1 0,1 0 0,-1-1 0,0 1 0,0 0 0,0 0 0,0-1 0,0 1 0,0 0 0,0-1 0,0 1 0,0 0 0,0 2 0,0-1 0,0 0 0,-1 1 0,1-1 0,0 0 0,-1 0 0,0 1 0,1-1 0,-1 0 0,-1 2 0,-1 1 0,0-1 0,-1 0 0,1 1 0,-1-1 0,0-1 0,0 1 0,0-1 0,0 1 0,-8 3 0,3-2 0,-1-2 0,1 1 0,-1-1 0,-12 2 0,10-2 0,-2 0 0,-1 0 0,1 1 0,-27 12 0,40-15 0,0-1 0,0 1 0,0-1 0,0 1 0,0 0 0,1-1 0,-1 1 0,0 0 0,0 0 0,1 0 0,-1 0 0,0 0 0,1 0 0,-1 0 0,1 0 0,-1 0 0,1 0 0,-1 0 0,1 0 0,0 0 0,0 0 0,-1 0 0,1 0 0,0 0 0,0 1 0,0-1 0,0 0 0,0 0 0,1 0 0,-1 0 0,0 0 0,0 0 0,1 0 0,-1 0 0,1 0 0,-1 0 0,1 0 0,-1 0 0,2 1 0,3 6 0,0-1 0,0 0 0,1 0 0,7 7 0,-2-2 0,51 65-1365,-53-66-5461</inkml:trace>
</inkml:ink>
</file>

<file path=ppt/ink/ink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9-16T00:31:45.719"/>
    </inkml:context>
    <inkml:brush xml:id="br0">
      <inkml:brushProperty name="width" value="0.05" units="cm"/>
      <inkml:brushProperty name="height" value="0.05" units="cm"/>
      <inkml:brushProperty name="color" value="#FFC114"/>
    </inkml:brush>
  </inkml:definitions>
  <inkml:trace contextRef="#ctx0" brushRef="#br0">437 87 24575,'-19'0'0,"-96"4"0,99-2 0,1 0 0,-1 2 0,1 0 0,0 0 0,-19 9 0,28-10 0,-1 1 0,1 0 0,0 0 0,1 1 0,-7 6 0,-24 17 0,31-25 0,0 1 0,1-1 0,0 1 0,0 1 0,0-1 0,0 0 0,0 1 0,1 0 0,0 0 0,0 0 0,0 0 0,-3 9 0,-15 24 0,16-29 0,0-1 0,0 1 0,0 0 0,1 1 0,1-1 0,0 1 0,0-1 0,1 1 0,0 0 0,-1 12 0,3-14 0,-1 0 0,2 0 0,-1 0 0,1-1 0,0 1 0,0 0 0,1 0 0,0-1 0,1 1 0,-1-1 0,1 1 0,1-1 0,6 10 0,-7-13 0,0 0 0,1 0 0,0-1 0,0 1 0,0-1 0,1 0 0,-1 0 0,1 0 0,-1 0 0,1-1 0,8 3 0,64 16 0,-30-10 0,-28-7 0,-1 0 0,1-1 0,0-2 0,30 0 0,-28-1 0,1 1 0,0 1 0,22 5 0,-33-5 0,-1 0 0,1 0 0,-1-1 0,1 0 0,-1-1 0,18-2 0,-22 1 0,0 0 0,1 0 0,-1-1 0,0 0 0,0-1 0,0 1 0,0-1 0,-1 0 0,1-1 0,-1 0 0,9-7 0,-9 7 0,3-2 0,0 0 0,-1-1 0,0 1 0,0-2 0,-1 1 0,0-1 0,0 1 0,-1-2 0,0 1 0,0-1 0,-1 1 0,0-1 0,4-15 0,-1-3 0,-1 8 0,-2-1 0,0-1 0,-1 1 0,0-24 0,-2-7 0,-3-75 0,1 120 11,0 1 0,-1-1 0,1 1 0,-1 0 0,0 0-1,-1-1 1,1 1 0,-1 1 0,0-1 0,-7-8 0,-40-39-1487,50 52 1467,-8-8-6817</inkml:trace>
</inkml:ink>
</file>

<file path=ppt/ink/ink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9-16T00:31:51.629"/>
    </inkml:context>
    <inkml:brush xml:id="br0">
      <inkml:brushProperty name="width" value="0.05" units="cm"/>
      <inkml:brushProperty name="height" value="0.05" units="cm"/>
      <inkml:brushProperty name="color" value="#FFC114"/>
    </inkml:brush>
  </inkml:definitions>
  <inkml:trace contextRef="#ctx0" brushRef="#br0">241 2 24575,'-17'1'0,"0"1"0,0 1 0,0 0 0,-29 11 0,41-12 0,0 0 0,0 1 0,1 0 0,-1 0 0,1 0 0,0 0 0,0 1 0,0 0 0,0 0 0,-4 6 0,-33 49 0,31-43 0,7-11 0,0 1 0,0-1 0,0 1 0,1-1 0,0 1 0,0 0 0,0 0 0,1 0 0,0 0 0,0 1 0,0-1 0,1 0 0,0 0 0,0 0 0,1 1 0,0-1 0,0 0 0,0 0 0,1 0 0,-1 0 0,2 0 0,-1 0 0,1-1 0,-1 1 0,2-1 0,-1 0 0,0 0 0,1 0 0,0 0 0,0 0 0,1-1 0,-1 0 0,1 0 0,5 4 0,35 18 0,70 43 0,-106-64 0,0 0 0,0-1 0,1 0 0,0-1 0,19 5 0,-21-7 0,-1 1 0,1 0 0,0 0 0,-1 1 0,1 0 0,-1 0 0,0 1 0,0 0 0,-1 0 0,12 10 0,-13-10 0,-1-1 0,1 1 0,0-1 0,0 0 0,0 0 0,0 0 0,0-1 0,1 0 0,10 3 0,54 8 0,-70-12 0,47 4 0,29 5 0,42 10 0,-83-15 0,0-1 0,0-2 0,67-4 0,-21 0 0,-18 3 0,70-3 0,-74-7 0,-41 5 0,0 1 0,25-1 0,-28 4 0,-1-1 0,1-1 0,0-1 0,-1 0 0,1 0 0,-1-2 0,14-5 0,-25 8 0,1-1 0,-1 1 0,0-1 0,0 1 0,0-1 0,0 0 0,0 0 0,-1-1 0,1 1 0,-1-1 0,0 1 0,0-1 0,0 1 0,0-1 0,-1 0 0,0 0 0,1 0 0,-1 0 0,-1 0 0,1-6 0,2-10 0,-2-1 0,-3-38 0,1 26 0,1-3 0,0 16 0,0-1 0,-6-37 0,4 50 0,0 2 0,0-1 0,0 0 0,-1 0 0,0 1 0,0-1 0,-1 1 0,0 0 0,0 0 0,0 0 0,-1 1 0,-5-6 0,-12-17 0,19 25 0,1-1 0,-1 0 0,0 0 0,0 1 0,-1 0 0,1 0 0,-1 0 0,1 0 0,-1 0 0,0 1 0,-6-4 0,-2 1 0,-3-2 0,1 1 0,-1 0 0,0 2 0,0-1 0,0 2 0,-1 0 0,-21-1 0,-516 5 0,536 0 0,1 1 0,-32 7 0,11-1 0,25-5 0,-1 0 0,-23 10 0,27-9 0,-1 0 0,0-1 0,0 0 0,0 0 0,-17 1 0,8-3-1365,3-1-5461</inkml:trace>
</inkml:ink>
</file>

<file path=ppt/ink/ink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9-16T00:31:54.090"/>
    </inkml:context>
    <inkml:brush xml:id="br0">
      <inkml:brushProperty name="width" value="0.05" units="cm"/>
      <inkml:brushProperty name="height" value="0.05" units="cm"/>
      <inkml:brushProperty name="color" value="#FFC114"/>
    </inkml:brush>
  </inkml:definitions>
  <inkml:trace contextRef="#ctx0" brushRef="#br0">7995 473 24365,'-7994'-472'0</inkml:trace>
</inkml:ink>
</file>

<file path=ppt/ink/ink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9-16T00:32:00.196"/>
    </inkml:context>
    <inkml:brush xml:id="br0">
      <inkml:brushProperty name="width" value="0.05" units="cm"/>
      <inkml:brushProperty name="height" value="0.05" units="cm"/>
      <inkml:brushProperty name="color" value="#FFC114"/>
    </inkml:brush>
  </inkml:definitions>
  <inkml:trace contextRef="#ctx0" brushRef="#br0">324 1 24575,'-1'7'0,"0"0"0,0 0 0,0 0 0,-1 0 0,1 0 0,-2 0 0,1 0 0,-1-1 0,0 1 0,-1-1 0,1 0 0,-1 0 0,0 0 0,-1 0 0,-7 7 0,5-4 0,3-4 0,1 0 0,0 1 0,0-1 0,1 1 0,-3 6 0,4-7 0,0-1 0,-1 0 0,0 0 0,0 0 0,0 0 0,0 0 0,-1-1 0,0 1 0,1-1 0,-1 1 0,-4 2 0,-4 4 0,1 0 0,-14 19 0,15-18 0,-1 1 0,0-1 0,-23 18 0,31-27 0,-1 0 0,0 0 0,0-1 0,0 1 0,0-1 0,0 1 0,0-1 0,-1 0 0,1 0 0,0-1 0,-1 1 0,1-1 0,0 1 0,-1-1 0,1 0 0,0 0 0,-1-1 0,1 1 0,0-1 0,-1 1 0,1-1 0,-3-1 0,-21-14 0,20 10 0,19 9 0,23 10 0,32 15 0,-2 12 15,-50-29-245,1-1 0,0 0 0,1-1 0,0-1 0,20 7 0</inkml:trace>
</inkml:ink>
</file>

<file path=ppt/ink/ink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9-16T00:32:06.361"/>
    </inkml:context>
    <inkml:brush xml:id="br0">
      <inkml:brushProperty name="width" value="0.05" units="cm"/>
      <inkml:brushProperty name="height" value="0.05" units="cm"/>
      <inkml:brushProperty name="color" value="#FFC114"/>
    </inkml:brush>
  </inkml:definitions>
  <inkml:trace contextRef="#ctx0" brushRef="#br0">1 0 24575,'1'3'0,"0"0"0,1-1 0,-1 1 0,1-1 0,-1 0 0,1 0 0,0 1 0,0-1 0,0 0 0,0-1 0,1 1 0,-1 0 0,0 0 0,4 1 0,1 2 0,6 6 0,-6-5 0,0 0 0,1-1 0,-1 1 0,1-1 0,0-1 0,0 1 0,1-1 0,-1-1 0,10 3 0,-13-4 0,0 0 0,0 0 0,0 0 0,0 1 0,-1 0 0,1 0 0,-1 0 0,8 7 0,20 13 0,-30-22 0,0 0 0,1 1 0,-1-1 0,0 0 0,0 1 0,0 0 0,0-1 0,0 1 0,-1 0 0,1 0 0,0 0 0,-1 0 0,0 0 0,1 0 0,-1 1 0,0-1 0,0 0 0,0 1 0,0-1 0,-1 1 0,1-1 0,-1 1 0,1-1 0,-1 1 0,0 2 0,0 1 0,-1 0 0,0-1 0,0 1 0,-1 0 0,0-1 0,0 1 0,0-1 0,0 0 0,-7 10 0,-1 3 0,6-11 0,1-1 0,-1 0 0,0 0 0,-1 0 0,1 0 0,-1-1 0,-6 6 0,-29 27 14,32-28-243,-1-1-1,0 0 0,-1 0 0,0-1 0,-18 11 0,16-14-6596</inkml:trace>
</inkml:ink>
</file>

<file path=ppt/ink/ink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03T01:56:40.463"/>
    </inkml:context>
    <inkml:brush xml:id="br0">
      <inkml:brushProperty name="width" value="0.05" units="cm"/>
      <inkml:brushProperty name="height" value="0.05" units="cm"/>
      <inkml:brushProperty name="color" value="#E71224"/>
    </inkml:brush>
  </inkml:definitions>
  <inkml:trace contextRef="#ctx0" brushRef="#br0">294 115 24575,'-5'1'0,"-1"0"0,1 0 0,0 0 0,-1 1 0,1 0 0,0 0 0,0 0 0,0 1 0,-8 5 0,-41 31 0,52-38 0,-5 6 0,1 0 0,-1 0 0,1 0 0,0 0 0,-5 10 0,7-10 0,-1 0 0,0-1 0,0 1 0,0-1 0,-1 0 0,0 0 0,-8 5 0,8-5 0,1-1 0,0 1 0,1-1 0,-1 1 0,1 1 0,0-1 0,1 1 0,-1-1 0,1 1 0,0 0 0,1 0 0,-3 14 0,-8 18 0,8-27 0,2 1 0,0-1 0,0 1 0,1 0 0,0 0 0,1 14 0,6 77 0,-4-96 0,0 0 0,1 0 0,-1 0 0,2-1 0,-1 1 0,1-1 0,0 1 0,1-1 0,0 0 0,7 10 0,2-2 0,0 0 0,1-1 0,16 12 0,-3-3 0,52 34 0,-67-50 0,-1 0 0,1-1 0,0-1 0,1 0 0,-1-1 0,1 0 0,25 4 0,31 3 0,-42-6 0,-1-1 0,31 0 0,-44-3 0,1 1 0,0 0 0,-1 1 0,1 0 0,19 8 0,27 6 0,-12-7 0,0-2 0,96 2 0,-107-9 0,1 3 0,61 13 0,-59-9 0,81 6 0,-103-13 0,1 1 0,22 6 0,-23-4 0,1 0 0,21 0 0,534-3 0,-278-3 0,-264 2 0,-1-1 0,1 2 0,-1 1 0,53 10 0,-48-7 0,-1 0 0,1-3 0,0-1 0,41-4 0,5 1 0,-61 2 0,-2 1 0,-1 0 0,1-2 0,0-1 0,0 0 0,-1-1 0,0-1 0,30-10 0,-40 11 0,161-75 0,-140 62 0,0-1 0,-1-1 0,39-33 0,-65 49 0,90-84 0,-79 72 0,0-1 0,0 0 0,-2-1 0,14-23 0,-22 32 0,0-1 0,0 0 0,-1 0 0,0 0 0,0 0 0,-1-1 0,1-15 0,-6-59 0,3 77 0,0 1 0,-1-1 0,1 1 0,-1-1 0,0 1 0,0 0 0,-1 0 0,0 0 0,0 0 0,0 1 0,0-1 0,-1 1 0,0 0 0,-5-5 0,-8-6 0,-1 1 0,-25-16 0,2 2 0,21 16 0,0 0 0,0 1 0,-1 1 0,-1 2 0,0 0 0,-30-7 0,45 12 0,0 0 0,1 0 0,-1-1 0,1 1 0,0-1 0,-8-7 0,8 6 0,0 1 0,-1 0 0,1-1 0,-1 2 0,0-1 0,-8-2 0,-28-5 0,21 5 0,-41-15 0,53 18 0,-1-1 0,1 2 0,-1 0 0,0 0 0,0 1 0,-20 0 0,20 1 0,0-1 0,1 1 0,-1-2 0,1 1 0,-1-1 0,1-1 0,-14-5 0,6-1 0,-1 1 0,1 1 0,-1 0 0,0 2 0,-1 0 0,1 1 0,-1 1 0,-20 0 0,20 1 0,0 0 0,0-2 0,-36-10 0,36 8 0,-1 1 0,-1 1 0,-22-2 0,-47-5 0,60 6 0,-48-2 0,2 7-231,0-3 0,0-4 1,-83-18-1,122 19 495,-1 2 0,0 1 1,-77 5-1,26 1-398,-10-5 134,-111 4 0,130 8 0,37-4 0,-55 1 0,65-7 0,0 1 0,-54 10 0,63-6 0,3-2 0,0 2 0,-36 12 0,58-17-33,-1 0 0,1 0-1,0 1 1,-1-1 0,1 0-1,0 0 1,0 0 0,-1 0 0,1 0-1,0 1 1,-1-1 0,1 0-1,0 0 1,0 0 0,-1 1-1,1-1 1,0 0 0,0 0 0,0 1-1,-1-1 1,1 0 0,0 0-1,0 1 1,0-1 0,0 0-1,0 1 1,0-1 0,-1 0 0,1 1-1,0-1 1,0 0 0,0 1-1,0-1 1,0 0 0,0 1-1,0-1 1,0 0 0,1 1 0,-1-1-1,0 1 1</inkml:trace>
</inkml:ink>
</file>

<file path=ppt/ink/ink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03T01:56:42.975"/>
    </inkml:context>
    <inkml:brush xml:id="br0">
      <inkml:brushProperty name="width" value="0.05" units="cm"/>
      <inkml:brushProperty name="height" value="0.05" units="cm"/>
      <inkml:brushProperty name="color" value="#E71224"/>
    </inkml:brush>
  </inkml:definitions>
  <inkml:trace contextRef="#ctx0" brushRef="#br0">626 336 24575,'-17'1'0,"1"0"0,-31 8 0,30-5 0,-1-1 0,-22 1 0,17-2 0,1 2 0,0 0 0,0 1 0,0 1 0,-35 15 0,-5 2 0,57-21 0,0 0 0,1 0 0,-1 1 0,1-1 0,0 1 0,0 0 0,0 1 0,0-1 0,-4 6 0,5-6 0,0 0 0,0 0 0,-1 0 0,1 0 0,-1 0 0,1-1 0,-1 1 0,0-1 0,0 0 0,0 0 0,0-1 0,0 1 0,-9 1 0,10-3 0,-1 1 0,1-1 0,-1 1 0,1 0 0,0 0 0,-1 0 0,1 0 0,0 1 0,0-1 0,0 1 0,0 0 0,0 0 0,0 0 0,-4 5 0,3-2 0,1 0 0,0 0 0,0 1 0,0 0 0,0-1 0,1 1 0,-2 11 0,-5 10 0,1 1 0,-8 40 0,7-19 0,4-26 0,1 0 0,-1 38 0,5-50 0,0 0 0,1 0 0,0-1 0,0 1 0,2 0 0,-1 0 0,1-1 0,1 1 0,0-1 0,0 0 0,1 0 0,0 0 0,1-1 0,0 0 0,1 0 0,0-1 0,0 1 0,0-1 0,1-1 0,1 1 0,-1-2 0,1 1 0,0-1 0,17 8 0,40 33 0,-36-33 0,-2 1 0,28 20 0,-41-25 0,0 0 0,0-1 0,1-1 0,1 0 0,-1-1 0,1-1 0,0-1 0,0 0 0,31 4 0,-29-5 0,0 0 0,0 2 0,-1 0 0,32 16 0,-31-13 0,0-1 0,1 0 0,0-2 0,22 5 0,60 10 0,-69-13 0,1-1 0,0-2 0,52 2 0,3-9 0,112 4 0,-141 8 0,-44-6 0,1-1 0,24 2 0,33-5 0,-44-1 0,0 1 0,0 1 0,0 2 0,30 7 0,-34-5 0,1-1 0,51 0 0,9 1 0,-15 4-248,0-3 0,136-8 0,-181-2 450,47-13 0,16-3 138,-27 17-340,-42 2 0,38-5 0,-52 5 0,0-1 0,0 0 0,-1 0 0,1-1 0,-1 0 0,1 0 0,-1 0 0,0-1 0,8-6 0,3-3 0,-11 9 0,0 0 0,-1-1 0,1 0 0,-1 0 0,0 0 0,0-1 0,-1 0 0,1 0 0,-1 0 0,4-9 0,11-23 0,2 2 0,34-47 0,-37 57 0,7-17 0,-19 32 0,0 0 0,1 0 0,13-16 0,9-8 0,-17 19 0,27-26 0,-35 38 0,1 0 0,0 1 0,-1-1 0,2 1 0,-1 0 0,0 0 0,0 1 0,1-1 0,0 1 0,9-2 0,-7 2 0,0 0 0,0 0 0,-1-1 0,1 0 0,-1 0 0,1-1 0,-1 1 0,0-2 0,-1 1 0,1-1 0,-1 0 0,0-1 0,0 1 0,0-1 0,-1 0 0,0-1 0,0 1 0,-1-1 0,1 0 0,-2 0 0,1-1 0,-1 1 0,0-1 0,0 0 0,-1 1 0,0-1 0,-1 0 0,1 0 0,-1-11 0,-3-206 0,1 217 0,-1 1 0,0-1 0,0 0 0,-1 1 0,0-1 0,0 1 0,-8-12 0,-35-50 0,35 54 0,-3-3 0,0 0 0,-1 1 0,0 1 0,-19-16 0,9 12 0,-56-45 0,70 58 0,0 1 0,0 1 0,-1-1 0,0 2 0,0 0 0,-22-5 0,-3-1 0,15 3 0,-4-1 0,-40-7 0,20 6 0,26 5 0,1 0 0,-29-1 0,18 3 0,-44-9 0,22 3 0,0 0 0,13 2 0,-71-3 0,-271 10-2981,-192-1 4507,212 0-71,322 4-2820,24 1-5461</inkml:trace>
</inkml:ink>
</file>

<file path=ppt/ink/ink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03T01:56:47.640"/>
    </inkml:context>
    <inkml:brush xml:id="br0">
      <inkml:brushProperty name="width" value="0.05" units="cm"/>
      <inkml:brushProperty name="height" value="0.05" units="cm"/>
      <inkml:brushProperty name="color" value="#E71224"/>
    </inkml:brush>
  </inkml:definitions>
  <inkml:trace contextRef="#ctx0" brushRef="#br0">1 2 24575,'42'-1'0,"-8"0"0,-1 2 0,0 0 0,57 12 0,-65-9 0,40 3 0,-39-5 0,36 7 0,-28-2 0,-22-6 0,-1 1 0,0 1 0,14 5 0,-21-7 0,0 1 0,0 0 0,-1 0 0,1 1 0,-1-1 0,1 1 0,-1-1 0,0 1 0,0 0 0,0 0 0,-1 1 0,5 6 0,-1 0 0,1 0 0,0-1 0,0 0 0,1 0 0,0 0 0,0-1 0,1 0 0,18 11 0,-21-13 0,1-1 0,-1 1 0,-1 0 0,1 1 0,-1-1 0,0 1 0,5 9 0,-4-7 0,0 0 0,0 0 0,0-1 0,10 9 0,-9-10 0,-1 0 0,-1 0 0,1 0 0,-1 1 0,-1 0 0,1 0 0,3 10 0,-4-9 0,0-1 0,0 1 0,1-1 0,0 0 0,0-1 0,9 10 0,8 7 0,-2 0 0,0 2 0,23 40 0,-39-57 0,1 0 0,-1 1 0,-1 0 0,5 14 0,-5-13 0,0 1 0,1-1 0,7 13 0,18 26 0,-18-34 0,0 2 0,-2 0 0,0 0 0,0 0 0,-2 1 0,10 39 0,-9-21 0,19 58 0,-15-58 0,10 54 0,-13-45 0,-4-19 0,-1 1 0,2 39 0,-6-55 0,1 13 0,-1-1 0,-1 1 0,-1 0 0,-1-1 0,-1 1 0,-1-1 0,-11 29 0,7-30 0,2 0 0,0 1 0,1-1 0,-4 47 0,9-60 0,0 0 0,-1 0 0,0-1 0,0 1 0,-1 0 0,0-1 0,-1 0 0,0 0 0,-1 0 0,1 0 0,-2-1 0,1 0 0,-13 14 0,8-10 0,0 1 0,1-1 0,0 2 0,1-1 0,-9 22 0,-3 4 0,6-14 0,-2-2 0,0 0 0,-2-1 0,-36 36 0,24-26 0,22-23 0,0 1 0,-1-2 0,-19 15 0,19-15 0,-1 1 0,1-1 0,0 1 0,1 1 0,-10 13 0,10-12 0,0-1 0,-1 1 0,-1-2 0,-13 12 0,-117 91 0,69-51 0,46-38 0,-1-2 0,0 0 0,-38 21 0,17-18 0,19-10 0,-36 23 0,53-29-117,-13 9-507,-41 22 0,51-34-6202</inkml:trace>
</inkml:ink>
</file>

<file path=ppt/ink/ink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03T01:56:53.607"/>
    </inkml:context>
    <inkml:brush xml:id="br0">
      <inkml:brushProperty name="width" value="0.05" units="cm"/>
      <inkml:brushProperty name="height" value="0.05" units="cm"/>
      <inkml:brushProperty name="color" value="#E71224"/>
    </inkml:brush>
  </inkml:definitions>
  <inkml:trace contextRef="#ctx0" brushRef="#br0">1 49 24575,'1'7'0,"0"0"0,1 0 0,-1-1 0,2 1 0,-1-1 0,1 0 0,0 0 0,0 0 0,1 0 0,-1 0 0,1-1 0,9 10 0,-6-7 0,0 1 0,-1 0 0,10 19 0,-8-7 0,-1-1 0,-1 1 0,7 41 0,7 41 0,-37-137 0,10 11 0,1 1 0,1-1 0,0 0 0,2 0 0,0-44 0,3 48 0,-1 11 0,1 0 0,0 0 0,1 0 0,0 0 0,2-11 0,-2 17 0,0 0 0,-1 0 0,1 0 0,0 0 0,0 0 0,0 1 0,1-1 0,-1 0 0,0 0 0,1 1 0,-1-1 0,1 1 0,-1 0 0,1-1 0,0 1 0,0 0 0,0 0 0,-1 0 0,1 0 0,0 0 0,0 0 0,0 1 0,0-1 0,5 0 0,2-1 0,0 1 0,0 0 0,0 0 0,1 1 0,-1 1 0,15 1 0,-20-1 0,-1 0 0,1 0 0,-1 0 0,1 0 0,-1 1 0,1-1 0,-1 1 0,0 0 0,0 0 0,0 0 0,0 1 0,0-1 0,0 1 0,-1 0 0,1-1 0,-1 1 0,0 0 0,3 6 0,6 11 0,-1-5 0,-2 1 0,0 0 0,-1 1 0,-1-1 0,5 21 0,0 5 0,-6-20 0,-11-44 0,-3-8 0,2-1 0,1 0 0,1 0 0,1-1 0,2 1 0,3-47 0,-1 76 0,0 0 0,1 0 0,-1 0 0,0 0 0,1 0 0,-1 0 0,1 0 0,0 0 0,-1 0 0,1 0 0,0 0 0,0 0 0,1 0 0,-1 1 0,0-1 0,0 0 0,1 1 0,-1-1 0,1 1 0,-1 0 0,1-1 0,0 1 0,0 0 0,-1 0 0,1 0 0,0 0 0,0 0 0,0 1 0,0-1 0,0 1 0,0-1 0,0 1 0,0 0 0,0-1 0,1 1 0,-1 0 0,0 0 0,0 1 0,0-1 0,3 1 0,1 0 0,1 1 0,-1 0 0,1 0 0,-1 0 0,0 1 0,1 0 0,-1 0 0,-1 0 0,1 1 0,0 0 0,6 6 0,13 13 0,-17-16 0,1 1 0,-1 0 0,-1 0 0,0 1 0,8 11 0,-12-14-65,1 0 0,-1-1 0,1 0 0,0 1 0,0-1 0,0-1 0,1 1 0,-1-1 0,1 0 0,0 0 0,1 0 0,-1 0 0,0-1 0,1 0 0,0 0 0,0-1 0,0 0 0,0 0 0,0 0 0,12 1 0,0-1-6761</inkml:trace>
</inkml:ink>
</file>

<file path=ppt/ink/ink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03T01:56:54.975"/>
    </inkml:context>
    <inkml:brush xml:id="br0">
      <inkml:brushProperty name="width" value="0.05" units="cm"/>
      <inkml:brushProperty name="height" value="0.05" units="cm"/>
      <inkml:brushProperty name="color" value="#E71224"/>
    </inkml:brush>
  </inkml:definitions>
  <inkml:trace contextRef="#ctx0" brushRef="#br0">96 38 24575,'0'-1'0,"0"-1"0,0 1 0,0-1 0,0 1 0,0 0 0,0-1 0,0 1 0,-1-1 0,1 1 0,-1 0 0,1-1 0,-1 1 0,1 0 0,-1-1 0,0 1 0,1 0 0,-1 0 0,0 0 0,0 0 0,0 0 0,0 0 0,0 0 0,0 0 0,0 0 0,-1 0 0,1 0 0,0 1 0,0-1 0,-1 1 0,1-1 0,0 1 0,-1-1 0,1 1 0,0-1 0,-1 1 0,1 0 0,-1 0 0,1 0 0,0 0 0,-3 0 0,1 1 0,1-1 0,-1 1 0,1-1 0,0 1 0,0 0 0,-1 0 0,1 0 0,0 0 0,0 0 0,0 0 0,0 1 0,0-1 0,0 1 0,0-1 0,0 1 0,1 0 0,-1 0 0,1-1 0,-1 1 0,1 0 0,0 1 0,0-1 0,0 0 0,-1 3 0,-2 15 0,1 1 0,0-1 0,2 1 0,1-1 0,4 37 0,-1 8 0,-3-54 0,0 1 0,1 0 0,0 0 0,5 14 0,-6-24 0,0 0 0,1 0 0,-1-1 0,1 1 0,-1 0 0,1-1 0,0 1 0,-1-1 0,1 1 0,0-1 0,0 1 0,0-1 0,0 0 0,0 1 0,1-1 0,-1 0 0,0 0 0,1 0 0,-1 0 0,0 0 0,1 0 0,-1 0 0,1 0 0,0 0 0,-1-1 0,1 1 0,0-1 0,-1 1 0,1-1 0,0 0 0,-1 0 0,1 0 0,0 1 0,0-2 0,-1 1 0,1 0 0,0 0 0,-1-1 0,4 0 0,-2 0 0,1-1 0,0 0 0,0 0 0,-1 0 0,1-1 0,-1 1 0,0-1 0,1 0 0,-1 0 0,-1 0 0,1 0 0,0 0 0,-1-1 0,1 1 0,-1-1 0,3-7 0,-2 3 0,1-1 0,-1 1 0,-1-1 0,0 0 0,0 1 0,1-18 0,-3-32 0,1 58 0,0 1 0,0-1 0,0 0 0,0 1 0,0-1 0,0 1 0,0-1 0,0 1 0,0-1 0,0 1 0,0 0 0,-1-1 0,1 1 0,0 0 0,0 0 0,-1 0 0,1-1 0,-1 1 0,2 2 0,21 25 0,-8-7-227,-1 2-1,-1-1 1,-1 2-1,-2-1 1,13 40-1,-20-47-6598</inkml:trace>
</inkml:ink>
</file>

<file path=ppt/ink/ink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03T01:56:56.592"/>
    </inkml:context>
    <inkml:brush xml:id="br0">
      <inkml:brushProperty name="width" value="0.05" units="cm"/>
      <inkml:brushProperty name="height" value="0.05" units="cm"/>
      <inkml:brushProperty name="color" value="#E71224"/>
    </inkml:brush>
  </inkml:definitions>
  <inkml:trace contextRef="#ctx0" brushRef="#br0">0 67 24575,'4'0'0,"1"-4"0,3-1 0,5 0 0,0-3 0,1 1 0,2 0 0,3 2 0,1 2 0,1 1 0,1 2 0,-3-4 0,-1-1 0,0 1 0,1 0 0,0 2 0,-2 0-8191</inkml:trace>
</inkml:ink>
</file>

<file path=ppt/ink/ink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03T01:56:57.420"/>
    </inkml:context>
    <inkml:brush xml:id="br0">
      <inkml:brushProperty name="width" value="0.05" units="cm"/>
      <inkml:brushProperty name="height" value="0.05" units="cm"/>
      <inkml:brushProperty name="color" value="#E71224"/>
    </inkml:brush>
  </inkml:definitions>
  <inkml:trace contextRef="#ctx0" brushRef="#br0">2 1 24575,'-2'72'0,"4"79"0,3-121 0,1 0 0,18 56 0,-13-52 0,10 53 0,-18-72 0,1 0 0,10 26 0,-9-29 0,-1-1 0,0 1 0,-1 0 0,0 0 0,1 15 0,-4-24 0,3 31 0,-3-33 0,0 1 0,0-1 0,0 0 0,1 1 0,-1-1 0,0 0 0,1 1 0,-1-1 0,1 0 0,-1 1 0,1-1 0,0 0 0,-1 0 0,1 0 0,0 1 0,0-1 0,0 0 0,1 1 0,-1-4 0,0 0 0,0 0 0,0 0 0,0 0 0,0-1 0,0 1 0,-1 0 0,1 0 0,-1-1 0,0 1 0,0 0 0,0-5 0,0 7 0,1-21-1365,-1 1-5461</inkml:trace>
</inkml:ink>
</file>

<file path=ppt/ink/ink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03T01:56:58.539"/>
    </inkml:context>
    <inkml:brush xml:id="br0">
      <inkml:brushProperty name="width" value="0.05" units="cm"/>
      <inkml:brushProperty name="height" value="0.05" units="cm"/>
      <inkml:brushProperty name="color" value="#E71224"/>
    </inkml:brush>
  </inkml:definitions>
  <inkml:trace contextRef="#ctx0" brushRef="#br0">45 14 24575,'0'0'0,"1"0"0,-1 0 0,0 0 0,1 0 0,-1 0 0,0 0 0,0 0 0,1 0 0,-1 0 0,0 0 0,0 0 0,1 0 0,-1 0 0,0 0 0,1 0 0,-1-1 0,0 1 0,0 0 0,1 0 0,-1 0 0,0 0 0,0 0 0,0-1 0,1 1 0,-1 0 0,0 0 0,0 0 0,0-1 0,0 1 0,1 0 0,-1 0 0,0-1 0,0 1 0,0 0 0,0 0 0,0-1 0,0 1 0,0 0 0,0 0 0,0-1 0,1 1 0,-1 0 0,0 0 0,0-1 0,-1 1 0,1 0 0,0-1 0,0 1 0,0 0 0,0 0 0,0-1 0,0 1 0,0 0 0,0 0 0,0-1 0,-1 1 0,1-1 0,0 1 0,-1 0 0,1 0 0,0-1 0,-1 1 0,1 0 0,0 0 0,-1 0 0,1-1 0,0 1 0,-1 0 0,1 0 0,-1 0 0,1 0 0,0 0 0,-1 0 0,1 0 0,-1 0 0,1 0 0,0 0 0,-1 0 0,1 0 0,-1 0 0,1 0 0,0 0 0,-1 0 0,1 0 0,0 0 0,-1 1 0,1-1 0,0 0 0,-1 0 0,1 0 0,0 1 0,-1-1 0,1 0 0,0 1 0,-1-1 0,1 0 0,0 0 0,0 1 0,-1-1 0,1 0 0,0 1 0,0-1 0,0 1 0,-6 10 0,1 0 0,0 1 0,1 0 0,0-1 0,1 1 0,0 1 0,1-1 0,-1 13 0,2-16 0,1 0 0,-1 0 0,2 0 0,-1-1 0,1 1 0,1 0 0,-1-1 0,1 1 0,5 11 0,-5-16 0,0-1 0,0 1 0,0-1 0,0 1 0,0-1 0,1 0 0,0 0 0,-1 0 0,1 0 0,0-1 0,1 1 0,-1-1 0,0 1 0,1-1 0,-1 0 0,1-1 0,0 1 0,-1-1 0,1 1 0,0-1 0,0 0 0,7 0 0,40 6-1365,-41-7-5461</inkml:trace>
</inkml:ink>
</file>

<file path=ppt/ink/ink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03T01:57:02.029"/>
    </inkml:context>
    <inkml:brush xml:id="br0">
      <inkml:brushProperty name="width" value="0.05" units="cm"/>
      <inkml:brushProperty name="height" value="0.05" units="cm"/>
      <inkml:brushProperty name="color" value="#E71224"/>
    </inkml:brush>
  </inkml:definitions>
  <inkml:trace contextRef="#ctx0" brushRef="#br0">0 1 24575,'1'21'0,"0"1"0,1-1 0,8 34 0,-2-1 0,-7-42 0,0-1 0,1 0 0,0 1 0,1-1 0,0 0 0,8 17 0,-5-15 0,-2 0 0,1 0 0,-2 1 0,0 0 0,0-1 0,1 26 0,5 28 0,-3-26 0,-2 1 0,-1 0 0,-6 69 0,1-21 0,2-81 0,1-7 0,-1 1 0,0-1 0,1 0 0,-1 1 0,-1-1 0,1 0 0,0 1 0,0-1 0,-1 0 0,1 1 0,-1-1 0,0 0 0,-1 3 0,2-5 0,0 0 0,0 0 0,-1 0 0,1 0 0,0 0 0,0 1 0,0-1 0,0 0 0,0 0 0,-1 0 0,1 0 0,0 0 0,0 0 0,0 0 0,0 0 0,0 0 0,-1 0 0,1 0 0,0 0 0,0 0 0,0 0 0,0 0 0,-1 0 0,1 0 0,0 0 0,0 0 0,0-1 0,0 1 0,0 0 0,-1 0 0,1 0 0,0 0 0,0 0 0,0 0 0,0 0 0,0 0 0,0-1 0,0 1 0,-1 0 0,1 0 0,0 0 0,0 0 0,0 0 0,0-1 0,0 1 0,0 0 0,-5-13 0,0-12 0,4 18 0,-1-8 0,1 0 0,0 0 0,3-28 0,-2 40 0,1-1 0,0 1 0,-1 0 0,1 0 0,0-1 0,0 1 0,1 0 0,-1 0 0,1 0 0,-1 0 0,1 0 0,0 0 0,0 1 0,0-1 0,1 1 0,-1-1 0,1 1 0,-1 0 0,1 0 0,0 0 0,-1 0 0,1 0 0,4-1 0,30-16 0,-30 14 0,0 1 0,0 1 0,0-1 0,0 1 0,15-4 0,-19 7 0,0-1 0,0 1 0,-1 0 0,1 0 0,0 0 0,0 1 0,-1-1 0,1 1 0,0-1 0,-1 1 0,1 0 0,-1 0 0,1 0 0,-1 0 0,1 1 0,-1-1 0,0 1 0,0-1 0,1 1 0,-1 0 0,3 4 0,0 0 0,-1 0 0,0 1 0,0 0 0,0 0 0,-1 0 0,0 0 0,0 0 0,-1 1 0,0-1 0,1 11 0,-1-8 0,1-1 0,-1 1 0,1-1 0,1 0 0,0 0 0,6 10 0,-5-10 0,-1 0 0,0 0 0,0 0 0,-1 1 0,0 0 0,0-1 0,0 12 0,-1-10 0,1 0 0,0 0 0,0 0 0,1-1 0,7 15 0,-4-16 106,-6-9-146,-1 0-1,0 0 0,1 0 0,-1 0 0,0 0 0,0-1 0,1 1 0,-1 0 1,0 0-1,0 0 0,1 0 0,-1 0 0,0-1 0,0 1 0,0 0 0,1 0 1,-1 0-1,0 0 0,0-1 0,0 1 0,0 0 0,1 0 0,-1-1 0,0 1 1,0 0-1,0 0 0,0-1 0,0 1 0,0 0 0,0 0 0,0-1 0,0 1 1,0 0-1,0-1 0,0 1 0,2-10-6785</inkml:trace>
</inkml:ink>
</file>

<file path=ppt/ink/ink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03T01:57:48.666"/>
    </inkml:context>
    <inkml:brush xml:id="br0">
      <inkml:brushProperty name="width" value="0.05" units="cm"/>
      <inkml:brushProperty name="height" value="0.05" units="cm"/>
      <inkml:brushProperty name="color" value="#E71224"/>
    </inkml:brush>
  </inkml:definitions>
  <inkml:trace contextRef="#ctx0" brushRef="#br0">1 1 24575,'0'0'-8191</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E41F6E3-57F9-402E-BDBA-5B2DE11C8530}" type="datetimeFigureOut">
              <a:rPr lang="en-US" smtClean="0"/>
              <a:t>9/15/2026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DDBF98C7-164A-4723-84F0-B1E4B080DDEC}" type="slidenum">
              <a:rPr lang="en-US" smtClean="0"/>
              <a:t>‹#›</a:t>
            </a:fld>
            <a:endParaRPr lang="en-US"/>
          </a:p>
        </p:txBody>
      </p:sp>
    </p:spTree>
    <p:extLst>
      <p:ext uri="{BB962C8B-B14F-4D97-AF65-F5344CB8AC3E}">
        <p14:creationId xmlns:p14="http://schemas.microsoft.com/office/powerpoint/2010/main" val="342452739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3" Type="http://schemas.openxmlformats.org/officeDocument/2006/relationships/hyperlink" Target="https://www.dev2qa.com/android-contacts-database-structure/" TargetMode="External"/><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3" Type="http://schemas.openxmlformats.org/officeDocument/2006/relationships/hyperlink" Target="https://www.dev2qa.com/android-contacts-database-structure/" TargetMode="External"/><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3" Type="http://schemas.openxmlformats.org/officeDocument/2006/relationships/hyperlink" Target="https://developer.android.com/reference/android/provider/CallLog.Calls" TargetMode="External"/><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dirty="0"/>
              <a:t>https://android.googlesource.com/platform/packages/providers/ContactsProvider/+/b0f94c82189fdbe30037fbda532576043cbb067e/src/com/android/providers/contacts/ContactsProvider.java</a:t>
            </a:r>
          </a:p>
        </p:txBody>
      </p:sp>
      <p:sp>
        <p:nvSpPr>
          <p:cNvPr id="4" name="Slide Number Placeholder 3"/>
          <p:cNvSpPr>
            <a:spLocks noGrp="1"/>
          </p:cNvSpPr>
          <p:nvPr>
            <p:ph type="sldNum" sz="quarter" idx="5"/>
          </p:nvPr>
        </p:nvSpPr>
        <p:spPr/>
        <p:txBody>
          <a:bodyPr/>
          <a:lstStyle/>
          <a:p>
            <a:fld id="{DDBF98C7-164A-4723-84F0-B1E4B080DDEC}" type="slidenum">
              <a:rPr lang="en-US" smtClean="0"/>
              <a:t>1</a:t>
            </a:fld>
            <a:endParaRPr lang="en-US"/>
          </a:p>
        </p:txBody>
      </p:sp>
    </p:spTree>
    <p:extLst>
      <p:ext uri="{BB962C8B-B14F-4D97-AF65-F5344CB8AC3E}">
        <p14:creationId xmlns:p14="http://schemas.microsoft.com/office/powerpoint/2010/main" val="105445505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https://www.dev2qa.com/android-contacts-database-structure/</a:t>
            </a:r>
          </a:p>
        </p:txBody>
      </p:sp>
      <p:sp>
        <p:nvSpPr>
          <p:cNvPr id="4" name="Slide Number Placeholder 3"/>
          <p:cNvSpPr>
            <a:spLocks noGrp="1"/>
          </p:cNvSpPr>
          <p:nvPr>
            <p:ph type="sldNum" sz="quarter" idx="5"/>
          </p:nvPr>
        </p:nvSpPr>
        <p:spPr/>
        <p:txBody>
          <a:bodyPr/>
          <a:lstStyle/>
          <a:p>
            <a:fld id="{DDBF98C7-164A-4723-84F0-B1E4B080DDEC}" type="slidenum">
              <a:rPr lang="en-US" smtClean="0"/>
              <a:t>4</a:t>
            </a:fld>
            <a:endParaRPr lang="en-US"/>
          </a:p>
        </p:txBody>
      </p:sp>
    </p:spTree>
    <p:extLst>
      <p:ext uri="{BB962C8B-B14F-4D97-AF65-F5344CB8AC3E}">
        <p14:creationId xmlns:p14="http://schemas.microsoft.com/office/powerpoint/2010/main" val="357268559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err="1">
                <a:cs typeface="Calibri"/>
              </a:rPr>
              <a:t>Cmd</a:t>
            </a:r>
            <a:r>
              <a:rPr lang="en-US" dirty="0">
                <a:cs typeface="Calibri"/>
              </a:rPr>
              <a:t>: </a:t>
            </a:r>
            <a:r>
              <a:rPr lang="en-US" dirty="0" err="1">
                <a:cs typeface="Calibri"/>
              </a:rPr>
              <a:t>sqlitebrowser</a:t>
            </a:r>
            <a:r>
              <a:rPr lang="en-US" dirty="0">
                <a:cs typeface="Calibri"/>
              </a:rPr>
              <a:t> 'Pixel 3/data/data/</a:t>
            </a:r>
            <a:r>
              <a:rPr lang="en-US" dirty="0" err="1">
                <a:cs typeface="Calibri"/>
              </a:rPr>
              <a:t>com.android.providers.contacts</a:t>
            </a:r>
            <a:r>
              <a:rPr lang="en-US" dirty="0">
                <a:cs typeface="Calibri"/>
              </a:rPr>
              <a:t>/databases/contacts2.db’</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cs typeface="Calibri"/>
              </a:rPr>
              <a:t> </a:t>
            </a:r>
            <a:r>
              <a:rPr lang="en-US" sz="1200" dirty="0">
                <a:ea typeface="+mn-lt"/>
                <a:cs typeface="+mn-lt"/>
                <a:hlinkClick r:id="rId3"/>
              </a:rPr>
              <a:t>https://www.dev2qa.com/android-contacts-database-structure/</a:t>
            </a:r>
            <a:endParaRPr lang="en-US" sz="1200" dirty="0">
              <a:cs typeface="Calibri"/>
            </a:endParaRPr>
          </a:p>
          <a:p>
            <a:endParaRPr lang="en-US" dirty="0">
              <a:cs typeface="Calibri"/>
            </a:endParaRPr>
          </a:p>
        </p:txBody>
      </p:sp>
      <p:sp>
        <p:nvSpPr>
          <p:cNvPr id="4" name="Slide Number Placeholder 3"/>
          <p:cNvSpPr>
            <a:spLocks noGrp="1"/>
          </p:cNvSpPr>
          <p:nvPr>
            <p:ph type="sldNum" sz="quarter" idx="5"/>
          </p:nvPr>
        </p:nvSpPr>
        <p:spPr/>
        <p:txBody>
          <a:bodyPr/>
          <a:lstStyle/>
          <a:p>
            <a:fld id="{DDBF98C7-164A-4723-84F0-B1E4B080DDEC}" type="slidenum">
              <a:rPr lang="en-US" smtClean="0"/>
              <a:t>10</a:t>
            </a:fld>
            <a:endParaRPr lang="en-US"/>
          </a:p>
        </p:txBody>
      </p:sp>
    </p:spTree>
    <p:extLst>
      <p:ext uri="{BB962C8B-B14F-4D97-AF65-F5344CB8AC3E}">
        <p14:creationId xmlns:p14="http://schemas.microsoft.com/office/powerpoint/2010/main" val="15173856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The image shows the output of the `.tables` command on the `contacts2.db` SQLite database, which is used by Android's contacts provider (`</a:t>
            </a:r>
            <a:r>
              <a:rPr lang="en-GB" dirty="0" err="1"/>
              <a:t>com.android.providers.contacts</a:t>
            </a:r>
            <a:r>
              <a:rPr lang="en-GB" dirty="0"/>
              <a:t>`) to store contact-related data on a device like the Pixel 3. Below, I’ll explain the tables and views that are most valuable in a digital forensics context, focusing on those that provide meaningful user data or </a:t>
            </a:r>
            <a:r>
              <a:rPr lang="en-GB" dirty="0" err="1"/>
              <a:t>behavioral</a:t>
            </a:r>
            <a:r>
              <a:rPr lang="en-GB" dirty="0"/>
              <a:t> insights. I’ll rank them based on their forensic value, excluding tables or views that are less useful (e.g., internal metadata or search-index-related tables like `</a:t>
            </a:r>
            <a:r>
              <a:rPr lang="en-GB" dirty="0" err="1"/>
              <a:t>search_index_content</a:t>
            </a:r>
            <a:r>
              <a:rPr lang="en-GB" dirty="0"/>
              <a:t>`, `</a:t>
            </a:r>
            <a:r>
              <a:rPr lang="en-GB" dirty="0" err="1"/>
              <a:t>search_index_segdir</a:t>
            </a:r>
            <a:r>
              <a:rPr lang="en-GB" dirty="0"/>
              <a:t>`, etc., which are primarily for system optimization).</a:t>
            </a:r>
          </a:p>
          <a:p>
            <a:endParaRPr lang="en-GB" dirty="0"/>
          </a:p>
          <a:p>
            <a:r>
              <a:rPr lang="en-GB" dirty="0"/>
              <a:t>### Explanation and Ranking of Valuable Tables/Views for Digital Forensics</a:t>
            </a:r>
          </a:p>
          <a:p>
            <a:endParaRPr lang="en-GB" dirty="0"/>
          </a:p>
          <a:p>
            <a:r>
              <a:rPr lang="en-GB" dirty="0"/>
              <a:t>#### 1. **contacts** (High Value)</a:t>
            </a:r>
          </a:p>
          <a:p>
            <a:r>
              <a:rPr lang="en-GB" dirty="0"/>
              <a:t>- **Explanation**: The `contacts` table stores core information about each contact on the device, such as the contact ID, display name, and whether the contact has been starred or pinned. It often links to other tables (like `</a:t>
            </a:r>
            <a:r>
              <a:rPr lang="en-GB" dirty="0" err="1"/>
              <a:t>raw_contacts</a:t>
            </a:r>
            <a:r>
              <a:rPr lang="en-GB" dirty="0"/>
              <a:t>`) for more detailed data.</a:t>
            </a:r>
          </a:p>
          <a:p>
            <a:r>
              <a:rPr lang="en-GB" dirty="0"/>
              <a:t>- **Forensic Value**: This table provides a high-level overview of all contacts stored on the device, which is critical for identifying relationships, frequent contacts, or key individuals in an investigation. It’s often the starting point for mapping a user’s social network.</a:t>
            </a:r>
          </a:p>
          <a:p>
            <a:r>
              <a:rPr lang="en-GB" dirty="0"/>
              <a:t>- **Rank**: 1st ( foundational for identifying contacts and linking to more detailed data).</a:t>
            </a:r>
          </a:p>
          <a:p>
            <a:endParaRPr lang="en-GB" dirty="0"/>
          </a:p>
          <a:p>
            <a:r>
              <a:rPr lang="en-GB" dirty="0"/>
              <a:t>#### 2. **</a:t>
            </a:r>
            <a:r>
              <a:rPr lang="en-GB" dirty="0" err="1"/>
              <a:t>raw_contacts</a:t>
            </a:r>
            <a:r>
              <a:rPr lang="en-GB" dirty="0"/>
              <a:t>** (High Value)</a:t>
            </a:r>
          </a:p>
          <a:p>
            <a:r>
              <a:rPr lang="en-GB" dirty="0"/>
              <a:t>- **Explanation**: The `</a:t>
            </a:r>
            <a:r>
              <a:rPr lang="en-GB" dirty="0" err="1"/>
              <a:t>raw_contacts</a:t>
            </a:r>
            <a:r>
              <a:rPr lang="en-GB" dirty="0"/>
              <a:t>` table contains raw contact entries, which are tied to specific accounts (e.g., Google, WhatsApp). Each raw contact entry links to a contact in the `contacts` table but provides additional metadata, such as the source account, sync status, and whether the contact was deleted.</a:t>
            </a:r>
          </a:p>
          <a:p>
            <a:r>
              <a:rPr lang="en-GB" dirty="0"/>
              <a:t>- **Forensic Value**: This table is crucial for understanding the origin of contacts (e.g., synced from Gmail vs. manually added) and tracking account-specific interactions. It can reveal which apps or services the user is using to manage contacts, offering insights into their digital footprint.</a:t>
            </a:r>
          </a:p>
          <a:p>
            <a:r>
              <a:rPr lang="en-GB" dirty="0"/>
              <a:t>- **Rank**: 2nd (provides account-level context and sync details).</a:t>
            </a:r>
          </a:p>
          <a:p>
            <a:endParaRPr lang="en-GB" dirty="0"/>
          </a:p>
          <a:p>
            <a:r>
              <a:rPr lang="en-GB" dirty="0"/>
              <a:t>#### 3. **data** (High Value)</a:t>
            </a:r>
          </a:p>
          <a:p>
            <a:r>
              <a:rPr lang="en-GB" dirty="0"/>
              <a:t>- **Explanation**: The `data` table stores detailed information about contacts, such as phone numbers, email addresses, physical addresses, and other structured data (e.g., birthdays, nicknames). Each row is linked to a `</a:t>
            </a:r>
            <a:r>
              <a:rPr lang="en-GB" dirty="0" err="1"/>
              <a:t>raw_contacts</a:t>
            </a:r>
            <a:r>
              <a:rPr lang="en-GB" dirty="0"/>
              <a:t>` entry and uses a `</a:t>
            </a:r>
            <a:r>
              <a:rPr lang="en-GB" dirty="0" err="1"/>
              <a:t>mimetype</a:t>
            </a:r>
            <a:r>
              <a:rPr lang="en-GB" dirty="0"/>
              <a:t>` to define the type of data (e.g., `</a:t>
            </a:r>
            <a:r>
              <a:rPr lang="en-GB" dirty="0" err="1"/>
              <a:t>vnd.android.cursor.item</a:t>
            </a:r>
            <a:r>
              <a:rPr lang="en-GB" dirty="0"/>
              <a:t>/phone_v2` for phone numbers).</a:t>
            </a:r>
          </a:p>
          <a:p>
            <a:r>
              <a:rPr lang="en-GB" dirty="0"/>
              <a:t>- **Forensic Value**: This table is a goldmine for forensics because it contains the actual contact details that can be used to reconstruct communication networks, identify key contacts, or cross-reference with other evidence (e.g., call logs, emails). It can also reveal personal details about contacts that might be relevant to an investigation.</a:t>
            </a:r>
          </a:p>
          <a:p>
            <a:r>
              <a:rPr lang="en-GB" dirty="0"/>
              <a:t>- **Rank**: 3rd (rich in detailed contact information, though requires linking to `</a:t>
            </a:r>
            <a:r>
              <a:rPr lang="en-GB" dirty="0" err="1"/>
              <a:t>raw_contacts</a:t>
            </a:r>
            <a:r>
              <a:rPr lang="en-GB" dirty="0"/>
              <a:t>` for context).</a:t>
            </a:r>
          </a:p>
          <a:p>
            <a:endParaRPr lang="en-GB" dirty="0"/>
          </a:p>
          <a:p>
            <a:r>
              <a:rPr lang="en-GB" dirty="0"/>
              <a:t>#### 4. **groups** (Moderate to High Value)</a:t>
            </a:r>
          </a:p>
          <a:p>
            <a:r>
              <a:rPr lang="en-GB" dirty="0"/>
              <a:t>- **Explanation**: The `groups` table stores information about contact groups (e.g., "Family," "Work," "Friends") created by the user. It includes group IDs, names, and metadata about the group’s visibility or sync status.</a:t>
            </a:r>
          </a:p>
          <a:p>
            <a:r>
              <a:rPr lang="en-GB" dirty="0"/>
              <a:t>- **Forensic Value**: This table can reveal how the user organizes their contacts, which can provide </a:t>
            </a:r>
            <a:r>
              <a:rPr lang="en-GB" dirty="0" err="1"/>
              <a:t>behavioral</a:t>
            </a:r>
            <a:r>
              <a:rPr lang="en-GB" dirty="0"/>
              <a:t> insights (e.g., a group named "Suspects" or "Clients" might be relevant in a criminal or business investigation). It can also help identify clusters of related contacts.</a:t>
            </a:r>
          </a:p>
          <a:p>
            <a:r>
              <a:rPr lang="en-GB" dirty="0"/>
              <a:t>- **Rank**: 4th (valuable for </a:t>
            </a:r>
            <a:r>
              <a:rPr lang="en-GB" dirty="0" err="1"/>
              <a:t>behavioral</a:t>
            </a:r>
            <a:r>
              <a:rPr lang="en-GB" dirty="0"/>
              <a:t> analysis and grouping, but less detailed than `data`).</a:t>
            </a:r>
          </a:p>
          <a:p>
            <a:endParaRPr lang="en-GB" dirty="0"/>
          </a:p>
          <a:p>
            <a:r>
              <a:rPr lang="en-GB" dirty="0"/>
              <a:t>#### 5. **</a:t>
            </a:r>
            <a:r>
              <a:rPr lang="en-GB" dirty="0" err="1"/>
              <a:t>phone_lookup</a:t>
            </a:r>
            <a:r>
              <a:rPr lang="en-GB" dirty="0"/>
              <a:t>** (Moderate Value)</a:t>
            </a:r>
          </a:p>
          <a:p>
            <a:r>
              <a:rPr lang="en-GB" dirty="0"/>
              <a:t>- **Explanation**: The `</a:t>
            </a:r>
            <a:r>
              <a:rPr lang="en-GB" dirty="0" err="1"/>
              <a:t>phone_lookup</a:t>
            </a:r>
            <a:r>
              <a:rPr lang="en-GB" dirty="0"/>
              <a:t>` table is an index that maps phone numbers to contact IDs, optimized for quick lookups during calls or messaging.</a:t>
            </a:r>
          </a:p>
          <a:p>
            <a:r>
              <a:rPr lang="en-GB" dirty="0"/>
              <a:t>- **Forensic Value**: This table is useful for cross-referencing phone numbers found in other evidence (e.g., call logs, SMS) with contacts on the device. It can help confirm whether a number belongs to a known contact, which is valuable for linking communications to specific individuals.</a:t>
            </a:r>
          </a:p>
          <a:p>
            <a:r>
              <a:rPr lang="en-GB" dirty="0"/>
              <a:t>- **Rank**: 5th (helpful for mapping numbers to contacts, but less detailed than primary tables).</a:t>
            </a:r>
          </a:p>
          <a:p>
            <a:endParaRPr lang="en-GB" dirty="0"/>
          </a:p>
          <a:p>
            <a:r>
              <a:rPr lang="en-GB" dirty="0"/>
              <a:t>#### 6. **</a:t>
            </a:r>
            <a:r>
              <a:rPr lang="en-GB" dirty="0" err="1"/>
              <a:t>status_updates</a:t>
            </a:r>
            <a:r>
              <a:rPr lang="en-GB" dirty="0"/>
              <a:t>** (Moderate Value)</a:t>
            </a:r>
          </a:p>
          <a:p>
            <a:r>
              <a:rPr lang="en-GB" dirty="0"/>
              <a:t>- **Explanation**: The `</a:t>
            </a:r>
            <a:r>
              <a:rPr lang="en-GB" dirty="0" err="1"/>
              <a:t>status_updates</a:t>
            </a:r>
            <a:r>
              <a:rPr lang="en-GB" dirty="0"/>
              <a:t>` table stores status updates for contacts, typically from social or messaging apps integrated with the contacts provider (e.g., WhatsApp status or Google Talk presence).</a:t>
            </a:r>
          </a:p>
          <a:p>
            <a:r>
              <a:rPr lang="en-GB" dirty="0"/>
              <a:t>- **Forensic Value**: This table can provide insights into a user’s social interactions and the activity of their contacts (e.g., when a contact was last online). It’s particularly useful if the user is using apps that integrate status updates with the contacts system, offering a timeline of activity.</a:t>
            </a:r>
          </a:p>
          <a:p>
            <a:r>
              <a:rPr lang="en-GB" dirty="0"/>
              <a:t>- **Rank**: 6th (useful for social activity tracking, but depends on app integration).</a:t>
            </a:r>
          </a:p>
          <a:p>
            <a:endParaRPr lang="en-GB" dirty="0"/>
          </a:p>
          <a:p>
            <a:r>
              <a:rPr lang="en-GB" dirty="0"/>
              <a:t>#### 7. **</a:t>
            </a:r>
            <a:r>
              <a:rPr lang="en-GB" dirty="0" err="1"/>
              <a:t>view_data</a:t>
            </a:r>
            <a:r>
              <a:rPr lang="en-GB" dirty="0"/>
              <a:t>** (Moderate Value)</a:t>
            </a:r>
          </a:p>
          <a:p>
            <a:r>
              <a:rPr lang="en-GB" dirty="0"/>
              <a:t>- **Explanation**: The `</a:t>
            </a:r>
            <a:r>
              <a:rPr lang="en-GB" dirty="0" err="1"/>
              <a:t>view_data</a:t>
            </a:r>
            <a:r>
              <a:rPr lang="en-GB" dirty="0"/>
              <a:t>` view is a virtual table that combines data from the `data` table with other metadata, making it easier to query structured contact information (e.g., phone numbers, emails) in a more user-friendly format.</a:t>
            </a:r>
          </a:p>
          <a:p>
            <a:r>
              <a:rPr lang="en-GB" dirty="0"/>
              <a:t>- **Forensic Value**: This view simplifies access to contact details, making it easier to extract actionable data without complex joins. It’s essentially a pre-joined version of the `data` table, so its forensic value overlaps with `data` but is more convenient for quick analysis.</a:t>
            </a:r>
          </a:p>
          <a:p>
            <a:r>
              <a:rPr lang="en-GB" dirty="0"/>
              <a:t>- **Rank**: 7th (convenient for querying, but redundant with `data`).</a:t>
            </a:r>
          </a:p>
          <a:p>
            <a:endParaRPr lang="en-GB" dirty="0"/>
          </a:p>
          <a:p>
            <a:r>
              <a:rPr lang="en-GB" dirty="0"/>
              <a:t>#### 8. **accounts** (Moderate Value)</a:t>
            </a:r>
          </a:p>
          <a:p>
            <a:r>
              <a:rPr lang="en-GB" dirty="0"/>
              <a:t>- **Explanation**: The `accounts` table lists the accounts synced with the device (e.g., Google, Samsung) that contribute to the contacts database. It includes account names and types.</a:t>
            </a:r>
          </a:p>
          <a:p>
            <a:r>
              <a:rPr lang="en-GB" dirty="0"/>
              <a:t>- **Forensic Value**: This table helps identify which accounts are linked to the device, which can point investigators to other sources of evidence (e.g., Gmail, cloud backups). It also shows the scope of contact syncing, which can reveal the user’s digital ecosystem.</a:t>
            </a:r>
          </a:p>
          <a:p>
            <a:r>
              <a:rPr lang="en-GB" dirty="0"/>
              <a:t>- **Rank**: 8th (useful for identifying linked accounts, but less directly tied to user </a:t>
            </a:r>
            <a:r>
              <a:rPr lang="en-GB" dirty="0" err="1"/>
              <a:t>behavior</a:t>
            </a:r>
            <a:r>
              <a:rPr lang="en-GB" dirty="0"/>
              <a:t>).</a:t>
            </a:r>
          </a:p>
          <a:p>
            <a:endParaRPr lang="en-GB" dirty="0"/>
          </a:p>
          <a:p>
            <a:r>
              <a:rPr lang="en-GB" dirty="0"/>
              <a:t>### Tables/Views Excluded (Low Forensic Value)</a:t>
            </a:r>
          </a:p>
          <a:p>
            <a:r>
              <a:rPr lang="en-GB" dirty="0"/>
              <a:t>I’ve excluded tables like `</a:t>
            </a:r>
            <a:r>
              <a:rPr lang="en-GB" dirty="0" err="1"/>
              <a:t>search_index</a:t>
            </a:r>
            <a:r>
              <a:rPr lang="en-GB" dirty="0"/>
              <a:t>_*` (e.g., `</a:t>
            </a:r>
            <a:r>
              <a:rPr lang="en-GB" dirty="0" err="1"/>
              <a:t>search_index_content</a:t>
            </a:r>
            <a:r>
              <a:rPr lang="en-GB" dirty="0"/>
              <a:t>`, `</a:t>
            </a:r>
            <a:r>
              <a:rPr lang="en-GB" dirty="0" err="1"/>
              <a:t>search_index_segdir</a:t>
            </a:r>
            <a:r>
              <a:rPr lang="en-GB" dirty="0"/>
              <a:t>`), `</a:t>
            </a:r>
            <a:r>
              <a:rPr lang="en-GB" dirty="0" err="1"/>
              <a:t>android_metadata</a:t>
            </a:r>
            <a:r>
              <a:rPr lang="en-GB" dirty="0"/>
              <a:t>`, `</a:t>
            </a:r>
            <a:r>
              <a:rPr lang="en-GB" dirty="0" err="1"/>
              <a:t>sync_state</a:t>
            </a:r>
            <a:r>
              <a:rPr lang="en-GB" dirty="0"/>
              <a:t>`, `properties`, and others because they are primarily for system optimization, indexing, or internal bookkeeping. For example:</a:t>
            </a:r>
          </a:p>
          <a:p>
            <a:r>
              <a:rPr lang="en-GB" dirty="0"/>
              <a:t>- `</a:t>
            </a:r>
            <a:r>
              <a:rPr lang="en-GB" dirty="0" err="1"/>
              <a:t>search_index</a:t>
            </a:r>
            <a:r>
              <a:rPr lang="en-GB" dirty="0"/>
              <a:t>_*` tables are for full-text search functionality and don’t contain user-facing data.</a:t>
            </a:r>
          </a:p>
          <a:p>
            <a:r>
              <a:rPr lang="en-GB" dirty="0"/>
              <a:t>- `</a:t>
            </a:r>
            <a:r>
              <a:rPr lang="en-GB" dirty="0" err="1"/>
              <a:t>android_metadata</a:t>
            </a:r>
            <a:r>
              <a:rPr lang="en-GB" dirty="0"/>
              <a:t>` stores database versioning info (e.g., locale).</a:t>
            </a:r>
          </a:p>
          <a:p>
            <a:r>
              <a:rPr lang="en-GB" dirty="0"/>
              <a:t>- `</a:t>
            </a:r>
            <a:r>
              <a:rPr lang="en-GB" dirty="0" err="1"/>
              <a:t>sync_state</a:t>
            </a:r>
            <a:r>
              <a:rPr lang="en-GB" dirty="0"/>
              <a:t>` and related tables manage synchronization metadata, which is less relevant unless investigating specific sync issues.</a:t>
            </a:r>
          </a:p>
          <a:p>
            <a:endParaRPr lang="en-GB" dirty="0"/>
          </a:p>
          <a:p>
            <a:r>
              <a:rPr lang="en-GB" dirty="0"/>
              <a:t>### Summary of Rankings</a:t>
            </a:r>
          </a:p>
          <a:p>
            <a:r>
              <a:rPr lang="en-GB" dirty="0"/>
              <a:t>1. **contacts**: Core contact list, starting point for relationships.</a:t>
            </a:r>
          </a:p>
          <a:p>
            <a:r>
              <a:rPr lang="en-GB" dirty="0"/>
              <a:t>2. **</a:t>
            </a:r>
            <a:r>
              <a:rPr lang="en-GB" dirty="0" err="1"/>
              <a:t>raw_contacts</a:t>
            </a:r>
            <a:r>
              <a:rPr lang="en-GB" dirty="0"/>
              <a:t>**: Links contacts to accounts, revealing sources.</a:t>
            </a:r>
          </a:p>
          <a:p>
            <a:r>
              <a:rPr lang="en-GB" dirty="0"/>
              <a:t>3. **data**: Detailed contact info (phone, email, etc.).</a:t>
            </a:r>
          </a:p>
          <a:p>
            <a:r>
              <a:rPr lang="en-GB" dirty="0"/>
              <a:t>4. **groups**: Shows user-defined contact organization.</a:t>
            </a:r>
          </a:p>
          <a:p>
            <a:r>
              <a:rPr lang="en-GB" dirty="0"/>
              <a:t>5. **</a:t>
            </a:r>
            <a:r>
              <a:rPr lang="en-GB" dirty="0" err="1"/>
              <a:t>phone_lookup</a:t>
            </a:r>
            <a:r>
              <a:rPr lang="en-GB" dirty="0"/>
              <a:t>**: Maps numbers to contacts for cross-referencing.</a:t>
            </a:r>
          </a:p>
          <a:p>
            <a:r>
              <a:rPr lang="en-GB" dirty="0"/>
              <a:t>6. **</a:t>
            </a:r>
            <a:r>
              <a:rPr lang="en-GB" dirty="0" err="1"/>
              <a:t>status_updates</a:t>
            </a:r>
            <a:r>
              <a:rPr lang="en-GB" dirty="0"/>
              <a:t>**: Tracks social activity via status updates.</a:t>
            </a:r>
          </a:p>
          <a:p>
            <a:r>
              <a:rPr lang="en-GB" dirty="0"/>
              <a:t>7. **</a:t>
            </a:r>
            <a:r>
              <a:rPr lang="en-GB" dirty="0" err="1"/>
              <a:t>view_data</a:t>
            </a:r>
            <a:r>
              <a:rPr lang="en-GB" dirty="0"/>
              <a:t>**: Simplified access to contact details.</a:t>
            </a:r>
          </a:p>
          <a:p>
            <a:r>
              <a:rPr lang="en-GB" dirty="0"/>
              <a:t>8. **accounts**: Identifies synced accounts for broader context.</a:t>
            </a:r>
          </a:p>
          <a:p>
            <a:endParaRPr lang="en-GB" dirty="0"/>
          </a:p>
          <a:p>
            <a:r>
              <a:rPr lang="en-GB" dirty="0"/>
              <a:t>These tables and views provide the most actionable data for digital forensics, focusing on user relationships, communication details, and </a:t>
            </a:r>
            <a:r>
              <a:rPr lang="en-GB" dirty="0" err="1"/>
              <a:t>behavioral</a:t>
            </a:r>
            <a:r>
              <a:rPr lang="en-GB" dirty="0"/>
              <a:t> patterns. </a:t>
            </a:r>
            <a:endParaRPr lang="en-US" dirty="0"/>
          </a:p>
        </p:txBody>
      </p:sp>
      <p:sp>
        <p:nvSpPr>
          <p:cNvPr id="4" name="Slide Number Placeholder 3"/>
          <p:cNvSpPr>
            <a:spLocks noGrp="1"/>
          </p:cNvSpPr>
          <p:nvPr>
            <p:ph type="sldNum" sz="quarter" idx="5"/>
          </p:nvPr>
        </p:nvSpPr>
        <p:spPr/>
        <p:txBody>
          <a:bodyPr/>
          <a:lstStyle/>
          <a:p>
            <a:fld id="{DDBF98C7-164A-4723-84F0-B1E4B080DDEC}" type="slidenum">
              <a:rPr lang="en-US" smtClean="0"/>
              <a:t>12</a:t>
            </a:fld>
            <a:endParaRPr lang="en-US"/>
          </a:p>
        </p:txBody>
      </p:sp>
    </p:spTree>
    <p:extLst>
      <p:ext uri="{BB962C8B-B14F-4D97-AF65-F5344CB8AC3E}">
        <p14:creationId xmlns:p14="http://schemas.microsoft.com/office/powerpoint/2010/main" val="410067144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DDBF98C7-164A-4723-84F0-B1E4B080DDEC}" type="slidenum">
              <a:rPr lang="en-US" smtClean="0"/>
              <a:t>27</a:t>
            </a:fld>
            <a:endParaRPr lang="en-US"/>
          </a:p>
        </p:txBody>
      </p:sp>
    </p:spTree>
    <p:extLst>
      <p:ext uri="{BB962C8B-B14F-4D97-AF65-F5344CB8AC3E}">
        <p14:creationId xmlns:p14="http://schemas.microsoft.com/office/powerpoint/2010/main" val="327109860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DDBF98C7-164A-4723-84F0-B1E4B080DDEC}" type="slidenum">
              <a:rPr lang="en-US" smtClean="0"/>
              <a:t>28</a:t>
            </a:fld>
            <a:endParaRPr lang="en-US"/>
          </a:p>
        </p:txBody>
      </p:sp>
    </p:spTree>
    <p:extLst>
      <p:ext uri="{BB962C8B-B14F-4D97-AF65-F5344CB8AC3E}">
        <p14:creationId xmlns:p14="http://schemas.microsoft.com/office/powerpoint/2010/main" val="357935377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DDBF98C7-164A-4723-84F0-B1E4B080DDEC}" type="slidenum">
              <a:rPr lang="en-US" smtClean="0"/>
              <a:t>30</a:t>
            </a:fld>
            <a:endParaRPr lang="en-US"/>
          </a:p>
        </p:txBody>
      </p:sp>
    </p:spTree>
    <p:extLst>
      <p:ext uri="{BB962C8B-B14F-4D97-AF65-F5344CB8AC3E}">
        <p14:creationId xmlns:p14="http://schemas.microsoft.com/office/powerpoint/2010/main" val="236376392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err="1">
                <a:cs typeface="Calibri"/>
              </a:rPr>
              <a:t>Cmd</a:t>
            </a:r>
            <a:r>
              <a:rPr lang="en-US" dirty="0">
                <a:cs typeface="Calibri"/>
              </a:rPr>
              <a:t>: </a:t>
            </a:r>
            <a:r>
              <a:rPr lang="en-US" dirty="0" err="1">
                <a:cs typeface="Calibri"/>
              </a:rPr>
              <a:t>sqlitebrowser</a:t>
            </a:r>
            <a:r>
              <a:rPr lang="en-US" dirty="0">
                <a:cs typeface="Calibri"/>
              </a:rPr>
              <a:t> 'Pixel 3/data/data/</a:t>
            </a:r>
            <a:r>
              <a:rPr lang="en-US" dirty="0" err="1">
                <a:cs typeface="Calibri"/>
              </a:rPr>
              <a:t>com.android.providers.contacts</a:t>
            </a:r>
            <a:r>
              <a:rPr lang="en-US" dirty="0">
                <a:cs typeface="Calibri"/>
              </a:rPr>
              <a:t>/databases/contacts2.db’</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cs typeface="Calibri"/>
              </a:rPr>
              <a:t> </a:t>
            </a:r>
            <a:r>
              <a:rPr lang="en-US" sz="1200" dirty="0">
                <a:ea typeface="+mn-lt"/>
                <a:cs typeface="+mn-lt"/>
                <a:hlinkClick r:id="rId3"/>
              </a:rPr>
              <a:t>https://www.dev2qa.com/android-contacts-database-structure/</a:t>
            </a:r>
            <a:endParaRPr lang="en-US" sz="1200" dirty="0">
              <a:cs typeface="Calibri"/>
            </a:endParaRPr>
          </a:p>
          <a:p>
            <a:endParaRPr lang="en-US" dirty="0">
              <a:cs typeface="Calibri"/>
            </a:endParaRPr>
          </a:p>
        </p:txBody>
      </p:sp>
      <p:sp>
        <p:nvSpPr>
          <p:cNvPr id="4" name="Slide Number Placeholder 3"/>
          <p:cNvSpPr>
            <a:spLocks noGrp="1"/>
          </p:cNvSpPr>
          <p:nvPr>
            <p:ph type="sldNum" sz="quarter" idx="5"/>
          </p:nvPr>
        </p:nvSpPr>
        <p:spPr/>
        <p:txBody>
          <a:bodyPr/>
          <a:lstStyle/>
          <a:p>
            <a:fld id="{DDBF98C7-164A-4723-84F0-B1E4B080DDEC}" type="slidenum">
              <a:rPr lang="en-US" smtClean="0"/>
              <a:t>39</a:t>
            </a:fld>
            <a:endParaRPr lang="en-US"/>
          </a:p>
        </p:txBody>
      </p:sp>
    </p:spTree>
    <p:extLst>
      <p:ext uri="{BB962C8B-B14F-4D97-AF65-F5344CB8AC3E}">
        <p14:creationId xmlns:p14="http://schemas.microsoft.com/office/powerpoint/2010/main" val="215384133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The image shows the output of the SQLite command `pragma </a:t>
            </a:r>
            <a:r>
              <a:rPr lang="en-GB" dirty="0" err="1"/>
              <a:t>table_info</a:t>
            </a:r>
            <a:r>
              <a:rPr lang="en-GB" dirty="0"/>
              <a:t>(contacts);`, which provides the schema (structure) of the `contacts` table in the `contacts2.db` database. This table is part of Android's contacts provider system, used to store core information about contacts on a device like the Pixel 3. Below, I’ll explain each column in the `contacts` table, including its data type, constraints, and purpose, with a focus on its relevance in a digital forensics context.</a:t>
            </a:r>
          </a:p>
          <a:p>
            <a:endParaRPr lang="en-GB" dirty="0"/>
          </a:p>
          <a:p>
            <a:r>
              <a:rPr lang="en-GB" dirty="0"/>
              <a:t>### Explanation of Columns in the `contacts` Table</a:t>
            </a:r>
          </a:p>
          <a:p>
            <a:endParaRPr lang="en-GB" dirty="0"/>
          </a:p>
          <a:p>
            <a:r>
              <a:rPr lang="en-GB" dirty="0"/>
              <a:t>1. **_id** (INTEGER, NOT NULL, Primary Key)</a:t>
            </a:r>
          </a:p>
          <a:p>
            <a:r>
              <a:rPr lang="en-GB" dirty="0"/>
              <a:t>   - **Explanation**: This is the unique identifier for each contact entry in the table. It’s an auto-incrementing integer that serves as the primary key.</a:t>
            </a:r>
          </a:p>
          <a:p>
            <a:r>
              <a:rPr lang="en-GB" dirty="0"/>
              <a:t>   - **Purpose**: Used to uniquely identify a contact and link to related data in other tables (e.g., `</a:t>
            </a:r>
            <a:r>
              <a:rPr lang="en-GB" dirty="0" err="1"/>
              <a:t>raw_contacts</a:t>
            </a:r>
            <a:r>
              <a:rPr lang="en-GB" dirty="0"/>
              <a:t>`, `data`).</a:t>
            </a:r>
          </a:p>
          <a:p>
            <a:r>
              <a:rPr lang="en-GB" dirty="0"/>
              <a:t>   - **Forensic Value**: Essential for mapping relationships between tables. For example, you can use `_id` to find all phone numbers for a contact in the `data` table.</a:t>
            </a:r>
          </a:p>
          <a:p>
            <a:endParaRPr lang="en-GB" dirty="0"/>
          </a:p>
          <a:p>
            <a:r>
              <a:rPr lang="en-GB" dirty="0"/>
              <a:t>2. **</a:t>
            </a:r>
            <a:r>
              <a:rPr lang="en-GB" dirty="0" err="1"/>
              <a:t>name_raw_contact_id</a:t>
            </a:r>
            <a:r>
              <a:rPr lang="en-GB" dirty="0"/>
              <a:t>** (INTEGER, NULL, Default: 0)</a:t>
            </a:r>
          </a:p>
          <a:p>
            <a:r>
              <a:rPr lang="en-GB" dirty="0"/>
              <a:t>   - **Explanation**: This column stores the ID of the `</a:t>
            </a:r>
            <a:r>
              <a:rPr lang="en-GB" dirty="0" err="1"/>
              <a:t>raw_contacts</a:t>
            </a:r>
            <a:r>
              <a:rPr lang="en-GB" dirty="0"/>
              <a:t>` entry that provides the display name for this contact. A single contact in the `contacts` table can aggregate multiple `</a:t>
            </a:r>
            <a:r>
              <a:rPr lang="en-GB" dirty="0" err="1"/>
              <a:t>raw_contacts</a:t>
            </a:r>
            <a:r>
              <a:rPr lang="en-GB" dirty="0"/>
              <a:t>` entries (e.g., one from Google, one from WhatsApp), and this points to the primary one used for the name.</a:t>
            </a:r>
          </a:p>
          <a:p>
            <a:r>
              <a:rPr lang="en-GB" dirty="0"/>
              <a:t>   - **Purpose**: Links the contact to its primary raw contact for naming purposes.</a:t>
            </a:r>
          </a:p>
          <a:p>
            <a:r>
              <a:rPr lang="en-GB" dirty="0"/>
              <a:t>   - **Forensic Value**: Useful for tracing the source of a contact’s display name and understanding how contacts are aggregated across accounts.</a:t>
            </a:r>
          </a:p>
          <a:p>
            <a:endParaRPr lang="en-GB" dirty="0"/>
          </a:p>
          <a:p>
            <a:r>
              <a:rPr lang="en-GB" dirty="0"/>
              <a:t>3. **</a:t>
            </a:r>
            <a:r>
              <a:rPr lang="en-GB" dirty="0" err="1"/>
              <a:t>photo_id</a:t>
            </a:r>
            <a:r>
              <a:rPr lang="en-GB" dirty="0"/>
              <a:t>** (INTEGER, NULL, Default: 0)</a:t>
            </a:r>
          </a:p>
          <a:p>
            <a:r>
              <a:rPr lang="en-GB" dirty="0"/>
              <a:t>   - **Explanation**: This column stores the ID of the contact’s photo, if one exists, linking to a photo stored elsewhere (e.g., in the `data` table or a file system).</a:t>
            </a:r>
          </a:p>
          <a:p>
            <a:r>
              <a:rPr lang="en-GB" dirty="0"/>
              <a:t>   - **Purpose**: Associates a contact with a profile picture.</a:t>
            </a:r>
          </a:p>
          <a:p>
            <a:r>
              <a:rPr lang="en-GB" dirty="0"/>
              <a:t>   - **Forensic Value**: Can be used to retrieve a contact’s photo, which might be relevant for identification or visual confirmation in an investigation.</a:t>
            </a:r>
          </a:p>
          <a:p>
            <a:endParaRPr lang="en-GB" dirty="0"/>
          </a:p>
          <a:p>
            <a:r>
              <a:rPr lang="en-GB" dirty="0"/>
              <a:t>4. **</a:t>
            </a:r>
            <a:r>
              <a:rPr lang="en-GB" dirty="0" err="1"/>
              <a:t>photo_file_id</a:t>
            </a:r>
            <a:r>
              <a:rPr lang="en-GB" dirty="0"/>
              <a:t>** (INTEGER, NULL, Default: 0)</a:t>
            </a:r>
          </a:p>
          <a:p>
            <a:r>
              <a:rPr lang="en-GB" dirty="0"/>
              <a:t>   - **Explanation**: This column stores the ID of the file containing the contact’s photo, typically used for high-resolution images stored separately.</a:t>
            </a:r>
          </a:p>
          <a:p>
            <a:r>
              <a:rPr lang="en-GB" dirty="0"/>
              <a:t>   - **Purpose**: Provides a reference to the actual photo file, as opposed to `</a:t>
            </a:r>
            <a:r>
              <a:rPr lang="en-GB" dirty="0" err="1"/>
              <a:t>photo_id</a:t>
            </a:r>
            <a:r>
              <a:rPr lang="en-GB" dirty="0"/>
              <a:t>`, which might point to a thumbnail.</a:t>
            </a:r>
          </a:p>
          <a:p>
            <a:r>
              <a:rPr lang="en-GB" dirty="0"/>
              <a:t>   - **Forensic Value**: Similar to `</a:t>
            </a:r>
            <a:r>
              <a:rPr lang="en-GB" dirty="0" err="1"/>
              <a:t>photo_id</a:t>
            </a:r>
            <a:r>
              <a:rPr lang="en-GB" dirty="0"/>
              <a:t>`, it helps retrieve a contact’s photo, potentially offering higher-quality images for forensic analysis.</a:t>
            </a:r>
          </a:p>
          <a:p>
            <a:endParaRPr lang="en-GB" dirty="0"/>
          </a:p>
          <a:p>
            <a:r>
              <a:rPr lang="en-GB" dirty="0"/>
              <a:t>5. **</a:t>
            </a:r>
            <a:r>
              <a:rPr lang="en-GB" dirty="0" err="1"/>
              <a:t>custom_ringtone</a:t>
            </a:r>
            <a:r>
              <a:rPr lang="en-GB" dirty="0"/>
              <a:t>** (TEXT, NULL, Default: 0)</a:t>
            </a:r>
          </a:p>
          <a:p>
            <a:r>
              <a:rPr lang="en-GB" dirty="0"/>
              <a:t>   - **Explanation**: This column stores the URI (as text) of a custom ringtone assigned to the contact, if any.</a:t>
            </a:r>
          </a:p>
          <a:p>
            <a:r>
              <a:rPr lang="en-GB" dirty="0"/>
              <a:t>   - **Purpose**: Allows the user to set a specific ringtone for a contact, which plays when they call.</a:t>
            </a:r>
          </a:p>
          <a:p>
            <a:r>
              <a:rPr lang="en-GB" dirty="0"/>
              <a:t>   - **Forensic Value**: Indicates user customization, which can provide </a:t>
            </a:r>
            <a:r>
              <a:rPr lang="en-GB" dirty="0" err="1"/>
              <a:t>behavioral</a:t>
            </a:r>
            <a:r>
              <a:rPr lang="en-GB" dirty="0"/>
              <a:t> insights (e.g., a unique ringtone might suggest a significant contact, like a family member or close associate).</a:t>
            </a:r>
          </a:p>
          <a:p>
            <a:endParaRPr lang="en-GB" dirty="0"/>
          </a:p>
          <a:p>
            <a:r>
              <a:rPr lang="en-GB" dirty="0"/>
              <a:t>6. **</a:t>
            </a:r>
            <a:r>
              <a:rPr lang="en-GB" dirty="0" err="1"/>
              <a:t>send_to_voicemail</a:t>
            </a:r>
            <a:r>
              <a:rPr lang="en-GB" dirty="0"/>
              <a:t>** (INTEGER, NOT NULL, Default: 0)</a:t>
            </a:r>
          </a:p>
          <a:p>
            <a:r>
              <a:rPr lang="en-GB" dirty="0"/>
              <a:t>   - **Explanation**: A </a:t>
            </a:r>
            <a:r>
              <a:rPr lang="en-GB" dirty="0" err="1"/>
              <a:t>boolean</a:t>
            </a:r>
            <a:r>
              <a:rPr lang="en-GB" dirty="0"/>
              <a:t> flag (0 or 1) indicating whether calls from this contact should be sent directly to voicemail.</a:t>
            </a:r>
          </a:p>
          <a:p>
            <a:r>
              <a:rPr lang="en-GB" dirty="0"/>
              <a:t>   - **Purpose**: Used to manage call handling for specific contacts.</a:t>
            </a:r>
          </a:p>
          <a:p>
            <a:r>
              <a:rPr lang="en-GB" dirty="0"/>
              <a:t>   - **Forensic Value**: Can reveal the user’s relationship with the contact (e.g., sending calls to voicemail might indicate avoidance or a strained relationship).</a:t>
            </a:r>
          </a:p>
          <a:p>
            <a:endParaRPr lang="en-GB" dirty="0"/>
          </a:p>
          <a:p>
            <a:r>
              <a:rPr lang="en-GB" dirty="0"/>
              <a:t>7. **</a:t>
            </a:r>
            <a:r>
              <a:rPr lang="en-GB" dirty="0" err="1"/>
              <a:t>x_times_contacted</a:t>
            </a:r>
            <a:r>
              <a:rPr lang="en-GB" dirty="0"/>
              <a:t>** (INTEGER, NOT NULL, Default: 0)</a:t>
            </a:r>
          </a:p>
          <a:p>
            <a:r>
              <a:rPr lang="en-GB" dirty="0"/>
              <a:t>   - **Explanation**: This column tracks the number of times the user has initiated contact with this person (e.g., via calls or messages). Note: This field is deprecated in newer Android versions and may not be updated.</a:t>
            </a:r>
          </a:p>
          <a:p>
            <a:r>
              <a:rPr lang="en-GB" dirty="0"/>
              <a:t>   - **Purpose**: Historically used to rank contacts by frequency of interaction.</a:t>
            </a:r>
          </a:p>
          <a:p>
            <a:r>
              <a:rPr lang="en-GB" dirty="0"/>
              <a:t>   - **Forensic Value**: If populated, it can indicate the frequency of interaction, helping identify key contacts. However, its reliability depends on the Android version and usage.</a:t>
            </a:r>
          </a:p>
          <a:p>
            <a:endParaRPr lang="en-GB" dirty="0"/>
          </a:p>
          <a:p>
            <a:r>
              <a:rPr lang="en-GB" dirty="0"/>
              <a:t>8. **</a:t>
            </a:r>
            <a:r>
              <a:rPr lang="en-GB" dirty="0" err="1"/>
              <a:t>x_last_time_contacted</a:t>
            </a:r>
            <a:r>
              <a:rPr lang="en-GB" dirty="0"/>
              <a:t>** (INTEGER, NOT NULL, Default: 0)</a:t>
            </a:r>
          </a:p>
          <a:p>
            <a:r>
              <a:rPr lang="en-GB" dirty="0"/>
              <a:t>   - **Explanation**: Stores a timestamp (in milliseconds since epoch) of the last time the user initiated contact with this person. Like `</a:t>
            </a:r>
            <a:r>
              <a:rPr lang="en-GB" dirty="0" err="1"/>
              <a:t>x_times_contacted</a:t>
            </a:r>
            <a:r>
              <a:rPr lang="en-GB" dirty="0"/>
              <a:t>`, this field is deprecated.</a:t>
            </a:r>
          </a:p>
          <a:p>
            <a:r>
              <a:rPr lang="en-GB" dirty="0"/>
              <a:t>   - **Purpose**: Tracks the most recent interaction for ranking or display purposes.</a:t>
            </a:r>
          </a:p>
          <a:p>
            <a:r>
              <a:rPr lang="en-GB" dirty="0"/>
              <a:t>   - **Forensic Value**: If populated, it provides a timeline of interactions, which is valuable for establishing communication patterns. Its usefulness is limited if the field isn’t updated.</a:t>
            </a:r>
          </a:p>
          <a:p>
            <a:endParaRPr lang="en-GB" dirty="0"/>
          </a:p>
          <a:p>
            <a:r>
              <a:rPr lang="en-GB" dirty="0"/>
              <a:t>9. **</a:t>
            </a:r>
            <a:r>
              <a:rPr lang="en-GB" dirty="0" err="1"/>
              <a:t>last_time_contacted</a:t>
            </a:r>
            <a:r>
              <a:rPr lang="en-GB" dirty="0"/>
              <a:t>** (INTEGER, NULL, Default: 0)</a:t>
            </a:r>
          </a:p>
          <a:p>
            <a:r>
              <a:rPr lang="en-GB" dirty="0"/>
              <a:t>   - **Explanation**: Stores a timestamp (in milliseconds since epoch) of the last time the contact was interacted with (e.g., called, messaged). Unlike `</a:t>
            </a:r>
            <a:r>
              <a:rPr lang="en-GB" dirty="0" err="1"/>
              <a:t>x_last_time_contacted</a:t>
            </a:r>
            <a:r>
              <a:rPr lang="en-GB" dirty="0"/>
              <a:t>`, this field is still used in modern Android versions.</a:t>
            </a:r>
          </a:p>
          <a:p>
            <a:r>
              <a:rPr lang="en-GB" dirty="0"/>
              <a:t>   - **Purpose**: Tracks recent interactions for contact management and display.</a:t>
            </a:r>
          </a:p>
          <a:p>
            <a:r>
              <a:rPr lang="en-GB" dirty="0"/>
              <a:t>   - **Forensic Value**: Highly valuable for establishing a timeline of communication. It can help pinpoint when the user last interacted with a contact, which is critical in investigations.</a:t>
            </a:r>
          </a:p>
          <a:p>
            <a:endParaRPr lang="en-GB" dirty="0"/>
          </a:p>
          <a:p>
            <a:r>
              <a:rPr lang="en-GB" dirty="0"/>
              <a:t>10. **starred** (INTEGER, NOT NULL, Default: 0)</a:t>
            </a:r>
          </a:p>
          <a:p>
            <a:r>
              <a:rPr lang="en-GB" dirty="0"/>
              <a:t>    - **Explanation**: A </a:t>
            </a:r>
            <a:r>
              <a:rPr lang="en-GB" dirty="0" err="1"/>
              <a:t>boolean</a:t>
            </a:r>
            <a:r>
              <a:rPr lang="en-GB" dirty="0"/>
              <a:t> flag (0 or 1) indicating whether the contact is marked as a </a:t>
            </a:r>
            <a:r>
              <a:rPr lang="en-GB" dirty="0" err="1"/>
              <a:t>favorite</a:t>
            </a:r>
            <a:r>
              <a:rPr lang="en-GB" dirty="0"/>
              <a:t> (starred).</a:t>
            </a:r>
          </a:p>
          <a:p>
            <a:r>
              <a:rPr lang="en-GB" dirty="0"/>
              <a:t>    - **Purpose**: Allows users to mark important contacts for quick access.</a:t>
            </a:r>
          </a:p>
          <a:p>
            <a:r>
              <a:rPr lang="en-GB" dirty="0"/>
              <a:t>    - **Forensic Value**: Indicates the user’s prioritization of contacts, which can highlight significant relationships (e.g., a starred contact might be a close friend, family member, or key associate).</a:t>
            </a:r>
          </a:p>
          <a:p>
            <a:endParaRPr lang="en-GB" dirty="0"/>
          </a:p>
          <a:p>
            <a:r>
              <a:rPr lang="en-GB" dirty="0"/>
              <a:t>11. **pinned** (INTEGER, NOT NULL, Default: 0)</a:t>
            </a:r>
          </a:p>
          <a:p>
            <a:r>
              <a:rPr lang="en-GB" dirty="0"/>
              <a:t>    - **Explanation**: A </a:t>
            </a:r>
            <a:r>
              <a:rPr lang="en-GB" dirty="0" err="1"/>
              <a:t>boolean</a:t>
            </a:r>
            <a:r>
              <a:rPr lang="en-GB" dirty="0"/>
              <a:t> flag (0 or 1) indicating whether the contact is pinned to the top of the contact list.</a:t>
            </a:r>
          </a:p>
          <a:p>
            <a:r>
              <a:rPr lang="en-GB" dirty="0"/>
              <a:t>    - **Purpose**: Used for UI purposes to keep frequently accessed contacts at the top.</a:t>
            </a:r>
          </a:p>
          <a:p>
            <a:r>
              <a:rPr lang="en-GB" dirty="0"/>
              <a:t>    - **Forensic Value**: Similar to `starred`, it shows user prioritization, providing insight into important relationships.</a:t>
            </a:r>
          </a:p>
          <a:p>
            <a:endParaRPr lang="en-GB" dirty="0"/>
          </a:p>
          <a:p>
            <a:r>
              <a:rPr lang="en-GB" dirty="0"/>
              <a:t>12. **</a:t>
            </a:r>
            <a:r>
              <a:rPr lang="en-GB" dirty="0" err="1"/>
              <a:t>has_phone_number</a:t>
            </a:r>
            <a:r>
              <a:rPr lang="en-GB" dirty="0"/>
              <a:t>** (INTEGER, NOT NULL, Default: 0)</a:t>
            </a:r>
          </a:p>
          <a:p>
            <a:r>
              <a:rPr lang="en-GB" dirty="0"/>
              <a:t>    - **Explanation**: A </a:t>
            </a:r>
            <a:r>
              <a:rPr lang="en-GB" dirty="0" err="1"/>
              <a:t>boolean</a:t>
            </a:r>
            <a:r>
              <a:rPr lang="en-GB" dirty="0"/>
              <a:t> flag (0 or 1) indicating whether the contact has at least one phone number associated with them.</a:t>
            </a:r>
          </a:p>
          <a:p>
            <a:r>
              <a:rPr lang="en-GB" dirty="0"/>
              <a:t>    - **Purpose**: Used for quick filtering in the UI (e.g., to show only contacts with phone numbers in the </a:t>
            </a:r>
            <a:r>
              <a:rPr lang="en-GB" dirty="0" err="1"/>
              <a:t>dialer</a:t>
            </a:r>
            <a:r>
              <a:rPr lang="en-GB" dirty="0"/>
              <a:t>).</a:t>
            </a:r>
          </a:p>
          <a:p>
            <a:r>
              <a:rPr lang="en-GB" dirty="0"/>
              <a:t>    - **Forensic Value**: Helps identify contacts that can be called or messaged, which is useful for focusing on communication-related evidence.</a:t>
            </a:r>
          </a:p>
          <a:p>
            <a:endParaRPr lang="en-GB" dirty="0"/>
          </a:p>
          <a:p>
            <a:r>
              <a:rPr lang="en-GB" dirty="0"/>
              <a:t>13. **lookup** (TEXT, NULL, Default: 0)</a:t>
            </a:r>
          </a:p>
          <a:p>
            <a:r>
              <a:rPr lang="en-GB" dirty="0"/>
              <a:t>    - **Explanation**: Stores a lookup key (a unique string) used to identify the contact across apps and sync operations. It’s typically a combination of the contact’s ID and other data.</a:t>
            </a:r>
          </a:p>
          <a:p>
            <a:r>
              <a:rPr lang="en-GB" dirty="0"/>
              <a:t>    - **Purpose**: Ensures consistent identification of a contact, even if the `_id` changes (e.g., after a sync or restore).</a:t>
            </a:r>
          </a:p>
          <a:p>
            <a:r>
              <a:rPr lang="en-GB" dirty="0"/>
              <a:t>    - **Forensic Value**: Useful for tracking a contact across different systems or backups, ensuring continuity in an investigation.</a:t>
            </a:r>
          </a:p>
          <a:p>
            <a:endParaRPr lang="en-GB" dirty="0"/>
          </a:p>
          <a:p>
            <a:r>
              <a:rPr lang="en-GB" dirty="0"/>
              <a:t>14. **</a:t>
            </a:r>
            <a:r>
              <a:rPr lang="en-GB" dirty="0" err="1"/>
              <a:t>status_update_id</a:t>
            </a:r>
            <a:r>
              <a:rPr lang="en-GB" dirty="0"/>
              <a:t>** (INTEGER, NULL, Default: 0)</a:t>
            </a:r>
          </a:p>
          <a:p>
            <a:r>
              <a:rPr lang="en-GB" dirty="0"/>
              <a:t>    - **Explanation**: Links to an entry in the `</a:t>
            </a:r>
            <a:r>
              <a:rPr lang="en-GB" dirty="0" err="1"/>
              <a:t>status_updates</a:t>
            </a:r>
            <a:r>
              <a:rPr lang="en-GB" dirty="0"/>
              <a:t>` table, which stores status updates for the contact (e.g., from social apps like WhatsApp or Google Talk).</a:t>
            </a:r>
          </a:p>
          <a:p>
            <a:r>
              <a:rPr lang="en-GB" dirty="0"/>
              <a:t>    - **Purpose**: Associates a contact with their latest status update.</a:t>
            </a:r>
          </a:p>
          <a:p>
            <a:r>
              <a:rPr lang="en-GB" dirty="0"/>
              <a:t>    - **Forensic Value**: Can provide social activity insights, such as the contact’s last known status, which might indicate their availability or activity at a specific time.</a:t>
            </a:r>
          </a:p>
          <a:p>
            <a:endParaRPr lang="en-GB" dirty="0"/>
          </a:p>
          <a:p>
            <a:r>
              <a:rPr lang="en-GB" dirty="0"/>
              <a:t>15. **</a:t>
            </a:r>
            <a:r>
              <a:rPr lang="en-GB" dirty="0" err="1"/>
              <a:t>contact_last_updated_timestamp</a:t>
            </a:r>
            <a:r>
              <a:rPr lang="en-GB" dirty="0"/>
              <a:t>** (INTEGER, NULL, Default: 0)</a:t>
            </a:r>
          </a:p>
          <a:p>
            <a:r>
              <a:rPr lang="en-GB" dirty="0"/>
              <a:t>    - **Explanation**: Stores a timestamp (in milliseconds since epoch) of the last time the contact’s data was updated (e.g., when a phone number was added or the name was changed).</a:t>
            </a:r>
          </a:p>
          <a:p>
            <a:r>
              <a:rPr lang="en-GB" dirty="0"/>
              <a:t>    - **Purpose**: Tracks when the contact entry was last modified.</a:t>
            </a:r>
          </a:p>
          <a:p>
            <a:r>
              <a:rPr lang="en-GB" dirty="0"/>
              <a:t>    - **Forensic Value**: Critical for establishing a timeline of changes to the contact. It can help determine when a contact was added or modified, which might correlate with key events in an investigation.</a:t>
            </a:r>
          </a:p>
          <a:p>
            <a:endParaRPr lang="en-GB" dirty="0"/>
          </a:p>
          <a:p>
            <a:r>
              <a:rPr lang="en-GB" dirty="0"/>
              <a:t>### Summary of Forensic Relevance</a:t>
            </a:r>
          </a:p>
          <a:p>
            <a:r>
              <a:rPr lang="en-GB" dirty="0"/>
              <a:t>- **High-Value Columns**:</a:t>
            </a:r>
          </a:p>
          <a:p>
            <a:r>
              <a:rPr lang="en-GB" dirty="0"/>
              <a:t>  - `</a:t>
            </a:r>
            <a:r>
              <a:rPr lang="en-GB" dirty="0" err="1"/>
              <a:t>last_time_contacted</a:t>
            </a:r>
            <a:r>
              <a:rPr lang="en-GB" dirty="0"/>
              <a:t>`: Establishes a timeline of interactions.</a:t>
            </a:r>
          </a:p>
          <a:p>
            <a:r>
              <a:rPr lang="en-GB" dirty="0"/>
              <a:t>  - `</a:t>
            </a:r>
            <a:r>
              <a:rPr lang="en-GB" dirty="0" err="1"/>
              <a:t>contact_last_updated_timestamp</a:t>
            </a:r>
            <a:r>
              <a:rPr lang="en-GB" dirty="0"/>
              <a:t>`: Shows when the contact was last modified.</a:t>
            </a:r>
          </a:p>
          <a:p>
            <a:r>
              <a:rPr lang="en-GB" dirty="0"/>
              <a:t>  - `_id`: Links to other tables for detailed data (e.g., phone numbers in `data`).</a:t>
            </a:r>
          </a:p>
          <a:p>
            <a:r>
              <a:rPr lang="en-GB" dirty="0"/>
              <a:t>  - `starred` and `pinned`: Indicate important contacts.</a:t>
            </a:r>
          </a:p>
          <a:p>
            <a:r>
              <a:rPr lang="en-GB" dirty="0"/>
              <a:t>  - `</a:t>
            </a:r>
            <a:r>
              <a:rPr lang="en-GB" dirty="0" err="1"/>
              <a:t>has_phone_number</a:t>
            </a:r>
            <a:r>
              <a:rPr lang="en-GB" dirty="0"/>
              <a:t>`: Filters contacts with communication potential.</a:t>
            </a:r>
          </a:p>
          <a:p>
            <a:r>
              <a:rPr lang="en-GB" dirty="0"/>
              <a:t>- **Moderate-Value Columns**:</a:t>
            </a:r>
          </a:p>
          <a:p>
            <a:r>
              <a:rPr lang="en-GB" dirty="0"/>
              <a:t>  - `</a:t>
            </a:r>
            <a:r>
              <a:rPr lang="en-GB" dirty="0" err="1"/>
              <a:t>name_raw_contact_id</a:t>
            </a:r>
            <a:r>
              <a:rPr lang="en-GB" dirty="0"/>
              <a:t>`: Links to the source of the contact’s name.</a:t>
            </a:r>
          </a:p>
          <a:p>
            <a:r>
              <a:rPr lang="en-GB" dirty="0"/>
              <a:t>  - `</a:t>
            </a:r>
            <a:r>
              <a:rPr lang="en-GB" dirty="0" err="1"/>
              <a:t>status_update_id</a:t>
            </a:r>
            <a:r>
              <a:rPr lang="en-GB" dirty="0"/>
              <a:t>`: Provides social activity insights.</a:t>
            </a:r>
          </a:p>
          <a:p>
            <a:r>
              <a:rPr lang="en-GB" dirty="0"/>
              <a:t>  - `</a:t>
            </a:r>
            <a:r>
              <a:rPr lang="en-GB" dirty="0" err="1"/>
              <a:t>send_to_voicemail</a:t>
            </a:r>
            <a:r>
              <a:rPr lang="en-GB" dirty="0"/>
              <a:t>`: Reveals user </a:t>
            </a:r>
            <a:r>
              <a:rPr lang="en-GB" dirty="0" err="1"/>
              <a:t>behavior</a:t>
            </a:r>
            <a:r>
              <a:rPr lang="en-GB" dirty="0"/>
              <a:t> toward the contact.</a:t>
            </a:r>
          </a:p>
          <a:p>
            <a:r>
              <a:rPr lang="en-GB" dirty="0"/>
              <a:t>  - `</a:t>
            </a:r>
            <a:r>
              <a:rPr lang="en-GB" dirty="0" err="1"/>
              <a:t>custom_ringtone</a:t>
            </a:r>
            <a:r>
              <a:rPr lang="en-GB" dirty="0"/>
              <a:t>`: Indicates customization and potential significance.</a:t>
            </a:r>
          </a:p>
          <a:p>
            <a:r>
              <a:rPr lang="en-GB" dirty="0"/>
              <a:t>- **Lower-Value Columns**:</a:t>
            </a:r>
          </a:p>
          <a:p>
            <a:r>
              <a:rPr lang="en-GB" dirty="0"/>
              <a:t>  - `</a:t>
            </a:r>
            <a:r>
              <a:rPr lang="en-GB" dirty="0" err="1"/>
              <a:t>photo_id</a:t>
            </a:r>
            <a:r>
              <a:rPr lang="en-GB" dirty="0"/>
              <a:t>`, `</a:t>
            </a:r>
            <a:r>
              <a:rPr lang="en-GB" dirty="0" err="1"/>
              <a:t>photo_file_id</a:t>
            </a:r>
            <a:r>
              <a:rPr lang="en-GB" dirty="0"/>
              <a:t>`: Useful for visual identification but less critical.</a:t>
            </a:r>
          </a:p>
          <a:p>
            <a:r>
              <a:rPr lang="en-GB" dirty="0"/>
              <a:t>  - `</a:t>
            </a:r>
            <a:r>
              <a:rPr lang="en-GB" dirty="0" err="1"/>
              <a:t>x_times_contacted</a:t>
            </a:r>
            <a:r>
              <a:rPr lang="en-GB" dirty="0"/>
              <a:t>`, `</a:t>
            </a:r>
            <a:r>
              <a:rPr lang="en-GB" dirty="0" err="1"/>
              <a:t>x_last_time_contacted</a:t>
            </a:r>
            <a:r>
              <a:rPr lang="en-GB" dirty="0"/>
              <a:t>`: Deprecated and often unreliable.</a:t>
            </a:r>
          </a:p>
          <a:p>
            <a:r>
              <a:rPr lang="en-GB" dirty="0"/>
              <a:t>  - `lookup`: More technical, useful for cross-system tracking but not direct evidence.</a:t>
            </a:r>
          </a:p>
          <a:p>
            <a:endParaRPr lang="en-GB" dirty="0"/>
          </a:p>
          <a:p>
            <a:r>
              <a:rPr lang="en-GB" dirty="0"/>
              <a:t>The `contacts` table serves as a foundational table in the `contacts2.db` database, linking to other tables like `</a:t>
            </a:r>
            <a:r>
              <a:rPr lang="en-GB" dirty="0" err="1"/>
              <a:t>raw_contacts</a:t>
            </a:r>
            <a:r>
              <a:rPr lang="en-GB" dirty="0"/>
              <a:t>` and `data` for more detailed information. In a forensic investigation, columns like `</a:t>
            </a:r>
            <a:r>
              <a:rPr lang="en-GB" dirty="0" err="1"/>
              <a:t>last_time_contacted</a:t>
            </a:r>
            <a:r>
              <a:rPr lang="en-GB" dirty="0"/>
              <a:t>` and `</a:t>
            </a:r>
            <a:r>
              <a:rPr lang="en-GB" dirty="0" err="1"/>
              <a:t>contact_last_updated_timestamp</a:t>
            </a:r>
            <a:r>
              <a:rPr lang="en-GB" dirty="0"/>
              <a:t>` are particularly valuable for timeline analysis, while `starred` and `pinned` help identify key relationships.</a:t>
            </a:r>
            <a:endParaRPr lang="en-US" dirty="0"/>
          </a:p>
        </p:txBody>
      </p:sp>
      <p:sp>
        <p:nvSpPr>
          <p:cNvPr id="4" name="Slide Number Placeholder 3"/>
          <p:cNvSpPr>
            <a:spLocks noGrp="1"/>
          </p:cNvSpPr>
          <p:nvPr>
            <p:ph type="sldNum" sz="quarter" idx="5"/>
          </p:nvPr>
        </p:nvSpPr>
        <p:spPr/>
        <p:txBody>
          <a:bodyPr/>
          <a:lstStyle/>
          <a:p>
            <a:fld id="{DDBF98C7-164A-4723-84F0-B1E4B080DDEC}" type="slidenum">
              <a:rPr lang="en-US" smtClean="0"/>
              <a:t>40</a:t>
            </a:fld>
            <a:endParaRPr lang="en-US"/>
          </a:p>
        </p:txBody>
      </p:sp>
    </p:spTree>
    <p:extLst>
      <p:ext uri="{BB962C8B-B14F-4D97-AF65-F5344CB8AC3E}">
        <p14:creationId xmlns:p14="http://schemas.microsoft.com/office/powerpoint/2010/main" val="265786755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date -d '@1581684660' -u </a:t>
            </a:r>
          </a:p>
        </p:txBody>
      </p:sp>
      <p:sp>
        <p:nvSpPr>
          <p:cNvPr id="4" name="Slide Number Placeholder 3"/>
          <p:cNvSpPr>
            <a:spLocks noGrp="1"/>
          </p:cNvSpPr>
          <p:nvPr>
            <p:ph type="sldNum" sz="quarter" idx="5"/>
          </p:nvPr>
        </p:nvSpPr>
        <p:spPr/>
        <p:txBody>
          <a:bodyPr/>
          <a:lstStyle/>
          <a:p>
            <a:fld id="{DDBF98C7-164A-4723-84F0-B1E4B080DDEC}" type="slidenum">
              <a:rPr lang="en-US" smtClean="0"/>
              <a:t>44</a:t>
            </a:fld>
            <a:endParaRPr lang="en-US"/>
          </a:p>
        </p:txBody>
      </p:sp>
    </p:spTree>
    <p:extLst>
      <p:ext uri="{BB962C8B-B14F-4D97-AF65-F5344CB8AC3E}">
        <p14:creationId xmlns:p14="http://schemas.microsoft.com/office/powerpoint/2010/main" val="275866664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digraph </a:t>
            </a:r>
            <a:r>
              <a:rPr lang="en-US" dirty="0" err="1"/>
              <a:t>CallLogDataFlow</a:t>
            </a:r>
            <a:r>
              <a:rPr lang="en-US" dirty="0"/>
              <a:t> {</a:t>
            </a:r>
          </a:p>
          <a:p>
            <a:r>
              <a:rPr lang="en-US" dirty="0"/>
              <a:t>  </a:t>
            </a:r>
            <a:r>
              <a:rPr lang="en-US" dirty="0" err="1"/>
              <a:t>rankdir</a:t>
            </a:r>
            <a:r>
              <a:rPr lang="en-US" dirty="0"/>
              <a:t>=TB;</a:t>
            </a:r>
          </a:p>
          <a:p>
            <a:r>
              <a:rPr lang="en-US" dirty="0"/>
              <a:t>  node [shape=box, style=filled, </a:t>
            </a:r>
            <a:r>
              <a:rPr lang="en-US" dirty="0" err="1"/>
              <a:t>fillcolor</a:t>
            </a:r>
            <a:r>
              <a:rPr lang="en-US" dirty="0"/>
              <a:t>=white, </a:t>
            </a:r>
            <a:r>
              <a:rPr lang="en-US" dirty="0" err="1"/>
              <a:t>fontname</a:t>
            </a:r>
            <a:r>
              <a:rPr lang="en-US" dirty="0"/>
              <a:t>="Helvetica"];</a:t>
            </a:r>
          </a:p>
          <a:p>
            <a:endParaRPr lang="en-US" dirty="0"/>
          </a:p>
          <a:p>
            <a:r>
              <a:rPr lang="en-US" dirty="0"/>
              <a:t>  // App Layer</a:t>
            </a:r>
          </a:p>
          <a:p>
            <a:r>
              <a:rPr lang="en-US" dirty="0"/>
              <a:t>  subgraph </a:t>
            </a:r>
            <a:r>
              <a:rPr lang="en-US" dirty="0" err="1"/>
              <a:t>cluster_app</a:t>
            </a:r>
            <a:r>
              <a:rPr lang="en-US" dirty="0"/>
              <a:t> {</a:t>
            </a:r>
          </a:p>
          <a:p>
            <a:r>
              <a:rPr lang="en-US" dirty="0"/>
              <a:t>    label="App Layer (User-Facing)";</a:t>
            </a:r>
          </a:p>
          <a:p>
            <a:r>
              <a:rPr lang="en-US" dirty="0"/>
              <a:t>    color=</a:t>
            </a:r>
            <a:r>
              <a:rPr lang="en-US" dirty="0" err="1"/>
              <a:t>lightblue</a:t>
            </a:r>
            <a:r>
              <a:rPr lang="en-US" dirty="0"/>
              <a:t>;</a:t>
            </a:r>
          </a:p>
          <a:p>
            <a:r>
              <a:rPr lang="en-US" dirty="0"/>
              <a:t>    </a:t>
            </a:r>
            <a:r>
              <a:rPr lang="en-US" dirty="0" err="1"/>
              <a:t>GoogleDialer</a:t>
            </a:r>
            <a:r>
              <a:rPr lang="en-US" dirty="0"/>
              <a:t> [label="Google Dialer\n(</a:t>
            </a:r>
            <a:r>
              <a:rPr lang="en-US" dirty="0" err="1"/>
              <a:t>com.google.android.dialer</a:t>
            </a:r>
            <a:r>
              <a:rPr lang="en-US" dirty="0"/>
              <a:t>)\n- UI actions: view, insert, delete calls\n- Local cache: </a:t>
            </a:r>
            <a:r>
              <a:rPr lang="en-US" dirty="0" err="1"/>
              <a:t>dialer.db</a:t>
            </a:r>
            <a:r>
              <a:rPr lang="en-US" dirty="0"/>
              <a:t>, </a:t>
            </a:r>
            <a:r>
              <a:rPr lang="en-US" dirty="0" err="1"/>
              <a:t>AnnotatedCallLog</a:t>
            </a:r>
            <a:r>
              <a:rPr lang="en-US" dirty="0"/>
              <a:t>"];</a:t>
            </a:r>
          </a:p>
          <a:p>
            <a:r>
              <a:rPr lang="en-US" dirty="0"/>
              <a:t>  }</a:t>
            </a:r>
          </a:p>
          <a:p>
            <a:endParaRPr lang="en-US" dirty="0"/>
          </a:p>
          <a:p>
            <a:r>
              <a:rPr lang="en-US" dirty="0"/>
              <a:t>  // Provider Layer</a:t>
            </a:r>
          </a:p>
          <a:p>
            <a:r>
              <a:rPr lang="en-US" dirty="0"/>
              <a:t>  subgraph </a:t>
            </a:r>
            <a:r>
              <a:rPr lang="en-US" dirty="0" err="1"/>
              <a:t>cluster_provider</a:t>
            </a:r>
            <a:r>
              <a:rPr lang="en-US" dirty="0"/>
              <a:t> {</a:t>
            </a:r>
          </a:p>
          <a:p>
            <a:r>
              <a:rPr lang="en-US" dirty="0"/>
              <a:t>    label="Content Provider Layer";</a:t>
            </a:r>
          </a:p>
          <a:p>
            <a:r>
              <a:rPr lang="en-US" dirty="0"/>
              <a:t>    color=</a:t>
            </a:r>
            <a:r>
              <a:rPr lang="en-US" dirty="0" err="1"/>
              <a:t>lightyellow</a:t>
            </a:r>
            <a:r>
              <a:rPr lang="en-US" dirty="0"/>
              <a:t>;</a:t>
            </a:r>
          </a:p>
          <a:p>
            <a:r>
              <a:rPr lang="en-US" dirty="0"/>
              <a:t>    </a:t>
            </a:r>
            <a:r>
              <a:rPr lang="en-US" dirty="0" err="1"/>
              <a:t>ContactsProvider</a:t>
            </a:r>
            <a:r>
              <a:rPr lang="en-US" dirty="0"/>
              <a:t> [label="Contacts Provider\n(</a:t>
            </a:r>
            <a:r>
              <a:rPr lang="en-US" dirty="0" err="1"/>
              <a:t>com.android.providers.contacts</a:t>
            </a:r>
            <a:r>
              <a:rPr lang="en-US" dirty="0"/>
              <a:t>)\</a:t>
            </a:r>
            <a:r>
              <a:rPr lang="en-US" dirty="0" err="1"/>
              <a:t>nAuthority</a:t>
            </a:r>
            <a:r>
              <a:rPr lang="en-US" dirty="0"/>
              <a:t>: content://call_log/calls\n- Database: </a:t>
            </a:r>
            <a:r>
              <a:rPr lang="en-US" dirty="0" err="1"/>
              <a:t>calllog.db</a:t>
            </a:r>
            <a:r>
              <a:rPr lang="en-US" dirty="0"/>
              <a:t> (table: calls)\n- Mediates app access to call history"];</a:t>
            </a:r>
          </a:p>
          <a:p>
            <a:r>
              <a:rPr lang="en-US" dirty="0"/>
              <a:t>  }</a:t>
            </a:r>
          </a:p>
          <a:p>
            <a:endParaRPr lang="en-US" dirty="0"/>
          </a:p>
          <a:p>
            <a:r>
              <a:rPr lang="en-US" dirty="0"/>
              <a:t>  // System Layer</a:t>
            </a:r>
          </a:p>
          <a:p>
            <a:r>
              <a:rPr lang="en-US" dirty="0"/>
              <a:t>  subgraph </a:t>
            </a:r>
            <a:r>
              <a:rPr lang="en-US" dirty="0" err="1"/>
              <a:t>cluster_system</a:t>
            </a:r>
            <a:r>
              <a:rPr lang="en-US" dirty="0"/>
              <a:t> {</a:t>
            </a:r>
          </a:p>
          <a:p>
            <a:r>
              <a:rPr lang="en-US" dirty="0"/>
              <a:t>    label="System Service Layer";</a:t>
            </a:r>
          </a:p>
          <a:p>
            <a:r>
              <a:rPr lang="en-US" dirty="0"/>
              <a:t>    color=</a:t>
            </a:r>
            <a:r>
              <a:rPr lang="en-US" dirty="0" err="1"/>
              <a:t>lightgray</a:t>
            </a:r>
            <a:r>
              <a:rPr lang="en-US" dirty="0"/>
              <a:t>;</a:t>
            </a:r>
          </a:p>
          <a:p>
            <a:r>
              <a:rPr lang="en-US" dirty="0"/>
              <a:t>    </a:t>
            </a:r>
            <a:r>
              <a:rPr lang="en-US" dirty="0" err="1"/>
              <a:t>TelephonyService</a:t>
            </a:r>
            <a:r>
              <a:rPr lang="en-US" dirty="0"/>
              <a:t> [label="Telephony Service\n(</a:t>
            </a:r>
            <a:r>
              <a:rPr lang="en-US" dirty="0" err="1"/>
              <a:t>android.telephony</a:t>
            </a:r>
            <a:r>
              <a:rPr lang="en-US" dirty="0"/>
              <a:t> / </a:t>
            </a:r>
            <a:r>
              <a:rPr lang="en-US" dirty="0" err="1"/>
              <a:t>com.android.phone</a:t>
            </a:r>
            <a:r>
              <a:rPr lang="en-US" dirty="0"/>
              <a:t>)\n- Handles SIM, call state, network events"];</a:t>
            </a:r>
          </a:p>
          <a:p>
            <a:r>
              <a:rPr lang="en-US" dirty="0"/>
              <a:t>    </a:t>
            </a:r>
            <a:r>
              <a:rPr lang="en-US" dirty="0" err="1"/>
              <a:t>IMSService</a:t>
            </a:r>
            <a:r>
              <a:rPr lang="en-US" dirty="0"/>
              <a:t> [label="IMS Service\n(</a:t>
            </a:r>
            <a:r>
              <a:rPr lang="en-US" dirty="0" err="1"/>
              <a:t>com.google.android.ims</a:t>
            </a:r>
            <a:r>
              <a:rPr lang="en-US" dirty="0"/>
              <a:t>)\n- Manages VoLTE, VoWiFi, RCS"];</a:t>
            </a:r>
          </a:p>
          <a:p>
            <a:r>
              <a:rPr lang="en-US" dirty="0"/>
              <a:t>  }</a:t>
            </a:r>
          </a:p>
          <a:p>
            <a:endParaRPr lang="en-US" dirty="0"/>
          </a:p>
          <a:p>
            <a:r>
              <a:rPr lang="en-US" dirty="0"/>
              <a:t>  // Data Flow</a:t>
            </a:r>
          </a:p>
          <a:p>
            <a:r>
              <a:rPr lang="en-US" dirty="0"/>
              <a:t>  </a:t>
            </a:r>
            <a:r>
              <a:rPr lang="en-US" dirty="0" err="1"/>
              <a:t>GoogleDialer</a:t>
            </a:r>
            <a:r>
              <a:rPr lang="en-US" dirty="0"/>
              <a:t> -&gt; </a:t>
            </a:r>
            <a:r>
              <a:rPr lang="en-US" dirty="0" err="1"/>
              <a:t>ContactsProvider</a:t>
            </a:r>
            <a:r>
              <a:rPr lang="en-US" dirty="0"/>
              <a:t> [label="</a:t>
            </a:r>
            <a:r>
              <a:rPr lang="en-US" dirty="0" err="1"/>
              <a:t>ContentResolver</a:t>
            </a:r>
            <a:r>
              <a:rPr lang="en-US" dirty="0"/>
              <a:t> API\</a:t>
            </a:r>
            <a:r>
              <a:rPr lang="en-US" dirty="0" err="1"/>
              <a:t>nQuery</a:t>
            </a:r>
            <a:r>
              <a:rPr lang="en-US" dirty="0"/>
              <a:t> / Insert / Delete calls", color=blue];</a:t>
            </a:r>
          </a:p>
          <a:p>
            <a:r>
              <a:rPr lang="en-US" dirty="0"/>
              <a:t>  </a:t>
            </a:r>
            <a:r>
              <a:rPr lang="en-US" dirty="0" err="1"/>
              <a:t>ContactsProvider</a:t>
            </a:r>
            <a:r>
              <a:rPr lang="en-US" dirty="0"/>
              <a:t> -&gt; </a:t>
            </a:r>
            <a:r>
              <a:rPr lang="en-US" dirty="0" err="1"/>
              <a:t>calllogdb</a:t>
            </a:r>
            <a:r>
              <a:rPr lang="en-US" dirty="0"/>
              <a:t> [label="SQLite write\n(</a:t>
            </a:r>
            <a:r>
              <a:rPr lang="en-US" dirty="0" err="1"/>
              <a:t>calllog.db</a:t>
            </a:r>
            <a:r>
              <a:rPr lang="en-US" dirty="0"/>
              <a:t> → calls table)", color=</a:t>
            </a:r>
            <a:r>
              <a:rPr lang="en-US" dirty="0" err="1"/>
              <a:t>darkgreen</a:t>
            </a:r>
            <a:r>
              <a:rPr lang="en-US" dirty="0"/>
              <a:t>, style=dotted];</a:t>
            </a:r>
          </a:p>
          <a:p>
            <a:r>
              <a:rPr lang="en-US" dirty="0"/>
              <a:t>  </a:t>
            </a:r>
            <a:r>
              <a:rPr lang="en-US" dirty="0" err="1"/>
              <a:t>TelephonyService</a:t>
            </a:r>
            <a:r>
              <a:rPr lang="en-US" dirty="0"/>
              <a:t> -&gt; </a:t>
            </a:r>
            <a:r>
              <a:rPr lang="en-US" dirty="0" err="1"/>
              <a:t>ContactsProvider</a:t>
            </a:r>
            <a:r>
              <a:rPr lang="en-US" dirty="0"/>
              <a:t> [label="Notify call start/end\n(via framework broadcast)", color=gray];</a:t>
            </a:r>
          </a:p>
          <a:p>
            <a:r>
              <a:rPr lang="en-US" dirty="0"/>
              <a:t>  </a:t>
            </a:r>
            <a:r>
              <a:rPr lang="en-US" dirty="0" err="1"/>
              <a:t>TelephonyService</a:t>
            </a:r>
            <a:r>
              <a:rPr lang="en-US" dirty="0"/>
              <a:t> -&gt; </a:t>
            </a:r>
            <a:r>
              <a:rPr lang="en-US" dirty="0" err="1"/>
              <a:t>IMSService</a:t>
            </a:r>
            <a:r>
              <a:rPr lang="en-US" dirty="0"/>
              <a:t> [label="Forward call events\</a:t>
            </a:r>
            <a:r>
              <a:rPr lang="en-US" dirty="0" err="1"/>
              <a:t>nfor</a:t>
            </a:r>
            <a:r>
              <a:rPr lang="en-US" dirty="0"/>
              <a:t> VoLTE / RCS", color=gray, style=dashed];</a:t>
            </a:r>
          </a:p>
          <a:p>
            <a:endParaRPr lang="en-US" dirty="0"/>
          </a:p>
          <a:p>
            <a:r>
              <a:rPr lang="en-US" dirty="0"/>
              <a:t>  // Internal Database Node</a:t>
            </a:r>
          </a:p>
          <a:p>
            <a:r>
              <a:rPr lang="en-US" dirty="0"/>
              <a:t>  </a:t>
            </a:r>
            <a:r>
              <a:rPr lang="en-US" dirty="0" err="1"/>
              <a:t>calllogdb</a:t>
            </a:r>
            <a:r>
              <a:rPr lang="en-US" dirty="0"/>
              <a:t> [shape=cylinder, label="</a:t>
            </a:r>
            <a:r>
              <a:rPr lang="en-US" dirty="0" err="1"/>
              <a:t>calllog.db</a:t>
            </a:r>
            <a:r>
              <a:rPr lang="en-US" dirty="0"/>
              <a:t>\n(owned by </a:t>
            </a:r>
            <a:r>
              <a:rPr lang="en-US" dirty="0" err="1"/>
              <a:t>com.android.providers.contacts</a:t>
            </a:r>
            <a:r>
              <a:rPr lang="en-US" dirty="0"/>
              <a:t>)", </a:t>
            </a:r>
            <a:r>
              <a:rPr lang="en-US" dirty="0" err="1"/>
              <a:t>fillcolor</a:t>
            </a:r>
            <a:r>
              <a:rPr lang="en-US" dirty="0"/>
              <a:t>="#EFEFEF"];</a:t>
            </a:r>
          </a:p>
          <a:p>
            <a:endParaRPr lang="en-US" dirty="0"/>
          </a:p>
          <a:p>
            <a:r>
              <a:rPr lang="en-US" dirty="0"/>
              <a:t>  // Return Path</a:t>
            </a:r>
          </a:p>
          <a:p>
            <a:r>
              <a:rPr lang="en-US" dirty="0"/>
              <a:t>  </a:t>
            </a:r>
            <a:r>
              <a:rPr lang="en-US" dirty="0" err="1"/>
              <a:t>ContactsProvider</a:t>
            </a:r>
            <a:r>
              <a:rPr lang="en-US" dirty="0"/>
              <a:t> -&gt; </a:t>
            </a:r>
            <a:r>
              <a:rPr lang="en-US" dirty="0" err="1"/>
              <a:t>GoogleDialer</a:t>
            </a:r>
            <a:r>
              <a:rPr lang="en-US" dirty="0"/>
              <a:t> [label="Cursor / </a:t>
            </a:r>
            <a:r>
              <a:rPr lang="en-US" dirty="0" err="1"/>
              <a:t>CursorLoader</a:t>
            </a:r>
            <a:r>
              <a:rPr lang="en-US" dirty="0"/>
              <a:t>\</a:t>
            </a:r>
            <a:r>
              <a:rPr lang="en-US" dirty="0" err="1"/>
              <a:t>nreturns</a:t>
            </a:r>
            <a:r>
              <a:rPr lang="en-US" dirty="0"/>
              <a:t> call data to UI", color=blue];</a:t>
            </a:r>
          </a:p>
          <a:p>
            <a:r>
              <a:rPr lang="en-US" dirty="0"/>
              <a:t>}</a:t>
            </a:r>
          </a:p>
          <a:p>
            <a:endParaRPr lang="en-US" dirty="0"/>
          </a:p>
        </p:txBody>
      </p:sp>
      <p:sp>
        <p:nvSpPr>
          <p:cNvPr id="4" name="Slide Number Placeholder 3"/>
          <p:cNvSpPr>
            <a:spLocks noGrp="1"/>
          </p:cNvSpPr>
          <p:nvPr>
            <p:ph type="sldNum" sz="quarter" idx="5"/>
          </p:nvPr>
        </p:nvSpPr>
        <p:spPr/>
        <p:txBody>
          <a:bodyPr/>
          <a:lstStyle/>
          <a:p>
            <a:fld id="{DDBF98C7-164A-4723-84F0-B1E4B080DDEC}" type="slidenum">
              <a:rPr lang="en-US" smtClean="0"/>
              <a:t>55</a:t>
            </a:fld>
            <a:endParaRPr lang="en-US"/>
          </a:p>
        </p:txBody>
      </p:sp>
    </p:spTree>
    <p:extLst>
      <p:ext uri="{BB962C8B-B14F-4D97-AF65-F5344CB8AC3E}">
        <p14:creationId xmlns:p14="http://schemas.microsoft.com/office/powerpoint/2010/main" val="367728823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err="1">
                <a:cs typeface="Calibri"/>
              </a:rPr>
              <a:t>Cmd</a:t>
            </a:r>
            <a:r>
              <a:rPr lang="en-US" dirty="0">
                <a:cs typeface="Calibri"/>
              </a:rPr>
              <a:t>: tree 'Pixel 3/data/data/</a:t>
            </a:r>
            <a:r>
              <a:rPr lang="en-US" dirty="0" err="1">
                <a:cs typeface="Calibri"/>
              </a:rPr>
              <a:t>com.android.providers.contacts</a:t>
            </a:r>
            <a:r>
              <a:rPr lang="en-US" dirty="0">
                <a:cs typeface="Calibri"/>
              </a:rPr>
              <a:t>/databases'</a:t>
            </a:r>
          </a:p>
        </p:txBody>
      </p:sp>
      <p:sp>
        <p:nvSpPr>
          <p:cNvPr id="4" name="Slide Number Placeholder 3"/>
          <p:cNvSpPr>
            <a:spLocks noGrp="1"/>
          </p:cNvSpPr>
          <p:nvPr>
            <p:ph type="sldNum" sz="quarter" idx="5"/>
          </p:nvPr>
        </p:nvSpPr>
        <p:spPr/>
        <p:txBody>
          <a:bodyPr/>
          <a:lstStyle/>
          <a:p>
            <a:fld id="{DDBF98C7-164A-4723-84F0-B1E4B080DDEC}" type="slidenum">
              <a:rPr lang="en-US" smtClean="0"/>
              <a:t>58</a:t>
            </a:fld>
            <a:endParaRPr lang="en-US"/>
          </a:p>
        </p:txBody>
      </p:sp>
    </p:spTree>
    <p:extLst>
      <p:ext uri="{BB962C8B-B14F-4D97-AF65-F5344CB8AC3E}">
        <p14:creationId xmlns:p14="http://schemas.microsoft.com/office/powerpoint/2010/main" val="362204702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hlinkClick r:id="rId3"/>
              </a:rPr>
              <a:t>https://developer.android.com/reference/android/provider/CallLog.Calls</a:t>
            </a:r>
            <a:r>
              <a:rPr lang="en-US" dirty="0"/>
              <a:t> </a:t>
            </a:r>
          </a:p>
        </p:txBody>
      </p:sp>
      <p:sp>
        <p:nvSpPr>
          <p:cNvPr id="4" name="Slide Number Placeholder 3"/>
          <p:cNvSpPr>
            <a:spLocks noGrp="1"/>
          </p:cNvSpPr>
          <p:nvPr>
            <p:ph type="sldNum" sz="quarter" idx="5"/>
          </p:nvPr>
        </p:nvSpPr>
        <p:spPr/>
        <p:txBody>
          <a:bodyPr/>
          <a:lstStyle/>
          <a:p>
            <a:fld id="{DDBF98C7-164A-4723-84F0-B1E4B080DDEC}" type="slidenum">
              <a:rPr lang="en-US" smtClean="0"/>
              <a:t>62</a:t>
            </a:fld>
            <a:endParaRPr lang="en-US"/>
          </a:p>
        </p:txBody>
      </p:sp>
    </p:spTree>
    <p:extLst>
      <p:ext uri="{BB962C8B-B14F-4D97-AF65-F5344CB8AC3E}">
        <p14:creationId xmlns:p14="http://schemas.microsoft.com/office/powerpoint/2010/main" val="386679762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The `</a:t>
            </a:r>
            <a:r>
              <a:rPr lang="en-GB" dirty="0" err="1"/>
              <a:t>voicemail_status</a:t>
            </a:r>
            <a:r>
              <a:rPr lang="en-GB" dirty="0"/>
              <a:t>` table in the Android `</a:t>
            </a:r>
            <a:r>
              <a:rPr lang="en-GB" dirty="0" err="1"/>
              <a:t>calllog.db</a:t>
            </a:r>
            <a:r>
              <a:rPr lang="en-GB" dirty="0"/>
              <a:t>` database is used to store information about voicemail configurations and status for a device. Based on the screenshot of the table structure you provided, here’s an explanation of the columns in the `</a:t>
            </a:r>
            <a:r>
              <a:rPr lang="en-GB" dirty="0" err="1"/>
              <a:t>voicemail_status</a:t>
            </a:r>
            <a:r>
              <a:rPr lang="en-GB" dirty="0"/>
              <a:t>` table:</a:t>
            </a:r>
          </a:p>
          <a:p>
            <a:endParaRPr lang="en-GB" dirty="0"/>
          </a:p>
          <a:p>
            <a:r>
              <a:rPr lang="en-GB" dirty="0"/>
              <a:t>1. **_id**:  </a:t>
            </a:r>
          </a:p>
          <a:p>
            <a:r>
              <a:rPr lang="en-GB" dirty="0"/>
              <a:t>   A unique identifier for each row in the table. This is typically an auto-incremented integer that serves as the primary key for the table.</a:t>
            </a:r>
          </a:p>
          <a:p>
            <a:endParaRPr lang="en-GB" dirty="0"/>
          </a:p>
          <a:p>
            <a:r>
              <a:rPr lang="en-GB" dirty="0"/>
              <a:t>2. **</a:t>
            </a:r>
            <a:r>
              <a:rPr lang="en-GB" dirty="0" err="1"/>
              <a:t>source_package</a:t>
            </a:r>
            <a:r>
              <a:rPr lang="en-GB" dirty="0"/>
              <a:t>**:  </a:t>
            </a:r>
          </a:p>
          <a:p>
            <a:r>
              <a:rPr lang="en-GB" dirty="0"/>
              <a:t>   The package name of the app or service that provides voicemail functionality (e.g., `</a:t>
            </a:r>
            <a:r>
              <a:rPr lang="en-GB" dirty="0" err="1"/>
              <a:t>com.android.dialer</a:t>
            </a:r>
            <a:r>
              <a:rPr lang="en-GB" dirty="0"/>
              <a:t>` for the default Android </a:t>
            </a:r>
            <a:r>
              <a:rPr lang="en-GB" dirty="0" err="1"/>
              <a:t>dialer</a:t>
            </a:r>
            <a:r>
              <a:rPr lang="en-GB" dirty="0"/>
              <a:t> app). It identifies which app is managing the voicemail.</a:t>
            </a:r>
          </a:p>
          <a:p>
            <a:endParaRPr lang="en-GB" dirty="0"/>
          </a:p>
          <a:p>
            <a:r>
              <a:rPr lang="en-GB" dirty="0"/>
              <a:t>3. **</a:t>
            </a:r>
            <a:r>
              <a:rPr lang="en-GB" dirty="0" err="1"/>
              <a:t>phone_account_component_name</a:t>
            </a:r>
            <a:r>
              <a:rPr lang="en-GB" dirty="0"/>
              <a:t>**:  </a:t>
            </a:r>
          </a:p>
          <a:p>
            <a:r>
              <a:rPr lang="en-GB" dirty="0"/>
              <a:t>   The component name of the phone account associated with the voicemail service. This is usually a string representing the class or service handling the phone account, such as `</a:t>
            </a:r>
            <a:r>
              <a:rPr lang="en-GB" dirty="0" err="1"/>
              <a:t>com.android.dialer</a:t>
            </a:r>
            <a:r>
              <a:rPr lang="en-GB" dirty="0"/>
              <a:t>/</a:t>
            </a:r>
            <a:r>
              <a:rPr lang="en-GB" dirty="0" err="1"/>
              <a:t>com.android.dialer.voicemail.Voസ:VoicemailService</a:t>
            </a:r>
            <a:r>
              <a:rPr lang="en-GB" dirty="0"/>
              <a:t>`.</a:t>
            </a:r>
          </a:p>
          <a:p>
            <a:endParaRPr lang="en-GB" dirty="0"/>
          </a:p>
          <a:p>
            <a:r>
              <a:rPr lang="en-GB" dirty="0"/>
              <a:t>4. **</a:t>
            </a:r>
            <a:r>
              <a:rPr lang="en-GB" dirty="0" err="1"/>
              <a:t>phone_account_id</a:t>
            </a:r>
            <a:r>
              <a:rPr lang="en-GB" dirty="0"/>
              <a:t>**:  </a:t>
            </a:r>
          </a:p>
          <a:p>
            <a:r>
              <a:rPr lang="en-GB" dirty="0"/>
              <a:t>   A unique identifier for the phone account associated with the voicemail. This links the voicemail status to a specific phone account (e.g., a SIM card or a VoIP account).</a:t>
            </a:r>
          </a:p>
          <a:p>
            <a:endParaRPr lang="en-GB" dirty="0"/>
          </a:p>
          <a:p>
            <a:r>
              <a:rPr lang="en-GB" dirty="0"/>
              <a:t>5. **</a:t>
            </a:r>
            <a:r>
              <a:rPr lang="en-GB" dirty="0" err="1"/>
              <a:t>settings_uri</a:t>
            </a:r>
            <a:r>
              <a:rPr lang="en-GB" dirty="0"/>
              <a:t>**:  </a:t>
            </a:r>
          </a:p>
          <a:p>
            <a:r>
              <a:rPr lang="en-GB" dirty="0"/>
              <a:t>   A URI (Uniform Resource Identifier) that points to the settings screen for configuring voicemail settings. For example, it might direct the user to the voicemail setup page in the </a:t>
            </a:r>
            <a:r>
              <a:rPr lang="en-GB" dirty="0" err="1"/>
              <a:t>dialer</a:t>
            </a:r>
            <a:r>
              <a:rPr lang="en-GB" dirty="0"/>
              <a:t> app.</a:t>
            </a:r>
          </a:p>
          <a:p>
            <a:endParaRPr lang="en-GB" dirty="0"/>
          </a:p>
          <a:p>
            <a:r>
              <a:rPr lang="en-GB" dirty="0"/>
              <a:t>6. **</a:t>
            </a:r>
            <a:r>
              <a:rPr lang="en-GB" dirty="0" err="1"/>
              <a:t>voicemail_access_uri</a:t>
            </a:r>
            <a:r>
              <a:rPr lang="en-GB" dirty="0"/>
              <a:t>**:  </a:t>
            </a:r>
          </a:p>
          <a:p>
            <a:r>
              <a:rPr lang="en-GB" dirty="0"/>
              <a:t>   A URI that provides access to the voicemail service, such as a phone number or link to retrieve voicemail messages (e.g., a number like `tel:123` to dial into voicemail).</a:t>
            </a:r>
          </a:p>
          <a:p>
            <a:endParaRPr lang="en-GB" dirty="0"/>
          </a:p>
          <a:p>
            <a:r>
              <a:rPr lang="en-GB" dirty="0"/>
              <a:t>7. **</a:t>
            </a:r>
            <a:r>
              <a:rPr lang="en-GB" dirty="0" err="1"/>
              <a:t>configuration_state</a:t>
            </a:r>
            <a:r>
              <a:rPr lang="en-GB" dirty="0"/>
              <a:t>**:  </a:t>
            </a:r>
          </a:p>
          <a:p>
            <a:r>
              <a:rPr lang="en-GB" dirty="0"/>
              <a:t>   Indicates the configuration state of the voicemail service. Possible values might include:</a:t>
            </a:r>
          </a:p>
          <a:p>
            <a:r>
              <a:rPr lang="en-GB" dirty="0"/>
              <a:t>   - `0`: Not configured</a:t>
            </a:r>
          </a:p>
          <a:p>
            <a:r>
              <a:rPr lang="en-GB" dirty="0"/>
              <a:t>   - `1`: Configured</a:t>
            </a:r>
          </a:p>
          <a:p>
            <a:r>
              <a:rPr lang="en-GB" dirty="0"/>
              <a:t>   - `2`: Configuration error</a:t>
            </a:r>
          </a:p>
          <a:p>
            <a:r>
              <a:rPr lang="en-GB" dirty="0"/>
              <a:t>   This shows whether the voicemail service is properly set up and ready to use.</a:t>
            </a:r>
          </a:p>
          <a:p>
            <a:endParaRPr lang="en-GB" dirty="0"/>
          </a:p>
          <a:p>
            <a:r>
              <a:rPr lang="en-GB" dirty="0"/>
              <a:t>8. **</a:t>
            </a:r>
            <a:r>
              <a:rPr lang="en-GB" dirty="0" err="1"/>
              <a:t>data_channel_state</a:t>
            </a:r>
            <a:r>
              <a:rPr lang="en-GB" dirty="0"/>
              <a:t>**:  </a:t>
            </a:r>
          </a:p>
          <a:p>
            <a:r>
              <a:rPr lang="en-GB" dirty="0"/>
              <a:t>   Represents the state of the data channel used for visual voicemail (if supported). Visual voicemail allows users to see a list of voicemail messages and play them selectively. Possible values might include:</a:t>
            </a:r>
          </a:p>
          <a:p>
            <a:r>
              <a:rPr lang="en-GB" dirty="0"/>
              <a:t>   - `0`: Not available</a:t>
            </a:r>
          </a:p>
          <a:p>
            <a:r>
              <a:rPr lang="en-GB" dirty="0"/>
              <a:t>   - `1`: Available</a:t>
            </a:r>
          </a:p>
          <a:p>
            <a:r>
              <a:rPr lang="en-GB" dirty="0"/>
              <a:t>   This indicates whether the data channel for fetching voicemail data is functional.</a:t>
            </a:r>
          </a:p>
          <a:p>
            <a:endParaRPr lang="en-GB" dirty="0"/>
          </a:p>
          <a:p>
            <a:r>
              <a:rPr lang="en-GB" dirty="0"/>
              <a:t>9. **</a:t>
            </a:r>
            <a:r>
              <a:rPr lang="en-GB" dirty="0" err="1"/>
              <a:t>notification_channel_state</a:t>
            </a:r>
            <a:r>
              <a:rPr lang="en-GB" dirty="0"/>
              <a:t>**:  </a:t>
            </a:r>
          </a:p>
          <a:p>
            <a:r>
              <a:rPr lang="en-GB" dirty="0"/>
              <a:t>   Indicates the state of the notification channel for voicemail. This determines if the device can receive notifications about new voicemail messages. Possible values might include:</a:t>
            </a:r>
          </a:p>
          <a:p>
            <a:r>
              <a:rPr lang="en-GB" dirty="0"/>
              <a:t>   - `0`: Not available</a:t>
            </a:r>
          </a:p>
          <a:p>
            <a:r>
              <a:rPr lang="en-GB" dirty="0"/>
              <a:t>   - `1`: Available</a:t>
            </a:r>
          </a:p>
          <a:p>
            <a:r>
              <a:rPr lang="en-GB" dirty="0"/>
              <a:t>   This shows whether voicemail notifications are supported and active.</a:t>
            </a:r>
          </a:p>
          <a:p>
            <a:endParaRPr lang="en-GB" dirty="0"/>
          </a:p>
          <a:p>
            <a:r>
              <a:rPr lang="en-GB" dirty="0"/>
              <a:t>10. **</a:t>
            </a:r>
            <a:r>
              <a:rPr lang="en-GB" dirty="0" err="1"/>
              <a:t>quota_occupied</a:t>
            </a:r>
            <a:r>
              <a:rPr lang="en-GB" dirty="0"/>
              <a:t>**:  </a:t>
            </a:r>
          </a:p>
          <a:p>
            <a:r>
              <a:rPr lang="en-GB" dirty="0"/>
              <a:t>    The amount of storage space (in bytes) currently used by voicemail messages. This is relevant for visual voicemail systems that store messages locally or on a server with limited space.</a:t>
            </a:r>
          </a:p>
          <a:p>
            <a:endParaRPr lang="en-GB" dirty="0"/>
          </a:p>
          <a:p>
            <a:r>
              <a:rPr lang="en-GB" dirty="0"/>
              <a:t>11. **</a:t>
            </a:r>
            <a:r>
              <a:rPr lang="en-GB" dirty="0" err="1"/>
              <a:t>quota_total</a:t>
            </a:r>
            <a:r>
              <a:rPr lang="en-GB" dirty="0"/>
              <a:t>**:  </a:t>
            </a:r>
          </a:p>
          <a:p>
            <a:r>
              <a:rPr lang="en-GB" dirty="0"/>
              <a:t>    The total amount of storage space (in bytes) available for voicemail messages. This helps determine how much space is left for new voicemail messages.</a:t>
            </a:r>
          </a:p>
          <a:p>
            <a:endParaRPr lang="en-GB" dirty="0"/>
          </a:p>
          <a:p>
            <a:r>
              <a:rPr lang="en-GB" dirty="0"/>
              <a:t>12. **</a:t>
            </a:r>
            <a:r>
              <a:rPr lang="en-GB" dirty="0" err="1"/>
              <a:t>source_type</a:t>
            </a:r>
            <a:r>
              <a:rPr lang="en-GB" dirty="0"/>
              <a:t>**:  </a:t>
            </a:r>
          </a:p>
          <a:p>
            <a:r>
              <a:rPr lang="en-GB" dirty="0"/>
              <a:t>    Specifies the type of voicemail source. This might indicate whether the voicemail is provided by the carrier, a third-party app, or another service. Possible values could include:</a:t>
            </a:r>
          </a:p>
          <a:p>
            <a:r>
              <a:rPr lang="en-GB" dirty="0"/>
              <a:t>    - `0`: Carrier-provided</a:t>
            </a:r>
          </a:p>
          <a:p>
            <a:r>
              <a:rPr lang="en-GB" dirty="0"/>
              <a:t>    - `1`: App-provided</a:t>
            </a:r>
          </a:p>
          <a:p>
            <a:r>
              <a:rPr lang="en-GB" dirty="0"/>
              <a:t>    - Other values depending on the system.</a:t>
            </a:r>
          </a:p>
          <a:p>
            <a:endParaRPr lang="en-GB" dirty="0"/>
          </a:p>
          <a:p>
            <a:r>
              <a:rPr lang="en-GB" dirty="0"/>
              <a:t>### Summary:</a:t>
            </a:r>
          </a:p>
          <a:p>
            <a:r>
              <a:rPr lang="en-GB" dirty="0"/>
              <a:t>The `</a:t>
            </a:r>
            <a:r>
              <a:rPr lang="en-GB" dirty="0" err="1"/>
              <a:t>voicemail_status</a:t>
            </a:r>
            <a:r>
              <a:rPr lang="en-GB" dirty="0"/>
              <a:t>` table tracks the status and configuration of voicemail services for each phone account on an Android device. It includes identifiers, URIs for accessing settings and voicemail, states for configuration, data, and notifications, as well as storage quota information. This allows the Android system to manage and display voicemail functionality effectively.</a:t>
            </a:r>
          </a:p>
          <a:p>
            <a:endParaRPr lang="en-GB" dirty="0"/>
          </a:p>
          <a:p>
            <a:r>
              <a:rPr lang="en-GB" dirty="0"/>
              <a:t>If you need more details about any specific column or Android database structure, let me know! I can also search for additional information if needed.</a:t>
            </a:r>
            <a:endParaRPr lang="en-US" dirty="0"/>
          </a:p>
        </p:txBody>
      </p:sp>
      <p:sp>
        <p:nvSpPr>
          <p:cNvPr id="4" name="Slide Number Placeholder 3"/>
          <p:cNvSpPr>
            <a:spLocks noGrp="1"/>
          </p:cNvSpPr>
          <p:nvPr>
            <p:ph type="sldNum" sz="quarter" idx="5"/>
          </p:nvPr>
        </p:nvSpPr>
        <p:spPr/>
        <p:txBody>
          <a:bodyPr/>
          <a:lstStyle/>
          <a:p>
            <a:fld id="{DDBF98C7-164A-4723-84F0-B1E4B080DDEC}" type="slidenum">
              <a:rPr lang="en-US" smtClean="0"/>
              <a:t>66</a:t>
            </a:fld>
            <a:endParaRPr lang="en-US"/>
          </a:p>
        </p:txBody>
      </p:sp>
    </p:spTree>
    <p:extLst>
      <p:ext uri="{BB962C8B-B14F-4D97-AF65-F5344CB8AC3E}">
        <p14:creationId xmlns:p14="http://schemas.microsoft.com/office/powerpoint/2010/main" val="380057238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The `</a:t>
            </a:r>
            <a:r>
              <a:rPr lang="en-GB" dirty="0" err="1"/>
              <a:t>profile.db</a:t>
            </a:r>
            <a:r>
              <a:rPr lang="en-GB" dirty="0"/>
              <a:t>` file in the `</a:t>
            </a:r>
            <a:r>
              <a:rPr lang="en-GB" dirty="0" err="1"/>
              <a:t>com.android.providers.contacts</a:t>
            </a:r>
            <a:r>
              <a:rPr lang="en-GB" dirty="0"/>
              <a:t>` directory on an Android device is a SQLite database that stores the user's personal profile information, separate from the main contacts database (`contacts2.db`). This file is part of the Android Contacts Provider, which manages contact-related data on the device.</a:t>
            </a:r>
          </a:p>
          <a:p>
            <a:endParaRPr lang="en-GB" dirty="0"/>
          </a:p>
          <a:p>
            <a:r>
              <a:rPr lang="en-GB" dirty="0"/>
              <a:t>### Location and Purpose</a:t>
            </a:r>
          </a:p>
          <a:p>
            <a:r>
              <a:rPr lang="en-GB" dirty="0"/>
              <a:t>The `</a:t>
            </a:r>
            <a:r>
              <a:rPr lang="en-GB" dirty="0" err="1"/>
              <a:t>profile.db</a:t>
            </a:r>
            <a:r>
              <a:rPr lang="en-GB" dirty="0"/>
              <a:t>` file is typically located at `/data/data/</a:t>
            </a:r>
            <a:r>
              <a:rPr lang="en-GB" dirty="0" err="1"/>
              <a:t>com.android.providers.contacts</a:t>
            </a:r>
            <a:r>
              <a:rPr lang="en-GB" dirty="0"/>
              <a:t>/databases/</a:t>
            </a:r>
            <a:r>
              <a:rPr lang="en-GB" dirty="0" err="1"/>
              <a:t>profile.db</a:t>
            </a:r>
            <a:r>
              <a:rPr lang="en-GB" dirty="0"/>
              <a:t>`. It is used to store the device owner's personal information, such as their name, email, phone number, and other details that are part of the "My Profile" or "Me" contact entry in the Contacts app. This separation allows the system to manage the user's profile distinctly from other contacts while maintaining a similar structure for easier integration with the Contacts Provider.</a:t>
            </a:r>
          </a:p>
          <a:p>
            <a:endParaRPr lang="en-GB" dirty="0"/>
          </a:p>
          <a:p>
            <a:r>
              <a:rPr lang="en-GB" dirty="0"/>
              <a:t>### Structure and Relation to `contacts2.db`</a:t>
            </a:r>
          </a:p>
          <a:p>
            <a:r>
              <a:rPr lang="en-GB" dirty="0"/>
              <a:t>The structure of `</a:t>
            </a:r>
            <a:r>
              <a:rPr lang="en-GB" dirty="0" err="1"/>
              <a:t>profile.db</a:t>
            </a:r>
            <a:r>
              <a:rPr lang="en-GB" dirty="0"/>
              <a:t>` mirrors that of `contacts2.db`, which is the primary database for storing all other contacts on the device. Both databases are managed by the Contacts Provider and contain similar tables, such as:</a:t>
            </a:r>
          </a:p>
          <a:p>
            <a:r>
              <a:rPr lang="en-GB" dirty="0"/>
              <a:t>- **</a:t>
            </a:r>
            <a:r>
              <a:rPr lang="en-GB" dirty="0" err="1"/>
              <a:t>raw_contacts</a:t>
            </a:r>
            <a:r>
              <a:rPr lang="en-GB" dirty="0"/>
              <a:t>**: Stores individual entries for the profile (e.g., the user's own contact info).</a:t>
            </a:r>
          </a:p>
          <a:p>
            <a:r>
              <a:rPr lang="en-GB" dirty="0"/>
              <a:t>- **data**: Holds specific details like phone numbers, emails, and addresses, linked to the `</a:t>
            </a:r>
            <a:r>
              <a:rPr lang="en-GB" dirty="0" err="1"/>
              <a:t>raw_contacts</a:t>
            </a:r>
            <a:r>
              <a:rPr lang="en-GB" dirty="0"/>
              <a:t>` entries.</a:t>
            </a:r>
          </a:p>
          <a:p>
            <a:r>
              <a:rPr lang="en-GB" dirty="0"/>
              <a:t>- **</a:t>
            </a:r>
            <a:r>
              <a:rPr lang="en-GB" dirty="0" err="1"/>
              <a:t>mimetypes</a:t>
            </a:r>
            <a:r>
              <a:rPr lang="en-GB" dirty="0"/>
              <a:t>**: Defines the types of data stored in the `data` table (e.g., phone number, email).</a:t>
            </a:r>
          </a:p>
          <a:p>
            <a:endParaRPr lang="en-GB" dirty="0"/>
          </a:p>
          <a:p>
            <a:r>
              <a:rPr lang="en-GB" dirty="0"/>
              <a:t>The key difference is that `</a:t>
            </a:r>
            <a:r>
              <a:rPr lang="en-GB" dirty="0" err="1"/>
              <a:t>profile.db</a:t>
            </a:r>
            <a:r>
              <a:rPr lang="en-GB" dirty="0"/>
              <a:t>` is dedicated solely to the user's profile, while `contacts2.db` contains data for all other contacts. This separation ensures that the user's profile can be accessed and managed independently, often with special permissions or restrictions, as it may be tied to system-level features like caller ID or account syncing.</a:t>
            </a:r>
          </a:p>
          <a:p>
            <a:endParaRPr lang="en-GB" dirty="0"/>
          </a:p>
          <a:p>
            <a:r>
              <a:rPr lang="en-GB" dirty="0"/>
              <a:t>### Why a Separate Database?</a:t>
            </a:r>
          </a:p>
          <a:p>
            <a:r>
              <a:rPr lang="en-GB" dirty="0"/>
              <a:t>Using a separate `</a:t>
            </a:r>
            <a:r>
              <a:rPr lang="en-GB" dirty="0" err="1"/>
              <a:t>profile.db</a:t>
            </a:r>
            <a:r>
              <a:rPr lang="en-GB" dirty="0"/>
              <a:t>` allows Android to:</a:t>
            </a:r>
          </a:p>
          <a:p>
            <a:r>
              <a:rPr lang="en-GB" dirty="0"/>
              <a:t>- **Enhance Security and Privacy**: The user's profile data can be isolated, potentially with stricter access controls, since it often contains sensitive personal information.</a:t>
            </a:r>
          </a:p>
          <a:p>
            <a:r>
              <a:rPr lang="en-GB" dirty="0"/>
              <a:t>- **Simplify Syncing**: The profile can be synced separately with services like Google Contacts, ensuring that the "Me" contact is consistently updated across devices without affecting other contacts.</a:t>
            </a:r>
          </a:p>
          <a:p>
            <a:r>
              <a:rPr lang="en-GB" dirty="0"/>
              <a:t>- **Optimize Performance**: Keeping the user's profile separate avoids cluttering the main contacts database, which might contain hundreds or thousands of entries.</a:t>
            </a:r>
          </a:p>
          <a:p>
            <a:endParaRPr lang="en-GB" dirty="0"/>
          </a:p>
          <a:p>
            <a:r>
              <a:rPr lang="en-GB" dirty="0"/>
              <a:t>### Accessing `</a:t>
            </a:r>
            <a:r>
              <a:rPr lang="en-GB" dirty="0" err="1"/>
              <a:t>profile.db</a:t>
            </a:r>
            <a:r>
              <a:rPr lang="en-GB" dirty="0"/>
              <a:t>`</a:t>
            </a:r>
          </a:p>
          <a:p>
            <a:r>
              <a:rPr lang="en-GB" dirty="0"/>
              <a:t>Accessing `</a:t>
            </a:r>
            <a:r>
              <a:rPr lang="en-GB" dirty="0" err="1"/>
              <a:t>profile.db</a:t>
            </a:r>
            <a:r>
              <a:rPr lang="en-GB" dirty="0"/>
              <a:t>` typically requires root privileges because it resides in the protected `/data/data/` directory. You can pull the file using ADB (Android Debug Bridge) with commands like:</a:t>
            </a:r>
          </a:p>
          <a:p>
            <a:r>
              <a:rPr lang="en-GB" dirty="0"/>
              <a:t>```</a:t>
            </a:r>
          </a:p>
          <a:p>
            <a:r>
              <a:rPr lang="en-GB" dirty="0" err="1"/>
              <a:t>adb</a:t>
            </a:r>
            <a:r>
              <a:rPr lang="en-GB" dirty="0"/>
              <a:t> root</a:t>
            </a:r>
          </a:p>
          <a:p>
            <a:r>
              <a:rPr lang="en-GB" dirty="0" err="1"/>
              <a:t>adb</a:t>
            </a:r>
            <a:r>
              <a:rPr lang="en-GB" dirty="0"/>
              <a:t> pull /data/data/</a:t>
            </a:r>
            <a:r>
              <a:rPr lang="en-GB" dirty="0" err="1"/>
              <a:t>com.android.providers.contacts</a:t>
            </a:r>
            <a:r>
              <a:rPr lang="en-GB" dirty="0"/>
              <a:t>/databases/</a:t>
            </a:r>
            <a:r>
              <a:rPr lang="en-GB" dirty="0" err="1"/>
              <a:t>profile.db</a:t>
            </a:r>
            <a:endParaRPr lang="en-GB" dirty="0"/>
          </a:p>
          <a:p>
            <a:r>
              <a:rPr lang="en-GB" dirty="0"/>
              <a:t>```</a:t>
            </a:r>
          </a:p>
          <a:p>
            <a:r>
              <a:rPr lang="en-GB" dirty="0"/>
              <a:t>Once obtained, you can use a SQLite database browser (e.g., DB Browser for SQLite) to inspect its contents. However, direct access to this database is not intended for most apps or users; instead, the Contacts Provider API should be used to interact with profile data programmatically.</a:t>
            </a:r>
          </a:p>
          <a:p>
            <a:endParaRPr lang="en-GB" dirty="0"/>
          </a:p>
          <a:p>
            <a:r>
              <a:rPr lang="en-GB" dirty="0"/>
              <a:t>### Practical Use</a:t>
            </a:r>
          </a:p>
          <a:p>
            <a:r>
              <a:rPr lang="en-GB" dirty="0"/>
              <a:t>The profile data in `</a:t>
            </a:r>
            <a:r>
              <a:rPr lang="en-GB" dirty="0" err="1"/>
              <a:t>profile.db</a:t>
            </a:r>
            <a:r>
              <a:rPr lang="en-GB" dirty="0"/>
              <a:t>` is what populates the "Me" card in the Contacts app. It’s often linked to the primary Google account on the device and can be accessed or modified via the Contacts app or through APIs like `</a:t>
            </a:r>
            <a:r>
              <a:rPr lang="en-GB" dirty="0" err="1"/>
              <a:t>ContactsContract.Profile</a:t>
            </a:r>
            <a:r>
              <a:rPr lang="en-GB" dirty="0"/>
              <a:t>`. For example, to retrieve the user’s profile programmatically, you can query the `</a:t>
            </a:r>
            <a:r>
              <a:rPr lang="en-GB" dirty="0" err="1"/>
              <a:t>ContactsContract.Profile.CONTENT_URI</a:t>
            </a:r>
            <a:r>
              <a:rPr lang="en-GB" dirty="0"/>
              <a:t>` without any selection criteria, as noted in Android documentation.</a:t>
            </a:r>
          </a:p>
          <a:p>
            <a:endParaRPr lang="en-GB" dirty="0"/>
          </a:p>
          <a:p>
            <a:r>
              <a:rPr lang="en-GB" dirty="0"/>
              <a:t>### Sources</a:t>
            </a:r>
          </a:p>
          <a:p>
            <a:r>
              <a:rPr lang="en-GB" dirty="0"/>
              <a:t>This explanation is based on information from Android developer documentation and community discussions about the Contacts Provider database structure. Specifically, the role of `</a:t>
            </a:r>
            <a:r>
              <a:rPr lang="en-GB" dirty="0" err="1"/>
              <a:t>profile.db</a:t>
            </a:r>
            <a:r>
              <a:rPr lang="en-GB" dirty="0"/>
              <a:t>` is mentioned in contexts discussing the Contacts Provider’s architecture and database management. For further details, you can refer to the Android Developer documentation on the Contacts Provider.[](https://developer.android.com/identity/providers/contacts-provider)[](https://xianminx.github.io/2012/06/24/android-contact-provider-in-deep/)[](https://www.programmersought.com/article/5920369126/)</a:t>
            </a:r>
            <a:endParaRPr lang="en-US" dirty="0"/>
          </a:p>
        </p:txBody>
      </p:sp>
      <p:sp>
        <p:nvSpPr>
          <p:cNvPr id="4" name="Slide Number Placeholder 3"/>
          <p:cNvSpPr>
            <a:spLocks noGrp="1"/>
          </p:cNvSpPr>
          <p:nvPr>
            <p:ph type="sldNum" sz="quarter" idx="5"/>
          </p:nvPr>
        </p:nvSpPr>
        <p:spPr/>
        <p:txBody>
          <a:bodyPr/>
          <a:lstStyle/>
          <a:p>
            <a:fld id="{DDBF98C7-164A-4723-84F0-B1E4B080DDEC}" type="slidenum">
              <a:rPr lang="en-US" smtClean="0"/>
              <a:t>70</a:t>
            </a:fld>
            <a:endParaRPr lang="en-US"/>
          </a:p>
        </p:txBody>
      </p:sp>
    </p:spTree>
    <p:extLst>
      <p:ext uri="{BB962C8B-B14F-4D97-AF65-F5344CB8AC3E}">
        <p14:creationId xmlns:p14="http://schemas.microsoft.com/office/powerpoint/2010/main" val="366607769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p:cNvSpPr>
            <a:spLocks noGrp="1"/>
          </p:cNvSpPr>
          <p:nvPr>
            <p:ph type="dt" sz="half" idx="10"/>
          </p:nvPr>
        </p:nvSpPr>
        <p:spPr/>
        <p:txBody>
          <a:bodyPr/>
          <a:lstStyle/>
          <a:p>
            <a:fld id="{4263717A-E3C1-4BED-ABE0-B7069385E023}" type="datetimeFigureOut">
              <a:rPr lang="en-US" smtClean="0"/>
              <a:t>9/15/2026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a:xfrm>
            <a:off x="8610600" y="6356350"/>
            <a:ext cx="2766646" cy="365125"/>
          </a:xfrm>
        </p:spPr>
        <p:txBody>
          <a:bodyPr/>
          <a:lstStyle/>
          <a:p>
            <a:fld id="{3FE6F5B0-BCF1-4291-802C-4ED5F9057036}" type="slidenum">
              <a:rPr lang="en-US" smtClean="0"/>
              <a:t>‹#›</a:t>
            </a:fld>
            <a:endParaRPr lang="en-US"/>
          </a:p>
        </p:txBody>
      </p:sp>
    </p:spTree>
    <p:extLst>
      <p:ext uri="{BB962C8B-B14F-4D97-AF65-F5344CB8AC3E}">
        <p14:creationId xmlns:p14="http://schemas.microsoft.com/office/powerpoint/2010/main" val="82117141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4263717A-E3C1-4BED-ABE0-B7069385E023}" type="datetimeFigureOut">
              <a:rPr lang="en-US" smtClean="0"/>
              <a:t>9/15/2026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3FE6F5B0-BCF1-4291-802C-4ED5F9057036}" type="slidenum">
              <a:rPr lang="en-US" smtClean="0"/>
              <a:t>‹#›</a:t>
            </a:fld>
            <a:endParaRPr lang="en-US"/>
          </a:p>
        </p:txBody>
      </p:sp>
    </p:spTree>
    <p:extLst>
      <p:ext uri="{BB962C8B-B14F-4D97-AF65-F5344CB8AC3E}">
        <p14:creationId xmlns:p14="http://schemas.microsoft.com/office/powerpoint/2010/main" val="343062265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4263717A-E3C1-4BED-ABE0-B7069385E023}" type="datetimeFigureOut">
              <a:rPr lang="en-US" smtClean="0"/>
              <a:t>9/15/2026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3FE6F5B0-BCF1-4291-802C-4ED5F9057036}" type="slidenum">
              <a:rPr lang="en-US" smtClean="0"/>
              <a:t>‹#›</a:t>
            </a:fld>
            <a:endParaRPr lang="en-US"/>
          </a:p>
        </p:txBody>
      </p:sp>
    </p:spTree>
    <p:extLst>
      <p:ext uri="{BB962C8B-B14F-4D97-AF65-F5344CB8AC3E}">
        <p14:creationId xmlns:p14="http://schemas.microsoft.com/office/powerpoint/2010/main" val="399356942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4263717A-E3C1-4BED-ABE0-B7069385E023}" type="datetimeFigureOut">
              <a:rPr lang="en-US" smtClean="0"/>
              <a:t>9/15/2026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3FE6F5B0-BCF1-4291-802C-4ED5F9057036}" type="slidenum">
              <a:rPr lang="en-US" smtClean="0"/>
              <a:t>‹#›</a:t>
            </a:fld>
            <a:endParaRPr lang="en-US"/>
          </a:p>
        </p:txBody>
      </p:sp>
    </p:spTree>
    <p:extLst>
      <p:ext uri="{BB962C8B-B14F-4D97-AF65-F5344CB8AC3E}">
        <p14:creationId xmlns:p14="http://schemas.microsoft.com/office/powerpoint/2010/main" val="385891142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4263717A-E3C1-4BED-ABE0-B7069385E023}" type="datetimeFigureOut">
              <a:rPr lang="en-US" smtClean="0"/>
              <a:t>9/15/2026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3FE6F5B0-BCF1-4291-802C-4ED5F9057036}" type="slidenum">
              <a:rPr lang="en-US" smtClean="0"/>
              <a:t>‹#›</a:t>
            </a:fld>
            <a:endParaRPr lang="en-US"/>
          </a:p>
        </p:txBody>
      </p:sp>
    </p:spTree>
    <p:extLst>
      <p:ext uri="{BB962C8B-B14F-4D97-AF65-F5344CB8AC3E}">
        <p14:creationId xmlns:p14="http://schemas.microsoft.com/office/powerpoint/2010/main" val="377169213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4263717A-E3C1-4BED-ABE0-B7069385E023}" type="datetimeFigureOut">
              <a:rPr lang="en-US" smtClean="0"/>
              <a:t>9/15/2026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3FE6F5B0-BCF1-4291-802C-4ED5F9057036}" type="slidenum">
              <a:rPr lang="en-US" smtClean="0"/>
              <a:t>‹#›</a:t>
            </a:fld>
            <a:endParaRPr lang="en-US"/>
          </a:p>
        </p:txBody>
      </p:sp>
    </p:spTree>
    <p:extLst>
      <p:ext uri="{BB962C8B-B14F-4D97-AF65-F5344CB8AC3E}">
        <p14:creationId xmlns:p14="http://schemas.microsoft.com/office/powerpoint/2010/main" val="360008937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263717A-E3C1-4BED-ABE0-B7069385E023}" type="datetimeFigureOut">
              <a:rPr lang="en-US" smtClean="0"/>
              <a:t>9/15/2026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3FE6F5B0-BCF1-4291-802C-4ED5F9057036}" type="slidenum">
              <a:rPr lang="en-US" smtClean="0"/>
              <a:t>‹#›</a:t>
            </a:fld>
            <a:endParaRPr lang="en-US"/>
          </a:p>
        </p:txBody>
      </p:sp>
    </p:spTree>
    <p:extLst>
      <p:ext uri="{BB962C8B-B14F-4D97-AF65-F5344CB8AC3E}">
        <p14:creationId xmlns:p14="http://schemas.microsoft.com/office/powerpoint/2010/main" val="199640072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4263717A-E3C1-4BED-ABE0-B7069385E023}" type="datetimeFigureOut">
              <a:rPr lang="en-US" smtClean="0"/>
              <a:t>9/15/2026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3FE6F5B0-BCF1-4291-802C-4ED5F9057036}" type="slidenum">
              <a:rPr lang="en-US" smtClean="0"/>
              <a:t>‹#›</a:t>
            </a:fld>
            <a:endParaRPr lang="en-US"/>
          </a:p>
        </p:txBody>
      </p:sp>
    </p:spTree>
    <p:extLst>
      <p:ext uri="{BB962C8B-B14F-4D97-AF65-F5344CB8AC3E}">
        <p14:creationId xmlns:p14="http://schemas.microsoft.com/office/powerpoint/2010/main" val="333090074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4263717A-E3C1-4BED-ABE0-B7069385E023}" type="datetimeFigureOut">
              <a:rPr lang="en-US" smtClean="0"/>
              <a:t>9/15/2026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3FE6F5B0-BCF1-4291-802C-4ED5F9057036}" type="slidenum">
              <a:rPr lang="en-US" smtClean="0"/>
              <a:t>‹#›</a:t>
            </a:fld>
            <a:endParaRPr lang="en-US"/>
          </a:p>
        </p:txBody>
      </p:sp>
    </p:spTree>
    <p:extLst>
      <p:ext uri="{BB962C8B-B14F-4D97-AF65-F5344CB8AC3E}">
        <p14:creationId xmlns:p14="http://schemas.microsoft.com/office/powerpoint/2010/main" val="194803718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4263717A-E3C1-4BED-ABE0-B7069385E023}" type="datetimeFigureOut">
              <a:rPr lang="en-US" smtClean="0"/>
              <a:t>9/15/2026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3FE6F5B0-BCF1-4291-802C-4ED5F9057036}" type="slidenum">
              <a:rPr lang="en-US" smtClean="0"/>
              <a:t>‹#›</a:t>
            </a:fld>
            <a:endParaRPr lang="en-US"/>
          </a:p>
        </p:txBody>
      </p:sp>
    </p:spTree>
    <p:extLst>
      <p:ext uri="{BB962C8B-B14F-4D97-AF65-F5344CB8AC3E}">
        <p14:creationId xmlns:p14="http://schemas.microsoft.com/office/powerpoint/2010/main" val="317696518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4263717A-E3C1-4BED-ABE0-B7069385E023}" type="datetimeFigureOut">
              <a:rPr lang="en-US" smtClean="0"/>
              <a:t>9/15/2026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3FE6F5B0-BCF1-4291-802C-4ED5F9057036}" type="slidenum">
              <a:rPr lang="en-US" smtClean="0"/>
              <a:t>‹#›</a:t>
            </a:fld>
            <a:endParaRPr lang="en-US"/>
          </a:p>
        </p:txBody>
      </p:sp>
    </p:spTree>
    <p:extLst>
      <p:ext uri="{BB962C8B-B14F-4D97-AF65-F5344CB8AC3E}">
        <p14:creationId xmlns:p14="http://schemas.microsoft.com/office/powerpoint/2010/main" val="37959005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6" Type="http://schemas.openxmlformats.org/officeDocument/2006/relationships/image" Target="../media/image4.png"/><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image" Target="../media/image3.png"/><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4263717A-E3C1-4BED-ABE0-B7069385E023}" type="datetimeFigureOut">
              <a:rPr lang="en-US" smtClean="0"/>
              <a:t>9/15/2026</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3FE6F5B0-BCF1-4291-802C-4ED5F9057036}" type="slidenum">
              <a:rPr lang="en-US" smtClean="0"/>
              <a:t>‹#›</a:t>
            </a:fld>
            <a:endParaRPr lang="en-US"/>
          </a:p>
        </p:txBody>
      </p:sp>
      <p:pic>
        <p:nvPicPr>
          <p:cNvPr id="1026" name="Picture 2" descr="United States Department of Justice - Wikipedia"/>
          <p:cNvPicPr>
            <a:picLocks noChangeAspect="1" noChangeArrowheads="1"/>
          </p:cNvPicPr>
          <p:nvPr userDrawn="1"/>
        </p:nvPicPr>
        <p:blipFill>
          <a:blip r:embed="rId13" cstate="print">
            <a:extLst>
              <a:ext uri="{28A0092B-C50C-407E-A947-70E740481C1C}">
                <a14:useLocalDpi xmlns:a14="http://schemas.microsoft.com/office/drawing/2010/main" val="0"/>
              </a:ext>
            </a:extLst>
          </a:blip>
          <a:srcRect/>
          <a:stretch>
            <a:fillRect/>
          </a:stretch>
        </p:blipFill>
        <p:spPr bwMode="auto">
          <a:xfrm>
            <a:off x="11304663" y="6429241"/>
            <a:ext cx="379628" cy="379628"/>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OJP PMP Login"/>
          <p:cNvPicPr>
            <a:picLocks noChangeAspect="1" noChangeArrowheads="1"/>
          </p:cNvPicPr>
          <p:nvPr userDrawn="1"/>
        </p:nvPicPr>
        <p:blipFill>
          <a:blip r:embed="rId14" cstate="print">
            <a:extLst>
              <a:ext uri="{28A0092B-C50C-407E-A947-70E740481C1C}">
                <a14:useLocalDpi xmlns:a14="http://schemas.microsoft.com/office/drawing/2010/main" val="0"/>
              </a:ext>
            </a:extLst>
          </a:blip>
          <a:srcRect/>
          <a:stretch>
            <a:fillRect/>
          </a:stretch>
        </p:blipFill>
        <p:spPr bwMode="auto">
          <a:xfrm>
            <a:off x="11684291" y="6519834"/>
            <a:ext cx="420444" cy="201641"/>
          </a:xfrm>
          <a:prstGeom prst="rect">
            <a:avLst/>
          </a:prstGeom>
          <a:noFill/>
          <a:extLst>
            <a:ext uri="{909E8E84-426E-40DD-AFC4-6F175D3DCCD1}">
              <a14:hiddenFill xmlns:a14="http://schemas.microsoft.com/office/drawing/2010/main">
                <a:solidFill>
                  <a:srgbClr val="FFFFFF"/>
                </a:solidFill>
              </a14:hiddenFill>
            </a:ext>
          </a:extLst>
        </p:spPr>
      </p:pic>
      <p:pic>
        <p:nvPicPr>
          <p:cNvPr id="1030" name="Picture 6" descr="University of Baltimore Issues Marketing RFP - PR News"/>
          <p:cNvPicPr>
            <a:picLocks noChangeAspect="1" noChangeArrowheads="1"/>
          </p:cNvPicPr>
          <p:nvPr userDrawn="1"/>
        </p:nvPicPr>
        <p:blipFill>
          <a:blip r:embed="rId15" cstate="print">
            <a:extLst>
              <a:ext uri="{28A0092B-C50C-407E-A947-70E740481C1C}">
                <a14:useLocalDpi xmlns:a14="http://schemas.microsoft.com/office/drawing/2010/main" val="0"/>
              </a:ext>
            </a:extLst>
          </a:blip>
          <a:srcRect/>
          <a:stretch>
            <a:fillRect/>
          </a:stretch>
        </p:blipFill>
        <p:spPr bwMode="auto">
          <a:xfrm>
            <a:off x="-154993" y="6286831"/>
            <a:ext cx="1571896" cy="664448"/>
          </a:xfrm>
          <a:prstGeom prst="rect">
            <a:avLst/>
          </a:prstGeom>
          <a:noFill/>
          <a:extLst>
            <a:ext uri="{909E8E84-426E-40DD-AFC4-6F175D3DCCD1}">
              <a14:hiddenFill xmlns:a14="http://schemas.microsoft.com/office/drawing/2010/main">
                <a:solidFill>
                  <a:srgbClr val="FFFFFF"/>
                </a:solidFill>
              </a14:hiddenFill>
            </a:ext>
          </a:extLst>
        </p:spPr>
      </p:pic>
      <p:pic>
        <p:nvPicPr>
          <p:cNvPr id="1032" name="Picture 8" descr="File:Towson University logo horiz 2019.png - Wikimedia Commons"/>
          <p:cNvPicPr>
            <a:picLocks noChangeAspect="1" noChangeArrowheads="1"/>
          </p:cNvPicPr>
          <p:nvPr userDrawn="1"/>
        </p:nvPicPr>
        <p:blipFill>
          <a:blip r:embed="rId16" cstate="print">
            <a:extLst>
              <a:ext uri="{28A0092B-C50C-407E-A947-70E740481C1C}">
                <a14:useLocalDpi xmlns:a14="http://schemas.microsoft.com/office/drawing/2010/main" val="0"/>
              </a:ext>
            </a:extLst>
          </a:blip>
          <a:srcRect/>
          <a:stretch>
            <a:fillRect/>
          </a:stretch>
        </p:blipFill>
        <p:spPr bwMode="auto">
          <a:xfrm>
            <a:off x="1272985" y="6456351"/>
            <a:ext cx="1202235" cy="41444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813574162"/>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xml"/><Relationship Id="rId1" Type="http://schemas.openxmlformats.org/officeDocument/2006/relationships/slideLayout" Target="../slideLayouts/slideLayout6.xml"/><Relationship Id="rId6" Type="http://schemas.openxmlformats.org/officeDocument/2006/relationships/image" Target="../media/image8.png"/><Relationship Id="rId5" Type="http://schemas.openxmlformats.org/officeDocument/2006/relationships/image" Target="../media/image7.png"/><Relationship Id="rId4" Type="http://schemas.openxmlformats.org/officeDocument/2006/relationships/image" Target="../media/image6.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4.xml"/><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6.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7.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8" Type="http://schemas.openxmlformats.org/officeDocument/2006/relationships/image" Target="../media/image171.png"/><Relationship Id="rId13" Type="http://schemas.openxmlformats.org/officeDocument/2006/relationships/customXml" Target="../ink/ink5.xml"/><Relationship Id="rId3" Type="http://schemas.openxmlformats.org/officeDocument/2006/relationships/image" Target="../media/image16.png"/><Relationship Id="rId7" Type="http://schemas.openxmlformats.org/officeDocument/2006/relationships/customXml" Target="../ink/ink2.xml"/><Relationship Id="rId12" Type="http://schemas.openxmlformats.org/officeDocument/2006/relationships/image" Target="../media/image19.png"/><Relationship Id="rId2" Type="http://schemas.openxmlformats.org/officeDocument/2006/relationships/notesSlide" Target="../notesSlides/notesSlide6.xml"/><Relationship Id="rId1" Type="http://schemas.openxmlformats.org/officeDocument/2006/relationships/slideLayout" Target="../slideLayouts/slideLayout6.xml"/><Relationship Id="rId6" Type="http://schemas.openxmlformats.org/officeDocument/2006/relationships/image" Target="../media/image161.png"/><Relationship Id="rId11" Type="http://schemas.openxmlformats.org/officeDocument/2006/relationships/customXml" Target="../ink/ink4.xml"/><Relationship Id="rId5" Type="http://schemas.openxmlformats.org/officeDocument/2006/relationships/customXml" Target="../ink/ink1.xml"/><Relationship Id="rId10" Type="http://schemas.openxmlformats.org/officeDocument/2006/relationships/image" Target="../media/image18.png"/><Relationship Id="rId4" Type="http://schemas.openxmlformats.org/officeDocument/2006/relationships/image" Target="../media/image17.png"/><Relationship Id="rId9" Type="http://schemas.openxmlformats.org/officeDocument/2006/relationships/customXml" Target="../ink/ink3.xml"/><Relationship Id="rId14" Type="http://schemas.openxmlformats.org/officeDocument/2006/relationships/image" Target="../media/image20.png"/></Relationships>
</file>

<file path=ppt/slides/_rels/slide29.xml.rels><?xml version="1.0" encoding="UTF-8" standalone="yes"?>
<Relationships xmlns="http://schemas.openxmlformats.org/package/2006/relationships"><Relationship Id="rId8" Type="http://schemas.openxmlformats.org/officeDocument/2006/relationships/customXml" Target="../ink/ink8.xml"/><Relationship Id="rId13" Type="http://schemas.openxmlformats.org/officeDocument/2006/relationships/image" Target="../media/image27.png"/><Relationship Id="rId18" Type="http://schemas.openxmlformats.org/officeDocument/2006/relationships/customXml" Target="../ink/ink13.xml"/><Relationship Id="rId3" Type="http://schemas.openxmlformats.org/officeDocument/2006/relationships/image" Target="../media/image22.png"/><Relationship Id="rId7" Type="http://schemas.openxmlformats.org/officeDocument/2006/relationships/image" Target="../media/image24.png"/><Relationship Id="rId12" Type="http://schemas.openxmlformats.org/officeDocument/2006/relationships/customXml" Target="../ink/ink10.xml"/><Relationship Id="rId17" Type="http://schemas.openxmlformats.org/officeDocument/2006/relationships/image" Target="../media/image29.png"/><Relationship Id="rId2" Type="http://schemas.openxmlformats.org/officeDocument/2006/relationships/image" Target="../media/image21.png"/><Relationship Id="rId16" Type="http://schemas.openxmlformats.org/officeDocument/2006/relationships/customXml" Target="../ink/ink12.xml"/><Relationship Id="rId1" Type="http://schemas.openxmlformats.org/officeDocument/2006/relationships/slideLayout" Target="../slideLayouts/slideLayout7.xml"/><Relationship Id="rId6" Type="http://schemas.openxmlformats.org/officeDocument/2006/relationships/customXml" Target="../ink/ink7.xml"/><Relationship Id="rId11" Type="http://schemas.openxmlformats.org/officeDocument/2006/relationships/image" Target="../media/image26.png"/><Relationship Id="rId5" Type="http://schemas.openxmlformats.org/officeDocument/2006/relationships/image" Target="../media/image23.png"/><Relationship Id="rId15" Type="http://schemas.openxmlformats.org/officeDocument/2006/relationships/image" Target="../media/image28.png"/><Relationship Id="rId10" Type="http://schemas.openxmlformats.org/officeDocument/2006/relationships/customXml" Target="../ink/ink9.xml"/><Relationship Id="rId19" Type="http://schemas.openxmlformats.org/officeDocument/2006/relationships/image" Target="../media/image30.png"/><Relationship Id="rId4" Type="http://schemas.openxmlformats.org/officeDocument/2006/relationships/customXml" Target="../ink/ink6.xml"/><Relationship Id="rId9" Type="http://schemas.openxmlformats.org/officeDocument/2006/relationships/image" Target="../media/image25.png"/><Relationship Id="rId14" Type="http://schemas.openxmlformats.org/officeDocument/2006/relationships/customXml" Target="../ink/ink11.xml"/></Relationships>
</file>

<file path=ppt/slides/_rels/slide30.xml.rels><?xml version="1.0" encoding="UTF-8" standalone="yes"?>
<Relationships xmlns="http://schemas.openxmlformats.org/package/2006/relationships"><Relationship Id="rId3" Type="http://schemas.openxmlformats.org/officeDocument/2006/relationships/image" Target="../media/image31.png"/><Relationship Id="rId7" Type="http://schemas.openxmlformats.org/officeDocument/2006/relationships/image" Target="../media/image250.png"/><Relationship Id="rId2" Type="http://schemas.openxmlformats.org/officeDocument/2006/relationships/notesSlide" Target="../notesSlides/notesSlide7.xml"/><Relationship Id="rId1" Type="http://schemas.openxmlformats.org/officeDocument/2006/relationships/slideLayout" Target="../slideLayouts/slideLayout6.xml"/><Relationship Id="rId6" Type="http://schemas.openxmlformats.org/officeDocument/2006/relationships/customXml" Target="../ink/ink15.xml"/><Relationship Id="rId5" Type="http://schemas.openxmlformats.org/officeDocument/2006/relationships/image" Target="../media/image241.png"/><Relationship Id="rId4" Type="http://schemas.openxmlformats.org/officeDocument/2006/relationships/customXml" Target="../ink/ink14.xml"/></Relationships>
</file>

<file path=ppt/slides/_rels/slide31.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3.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6.xml"/></Relationships>
</file>

<file path=ppt/slides/_rels/slide34.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6.xml"/></Relationships>
</file>

<file path=ppt/slides/_rels/slide35.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image" Target="../media/image35.png"/><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8" Type="http://schemas.openxmlformats.org/officeDocument/2006/relationships/image" Target="../media/image40.png"/><Relationship Id="rId3" Type="http://schemas.openxmlformats.org/officeDocument/2006/relationships/customXml" Target="../ink/ink16.xml"/><Relationship Id="rId7" Type="http://schemas.openxmlformats.org/officeDocument/2006/relationships/customXml" Target="../ink/ink18.xml"/><Relationship Id="rId12" Type="http://schemas.openxmlformats.org/officeDocument/2006/relationships/image" Target="../media/image42.png"/><Relationship Id="rId2" Type="http://schemas.openxmlformats.org/officeDocument/2006/relationships/image" Target="../media/image37.png"/><Relationship Id="rId1" Type="http://schemas.openxmlformats.org/officeDocument/2006/relationships/slideLayout" Target="../slideLayouts/slideLayout7.xml"/><Relationship Id="rId6" Type="http://schemas.openxmlformats.org/officeDocument/2006/relationships/image" Target="../media/image39.png"/><Relationship Id="rId11" Type="http://schemas.openxmlformats.org/officeDocument/2006/relationships/customXml" Target="../ink/ink20.xml"/><Relationship Id="rId5" Type="http://schemas.openxmlformats.org/officeDocument/2006/relationships/customXml" Target="../ink/ink17.xml"/><Relationship Id="rId10" Type="http://schemas.openxmlformats.org/officeDocument/2006/relationships/image" Target="../media/image41.png"/><Relationship Id="rId4" Type="http://schemas.openxmlformats.org/officeDocument/2006/relationships/image" Target="../media/image38.png"/><Relationship Id="rId9" Type="http://schemas.openxmlformats.org/officeDocument/2006/relationships/customXml" Target="../ink/ink19.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8.xml.rels><?xml version="1.0" encoding="UTF-8" standalone="yes"?>
<Relationships xmlns="http://schemas.openxmlformats.org/package/2006/relationships"><Relationship Id="rId3" Type="http://schemas.openxmlformats.org/officeDocument/2006/relationships/customXml" Target="../ink/ink21.xml"/><Relationship Id="rId2" Type="http://schemas.openxmlformats.org/officeDocument/2006/relationships/image" Target="../media/image16.png"/><Relationship Id="rId1" Type="http://schemas.openxmlformats.org/officeDocument/2006/relationships/slideLayout" Target="../slideLayouts/slideLayout6.xml"/><Relationship Id="rId6" Type="http://schemas.openxmlformats.org/officeDocument/2006/relationships/image" Target="../media/image44.png"/><Relationship Id="rId5" Type="http://schemas.openxmlformats.org/officeDocument/2006/relationships/customXml" Target="../ink/ink22.xml"/><Relationship Id="rId4" Type="http://schemas.openxmlformats.org/officeDocument/2006/relationships/image" Target="../media/image43.png"/></Relationships>
</file>

<file path=ppt/slides/_rels/slide39.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8" Type="http://schemas.openxmlformats.org/officeDocument/2006/relationships/customXml" Target="../ink/ink25.xml"/><Relationship Id="rId13" Type="http://schemas.openxmlformats.org/officeDocument/2006/relationships/image" Target="../media/image52.png"/><Relationship Id="rId18" Type="http://schemas.openxmlformats.org/officeDocument/2006/relationships/customXml" Target="../ink/ink30.xml"/><Relationship Id="rId3" Type="http://schemas.openxmlformats.org/officeDocument/2006/relationships/image" Target="../media/image37.png"/><Relationship Id="rId21" Type="http://schemas.openxmlformats.org/officeDocument/2006/relationships/image" Target="../media/image56.png"/><Relationship Id="rId7" Type="http://schemas.openxmlformats.org/officeDocument/2006/relationships/image" Target="../media/image49.png"/><Relationship Id="rId12" Type="http://schemas.openxmlformats.org/officeDocument/2006/relationships/customXml" Target="../ink/ink27.xml"/><Relationship Id="rId17" Type="http://schemas.openxmlformats.org/officeDocument/2006/relationships/image" Target="../media/image54.png"/><Relationship Id="rId2" Type="http://schemas.openxmlformats.org/officeDocument/2006/relationships/image" Target="../media/image47.png"/><Relationship Id="rId16" Type="http://schemas.openxmlformats.org/officeDocument/2006/relationships/customXml" Target="../ink/ink29.xml"/><Relationship Id="rId20" Type="http://schemas.openxmlformats.org/officeDocument/2006/relationships/customXml" Target="../ink/ink31.xml"/><Relationship Id="rId1" Type="http://schemas.openxmlformats.org/officeDocument/2006/relationships/slideLayout" Target="../slideLayouts/slideLayout6.xml"/><Relationship Id="rId6" Type="http://schemas.openxmlformats.org/officeDocument/2006/relationships/customXml" Target="../ink/ink24.xml"/><Relationship Id="rId11" Type="http://schemas.openxmlformats.org/officeDocument/2006/relationships/image" Target="../media/image51.png"/><Relationship Id="rId5" Type="http://schemas.openxmlformats.org/officeDocument/2006/relationships/image" Target="../media/image48.png"/><Relationship Id="rId15" Type="http://schemas.openxmlformats.org/officeDocument/2006/relationships/image" Target="../media/image53.png"/><Relationship Id="rId23" Type="http://schemas.openxmlformats.org/officeDocument/2006/relationships/image" Target="../media/image57.png"/><Relationship Id="rId10" Type="http://schemas.openxmlformats.org/officeDocument/2006/relationships/customXml" Target="../ink/ink26.xml"/><Relationship Id="rId19" Type="http://schemas.openxmlformats.org/officeDocument/2006/relationships/image" Target="../media/image55.png"/><Relationship Id="rId4" Type="http://schemas.openxmlformats.org/officeDocument/2006/relationships/customXml" Target="../ink/ink23.xml"/><Relationship Id="rId9" Type="http://schemas.openxmlformats.org/officeDocument/2006/relationships/image" Target="../media/image50.png"/><Relationship Id="rId14" Type="http://schemas.openxmlformats.org/officeDocument/2006/relationships/customXml" Target="../ink/ink28.xml"/><Relationship Id="rId22" Type="http://schemas.openxmlformats.org/officeDocument/2006/relationships/customXml" Target="../ink/ink32.xml"/></Relationships>
</file>

<file path=ppt/slides/_rels/slide42.xml.rels><?xml version="1.0" encoding="UTF-8" standalone="yes"?>
<Relationships xmlns="http://schemas.openxmlformats.org/package/2006/relationships"><Relationship Id="rId2" Type="http://schemas.openxmlformats.org/officeDocument/2006/relationships/image" Target="../media/image45.png"/><Relationship Id="rId1" Type="http://schemas.openxmlformats.org/officeDocument/2006/relationships/slideLayout" Target="../slideLayouts/slideLayout6.xml"/></Relationships>
</file>

<file path=ppt/slides/_rels/slide43.xml.rels><?xml version="1.0" encoding="UTF-8" standalone="yes"?>
<Relationships xmlns="http://schemas.openxmlformats.org/package/2006/relationships"><Relationship Id="rId2" Type="http://schemas.openxmlformats.org/officeDocument/2006/relationships/image" Target="../media/image58.png"/><Relationship Id="rId1" Type="http://schemas.openxmlformats.org/officeDocument/2006/relationships/slideLayout" Target="../slideLayouts/slideLayout6.xml"/></Relationships>
</file>

<file path=ppt/slides/_rels/slide44.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notesSlide" Target="../notesSlides/notesSlide10.xml"/><Relationship Id="rId1" Type="http://schemas.openxmlformats.org/officeDocument/2006/relationships/slideLayout" Target="../slideLayouts/slideLayout6.xml"/><Relationship Id="rId5" Type="http://schemas.openxmlformats.org/officeDocument/2006/relationships/image" Target="../media/image61.png"/><Relationship Id="rId4" Type="http://schemas.openxmlformats.org/officeDocument/2006/relationships/image" Target="../media/image60.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6.xml.rels><?xml version="1.0" encoding="UTF-8" standalone="yes"?>
<Relationships xmlns="http://schemas.openxmlformats.org/package/2006/relationships"><Relationship Id="rId2" Type="http://schemas.openxmlformats.org/officeDocument/2006/relationships/image" Target="../media/image62.png"/><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8" Type="http://schemas.openxmlformats.org/officeDocument/2006/relationships/customXml" Target="../ink/ink35.xml"/><Relationship Id="rId13" Type="http://schemas.openxmlformats.org/officeDocument/2006/relationships/image" Target="../media/image190.png"/><Relationship Id="rId18" Type="http://schemas.openxmlformats.org/officeDocument/2006/relationships/customXml" Target="../ink/ink40.xml"/><Relationship Id="rId3" Type="http://schemas.openxmlformats.org/officeDocument/2006/relationships/image" Target="../media/image64.png"/><Relationship Id="rId21" Type="http://schemas.openxmlformats.org/officeDocument/2006/relationships/image" Target="../media/image230.png"/><Relationship Id="rId7" Type="http://schemas.openxmlformats.org/officeDocument/2006/relationships/image" Target="../media/image160.png"/><Relationship Id="rId12" Type="http://schemas.openxmlformats.org/officeDocument/2006/relationships/customXml" Target="../ink/ink37.xml"/><Relationship Id="rId17" Type="http://schemas.openxmlformats.org/officeDocument/2006/relationships/image" Target="../media/image210.png"/><Relationship Id="rId2" Type="http://schemas.openxmlformats.org/officeDocument/2006/relationships/image" Target="../media/image63.png"/><Relationship Id="rId16" Type="http://schemas.openxmlformats.org/officeDocument/2006/relationships/customXml" Target="../ink/ink39.xml"/><Relationship Id="rId20" Type="http://schemas.openxmlformats.org/officeDocument/2006/relationships/customXml" Target="../ink/ink41.xml"/><Relationship Id="rId1" Type="http://schemas.openxmlformats.org/officeDocument/2006/relationships/slideLayout" Target="../slideLayouts/slideLayout7.xml"/><Relationship Id="rId6" Type="http://schemas.openxmlformats.org/officeDocument/2006/relationships/customXml" Target="../ink/ink34.xml"/><Relationship Id="rId11" Type="http://schemas.openxmlformats.org/officeDocument/2006/relationships/image" Target="../media/image180.png"/><Relationship Id="rId5" Type="http://schemas.openxmlformats.org/officeDocument/2006/relationships/image" Target="../media/image150.png"/><Relationship Id="rId15" Type="http://schemas.openxmlformats.org/officeDocument/2006/relationships/image" Target="../media/image200.png"/><Relationship Id="rId23" Type="http://schemas.openxmlformats.org/officeDocument/2006/relationships/image" Target="../media/image240.png"/><Relationship Id="rId10" Type="http://schemas.openxmlformats.org/officeDocument/2006/relationships/customXml" Target="../ink/ink36.xml"/><Relationship Id="rId19" Type="http://schemas.openxmlformats.org/officeDocument/2006/relationships/image" Target="../media/image220.png"/><Relationship Id="rId4" Type="http://schemas.openxmlformats.org/officeDocument/2006/relationships/customXml" Target="../ink/ink33.xml"/><Relationship Id="rId9" Type="http://schemas.openxmlformats.org/officeDocument/2006/relationships/image" Target="../media/image170.png"/><Relationship Id="rId14" Type="http://schemas.openxmlformats.org/officeDocument/2006/relationships/customXml" Target="../ink/ink38.xml"/><Relationship Id="rId22" Type="http://schemas.openxmlformats.org/officeDocument/2006/relationships/customXml" Target="../ink/ink4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9.xml.rels><?xml version="1.0" encoding="UTF-8" standalone="yes"?>
<Relationships xmlns="http://schemas.openxmlformats.org/package/2006/relationships"><Relationship Id="rId2" Type="http://schemas.openxmlformats.org/officeDocument/2006/relationships/image" Target="../media/image45.png"/><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image" Target="../media/image65.png"/><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2" Type="http://schemas.openxmlformats.org/officeDocument/2006/relationships/image" Target="../media/image66.png"/><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image" Target="../media/image67.png"/><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3" Type="http://schemas.openxmlformats.org/officeDocument/2006/relationships/image" Target="../media/image68.png"/><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2" Type="http://schemas.openxmlformats.org/officeDocument/2006/relationships/image" Target="../media/image69.png"/><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3" Type="http://schemas.openxmlformats.org/officeDocument/2006/relationships/image" Target="../media/image70.png"/><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3" Type="http://schemas.openxmlformats.org/officeDocument/2006/relationships/image" Target="../media/image72.png"/><Relationship Id="rId2" Type="http://schemas.openxmlformats.org/officeDocument/2006/relationships/image" Target="../media/image71.png"/><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3" Type="http://schemas.openxmlformats.org/officeDocument/2006/relationships/image" Target="../media/image74.png"/><Relationship Id="rId2" Type="http://schemas.openxmlformats.org/officeDocument/2006/relationships/image" Target="../media/image73.png"/><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3" Type="http://schemas.openxmlformats.org/officeDocument/2006/relationships/image" Target="../media/image75.png"/><Relationship Id="rId2" Type="http://schemas.openxmlformats.org/officeDocument/2006/relationships/notesSlide" Target="../notesSlides/notesSlide13.xml"/><Relationship Id="rId1" Type="http://schemas.openxmlformats.org/officeDocument/2006/relationships/slideLayout" Target="../slideLayouts/slideLayout7.xml"/><Relationship Id="rId4" Type="http://schemas.openxmlformats.org/officeDocument/2006/relationships/image" Target="../media/image76.png"/></Relationships>
</file>

<file path=ppt/slides/_rels/slide63.xml.rels><?xml version="1.0" encoding="UTF-8" standalone="yes"?>
<Relationships xmlns="http://schemas.openxmlformats.org/package/2006/relationships"><Relationship Id="rId2" Type="http://schemas.openxmlformats.org/officeDocument/2006/relationships/image" Target="../media/image77.png"/><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3" Type="http://schemas.openxmlformats.org/officeDocument/2006/relationships/image" Target="../media/image79.png"/><Relationship Id="rId2" Type="http://schemas.openxmlformats.org/officeDocument/2006/relationships/image" Target="../media/image78.png"/><Relationship Id="rId1" Type="http://schemas.openxmlformats.org/officeDocument/2006/relationships/slideLayout" Target="../slideLayouts/slideLayout6.xml"/></Relationships>
</file>

<file path=ppt/slides/_rels/slide66.xml.rels><?xml version="1.0" encoding="UTF-8" standalone="yes"?>
<Relationships xmlns="http://schemas.openxmlformats.org/package/2006/relationships"><Relationship Id="rId3" Type="http://schemas.openxmlformats.org/officeDocument/2006/relationships/image" Target="../media/image80.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2" Type="http://schemas.openxmlformats.org/officeDocument/2006/relationships/image" Target="../media/image81.png"/><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76BAF9-88AC-4600-B511-347782B9C875}"/>
              </a:ext>
            </a:extLst>
          </p:cNvPr>
          <p:cNvSpPr>
            <a:spLocks noGrp="1"/>
          </p:cNvSpPr>
          <p:nvPr>
            <p:ph type="ctrTitle"/>
          </p:nvPr>
        </p:nvSpPr>
        <p:spPr/>
        <p:txBody>
          <a:bodyPr/>
          <a:lstStyle/>
          <a:p>
            <a:r>
              <a:rPr sz="4000">
                <a:solidFill>
                  <a:srgbClr val="000000"/>
                </a:solidFill>
                <a:latin typeface="Arial"/>
              </a:rPr>
              <a:t>AOSP Apps Investigations</a:t>
            </a:r>
          </a:p>
        </p:txBody>
      </p:sp>
      <p:sp>
        <p:nvSpPr>
          <p:cNvPr id="3" name="Subtitle 2">
            <a:extLst>
              <a:ext uri="{FF2B5EF4-FFF2-40B4-BE49-F238E27FC236}">
                <a16:creationId xmlns:a16="http://schemas.microsoft.com/office/drawing/2014/main" id="{58CD3106-2EE0-40F4-8C0B-042135FF9FB4}"/>
              </a:ext>
            </a:extLst>
          </p:cNvPr>
          <p:cNvSpPr>
            <a:spLocks noGrp="1"/>
          </p:cNvSpPr>
          <p:nvPr>
            <p:ph type="subTitle" idx="1"/>
          </p:nvPr>
        </p:nvSpPr>
        <p:spPr/>
        <p:txBody>
          <a:bodyPr/>
          <a:lstStyle/>
          <a:p>
            <a:r>
              <a:t>Part 2: Contact Management Services</a:t>
            </a:r>
          </a:p>
        </p:txBody>
      </p:sp>
    </p:spTree>
    <p:extLst>
      <p:ext uri="{BB962C8B-B14F-4D97-AF65-F5344CB8AC3E}">
        <p14:creationId xmlns:p14="http://schemas.microsoft.com/office/powerpoint/2010/main" val="132324530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4000">
                <a:solidFill>
                  <a:srgbClr val="000000"/>
                </a:solidFill>
                <a:latin typeface="Arial"/>
              </a:rPr>
              <a:t>Learning Objectives</a:t>
            </a:r>
          </a:p>
        </p:txBody>
      </p:sp>
      <p:sp>
        <p:nvSpPr>
          <p:cNvPr id="3" name="Content Placeholder 2"/>
          <p:cNvSpPr>
            <a:spLocks noGrp="1"/>
          </p:cNvSpPr>
          <p:nvPr>
            <p:ph idx="1"/>
          </p:nvPr>
        </p:nvSpPr>
        <p:spPr/>
        <p:txBody>
          <a:bodyPr wrap="square">
            <a:normAutofit/>
          </a:bodyPr>
          <a:lstStyle/>
          <a:p>
            <a:pPr>
              <a:defRPr sz="2500">
                <a:latin typeface="Arial"/>
              </a:defRPr>
            </a:pPr>
            <a:r>
              <a:t>Explain why Android uses a centralized Contacts Provider.</a:t>
            </a:r>
          </a:p>
          <a:p>
            <a:pPr>
              <a:defRPr sz="2500">
                <a:latin typeface="Arial"/>
              </a:defRPr>
            </a:pPr>
            <a:r>
              <a:t>Locate contacts2.db, calllog.db, and profile.db in the forensic image.</a:t>
            </a:r>
          </a:p>
          <a:p>
            <a:pPr>
              <a:defRPr sz="2500">
                <a:latin typeface="Arial"/>
              </a:defRPr>
            </a:pPr>
            <a:r>
              <a:t>Use table relationships to reconstruct contacts, groups, call logs, and owner profile data.</a:t>
            </a:r>
          </a:p>
          <a:p>
            <a:pPr>
              <a:defRPr sz="2500">
                <a:latin typeface="Arial"/>
              </a:defRPr>
            </a:pPr>
            <a:r>
              <a:t>Distinguish raw database values from forensic interpretation.</a:t>
            </a:r>
          </a:p>
          <a:p>
            <a:pPr>
              <a:defRPr sz="2500">
                <a:latin typeface="Arial"/>
              </a:defRPr>
            </a:pPr>
            <a:r>
              <a:t>Document findings while protecting sensitive personal information.</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B2E3474A-25B2-47D1-9FAD-6319B5261AB8}"/>
              </a:ext>
            </a:extLst>
          </p:cNvPr>
          <p:cNvSpPr>
            <a:spLocks noGrp="1"/>
          </p:cNvSpPr>
          <p:nvPr>
            <p:ph type="title"/>
          </p:nvPr>
        </p:nvSpPr>
        <p:spPr/>
        <p:txBody>
          <a:bodyPr/>
          <a:lstStyle/>
          <a:p>
            <a:r>
              <a:rPr lang="en-GB" dirty="0"/>
              <a:t>Contact Management Services</a:t>
            </a:r>
            <a:endParaRPr lang="en-US" dirty="0"/>
          </a:p>
        </p:txBody>
      </p:sp>
      <p:sp>
        <p:nvSpPr>
          <p:cNvPr id="5" name="Content Placeholder 4">
            <a:extLst>
              <a:ext uri="{FF2B5EF4-FFF2-40B4-BE49-F238E27FC236}">
                <a16:creationId xmlns:a16="http://schemas.microsoft.com/office/drawing/2014/main" id="{3BF24997-F832-407D-8515-E8D4DD2D0AAA}"/>
              </a:ext>
            </a:extLst>
          </p:cNvPr>
          <p:cNvSpPr>
            <a:spLocks noGrp="1"/>
          </p:cNvSpPr>
          <p:nvPr>
            <p:ph type="body" idx="1"/>
          </p:nvPr>
        </p:nvSpPr>
        <p:spPr/>
        <p:txBody>
          <a:bodyPr>
            <a:normAutofit/>
          </a:bodyPr>
          <a:lstStyle/>
          <a:p>
            <a:endParaRPr lang="en-US" dirty="0"/>
          </a:p>
        </p:txBody>
      </p:sp>
    </p:spTree>
    <p:extLst>
      <p:ext uri="{BB962C8B-B14F-4D97-AF65-F5344CB8AC3E}">
        <p14:creationId xmlns:p14="http://schemas.microsoft.com/office/powerpoint/2010/main" val="180971901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F68FEFE0-EC7F-C70C-80FC-737A6EFEB4CE}"/>
              </a:ext>
            </a:extLst>
          </p:cNvPr>
          <p:cNvPicPr>
            <a:picLocks noChangeAspect="1"/>
          </p:cNvPicPr>
          <p:nvPr/>
        </p:nvPicPr>
        <p:blipFill>
          <a:blip r:embed="rId3"/>
          <a:srcRect b="5726"/>
          <a:stretch>
            <a:fillRect/>
          </a:stretch>
        </p:blipFill>
        <p:spPr>
          <a:xfrm>
            <a:off x="412944" y="3209735"/>
            <a:ext cx="2315065" cy="2967545"/>
          </a:xfrm>
          <a:prstGeom prst="rect">
            <a:avLst/>
          </a:prstGeom>
          <a:ln>
            <a:noFill/>
          </a:ln>
          <a:effectLst>
            <a:outerShdw blurRad="292100" dist="139700" dir="2700000" algn="tl" rotWithShape="0">
              <a:srgbClr val="333333">
                <a:alpha val="65000"/>
              </a:srgbClr>
            </a:outerShdw>
          </a:effectLst>
        </p:spPr>
      </p:pic>
      <p:pic>
        <p:nvPicPr>
          <p:cNvPr id="12" name="Picture 11">
            <a:extLst>
              <a:ext uri="{FF2B5EF4-FFF2-40B4-BE49-F238E27FC236}">
                <a16:creationId xmlns:a16="http://schemas.microsoft.com/office/drawing/2014/main" id="{23F7FAC0-F2A2-5D88-948A-89117E72EA72}"/>
              </a:ext>
            </a:extLst>
          </p:cNvPr>
          <p:cNvPicPr>
            <a:picLocks noChangeAspect="1"/>
          </p:cNvPicPr>
          <p:nvPr/>
        </p:nvPicPr>
        <p:blipFill>
          <a:blip r:embed="rId4"/>
          <a:srcRect b="33770"/>
          <a:stretch>
            <a:fillRect/>
          </a:stretch>
        </p:blipFill>
        <p:spPr>
          <a:xfrm>
            <a:off x="5888176" y="3267095"/>
            <a:ext cx="2253205" cy="2910186"/>
          </a:xfrm>
          <a:prstGeom prst="rect">
            <a:avLst/>
          </a:prstGeom>
          <a:ln>
            <a:noFill/>
          </a:ln>
          <a:effectLst>
            <a:outerShdw blurRad="292100" dist="139700" dir="2700000" algn="tl" rotWithShape="0">
              <a:srgbClr val="333333">
                <a:alpha val="65000"/>
              </a:srgbClr>
            </a:outerShdw>
          </a:effectLst>
        </p:spPr>
      </p:pic>
      <p:pic>
        <p:nvPicPr>
          <p:cNvPr id="14" name="Picture 13">
            <a:extLst>
              <a:ext uri="{FF2B5EF4-FFF2-40B4-BE49-F238E27FC236}">
                <a16:creationId xmlns:a16="http://schemas.microsoft.com/office/drawing/2014/main" id="{D22C84AC-9CA5-F0A8-0105-076DB1F13817}"/>
              </a:ext>
            </a:extLst>
          </p:cNvPr>
          <p:cNvPicPr>
            <a:picLocks noChangeAspect="1"/>
          </p:cNvPicPr>
          <p:nvPr/>
        </p:nvPicPr>
        <p:blipFill>
          <a:blip r:embed="rId5"/>
          <a:srcRect b="33023"/>
          <a:stretch>
            <a:fillRect/>
          </a:stretch>
        </p:blipFill>
        <p:spPr>
          <a:xfrm>
            <a:off x="3105696" y="3267095"/>
            <a:ext cx="2354966" cy="2910185"/>
          </a:xfrm>
          <a:prstGeom prst="rect">
            <a:avLst/>
          </a:prstGeom>
          <a:ln>
            <a:noFill/>
          </a:ln>
          <a:effectLst>
            <a:outerShdw blurRad="292100" dist="139700" dir="2700000" algn="tl" rotWithShape="0">
              <a:srgbClr val="333333">
                <a:alpha val="65000"/>
              </a:srgbClr>
            </a:outerShdw>
          </a:effectLst>
        </p:spPr>
      </p:pic>
      <p:sp>
        <p:nvSpPr>
          <p:cNvPr id="15" name="Title 14">
            <a:extLst>
              <a:ext uri="{FF2B5EF4-FFF2-40B4-BE49-F238E27FC236}">
                <a16:creationId xmlns:a16="http://schemas.microsoft.com/office/drawing/2014/main" id="{49448395-2B19-AC2F-673F-8DA3689E0B6B}"/>
              </a:ext>
            </a:extLst>
          </p:cNvPr>
          <p:cNvSpPr>
            <a:spLocks noGrp="1"/>
          </p:cNvSpPr>
          <p:nvPr>
            <p:ph type="title"/>
          </p:nvPr>
        </p:nvSpPr>
        <p:spPr/>
        <p:txBody>
          <a:bodyPr/>
          <a:lstStyle/>
          <a:p>
            <a:r>
              <a:rPr sz="4000">
                <a:solidFill>
                  <a:srgbClr val="000000"/>
                </a:solidFill>
                <a:latin typeface="Arial"/>
              </a:rPr>
              <a:t>Why Contact Management Services Exist</a:t>
            </a:r>
          </a:p>
        </p:txBody>
      </p:sp>
      <p:pic>
        <p:nvPicPr>
          <p:cNvPr id="17" name="Picture 16">
            <a:extLst>
              <a:ext uri="{FF2B5EF4-FFF2-40B4-BE49-F238E27FC236}">
                <a16:creationId xmlns:a16="http://schemas.microsoft.com/office/drawing/2014/main" id="{B24DAE0E-3488-099D-302D-29C8C6FD01D3}"/>
              </a:ext>
            </a:extLst>
          </p:cNvPr>
          <p:cNvPicPr>
            <a:picLocks noChangeAspect="1"/>
          </p:cNvPicPr>
          <p:nvPr/>
        </p:nvPicPr>
        <p:blipFill>
          <a:blip r:embed="rId6"/>
          <a:srcRect b="24565"/>
          <a:stretch>
            <a:fillRect/>
          </a:stretch>
        </p:blipFill>
        <p:spPr>
          <a:xfrm>
            <a:off x="8436816" y="3267094"/>
            <a:ext cx="3081311" cy="2910186"/>
          </a:xfrm>
          <a:prstGeom prst="rect">
            <a:avLst/>
          </a:prstGeom>
          <a:ln>
            <a:noFill/>
          </a:ln>
          <a:effectLst>
            <a:outerShdw blurRad="292100" dist="139700" dir="2700000" algn="tl" rotWithShape="0">
              <a:srgbClr val="333333">
                <a:alpha val="65000"/>
              </a:srgbClr>
            </a:outerShdw>
          </a:effectLst>
        </p:spPr>
      </p:pic>
      <p:sp>
        <p:nvSpPr>
          <p:cNvPr id="4" name="TextBox 3">
            <a:extLst>
              <a:ext uri="{FF2B5EF4-FFF2-40B4-BE49-F238E27FC236}">
                <a16:creationId xmlns:a16="http://schemas.microsoft.com/office/drawing/2014/main" id="{27BE8779-C663-0C49-A29F-B51F60B30210}"/>
              </a:ext>
            </a:extLst>
          </p:cNvPr>
          <p:cNvSpPr txBox="1"/>
          <p:nvPr/>
        </p:nvSpPr>
        <p:spPr>
          <a:xfrm>
            <a:off x="412944" y="1690688"/>
            <a:ext cx="10803696" cy="1325563"/>
          </a:xfrm>
          <a:prstGeom prst="rect">
            <a:avLst/>
          </a:prstGeom>
          <a:noFill/>
        </p:spPr>
        <p:txBody>
          <a:bodyPr wrap="square">
            <a:normAutofit fontScale="77500" lnSpcReduction="20000"/>
          </a:bodyPr>
          <a:lstStyle/>
          <a:p>
            <a:pPr marL="342900" indent="-342900">
              <a:buFont typeface="Arial" panose="020B0604020202020204" pitchFamily="34" charset="0"/>
              <a:buChar char="•"/>
              <a:defRPr sz="2500">
                <a:latin typeface="Arial"/>
              </a:defRPr>
            </a:pPr>
            <a:r>
              <a:rPr sz="2400" dirty="0"/>
              <a:t>Multiple apps need access to the same people, phone numbers, emails, and account identities.</a:t>
            </a:r>
            <a:endParaRPr lang="en-US" sz="2400" dirty="0"/>
          </a:p>
          <a:p>
            <a:pPr marL="342900" indent="-342900">
              <a:buFont typeface="Arial" panose="020B0604020202020204" pitchFamily="34" charset="0"/>
              <a:buChar char="•"/>
              <a:defRPr sz="2500">
                <a:latin typeface="Arial"/>
              </a:defRPr>
            </a:pPr>
            <a:r>
              <a:rPr sz="2400" dirty="0"/>
              <a:t>If every app stores its own address book, contact data becomes duplicated, inconsistent, and harder to synchronize.</a:t>
            </a:r>
          </a:p>
          <a:p>
            <a:pPr marL="342900" indent="-342900">
              <a:buFont typeface="Arial" panose="020B0604020202020204" pitchFamily="34" charset="0"/>
              <a:buChar char="•"/>
              <a:defRPr sz="2500">
                <a:latin typeface="Arial"/>
              </a:defRPr>
            </a:pPr>
            <a:r>
              <a:rPr sz="2400" dirty="0"/>
              <a:t>Android solves this with a central Contacts Provider that stores and shares contact-related data through standard APIs.</a:t>
            </a:r>
          </a:p>
        </p:txBody>
      </p:sp>
    </p:spTree>
    <p:extLst>
      <p:ext uri="{BB962C8B-B14F-4D97-AF65-F5344CB8AC3E}">
        <p14:creationId xmlns:p14="http://schemas.microsoft.com/office/powerpoint/2010/main" val="305198467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74BCB5C-72BD-C77D-CFE5-5C2B137DB645}"/>
              </a:ext>
            </a:extLst>
          </p:cNvPr>
          <p:cNvSpPr>
            <a:spLocks noGrp="1"/>
          </p:cNvSpPr>
          <p:nvPr>
            <p:ph type="title"/>
          </p:nvPr>
        </p:nvSpPr>
        <p:spPr/>
        <p:txBody>
          <a:bodyPr/>
          <a:lstStyle/>
          <a:p>
            <a:r>
              <a:rPr sz="4000">
                <a:solidFill>
                  <a:srgbClr val="000000"/>
                </a:solidFill>
                <a:latin typeface="Arial"/>
              </a:rPr>
              <a:t>Problems Without a Central Contacts Provider</a:t>
            </a:r>
          </a:p>
        </p:txBody>
      </p:sp>
      <p:sp>
        <p:nvSpPr>
          <p:cNvPr id="3" name="Content Placeholder 2">
            <a:extLst>
              <a:ext uri="{FF2B5EF4-FFF2-40B4-BE49-F238E27FC236}">
                <a16:creationId xmlns:a16="http://schemas.microsoft.com/office/drawing/2014/main" id="{4E46BF93-1941-CA7F-3DBF-7BD5D352778A}"/>
              </a:ext>
            </a:extLst>
          </p:cNvPr>
          <p:cNvSpPr>
            <a:spLocks noGrp="1"/>
          </p:cNvSpPr>
          <p:nvPr>
            <p:ph idx="1"/>
          </p:nvPr>
        </p:nvSpPr>
        <p:spPr>
          <a:xfrm>
            <a:off x="838200" y="1825624"/>
            <a:ext cx="10515600" cy="4311016"/>
          </a:xfrm>
        </p:spPr>
        <p:txBody>
          <a:bodyPr wrap="square">
            <a:normAutofit/>
          </a:bodyPr>
          <a:lstStyle/>
          <a:p>
            <a:pPr>
              <a:defRPr sz="2400">
                <a:latin typeface="Arial"/>
              </a:defRPr>
            </a:pPr>
            <a:r>
              <a:rPr dirty="0"/>
              <a:t>Duplicate data: Phone, SMS, WhatsApp, Telegram, and other apps may keep separate contact copies.</a:t>
            </a:r>
          </a:p>
          <a:p>
            <a:pPr>
              <a:defRPr sz="2400">
                <a:latin typeface="Arial"/>
              </a:defRPr>
            </a:pPr>
            <a:r>
              <a:rPr dirty="0"/>
              <a:t>Inconsistent records: one person may appear under different names, numbers, or accounts.</a:t>
            </a:r>
          </a:p>
          <a:p>
            <a:pPr>
              <a:defRPr sz="2400">
                <a:latin typeface="Arial"/>
              </a:defRPr>
            </a:pPr>
            <a:r>
              <a:rPr dirty="0"/>
              <a:t>Synchronization gaps: Google, SIM, and third-party contact sources may not merge cleanly.</a:t>
            </a:r>
          </a:p>
          <a:p>
            <a:pPr>
              <a:defRPr sz="2400">
                <a:latin typeface="Arial"/>
              </a:defRPr>
            </a:pPr>
            <a:r>
              <a:rPr dirty="0"/>
              <a:t>Privacy risk: each app could expose or manage contact data differently.</a:t>
            </a:r>
          </a:p>
        </p:txBody>
      </p:sp>
    </p:spTree>
    <p:extLst>
      <p:ext uri="{BB962C8B-B14F-4D97-AF65-F5344CB8AC3E}">
        <p14:creationId xmlns:p14="http://schemas.microsoft.com/office/powerpoint/2010/main" val="98605639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B1A348CE-F902-858F-1115-FEA91C011959}"/>
              </a:ext>
            </a:extLst>
          </p:cNvPr>
          <p:cNvSpPr>
            <a:spLocks noGrp="1"/>
          </p:cNvSpPr>
          <p:nvPr>
            <p:ph type="title"/>
          </p:nvPr>
        </p:nvSpPr>
        <p:spPr>
          <a:xfrm>
            <a:off x="838200" y="365125"/>
            <a:ext cx="10515600" cy="1325563"/>
          </a:xfrm>
        </p:spPr>
        <p:txBody>
          <a:bodyPr anchor="ctr">
            <a:normAutofit/>
          </a:bodyPr>
          <a:lstStyle/>
          <a:p>
            <a:r>
              <a:rPr lang="en-US"/>
              <a:t>Solution: Android Contacts Provider</a:t>
            </a:r>
          </a:p>
        </p:txBody>
      </p:sp>
      <p:sp>
        <p:nvSpPr>
          <p:cNvPr id="5" name="Content Placeholder 4">
            <a:extLst>
              <a:ext uri="{FF2B5EF4-FFF2-40B4-BE49-F238E27FC236}">
                <a16:creationId xmlns:a16="http://schemas.microsoft.com/office/drawing/2014/main" id="{567409DB-2A6A-4075-281A-E5EC4037B977}"/>
              </a:ext>
            </a:extLst>
          </p:cNvPr>
          <p:cNvSpPr>
            <a:spLocks noGrp="1"/>
          </p:cNvSpPr>
          <p:nvPr>
            <p:ph sz="half" idx="1"/>
          </p:nvPr>
        </p:nvSpPr>
        <p:spPr>
          <a:xfrm>
            <a:off x="838200" y="1825625"/>
            <a:ext cx="5181600" cy="4351338"/>
          </a:xfrm>
        </p:spPr>
        <p:txBody>
          <a:bodyPr>
            <a:normAutofit/>
          </a:bodyPr>
          <a:lstStyle/>
          <a:p>
            <a:pPr>
              <a:defRPr sz="2300">
                <a:latin typeface="Arial"/>
              </a:defRPr>
            </a:pPr>
            <a:r>
              <a:rPr lang="en-US" sz="2300"/>
              <a:t>Android centralizes contact storage in com.android.providers.contacts.</a:t>
            </a:r>
          </a:p>
          <a:p>
            <a:pPr>
              <a:defRPr sz="2300">
                <a:latin typeface="Arial"/>
              </a:defRPr>
            </a:pPr>
            <a:r>
              <a:rPr lang="en-US" sz="2300"/>
              <a:t>The Contacts app displays unified contacts assembled from one or more raw contact records.</a:t>
            </a:r>
          </a:p>
          <a:p>
            <a:pPr>
              <a:defRPr sz="2300">
                <a:latin typeface="Arial"/>
              </a:defRPr>
            </a:pPr>
            <a:r>
              <a:rPr lang="en-US" sz="2300"/>
              <a:t>Raw contacts preserve source-account context such as Google, SIM, WhatsApp, or Telegram.</a:t>
            </a:r>
          </a:p>
          <a:p>
            <a:pPr>
              <a:defRPr sz="2300">
                <a:latin typeface="Arial"/>
              </a:defRPr>
            </a:pPr>
            <a:r>
              <a:rPr lang="en-US" sz="2300"/>
              <a:t>The provider also supports groups, photos, lookup/search, sync metadata, profile data, and call-log integration.</a:t>
            </a:r>
          </a:p>
        </p:txBody>
      </p:sp>
      <p:pic>
        <p:nvPicPr>
          <p:cNvPr id="11" name="Picture 10">
            <a:extLst>
              <a:ext uri="{FF2B5EF4-FFF2-40B4-BE49-F238E27FC236}">
                <a16:creationId xmlns:a16="http://schemas.microsoft.com/office/drawing/2014/main" id="{65F8E114-2054-A512-635A-9607F7D47997}"/>
              </a:ext>
            </a:extLst>
          </p:cNvPr>
          <p:cNvPicPr>
            <a:picLocks noChangeAspect="1"/>
          </p:cNvPicPr>
          <p:nvPr/>
        </p:nvPicPr>
        <p:blipFill>
          <a:blip r:embed="rId2"/>
          <a:stretch>
            <a:fillRect/>
          </a:stretch>
        </p:blipFill>
        <p:spPr>
          <a:xfrm>
            <a:off x="6172200" y="2058194"/>
            <a:ext cx="5181600" cy="3886200"/>
          </a:xfrm>
          <a:prstGeom prst="rect">
            <a:avLst/>
          </a:prstGeom>
          <a:noFill/>
        </p:spPr>
      </p:pic>
    </p:spTree>
    <p:extLst>
      <p:ext uri="{BB962C8B-B14F-4D97-AF65-F5344CB8AC3E}">
        <p14:creationId xmlns:p14="http://schemas.microsoft.com/office/powerpoint/2010/main" val="298239108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39D975-7456-4595-B1F8-E2A3C1366F1E}"/>
              </a:ext>
            </a:extLst>
          </p:cNvPr>
          <p:cNvSpPr>
            <a:spLocks noGrp="1"/>
          </p:cNvSpPr>
          <p:nvPr>
            <p:ph type="title"/>
          </p:nvPr>
        </p:nvSpPr>
        <p:spPr/>
        <p:txBody>
          <a:bodyPr/>
          <a:lstStyle/>
          <a:p>
            <a:r>
              <a:rPr sz="4000">
                <a:solidFill>
                  <a:srgbClr val="000000"/>
                </a:solidFill>
                <a:latin typeface="Arial"/>
              </a:rPr>
              <a:t>Forensic Value of Contact Services</a:t>
            </a:r>
          </a:p>
        </p:txBody>
      </p:sp>
      <p:sp>
        <p:nvSpPr>
          <p:cNvPr id="3" name="Content Placeholder 2">
            <a:extLst>
              <a:ext uri="{FF2B5EF4-FFF2-40B4-BE49-F238E27FC236}">
                <a16:creationId xmlns:a16="http://schemas.microsoft.com/office/drawing/2014/main" id="{6297DEE8-5EE2-40FC-A721-E542FC1E3A2C}"/>
              </a:ext>
            </a:extLst>
          </p:cNvPr>
          <p:cNvSpPr>
            <a:spLocks noGrp="1"/>
          </p:cNvSpPr>
          <p:nvPr>
            <p:ph idx="1"/>
          </p:nvPr>
        </p:nvSpPr>
        <p:spPr>
          <a:xfrm>
            <a:off x="838200" y="1825625"/>
            <a:ext cx="10015330" cy="4040893"/>
          </a:xfrm>
        </p:spPr>
        <p:txBody>
          <a:bodyPr vert="horz" wrap="square" lIns="91440" tIns="45720" rIns="91440" bIns="45720" rtlCol="0" anchor="t">
            <a:normAutofit/>
          </a:bodyPr>
          <a:lstStyle/>
          <a:p>
            <a:pPr>
              <a:defRPr sz="2200">
                <a:latin typeface="Arial"/>
              </a:defRPr>
            </a:pPr>
            <a:r>
              <a:t>Linked accounts: identify contact sources and communication platforms used on the device.</a:t>
            </a:r>
          </a:p>
          <a:p>
            <a:pPr>
              <a:defRPr sz="2200">
                <a:latin typeface="Arial"/>
              </a:defRPr>
            </a:pPr>
            <a:r>
              <a:t>Contact details: recover phone numbers, emails, addresses, names, photos, and notes.</a:t>
            </a:r>
          </a:p>
          <a:p>
            <a:pPr>
              <a:defRPr sz="2200">
                <a:latin typeface="Arial"/>
              </a:defRPr>
            </a:pPr>
            <a:r>
              <a:t>Relationship mapping: connect contacts to messages, calls, groups, favorites, and account sources.</a:t>
            </a:r>
          </a:p>
          <a:p>
            <a:pPr>
              <a:defRPr sz="2200">
                <a:latin typeface="Arial"/>
              </a:defRPr>
            </a:pPr>
            <a:r>
              <a:t>Timeline evidence: interpret last-contacted and last-updated timestamps when populated.</a:t>
            </a:r>
          </a:p>
          <a:p>
            <a:pPr>
              <a:defRPr sz="2200">
                <a:latin typeface="Arial"/>
              </a:defRPr>
            </a:pPr>
            <a:r>
              <a:t>Privacy caution: treat recovered contact/profile data as sensitive PII.</a:t>
            </a:r>
          </a:p>
        </p:txBody>
      </p:sp>
    </p:spTree>
    <p:extLst>
      <p:ext uri="{BB962C8B-B14F-4D97-AF65-F5344CB8AC3E}">
        <p14:creationId xmlns:p14="http://schemas.microsoft.com/office/powerpoint/2010/main" val="191509324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572D26-C76B-40C2-8C25-7A62A98E56E5}"/>
              </a:ext>
            </a:extLst>
          </p:cNvPr>
          <p:cNvSpPr>
            <a:spLocks noGrp="1"/>
          </p:cNvSpPr>
          <p:nvPr>
            <p:ph type="title"/>
          </p:nvPr>
        </p:nvSpPr>
        <p:spPr/>
        <p:txBody>
          <a:bodyPr/>
          <a:lstStyle/>
          <a:p>
            <a:r>
              <a:rPr sz="4000">
                <a:solidFill>
                  <a:srgbClr val="000000"/>
                </a:solidFill>
                <a:latin typeface="Arial"/>
              </a:rPr>
              <a:t>Sample Investigation Questions</a:t>
            </a:r>
          </a:p>
        </p:txBody>
      </p:sp>
      <p:sp>
        <p:nvSpPr>
          <p:cNvPr id="3" name="Content Placeholder 2">
            <a:extLst>
              <a:ext uri="{FF2B5EF4-FFF2-40B4-BE49-F238E27FC236}">
                <a16:creationId xmlns:a16="http://schemas.microsoft.com/office/drawing/2014/main" id="{81D7C072-6EBA-4325-9637-2FB7FBBE1357}"/>
              </a:ext>
            </a:extLst>
          </p:cNvPr>
          <p:cNvSpPr>
            <a:spLocks noGrp="1"/>
          </p:cNvSpPr>
          <p:nvPr>
            <p:ph idx="1"/>
          </p:nvPr>
        </p:nvSpPr>
        <p:spPr>
          <a:xfrm>
            <a:off x="838200" y="1825625"/>
            <a:ext cx="9057640" cy="4351338"/>
          </a:xfrm>
        </p:spPr>
        <p:txBody>
          <a:bodyPr vert="horz" wrap="square" lIns="91440" tIns="45720" rIns="91440" bIns="45720" rtlCol="0" anchor="t">
            <a:normAutofit/>
          </a:bodyPr>
          <a:lstStyle/>
          <a:p>
            <a:pPr>
              <a:defRPr sz="2100">
                <a:latin typeface="Arial"/>
              </a:defRPr>
            </a:pPr>
            <a:r>
              <a:rPr dirty="0"/>
              <a:t>Owner profile: What personal information is stored for the device owner?</a:t>
            </a:r>
          </a:p>
          <a:p>
            <a:pPr>
              <a:defRPr sz="2100">
                <a:latin typeface="Arial"/>
              </a:defRPr>
            </a:pPr>
            <a:r>
              <a:rPr dirty="0"/>
              <a:t>Contact inventory: How many contacts and raw contacts are present?</a:t>
            </a:r>
          </a:p>
          <a:p>
            <a:pPr>
              <a:defRPr sz="2100">
                <a:latin typeface="Arial"/>
              </a:defRPr>
            </a:pPr>
            <a:r>
              <a:rPr dirty="0"/>
              <a:t>Accounts: Which Google, SIM, or third-party accounts contributed contact records?</a:t>
            </a:r>
          </a:p>
          <a:p>
            <a:pPr>
              <a:defRPr sz="2100">
                <a:latin typeface="Arial"/>
              </a:defRPr>
            </a:pPr>
            <a:r>
              <a:rPr dirty="0"/>
              <a:t>Groups: What groups exist, and which contacts belong to each group?</a:t>
            </a:r>
          </a:p>
          <a:p>
            <a:pPr>
              <a:defRPr sz="2100">
                <a:latin typeface="Arial"/>
              </a:defRPr>
            </a:pPr>
            <a:r>
              <a:rPr dirty="0"/>
              <a:t>Deleted records: Are any raw contacts marked as deleted but still recoverable?</a:t>
            </a:r>
          </a:p>
          <a:p>
            <a:pPr>
              <a:defRPr sz="2100">
                <a:latin typeface="Arial"/>
              </a:defRPr>
            </a:pPr>
            <a:r>
              <a:rPr dirty="0"/>
              <a:t>Call logs: What numbers, times, call types, durations, and voicemail records appear?</a:t>
            </a:r>
          </a:p>
        </p:txBody>
      </p:sp>
    </p:spTree>
    <p:extLst>
      <p:ext uri="{BB962C8B-B14F-4D97-AF65-F5344CB8AC3E}">
        <p14:creationId xmlns:p14="http://schemas.microsoft.com/office/powerpoint/2010/main" val="223657764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A9A0F105-76D5-4295-8E5D-B93F1BA2EFC3}"/>
              </a:ext>
            </a:extLst>
          </p:cNvPr>
          <p:cNvSpPr>
            <a:spLocks noGrp="1"/>
          </p:cNvSpPr>
          <p:nvPr>
            <p:ph type="title"/>
          </p:nvPr>
        </p:nvSpPr>
        <p:spPr/>
        <p:txBody>
          <a:bodyPr/>
          <a:lstStyle/>
          <a:p>
            <a:r>
              <a:rPr lang="en-US" dirty="0"/>
              <a:t>Contacts Service Files Overview</a:t>
            </a:r>
          </a:p>
        </p:txBody>
      </p:sp>
      <p:sp>
        <p:nvSpPr>
          <p:cNvPr id="5" name="Text Placeholder 4">
            <a:extLst>
              <a:ext uri="{FF2B5EF4-FFF2-40B4-BE49-F238E27FC236}">
                <a16:creationId xmlns:a16="http://schemas.microsoft.com/office/drawing/2014/main" id="{CADC7DFC-45AE-42EB-8200-CE7BA0540693}"/>
              </a:ext>
            </a:extLst>
          </p:cNvPr>
          <p:cNvSpPr>
            <a:spLocks noGrp="1"/>
          </p:cNvSpPr>
          <p:nvPr>
            <p:ph type="body" idx="1"/>
          </p:nvPr>
        </p:nvSpPr>
        <p:spPr/>
        <p:txBody>
          <a:bodyPr/>
          <a:lstStyle/>
          <a:p>
            <a:endParaRPr lang="en-US"/>
          </a:p>
        </p:txBody>
      </p:sp>
    </p:spTree>
    <p:extLst>
      <p:ext uri="{BB962C8B-B14F-4D97-AF65-F5344CB8AC3E}">
        <p14:creationId xmlns:p14="http://schemas.microsoft.com/office/powerpoint/2010/main" val="316177271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4846115-D091-423E-AE4E-04BCA058EA6F}"/>
              </a:ext>
            </a:extLst>
          </p:cNvPr>
          <p:cNvSpPr>
            <a:spLocks noGrp="1"/>
          </p:cNvSpPr>
          <p:nvPr>
            <p:ph type="title"/>
          </p:nvPr>
        </p:nvSpPr>
        <p:spPr/>
        <p:txBody>
          <a:bodyPr/>
          <a:lstStyle/>
          <a:p>
            <a:r>
              <a:rPr lang="en-US" dirty="0"/>
              <a:t>Contact management services files</a:t>
            </a:r>
            <a:endParaRPr lang="en-US" dirty="0">
              <a:cs typeface="Calibri Light"/>
            </a:endParaRPr>
          </a:p>
        </p:txBody>
      </p:sp>
      <p:pic>
        <p:nvPicPr>
          <p:cNvPr id="4" name="Picture 3">
            <a:extLst>
              <a:ext uri="{FF2B5EF4-FFF2-40B4-BE49-F238E27FC236}">
                <a16:creationId xmlns:a16="http://schemas.microsoft.com/office/drawing/2014/main" id="{9EF36B8E-EE71-B834-DD02-EE3B4D39B411}"/>
              </a:ext>
            </a:extLst>
          </p:cNvPr>
          <p:cNvPicPr>
            <a:picLocks noChangeAspect="1"/>
          </p:cNvPicPr>
          <p:nvPr/>
        </p:nvPicPr>
        <p:blipFill>
          <a:blip r:embed="rId3"/>
          <a:stretch>
            <a:fillRect/>
          </a:stretch>
        </p:blipFill>
        <p:spPr>
          <a:xfrm>
            <a:off x="838199" y="2022987"/>
            <a:ext cx="6337109" cy="3177165"/>
          </a:xfrm>
          <a:prstGeom prst="rect">
            <a:avLst/>
          </a:prstGeom>
        </p:spPr>
      </p:pic>
    </p:spTree>
    <p:extLst>
      <p:ext uri="{BB962C8B-B14F-4D97-AF65-F5344CB8AC3E}">
        <p14:creationId xmlns:p14="http://schemas.microsoft.com/office/powerpoint/2010/main" val="90697562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4000">
                <a:solidFill>
                  <a:srgbClr val="000000"/>
                </a:solidFill>
                <a:latin typeface="Arial"/>
              </a:rPr>
              <a:t>Contacts Provider Investigation Roadmap</a:t>
            </a:r>
          </a:p>
        </p:txBody>
      </p:sp>
      <p:sp>
        <p:nvSpPr>
          <p:cNvPr id="3" name="Content Placeholder 2"/>
          <p:cNvSpPr>
            <a:spLocks noGrp="1"/>
          </p:cNvSpPr>
          <p:nvPr>
            <p:ph idx="1"/>
          </p:nvPr>
        </p:nvSpPr>
        <p:spPr/>
        <p:txBody>
          <a:bodyPr wrap="square">
            <a:normAutofit/>
          </a:bodyPr>
          <a:lstStyle/>
          <a:p>
            <a:pPr marL="457200" indent="-457200">
              <a:buFont typeface="+mj-lt"/>
              <a:buAutoNum type="arabicPeriod"/>
              <a:defRPr sz="2200">
                <a:latin typeface="Arial"/>
              </a:defRPr>
            </a:pPr>
            <a:r>
              <a:rPr dirty="0"/>
              <a:t>Identify package: </a:t>
            </a:r>
            <a:r>
              <a:rPr dirty="0" err="1"/>
              <a:t>com.android.providers.contacts</a:t>
            </a:r>
            <a:endParaRPr dirty="0"/>
          </a:p>
          <a:p>
            <a:pPr marL="457200" indent="-457200">
              <a:buFont typeface="+mj-lt"/>
              <a:buAutoNum type="arabicPeriod"/>
              <a:defRPr sz="2200">
                <a:latin typeface="Arial"/>
              </a:defRPr>
            </a:pPr>
            <a:r>
              <a:rPr dirty="0"/>
              <a:t>Locate databases: contacts2.db, </a:t>
            </a:r>
            <a:r>
              <a:rPr dirty="0" err="1"/>
              <a:t>calllog.db</a:t>
            </a:r>
            <a:r>
              <a:rPr dirty="0"/>
              <a:t>, </a:t>
            </a:r>
            <a:r>
              <a:rPr dirty="0" err="1"/>
              <a:t>profile.db</a:t>
            </a:r>
            <a:endParaRPr dirty="0"/>
          </a:p>
          <a:p>
            <a:pPr marL="457200" indent="-457200">
              <a:buFont typeface="+mj-lt"/>
              <a:buAutoNum type="arabicPeriod"/>
              <a:defRPr sz="2200">
                <a:latin typeface="Arial"/>
              </a:defRPr>
            </a:pPr>
            <a:r>
              <a:rPr dirty="0"/>
              <a:t>Inventory tables and schemas using SQLite tools</a:t>
            </a:r>
          </a:p>
          <a:p>
            <a:pPr marL="457200" indent="-457200">
              <a:buFont typeface="+mj-lt"/>
              <a:buAutoNum type="arabicPeriod"/>
              <a:defRPr sz="2200">
                <a:latin typeface="Arial"/>
              </a:defRPr>
            </a:pPr>
            <a:r>
              <a:rPr dirty="0"/>
              <a:t>Reconstruct contacts using accounts → </a:t>
            </a:r>
            <a:r>
              <a:rPr dirty="0" err="1"/>
              <a:t>raw_contacts</a:t>
            </a:r>
            <a:r>
              <a:rPr dirty="0"/>
              <a:t> → contacts → data → </a:t>
            </a:r>
            <a:r>
              <a:rPr dirty="0" err="1"/>
              <a:t>mimetypes</a:t>
            </a:r>
            <a:endParaRPr dirty="0"/>
          </a:p>
          <a:p>
            <a:pPr marL="457200" indent="-457200">
              <a:buFont typeface="+mj-lt"/>
              <a:buAutoNum type="arabicPeriod"/>
              <a:defRPr sz="2200">
                <a:latin typeface="Arial"/>
              </a:defRPr>
            </a:pPr>
            <a:r>
              <a:rPr dirty="0"/>
              <a:t>Investigate groups, deleted flags, call logs, voicemail, and owner profile data</a:t>
            </a:r>
          </a:p>
          <a:p>
            <a:pPr marL="457200" indent="-457200">
              <a:buFont typeface="+mj-lt"/>
              <a:buAutoNum type="arabicPeriod"/>
              <a:defRPr sz="2200">
                <a:latin typeface="Arial"/>
              </a:defRPr>
            </a:pPr>
            <a:r>
              <a:rPr dirty="0"/>
              <a:t>Report extracted values, joins, interpretation, and limitations</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A20D8A42-32FB-DF1A-513C-19B95E6FC2E7}"/>
              </a:ext>
            </a:extLst>
          </p:cNvPr>
          <p:cNvSpPr>
            <a:spLocks noGrp="1"/>
          </p:cNvSpPr>
          <p:nvPr>
            <p:ph type="title"/>
          </p:nvPr>
        </p:nvSpPr>
        <p:spPr/>
        <p:txBody>
          <a:bodyPr/>
          <a:lstStyle/>
          <a:p>
            <a:r>
              <a:rPr lang="en-US" dirty="0"/>
              <a:t>Tables in </a:t>
            </a:r>
            <a:r>
              <a:rPr lang="en-US" dirty="0">
                <a:solidFill>
                  <a:schemeClr val="accent2"/>
                </a:solidFill>
              </a:rPr>
              <a:t>contacts2.db</a:t>
            </a:r>
          </a:p>
        </p:txBody>
      </p:sp>
      <p:pic>
        <p:nvPicPr>
          <p:cNvPr id="6" name="Picture 5">
            <a:extLst>
              <a:ext uri="{FF2B5EF4-FFF2-40B4-BE49-F238E27FC236}">
                <a16:creationId xmlns:a16="http://schemas.microsoft.com/office/drawing/2014/main" id="{8C626083-DC03-BB3B-95BA-C26A847B50A4}"/>
              </a:ext>
            </a:extLst>
          </p:cNvPr>
          <p:cNvPicPr>
            <a:picLocks noChangeAspect="1"/>
          </p:cNvPicPr>
          <p:nvPr/>
        </p:nvPicPr>
        <p:blipFill>
          <a:blip r:embed="rId3"/>
          <a:stretch>
            <a:fillRect/>
          </a:stretch>
        </p:blipFill>
        <p:spPr>
          <a:xfrm>
            <a:off x="1042274" y="1324989"/>
            <a:ext cx="7849280" cy="5273497"/>
          </a:xfrm>
          <a:prstGeom prst="rect">
            <a:avLst/>
          </a:prstGeom>
        </p:spPr>
      </p:pic>
      <p:sp>
        <p:nvSpPr>
          <p:cNvPr id="2" name="Rectangle 1">
            <a:extLst>
              <a:ext uri="{FF2B5EF4-FFF2-40B4-BE49-F238E27FC236}">
                <a16:creationId xmlns:a16="http://schemas.microsoft.com/office/drawing/2014/main" id="{9A72D235-3F26-5C4A-BBBC-053F230557A0}"/>
              </a:ext>
            </a:extLst>
          </p:cNvPr>
          <p:cNvSpPr/>
          <p:nvPr/>
        </p:nvSpPr>
        <p:spPr>
          <a:xfrm>
            <a:off x="3636169" y="3500438"/>
            <a:ext cx="1243012" cy="207168"/>
          </a:xfrm>
          <a:prstGeom prst="rect">
            <a:avLst/>
          </a:prstGeom>
          <a:noFill/>
          <a:ln>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13718653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4" name="Connector 3"/>
          <p:cNvCxnSpPr/>
          <p:nvPr/>
        </p:nvCxnSpPr>
        <p:spPr>
          <a:xfrm>
            <a:off x="2240280" y="0"/>
            <a:ext cx="329184" cy="0"/>
          </a:xfrm>
          <a:prstGeom prst="line">
            <a:avLst/>
          </a:prstGeom>
          <a:ln w="25400">
            <a:solidFill>
              <a:srgbClr val="1F4E79"/>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123944" y="0"/>
            <a:ext cx="329184" cy="0"/>
          </a:xfrm>
          <a:prstGeom prst="line">
            <a:avLst/>
          </a:prstGeom>
          <a:ln w="25400">
            <a:solidFill>
              <a:srgbClr val="1F4E7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6007608" y="0"/>
            <a:ext cx="329184" cy="0"/>
          </a:xfrm>
          <a:prstGeom prst="line">
            <a:avLst/>
          </a:prstGeom>
          <a:ln w="25400">
            <a:solidFill>
              <a:srgbClr val="1F4E79"/>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7891272" y="0"/>
            <a:ext cx="329184" cy="0"/>
          </a:xfrm>
          <a:prstGeom prst="line">
            <a:avLst/>
          </a:prstGeom>
          <a:ln w="25400">
            <a:solidFill>
              <a:srgbClr val="1F4E79"/>
            </a:solidFill>
          </a:ln>
        </p:spPr>
        <p:style>
          <a:lnRef idx="2">
            <a:schemeClr val="accent1"/>
          </a:lnRef>
          <a:fillRef idx="0">
            <a:schemeClr val="accent1"/>
          </a:fillRef>
          <a:effectRef idx="1">
            <a:schemeClr val="accent1"/>
          </a:effectRef>
          <a:fontRef idx="minor">
            <a:schemeClr val="tx1"/>
          </a:fontRef>
        </p:style>
      </p:cxnSp>
      <p:pic>
        <p:nvPicPr>
          <p:cNvPr id="18" name="Picture 17">
            <a:extLst>
              <a:ext uri="{FF2B5EF4-FFF2-40B4-BE49-F238E27FC236}">
                <a16:creationId xmlns:a16="http://schemas.microsoft.com/office/drawing/2014/main" id="{23A1AA82-D587-3F74-D974-CF5B2B1CDAF0}"/>
              </a:ext>
            </a:extLst>
          </p:cNvPr>
          <p:cNvPicPr>
            <a:picLocks noChangeAspect="1"/>
          </p:cNvPicPr>
          <p:nvPr/>
        </p:nvPicPr>
        <p:blipFill>
          <a:blip r:embed="rId2"/>
          <a:stretch>
            <a:fillRect/>
          </a:stretch>
        </p:blipFill>
        <p:spPr>
          <a:xfrm>
            <a:off x="952500" y="0"/>
            <a:ext cx="10287000" cy="685800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7B4434-0663-67C8-CAAB-BCA7A1626460}"/>
              </a:ext>
            </a:extLst>
          </p:cNvPr>
          <p:cNvSpPr>
            <a:spLocks noGrp="1"/>
          </p:cNvSpPr>
          <p:nvPr>
            <p:ph type="title"/>
          </p:nvPr>
        </p:nvSpPr>
        <p:spPr/>
        <p:txBody>
          <a:bodyPr/>
          <a:lstStyle/>
          <a:p>
            <a:r>
              <a:rPr sz="4000">
                <a:solidFill>
                  <a:srgbClr val="000000"/>
                </a:solidFill>
                <a:latin typeface="Arial"/>
              </a:rPr>
              <a:t>High-Value Tables in contacts2.db</a:t>
            </a:r>
          </a:p>
        </p:txBody>
      </p:sp>
      <p:sp>
        <p:nvSpPr>
          <p:cNvPr id="3" name="Content Placeholder 2">
            <a:extLst>
              <a:ext uri="{FF2B5EF4-FFF2-40B4-BE49-F238E27FC236}">
                <a16:creationId xmlns:a16="http://schemas.microsoft.com/office/drawing/2014/main" id="{B7096262-592C-6164-A1CC-03CEF1095C1E}"/>
              </a:ext>
            </a:extLst>
          </p:cNvPr>
          <p:cNvSpPr>
            <a:spLocks noGrp="1"/>
          </p:cNvSpPr>
          <p:nvPr>
            <p:ph idx="1"/>
          </p:nvPr>
        </p:nvSpPr>
        <p:spPr/>
        <p:txBody>
          <a:bodyPr wrap="square">
            <a:normAutofit/>
          </a:bodyPr>
          <a:lstStyle/>
          <a:p>
            <a:pPr>
              <a:defRPr sz="2000">
                <a:latin typeface="Arial"/>
              </a:defRPr>
            </a:pPr>
            <a:r>
              <a:t>accounts: synced account names and account types.</a:t>
            </a:r>
            <a:endParaRPr lang="en-US" dirty="0"/>
          </a:p>
          <a:p>
            <a:pPr>
              <a:defRPr sz="2000">
                <a:latin typeface="Arial"/>
              </a:defRPr>
            </a:pPr>
            <a:r>
              <a:t>raw_contacts: account-specific contact records; may expose source, sync state, and deleted flags.</a:t>
            </a:r>
          </a:p>
          <a:p>
            <a:pPr>
              <a:defRPr sz="2000">
                <a:latin typeface="Arial"/>
              </a:defRPr>
            </a:pPr>
            <a:r>
              <a:t>contacts: unified contact records shown to the user.</a:t>
            </a:r>
          </a:p>
          <a:p>
            <a:pPr>
              <a:defRPr sz="2000">
                <a:latin typeface="Arial"/>
              </a:defRPr>
            </a:pPr>
            <a:r>
              <a:t>data: actual values such as names, phone numbers, emails, addresses, notes, and group memberships.</a:t>
            </a:r>
          </a:p>
          <a:p>
            <a:pPr>
              <a:defRPr sz="2000">
                <a:latin typeface="Arial"/>
              </a:defRPr>
            </a:pPr>
            <a:r>
              <a:t>mimetypes: explains what each row in data represents.</a:t>
            </a:r>
          </a:p>
          <a:p>
            <a:pPr>
              <a:defRPr sz="2000">
                <a:latin typeface="Arial"/>
              </a:defRPr>
            </a:pPr>
            <a:r>
              <a:t>groups: user-defined or synced contact groups.</a:t>
            </a:r>
          </a:p>
          <a:p>
            <a:pPr>
              <a:defRPr sz="2000">
                <a:latin typeface="Arial"/>
              </a:defRPr>
            </a:pPr>
            <a:r>
              <a:t>phone_lookup: maps phone numbers to contacts for calls and messages.</a:t>
            </a:r>
          </a:p>
        </p:txBody>
      </p:sp>
    </p:spTree>
    <p:extLst>
      <p:ext uri="{BB962C8B-B14F-4D97-AF65-F5344CB8AC3E}">
        <p14:creationId xmlns:p14="http://schemas.microsoft.com/office/powerpoint/2010/main" val="116554516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DF818B9-88AE-CA7C-09B1-D7EB9177489A}"/>
              </a:ext>
            </a:extLst>
          </p:cNvPr>
          <p:cNvSpPr>
            <a:spLocks noGrp="1"/>
          </p:cNvSpPr>
          <p:nvPr>
            <p:ph type="title"/>
          </p:nvPr>
        </p:nvSpPr>
        <p:spPr/>
        <p:txBody>
          <a:bodyPr/>
          <a:lstStyle/>
          <a:p>
            <a:r>
              <a:rPr sz="4000">
                <a:solidFill>
                  <a:srgbClr val="000000"/>
                </a:solidFill>
                <a:latin typeface="Arial"/>
              </a:rPr>
              <a:t>accounts Table</a:t>
            </a:r>
          </a:p>
        </p:txBody>
      </p:sp>
      <p:sp>
        <p:nvSpPr>
          <p:cNvPr id="3" name="Content Placeholder 2">
            <a:extLst>
              <a:ext uri="{FF2B5EF4-FFF2-40B4-BE49-F238E27FC236}">
                <a16:creationId xmlns:a16="http://schemas.microsoft.com/office/drawing/2014/main" id="{271FA80F-E820-B333-2ECC-B57DE6D066AD}"/>
              </a:ext>
            </a:extLst>
          </p:cNvPr>
          <p:cNvSpPr>
            <a:spLocks noGrp="1"/>
          </p:cNvSpPr>
          <p:nvPr>
            <p:ph idx="1"/>
          </p:nvPr>
        </p:nvSpPr>
        <p:spPr/>
        <p:txBody>
          <a:bodyPr wrap="square">
            <a:normAutofit/>
          </a:bodyPr>
          <a:lstStyle/>
          <a:p>
            <a:pPr>
              <a:defRPr sz="2300">
                <a:latin typeface="Arial"/>
              </a:defRPr>
            </a:pPr>
            <a:r>
              <a:t>Stores account sources that contribute contact data.</a:t>
            </a:r>
          </a:p>
          <a:p>
            <a:pPr>
              <a:defRPr sz="2300">
                <a:latin typeface="Arial"/>
              </a:defRPr>
            </a:pPr>
            <a:r>
              <a:t>Important fields: _id, account_name, account_type, data_set.</a:t>
            </a:r>
          </a:p>
          <a:p>
            <a:pPr>
              <a:defRPr sz="2300">
                <a:latin typeface="Arial"/>
              </a:defRPr>
            </a:pPr>
            <a:r>
              <a:t>Forensic value: reveals linked platforms such as Google, SIM, Exchange, WhatsApp, or Telegram.</a:t>
            </a:r>
          </a:p>
          <a:p>
            <a:pPr>
              <a:defRPr sz="2300">
                <a:latin typeface="Arial"/>
              </a:defRPr>
            </a:pPr>
            <a:r>
              <a:t>Use accounts._id to explain where a raw contact came from.</a:t>
            </a:r>
          </a:p>
        </p:txBody>
      </p:sp>
    </p:spTree>
    <p:extLst>
      <p:ext uri="{BB962C8B-B14F-4D97-AF65-F5344CB8AC3E}">
        <p14:creationId xmlns:p14="http://schemas.microsoft.com/office/powerpoint/2010/main" val="302924343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1D9072-EF05-F942-26B7-2E178CACD0F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94E8FA7-2F05-380D-B9EC-9FD858FA4412}"/>
              </a:ext>
            </a:extLst>
          </p:cNvPr>
          <p:cNvSpPr>
            <a:spLocks noGrp="1"/>
          </p:cNvSpPr>
          <p:nvPr>
            <p:ph type="title"/>
          </p:nvPr>
        </p:nvSpPr>
        <p:spPr/>
        <p:txBody>
          <a:bodyPr/>
          <a:lstStyle/>
          <a:p>
            <a:r>
              <a:rPr sz="4000">
                <a:solidFill>
                  <a:srgbClr val="000000"/>
                </a:solidFill>
                <a:latin typeface="Arial"/>
              </a:rPr>
              <a:t>raw_contacts Table</a:t>
            </a:r>
          </a:p>
        </p:txBody>
      </p:sp>
      <p:sp>
        <p:nvSpPr>
          <p:cNvPr id="3" name="Content Placeholder 2">
            <a:extLst>
              <a:ext uri="{FF2B5EF4-FFF2-40B4-BE49-F238E27FC236}">
                <a16:creationId xmlns:a16="http://schemas.microsoft.com/office/drawing/2014/main" id="{0A57CE4F-7CB7-8C3B-18F9-E457343C5974}"/>
              </a:ext>
            </a:extLst>
          </p:cNvPr>
          <p:cNvSpPr>
            <a:spLocks noGrp="1"/>
          </p:cNvSpPr>
          <p:nvPr>
            <p:ph idx="1"/>
          </p:nvPr>
        </p:nvSpPr>
        <p:spPr/>
        <p:txBody>
          <a:bodyPr wrap="square">
            <a:normAutofit/>
          </a:bodyPr>
          <a:lstStyle/>
          <a:p>
            <a:pPr>
              <a:defRPr sz="2200">
                <a:latin typeface="Arial"/>
              </a:defRPr>
            </a:pPr>
            <a:r>
              <a:t>Stores account-specific contact records from different sources.</a:t>
            </a:r>
          </a:p>
          <a:p>
            <a:pPr>
              <a:defRPr sz="2200">
                <a:latin typeface="Arial"/>
              </a:defRPr>
            </a:pPr>
            <a:r>
              <a:t>Important fields: _id, account_id, contact_id, display_name, deleted, dirty, sync1–sync4.</a:t>
            </a:r>
          </a:p>
          <a:p>
            <a:pPr>
              <a:defRPr sz="2200">
                <a:latin typeface="Arial"/>
              </a:defRPr>
            </a:pPr>
            <a:r>
              <a:t>Forensic value: identifies the source account, sync state, and whether a record was marked deleted.</a:t>
            </a:r>
          </a:p>
          <a:p>
            <a:pPr>
              <a:defRPr sz="2200">
                <a:latin typeface="Arial"/>
              </a:defRPr>
            </a:pPr>
            <a:r>
              <a:t>Several raw_contacts rows can aggregate into one contacts row.</a:t>
            </a:r>
          </a:p>
        </p:txBody>
      </p:sp>
    </p:spTree>
    <p:extLst>
      <p:ext uri="{BB962C8B-B14F-4D97-AF65-F5344CB8AC3E}">
        <p14:creationId xmlns:p14="http://schemas.microsoft.com/office/powerpoint/2010/main" val="312513780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39FDF4-4522-1A75-CDB5-236B3004A6DE}"/>
              </a:ext>
            </a:extLst>
          </p:cNvPr>
          <p:cNvSpPr>
            <a:spLocks noGrp="1"/>
          </p:cNvSpPr>
          <p:nvPr>
            <p:ph type="title"/>
          </p:nvPr>
        </p:nvSpPr>
        <p:spPr/>
        <p:txBody>
          <a:bodyPr/>
          <a:lstStyle/>
          <a:p>
            <a:r>
              <a:rPr sz="4000">
                <a:solidFill>
                  <a:srgbClr val="000000"/>
                </a:solidFill>
                <a:latin typeface="Arial"/>
              </a:rPr>
              <a:t>contacts Table</a:t>
            </a:r>
          </a:p>
        </p:txBody>
      </p:sp>
      <p:sp>
        <p:nvSpPr>
          <p:cNvPr id="3" name="Content Placeholder 2">
            <a:extLst>
              <a:ext uri="{FF2B5EF4-FFF2-40B4-BE49-F238E27FC236}">
                <a16:creationId xmlns:a16="http://schemas.microsoft.com/office/drawing/2014/main" id="{DFB87D12-189A-3578-EE91-6AB124A317F0}"/>
              </a:ext>
            </a:extLst>
          </p:cNvPr>
          <p:cNvSpPr>
            <a:spLocks noGrp="1"/>
          </p:cNvSpPr>
          <p:nvPr>
            <p:ph idx="1"/>
          </p:nvPr>
        </p:nvSpPr>
        <p:spPr/>
        <p:txBody>
          <a:bodyPr wrap="square">
            <a:normAutofit/>
          </a:bodyPr>
          <a:lstStyle/>
          <a:p>
            <a:pPr>
              <a:defRPr sz="2100">
                <a:latin typeface="Arial"/>
              </a:defRPr>
            </a:pPr>
            <a:r>
              <a:t>Stores unified contact records displayed by the Contacts app.</a:t>
            </a:r>
          </a:p>
          <a:p>
            <a:pPr>
              <a:defRPr sz="2100">
                <a:latin typeface="Arial"/>
              </a:defRPr>
            </a:pPr>
            <a:r>
              <a:t>Important fields: _id, name_raw_contact_id, starred, pinned, has_phone_number, lookup, contact_last_updated_timestamp.</a:t>
            </a:r>
          </a:p>
          <a:p>
            <a:pPr>
              <a:defRPr sz="2100">
                <a:latin typeface="Arial"/>
              </a:defRPr>
            </a:pPr>
            <a:r>
              <a:t>Forensic value: provides the investigator’s top-level contact list and user-facing contact state.</a:t>
            </a:r>
          </a:p>
          <a:p>
            <a:pPr>
              <a:defRPr sz="2100">
                <a:latin typeface="Arial"/>
              </a:defRPr>
            </a:pPr>
            <a:r>
              <a:t>Use contacts._id to link back to raw_contacts.contact_id.</a:t>
            </a:r>
          </a:p>
        </p:txBody>
      </p:sp>
    </p:spTree>
    <p:extLst>
      <p:ext uri="{BB962C8B-B14F-4D97-AF65-F5344CB8AC3E}">
        <p14:creationId xmlns:p14="http://schemas.microsoft.com/office/powerpoint/2010/main" val="401485714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D15919-17CE-9F57-6428-BF72D0DC062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C8ABA90-CFEF-C1B4-DCCE-ECC7492D5C00}"/>
              </a:ext>
            </a:extLst>
          </p:cNvPr>
          <p:cNvSpPr>
            <a:spLocks noGrp="1"/>
          </p:cNvSpPr>
          <p:nvPr>
            <p:ph type="title"/>
          </p:nvPr>
        </p:nvSpPr>
        <p:spPr/>
        <p:txBody>
          <a:bodyPr/>
          <a:lstStyle/>
          <a:p>
            <a:r>
              <a:rPr sz="4000">
                <a:solidFill>
                  <a:srgbClr val="000000"/>
                </a:solidFill>
                <a:latin typeface="Arial"/>
              </a:rPr>
              <a:t>data Table</a:t>
            </a:r>
          </a:p>
        </p:txBody>
      </p:sp>
      <p:sp>
        <p:nvSpPr>
          <p:cNvPr id="3" name="Content Placeholder 2">
            <a:extLst>
              <a:ext uri="{FF2B5EF4-FFF2-40B4-BE49-F238E27FC236}">
                <a16:creationId xmlns:a16="http://schemas.microsoft.com/office/drawing/2014/main" id="{78904C20-001C-BB3F-4032-253AA1B17302}"/>
              </a:ext>
            </a:extLst>
          </p:cNvPr>
          <p:cNvSpPr>
            <a:spLocks noGrp="1"/>
          </p:cNvSpPr>
          <p:nvPr>
            <p:ph idx="1"/>
          </p:nvPr>
        </p:nvSpPr>
        <p:spPr/>
        <p:txBody>
          <a:bodyPr wrap="square">
            <a:normAutofit/>
          </a:bodyPr>
          <a:lstStyle/>
          <a:p>
            <a:pPr>
              <a:defRPr sz="2100">
                <a:latin typeface="Arial"/>
              </a:defRPr>
            </a:pPr>
            <a:r>
              <a:rPr dirty="0"/>
              <a:t>Stores the actual contact details: names, phone numbers, emails, addresses, notes, photos, and group memberships.</a:t>
            </a:r>
          </a:p>
          <a:p>
            <a:pPr>
              <a:defRPr sz="2100">
                <a:latin typeface="Arial"/>
              </a:defRPr>
            </a:pPr>
            <a:r>
              <a:rPr dirty="0"/>
              <a:t>Each row belongs to one raw contact: </a:t>
            </a:r>
            <a:r>
              <a:rPr dirty="0" err="1"/>
              <a:t>data.raw_contact_id</a:t>
            </a:r>
            <a:r>
              <a:rPr dirty="0"/>
              <a:t> = </a:t>
            </a:r>
            <a:r>
              <a:rPr dirty="0" err="1"/>
              <a:t>raw_contacts._id</a:t>
            </a:r>
            <a:r>
              <a:rPr dirty="0"/>
              <a:t>.</a:t>
            </a:r>
          </a:p>
          <a:p>
            <a:pPr>
              <a:defRPr sz="2100">
                <a:latin typeface="Arial"/>
              </a:defRPr>
            </a:pPr>
            <a:r>
              <a:rPr dirty="0"/>
              <a:t>The </a:t>
            </a:r>
            <a:r>
              <a:rPr dirty="0" err="1"/>
              <a:t>mimetype_id</a:t>
            </a:r>
            <a:r>
              <a:rPr dirty="0"/>
              <a:t> tells what kind of value is stored in data1, data2, data3, etc.</a:t>
            </a:r>
          </a:p>
          <a:p>
            <a:pPr>
              <a:defRPr sz="2100">
                <a:latin typeface="Arial"/>
              </a:defRPr>
            </a:pPr>
            <a:r>
              <a:rPr dirty="0"/>
              <a:t>Forensic value: this is usually where the most useful contact content is found.</a:t>
            </a:r>
          </a:p>
        </p:txBody>
      </p:sp>
    </p:spTree>
    <p:extLst>
      <p:ext uri="{BB962C8B-B14F-4D97-AF65-F5344CB8AC3E}">
        <p14:creationId xmlns:p14="http://schemas.microsoft.com/office/powerpoint/2010/main" val="263125401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2A3EA4-0CE4-C790-386D-66CD568B8E4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483FC1C-5395-2D9E-3AF8-9AC47FFE1A82}"/>
              </a:ext>
            </a:extLst>
          </p:cNvPr>
          <p:cNvSpPr>
            <a:spLocks noGrp="1"/>
          </p:cNvSpPr>
          <p:nvPr>
            <p:ph type="title"/>
          </p:nvPr>
        </p:nvSpPr>
        <p:spPr/>
        <p:txBody>
          <a:bodyPr/>
          <a:lstStyle/>
          <a:p>
            <a:r>
              <a:rPr sz="4000">
                <a:solidFill>
                  <a:srgbClr val="000000"/>
                </a:solidFill>
                <a:latin typeface="Arial"/>
              </a:rPr>
              <a:t>groups Table</a:t>
            </a:r>
          </a:p>
        </p:txBody>
      </p:sp>
      <p:sp>
        <p:nvSpPr>
          <p:cNvPr id="3" name="Content Placeholder 2">
            <a:extLst>
              <a:ext uri="{FF2B5EF4-FFF2-40B4-BE49-F238E27FC236}">
                <a16:creationId xmlns:a16="http://schemas.microsoft.com/office/drawing/2014/main" id="{E79B85F1-B288-8797-B668-64269485FC0B}"/>
              </a:ext>
            </a:extLst>
          </p:cNvPr>
          <p:cNvSpPr>
            <a:spLocks noGrp="1"/>
          </p:cNvSpPr>
          <p:nvPr>
            <p:ph idx="1"/>
          </p:nvPr>
        </p:nvSpPr>
        <p:spPr/>
        <p:txBody>
          <a:bodyPr wrap="square">
            <a:normAutofit/>
          </a:bodyPr>
          <a:lstStyle/>
          <a:p>
            <a:pPr>
              <a:defRPr sz="2300">
                <a:latin typeface="Arial"/>
              </a:defRPr>
            </a:pPr>
            <a:r>
              <a:t>Stores contact groups such as Family, Friends, Work, or synced account groups.</a:t>
            </a:r>
          </a:p>
          <a:p>
            <a:pPr>
              <a:defRPr sz="2300">
                <a:latin typeface="Arial"/>
              </a:defRPr>
            </a:pPr>
            <a:r>
              <a:t>Forensic value: shows how contacts are organized by the user or by account synchronization.</a:t>
            </a:r>
          </a:p>
          <a:p>
            <a:pPr>
              <a:defRPr sz="2300">
                <a:latin typeface="Arial"/>
              </a:defRPr>
            </a:pPr>
            <a:r>
              <a:t>To list members, join groups to data rows whose mimetype indicates group membership.</a:t>
            </a:r>
          </a:p>
        </p:txBody>
      </p:sp>
    </p:spTree>
    <p:extLst>
      <p:ext uri="{BB962C8B-B14F-4D97-AF65-F5344CB8AC3E}">
        <p14:creationId xmlns:p14="http://schemas.microsoft.com/office/powerpoint/2010/main" val="272383818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905981-EE0F-489F-90A7-9A2F90E1145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0997104-BAFC-444A-713C-4CB3F85861FD}"/>
              </a:ext>
            </a:extLst>
          </p:cNvPr>
          <p:cNvSpPr>
            <a:spLocks noGrp="1"/>
          </p:cNvSpPr>
          <p:nvPr>
            <p:ph type="title"/>
          </p:nvPr>
        </p:nvSpPr>
        <p:spPr/>
        <p:txBody>
          <a:bodyPr/>
          <a:lstStyle/>
          <a:p>
            <a:r>
              <a:rPr sz="4000">
                <a:solidFill>
                  <a:srgbClr val="000000"/>
                </a:solidFill>
                <a:latin typeface="Arial"/>
              </a:rPr>
              <a:t>phone_lookup Table</a:t>
            </a:r>
          </a:p>
        </p:txBody>
      </p:sp>
      <p:sp>
        <p:nvSpPr>
          <p:cNvPr id="3" name="Content Placeholder 2">
            <a:extLst>
              <a:ext uri="{FF2B5EF4-FFF2-40B4-BE49-F238E27FC236}">
                <a16:creationId xmlns:a16="http://schemas.microsoft.com/office/drawing/2014/main" id="{312DD6C5-6BFA-4D69-B65B-8D5BC761A33E}"/>
              </a:ext>
            </a:extLst>
          </p:cNvPr>
          <p:cNvSpPr>
            <a:spLocks noGrp="1"/>
          </p:cNvSpPr>
          <p:nvPr>
            <p:ph idx="1"/>
          </p:nvPr>
        </p:nvSpPr>
        <p:spPr/>
        <p:txBody>
          <a:bodyPr wrap="square">
            <a:normAutofit/>
          </a:bodyPr>
          <a:lstStyle/>
          <a:p>
            <a:pPr>
              <a:defRPr sz="2400">
                <a:latin typeface="Arial"/>
              </a:defRPr>
            </a:pPr>
            <a:r>
              <a:t>Maps phone numbers to contact IDs for fast lookup during calls and messaging.</a:t>
            </a:r>
          </a:p>
          <a:p>
            <a:pPr>
              <a:defRPr sz="2400">
                <a:latin typeface="Arial"/>
              </a:defRPr>
            </a:pPr>
            <a:r>
              <a:t>Forensic value: helps connect phone numbers in SMS/MMS/call logs to saved contacts.</a:t>
            </a:r>
          </a:p>
          <a:p>
            <a:pPr>
              <a:defRPr sz="2400">
                <a:latin typeface="Arial"/>
              </a:defRPr>
            </a:pPr>
            <a:r>
              <a:t>Use it as a cross-reference, not as the primary source of full contact detail.</a:t>
            </a:r>
          </a:p>
        </p:txBody>
      </p:sp>
    </p:spTree>
    <p:extLst>
      <p:ext uri="{BB962C8B-B14F-4D97-AF65-F5344CB8AC3E}">
        <p14:creationId xmlns:p14="http://schemas.microsoft.com/office/powerpoint/2010/main" val="220627451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3CD92E-6362-9BF3-D1E6-3CF0FCA641E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579962B-22EB-91A4-8CDF-352F042E765C}"/>
              </a:ext>
            </a:extLst>
          </p:cNvPr>
          <p:cNvSpPr>
            <a:spLocks noGrp="1"/>
          </p:cNvSpPr>
          <p:nvPr>
            <p:ph type="title"/>
          </p:nvPr>
        </p:nvSpPr>
        <p:spPr/>
        <p:txBody>
          <a:bodyPr/>
          <a:lstStyle/>
          <a:p>
            <a:r>
              <a:rPr sz="4000">
                <a:solidFill>
                  <a:srgbClr val="000000"/>
                </a:solidFill>
                <a:latin typeface="Arial"/>
              </a:rPr>
              <a:t>status_updates Table</a:t>
            </a:r>
          </a:p>
        </p:txBody>
      </p:sp>
      <p:sp>
        <p:nvSpPr>
          <p:cNvPr id="3" name="Content Placeholder 2">
            <a:extLst>
              <a:ext uri="{FF2B5EF4-FFF2-40B4-BE49-F238E27FC236}">
                <a16:creationId xmlns:a16="http://schemas.microsoft.com/office/drawing/2014/main" id="{5B8F23B4-FECD-2CC4-1B41-4EBA936365C6}"/>
              </a:ext>
            </a:extLst>
          </p:cNvPr>
          <p:cNvSpPr>
            <a:spLocks noGrp="1"/>
          </p:cNvSpPr>
          <p:nvPr>
            <p:ph idx="1"/>
          </p:nvPr>
        </p:nvSpPr>
        <p:spPr/>
        <p:txBody>
          <a:bodyPr wrap="square">
            <a:normAutofit/>
          </a:bodyPr>
          <a:lstStyle/>
          <a:p>
            <a:pPr>
              <a:defRPr sz="2400">
                <a:latin typeface="Arial"/>
              </a:defRPr>
            </a:pPr>
            <a:r>
              <a:t>Stores status or presence information from apps that integrate with the Contacts Provider.</a:t>
            </a:r>
          </a:p>
          <a:p>
            <a:pPr>
              <a:defRPr sz="2400">
                <a:latin typeface="Arial"/>
              </a:defRPr>
            </a:pPr>
            <a:r>
              <a:t>Forensic value depends on whether apps actually populate this table.</a:t>
            </a:r>
          </a:p>
          <a:p>
            <a:pPr>
              <a:defRPr sz="2400">
                <a:latin typeface="Arial"/>
              </a:defRPr>
            </a:pPr>
            <a:r>
              <a:t>When populated, it may support timeline or social-activity analysis.</a:t>
            </a:r>
          </a:p>
        </p:txBody>
      </p:sp>
    </p:spTree>
    <p:extLst>
      <p:ext uri="{BB962C8B-B14F-4D97-AF65-F5344CB8AC3E}">
        <p14:creationId xmlns:p14="http://schemas.microsoft.com/office/powerpoint/2010/main" val="388068687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0E1400-895F-DAC3-6191-3A95F6B53032}"/>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038C1871-A918-1B1D-174C-6A6DA0F41C6E}"/>
              </a:ext>
            </a:extLst>
          </p:cNvPr>
          <p:cNvSpPr>
            <a:spLocks noGrp="1"/>
          </p:cNvSpPr>
          <p:nvPr>
            <p:ph type="title"/>
          </p:nvPr>
        </p:nvSpPr>
        <p:spPr/>
        <p:txBody>
          <a:bodyPr/>
          <a:lstStyle/>
          <a:p>
            <a:r>
              <a:rPr sz="4000">
                <a:solidFill>
                  <a:srgbClr val="000000"/>
                </a:solidFill>
                <a:latin typeface="Arial"/>
              </a:rPr>
              <a:t>raw_contacts vs. contacts</a:t>
            </a:r>
          </a:p>
        </p:txBody>
      </p:sp>
      <p:sp>
        <p:nvSpPr>
          <p:cNvPr id="2" name="Content Placeholder 1">
            <a:extLst>
              <a:ext uri="{FF2B5EF4-FFF2-40B4-BE49-F238E27FC236}">
                <a16:creationId xmlns:a16="http://schemas.microsoft.com/office/drawing/2014/main" id="{DC390114-A8FB-3B08-359F-232DE7BBB8E5}"/>
              </a:ext>
            </a:extLst>
          </p:cNvPr>
          <p:cNvSpPr>
            <a:spLocks noGrp="1"/>
          </p:cNvSpPr>
          <p:nvPr>
            <p:ph idx="1"/>
          </p:nvPr>
        </p:nvSpPr>
        <p:spPr/>
        <p:txBody>
          <a:bodyPr wrap="square">
            <a:normAutofit/>
          </a:bodyPr>
          <a:lstStyle/>
          <a:p>
            <a:pPr>
              <a:defRPr sz="2300">
                <a:latin typeface="Arial"/>
              </a:defRPr>
            </a:pPr>
            <a:r>
              <a:t>raw_contacts: separate records from individual accounts or apps.</a:t>
            </a:r>
          </a:p>
          <a:p>
            <a:pPr>
              <a:defRPr sz="2300">
                <a:latin typeface="Arial"/>
              </a:defRPr>
            </a:pPr>
            <a:r>
              <a:t>contacts: aggregated person records shown in the Contacts app.</a:t>
            </a:r>
          </a:p>
          <a:p>
            <a:pPr>
              <a:defRPr sz="2300">
                <a:latin typeface="Arial"/>
              </a:defRPr>
            </a:pPr>
            <a:r>
              <a:t>Example: one person may have a Google raw contact and a WhatsApp raw contact, but Android may merge them into one unified contact.</a:t>
            </a:r>
          </a:p>
          <a:p>
            <a:pPr>
              <a:defRPr sz="2300">
                <a:latin typeface="Arial"/>
              </a:defRPr>
            </a:pPr>
            <a:r>
              <a:t>Forensics: preserve both views—source-level evidence and user-facing interpretation.</a:t>
            </a:r>
          </a:p>
        </p:txBody>
      </p:sp>
    </p:spTree>
    <p:extLst>
      <p:ext uri="{BB962C8B-B14F-4D97-AF65-F5344CB8AC3E}">
        <p14:creationId xmlns:p14="http://schemas.microsoft.com/office/powerpoint/2010/main" val="104876456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68264773-B00C-7729-33E3-8B07DEACE27B}"/>
              </a:ext>
            </a:extLst>
          </p:cNvPr>
          <p:cNvSpPr>
            <a:spLocks noGrp="1"/>
          </p:cNvSpPr>
          <p:nvPr>
            <p:ph type="title"/>
          </p:nvPr>
        </p:nvSpPr>
        <p:spPr/>
        <p:txBody>
          <a:bodyPr/>
          <a:lstStyle/>
          <a:p>
            <a:r>
              <a:rPr lang="en-GB" dirty="0">
                <a:solidFill>
                  <a:schemeClr val="accent2"/>
                </a:solidFill>
              </a:rPr>
              <a:t>accounts </a:t>
            </a:r>
            <a:r>
              <a:rPr lang="en-GB" dirty="0"/>
              <a:t>table</a:t>
            </a:r>
            <a:endParaRPr lang="en-US" dirty="0"/>
          </a:p>
        </p:txBody>
      </p:sp>
      <p:sp>
        <p:nvSpPr>
          <p:cNvPr id="5" name="Text Placeholder 4">
            <a:extLst>
              <a:ext uri="{FF2B5EF4-FFF2-40B4-BE49-F238E27FC236}">
                <a16:creationId xmlns:a16="http://schemas.microsoft.com/office/drawing/2014/main" id="{4DA9F376-53E5-4954-EEE8-B3182E97B197}"/>
              </a:ext>
            </a:extLst>
          </p:cNvPr>
          <p:cNvSpPr>
            <a:spLocks noGrp="1"/>
          </p:cNvSpPr>
          <p:nvPr>
            <p:ph type="body" idx="1"/>
          </p:nvPr>
        </p:nvSpPr>
        <p:spPr/>
        <p:txBody>
          <a:bodyPr/>
          <a:lstStyle/>
          <a:p>
            <a:endParaRPr lang="en-US"/>
          </a:p>
        </p:txBody>
      </p:sp>
    </p:spTree>
    <p:extLst>
      <p:ext uri="{BB962C8B-B14F-4D97-AF65-F5344CB8AC3E}">
        <p14:creationId xmlns:p14="http://schemas.microsoft.com/office/powerpoint/2010/main" val="77902811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7F368C6E-4AEE-9580-E0C2-1339DA7426DD}"/>
              </a:ext>
            </a:extLst>
          </p:cNvPr>
          <p:cNvPicPr>
            <a:picLocks noChangeAspect="1"/>
          </p:cNvPicPr>
          <p:nvPr/>
        </p:nvPicPr>
        <p:blipFill>
          <a:blip r:embed="rId2"/>
          <a:stretch>
            <a:fillRect/>
          </a:stretch>
        </p:blipFill>
        <p:spPr>
          <a:xfrm>
            <a:off x="3337323" y="1565025"/>
            <a:ext cx="3851175" cy="1261302"/>
          </a:xfrm>
          <a:prstGeom prst="rect">
            <a:avLst/>
          </a:prstGeom>
        </p:spPr>
      </p:pic>
      <p:graphicFrame>
        <p:nvGraphicFramePr>
          <p:cNvPr id="7" name="Table 6">
            <a:extLst>
              <a:ext uri="{FF2B5EF4-FFF2-40B4-BE49-F238E27FC236}">
                <a16:creationId xmlns:a16="http://schemas.microsoft.com/office/drawing/2014/main" id="{80E13A5F-9A81-2C0E-5040-123BB66F6B0A}"/>
              </a:ext>
            </a:extLst>
          </p:cNvPr>
          <p:cNvGraphicFramePr>
            <a:graphicFrameLocks noGrp="1"/>
          </p:cNvGraphicFramePr>
          <p:nvPr>
            <p:extLst>
              <p:ext uri="{D42A27DB-BD31-4B8C-83A1-F6EECF244321}">
                <p14:modId xmlns:p14="http://schemas.microsoft.com/office/powerpoint/2010/main" val="764506591"/>
              </p:ext>
            </p:extLst>
          </p:nvPr>
        </p:nvGraphicFramePr>
        <p:xfrm>
          <a:off x="1522058" y="3248461"/>
          <a:ext cx="9542182" cy="2360321"/>
        </p:xfrm>
        <a:graphic>
          <a:graphicData uri="http://schemas.openxmlformats.org/drawingml/2006/table">
            <a:tbl>
              <a:tblPr>
                <a:tableStyleId>{5940675A-B579-460E-94D1-54222C63F5DA}</a:tableStyleId>
              </a:tblPr>
              <a:tblGrid>
                <a:gridCol w="2027477">
                  <a:extLst>
                    <a:ext uri="{9D8B030D-6E8A-4147-A177-3AD203B41FA5}">
                      <a16:colId xmlns:a16="http://schemas.microsoft.com/office/drawing/2014/main" val="3918123249"/>
                    </a:ext>
                  </a:extLst>
                </a:gridCol>
                <a:gridCol w="7514705">
                  <a:extLst>
                    <a:ext uri="{9D8B030D-6E8A-4147-A177-3AD203B41FA5}">
                      <a16:colId xmlns:a16="http://schemas.microsoft.com/office/drawing/2014/main" val="318039029"/>
                    </a:ext>
                  </a:extLst>
                </a:gridCol>
              </a:tblGrid>
              <a:tr h="259781">
                <a:tc>
                  <a:txBody>
                    <a:bodyPr/>
                    <a:lstStyle/>
                    <a:p>
                      <a:pPr>
                        <a:buNone/>
                      </a:pPr>
                      <a:r>
                        <a:rPr lang="en-US" sz="1800"/>
                        <a:t>Column Name</a:t>
                      </a:r>
                    </a:p>
                  </a:txBody>
                  <a:tcPr marL="64945" marR="64945" marT="32473" marB="32473" anchor="ctr"/>
                </a:tc>
                <a:tc>
                  <a:txBody>
                    <a:bodyPr/>
                    <a:lstStyle/>
                    <a:p>
                      <a:pPr>
                        <a:buNone/>
                      </a:pPr>
                      <a:r>
                        <a:rPr lang="en-US" sz="1800"/>
                        <a:t>Description</a:t>
                      </a:r>
                    </a:p>
                  </a:txBody>
                  <a:tcPr marL="64945" marR="64945" marT="32473" marB="32473" anchor="ctr"/>
                </a:tc>
                <a:extLst>
                  <a:ext uri="{0D108BD9-81ED-4DB2-BD59-A6C34878D82A}">
                    <a16:rowId xmlns:a16="http://schemas.microsoft.com/office/drawing/2014/main" val="217898134"/>
                  </a:ext>
                </a:extLst>
              </a:tr>
              <a:tr h="259781">
                <a:tc>
                  <a:txBody>
                    <a:bodyPr/>
                    <a:lstStyle/>
                    <a:p>
                      <a:pPr>
                        <a:buNone/>
                      </a:pPr>
                      <a:r>
                        <a:rPr lang="en-US" sz="1800" b="1"/>
                        <a:t>_id</a:t>
                      </a:r>
                      <a:endParaRPr lang="en-US" sz="1800"/>
                    </a:p>
                  </a:txBody>
                  <a:tcPr marL="64945" marR="64945" marT="32473" marB="32473" anchor="ctr"/>
                </a:tc>
                <a:tc>
                  <a:txBody>
                    <a:bodyPr/>
                    <a:lstStyle/>
                    <a:p>
                      <a:pPr>
                        <a:buNone/>
                      </a:pPr>
                      <a:r>
                        <a:rPr lang="en-GB" sz="1800"/>
                        <a:t>Primary key (unique identifier for each account)</a:t>
                      </a:r>
                    </a:p>
                  </a:txBody>
                  <a:tcPr marL="64945" marR="64945" marT="32473" marB="32473" anchor="ctr"/>
                </a:tc>
                <a:extLst>
                  <a:ext uri="{0D108BD9-81ED-4DB2-BD59-A6C34878D82A}">
                    <a16:rowId xmlns:a16="http://schemas.microsoft.com/office/drawing/2014/main" val="1506918674"/>
                  </a:ext>
                </a:extLst>
              </a:tr>
              <a:tr h="454617">
                <a:tc>
                  <a:txBody>
                    <a:bodyPr/>
                    <a:lstStyle/>
                    <a:p>
                      <a:pPr>
                        <a:buNone/>
                      </a:pPr>
                      <a:r>
                        <a:rPr lang="en-US" sz="1800" b="1"/>
                        <a:t>account_name</a:t>
                      </a:r>
                      <a:endParaRPr lang="en-US" sz="1800"/>
                    </a:p>
                  </a:txBody>
                  <a:tcPr marL="64945" marR="64945" marT="32473" marB="32473" anchor="ctr"/>
                </a:tc>
                <a:tc>
                  <a:txBody>
                    <a:bodyPr/>
                    <a:lstStyle/>
                    <a:p>
                      <a:pPr>
                        <a:buNone/>
                      </a:pPr>
                      <a:r>
                        <a:rPr lang="en-GB" sz="1800"/>
                        <a:t>The user’s account name (e.g., email address or username)</a:t>
                      </a:r>
                    </a:p>
                  </a:txBody>
                  <a:tcPr marL="64945" marR="64945" marT="32473" marB="32473" anchor="ctr"/>
                </a:tc>
                <a:extLst>
                  <a:ext uri="{0D108BD9-81ED-4DB2-BD59-A6C34878D82A}">
                    <a16:rowId xmlns:a16="http://schemas.microsoft.com/office/drawing/2014/main" val="1275443546"/>
                  </a:ext>
                </a:extLst>
              </a:tr>
              <a:tr h="454617">
                <a:tc>
                  <a:txBody>
                    <a:bodyPr/>
                    <a:lstStyle/>
                    <a:p>
                      <a:pPr>
                        <a:buNone/>
                      </a:pPr>
                      <a:r>
                        <a:rPr lang="en-US" sz="1800" b="1"/>
                        <a:t>account_type</a:t>
                      </a:r>
                      <a:endParaRPr lang="en-US" sz="1800"/>
                    </a:p>
                  </a:txBody>
                  <a:tcPr marL="64945" marR="64945" marT="32473" marB="32473" anchor="ctr"/>
                </a:tc>
                <a:tc>
                  <a:txBody>
                    <a:bodyPr/>
                    <a:lstStyle/>
                    <a:p>
                      <a:pPr>
                        <a:buNone/>
                      </a:pPr>
                      <a:r>
                        <a:rPr lang="en-GB" sz="1800"/>
                        <a:t>The type of the account (e.g., com.google, com.whatsapp, com.android.exchange)</a:t>
                      </a:r>
                    </a:p>
                  </a:txBody>
                  <a:tcPr marL="64945" marR="64945" marT="32473" marB="32473" anchor="ctr"/>
                </a:tc>
                <a:extLst>
                  <a:ext uri="{0D108BD9-81ED-4DB2-BD59-A6C34878D82A}">
                    <a16:rowId xmlns:a16="http://schemas.microsoft.com/office/drawing/2014/main" val="762756227"/>
                  </a:ext>
                </a:extLst>
              </a:tr>
              <a:tr h="454617">
                <a:tc>
                  <a:txBody>
                    <a:bodyPr/>
                    <a:lstStyle/>
                    <a:p>
                      <a:pPr>
                        <a:buNone/>
                      </a:pPr>
                      <a:r>
                        <a:rPr lang="en-US" sz="1800" b="1"/>
                        <a:t>data_set</a:t>
                      </a:r>
                      <a:endParaRPr lang="en-US" sz="1800"/>
                    </a:p>
                  </a:txBody>
                  <a:tcPr marL="64945" marR="64945" marT="32473" marB="32473" anchor="ctr"/>
                </a:tc>
                <a:tc>
                  <a:txBody>
                    <a:bodyPr/>
                    <a:lstStyle/>
                    <a:p>
                      <a:pPr>
                        <a:buNone/>
                      </a:pPr>
                      <a:r>
                        <a:rPr lang="en-GB" sz="1800" dirty="0"/>
                        <a:t>Optional — distinguishes data sets within the same account type (e.g., corporate directory vs. personal)</a:t>
                      </a:r>
                    </a:p>
                  </a:txBody>
                  <a:tcPr marL="64945" marR="64945" marT="32473" marB="32473" anchor="ctr"/>
                </a:tc>
                <a:extLst>
                  <a:ext uri="{0D108BD9-81ED-4DB2-BD59-A6C34878D82A}">
                    <a16:rowId xmlns:a16="http://schemas.microsoft.com/office/drawing/2014/main" val="237457159"/>
                  </a:ext>
                </a:extLst>
              </a:tr>
            </a:tbl>
          </a:graphicData>
        </a:graphic>
      </p:graphicFrame>
    </p:spTree>
    <p:extLst>
      <p:ext uri="{BB962C8B-B14F-4D97-AF65-F5344CB8AC3E}">
        <p14:creationId xmlns:p14="http://schemas.microsoft.com/office/powerpoint/2010/main" val="359042407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7A0A933B-54CD-2370-1560-8C4C735A1A29}"/>
              </a:ext>
            </a:extLst>
          </p:cNvPr>
          <p:cNvSpPr>
            <a:spLocks noGrp="1"/>
          </p:cNvSpPr>
          <p:nvPr>
            <p:ph type="title"/>
          </p:nvPr>
        </p:nvSpPr>
        <p:spPr/>
        <p:txBody>
          <a:bodyPr/>
          <a:lstStyle/>
          <a:p>
            <a:r>
              <a:rPr lang="en-GB" dirty="0">
                <a:solidFill>
                  <a:schemeClr val="accent2"/>
                </a:solidFill>
              </a:rPr>
              <a:t>accounts </a:t>
            </a:r>
            <a:r>
              <a:rPr lang="en-GB" dirty="0"/>
              <a:t>t</a:t>
            </a:r>
            <a:r>
              <a:rPr lang="en-US" dirty="0"/>
              <a:t>able structure</a:t>
            </a:r>
          </a:p>
        </p:txBody>
      </p:sp>
      <p:pic>
        <p:nvPicPr>
          <p:cNvPr id="10" name="Picture 9">
            <a:extLst>
              <a:ext uri="{FF2B5EF4-FFF2-40B4-BE49-F238E27FC236}">
                <a16:creationId xmlns:a16="http://schemas.microsoft.com/office/drawing/2014/main" id="{4265E64A-DF3C-5D67-A525-43F581069D3D}"/>
              </a:ext>
            </a:extLst>
          </p:cNvPr>
          <p:cNvPicPr>
            <a:picLocks noChangeAspect="1"/>
          </p:cNvPicPr>
          <p:nvPr/>
        </p:nvPicPr>
        <p:blipFill>
          <a:blip r:embed="rId2"/>
          <a:srcRect l="379" t="1047" r="8231" b="-1047"/>
          <a:stretch/>
        </p:blipFill>
        <p:spPr>
          <a:xfrm>
            <a:off x="955257" y="2223580"/>
            <a:ext cx="5787750" cy="3642575"/>
          </a:xfrm>
          <a:prstGeom prst="rect">
            <a:avLst/>
          </a:prstGeom>
        </p:spPr>
      </p:pic>
      <p:sp>
        <p:nvSpPr>
          <p:cNvPr id="2" name="TextBox 1">
            <a:extLst>
              <a:ext uri="{FF2B5EF4-FFF2-40B4-BE49-F238E27FC236}">
                <a16:creationId xmlns:a16="http://schemas.microsoft.com/office/drawing/2014/main" id="{47F2E787-9E91-51B2-720B-B1F1811D40F5}"/>
              </a:ext>
            </a:extLst>
          </p:cNvPr>
          <p:cNvSpPr txBox="1"/>
          <p:nvPr/>
        </p:nvSpPr>
        <p:spPr>
          <a:xfrm>
            <a:off x="955257" y="1828800"/>
            <a:ext cx="3678892" cy="369332"/>
          </a:xfrm>
          <a:prstGeom prst="rect">
            <a:avLst/>
          </a:prstGeom>
          <a:solidFill>
            <a:schemeClr val="accent4"/>
          </a:solidFill>
        </p:spPr>
        <p:txBody>
          <a:bodyPr wrap="none" rtlCol="0">
            <a:spAutoFit/>
          </a:bodyPr>
          <a:lstStyle/>
          <a:p>
            <a:r>
              <a:rPr lang="en-US" dirty="0"/>
              <a:t>Seven apps store contact information</a:t>
            </a:r>
          </a:p>
        </p:txBody>
      </p:sp>
    </p:spTree>
    <p:extLst>
      <p:ext uri="{BB962C8B-B14F-4D97-AF65-F5344CB8AC3E}">
        <p14:creationId xmlns:p14="http://schemas.microsoft.com/office/powerpoint/2010/main" val="3899509061"/>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1A4DE4-CEA3-9C8C-88C4-A8719D207984}"/>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FA986521-3404-C4F4-ED8E-2424C9F92436}"/>
              </a:ext>
            </a:extLst>
          </p:cNvPr>
          <p:cNvSpPr>
            <a:spLocks noGrp="1"/>
          </p:cNvSpPr>
          <p:nvPr>
            <p:ph type="title"/>
          </p:nvPr>
        </p:nvSpPr>
        <p:spPr/>
        <p:txBody>
          <a:bodyPr/>
          <a:lstStyle/>
          <a:p>
            <a:r>
              <a:rPr lang="en-US" dirty="0" err="1">
                <a:solidFill>
                  <a:schemeClr val="accent2"/>
                </a:solidFill>
              </a:rPr>
              <a:t>raw_contacts</a:t>
            </a:r>
            <a:r>
              <a:rPr lang="en-US" dirty="0">
                <a:solidFill>
                  <a:schemeClr val="accent2"/>
                </a:solidFill>
              </a:rPr>
              <a:t> </a:t>
            </a:r>
            <a:r>
              <a:rPr lang="en-US" dirty="0"/>
              <a:t>table</a:t>
            </a:r>
          </a:p>
        </p:txBody>
      </p:sp>
      <p:sp>
        <p:nvSpPr>
          <p:cNvPr id="5" name="Text Placeholder 4">
            <a:extLst>
              <a:ext uri="{FF2B5EF4-FFF2-40B4-BE49-F238E27FC236}">
                <a16:creationId xmlns:a16="http://schemas.microsoft.com/office/drawing/2014/main" id="{57A60095-2004-1F97-76CF-B40AF942C86D}"/>
              </a:ext>
            </a:extLst>
          </p:cNvPr>
          <p:cNvSpPr>
            <a:spLocks noGrp="1"/>
          </p:cNvSpPr>
          <p:nvPr>
            <p:ph type="body" idx="1"/>
          </p:nvPr>
        </p:nvSpPr>
        <p:spPr/>
        <p:txBody>
          <a:bodyPr/>
          <a:lstStyle/>
          <a:p>
            <a:r>
              <a:rPr lang="en-US" dirty="0"/>
              <a:t>stored aggregated contacts from all apps</a:t>
            </a:r>
          </a:p>
        </p:txBody>
      </p:sp>
    </p:spTree>
    <p:extLst>
      <p:ext uri="{BB962C8B-B14F-4D97-AF65-F5344CB8AC3E}">
        <p14:creationId xmlns:p14="http://schemas.microsoft.com/office/powerpoint/2010/main" val="767288046"/>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1D845765-BBB0-4B41-BAEF-6F60464E6E00}"/>
              </a:ext>
            </a:extLst>
          </p:cNvPr>
          <p:cNvPicPr>
            <a:picLocks noChangeAspect="1"/>
          </p:cNvPicPr>
          <p:nvPr/>
        </p:nvPicPr>
        <p:blipFill>
          <a:blip r:embed="rId3"/>
          <a:srcRect r="61563"/>
          <a:stretch/>
        </p:blipFill>
        <p:spPr>
          <a:xfrm>
            <a:off x="125204" y="63325"/>
            <a:ext cx="2984099" cy="6694921"/>
          </a:xfrm>
          <a:prstGeom prst="rect">
            <a:avLst/>
          </a:prstGeom>
        </p:spPr>
      </p:pic>
      <p:graphicFrame>
        <p:nvGraphicFramePr>
          <p:cNvPr id="7" name="Table 6">
            <a:extLst>
              <a:ext uri="{FF2B5EF4-FFF2-40B4-BE49-F238E27FC236}">
                <a16:creationId xmlns:a16="http://schemas.microsoft.com/office/drawing/2014/main" id="{D547A660-05E4-00F9-6833-7B7601B4E45E}"/>
              </a:ext>
            </a:extLst>
          </p:cNvPr>
          <p:cNvGraphicFramePr>
            <a:graphicFrameLocks noGrp="1"/>
          </p:cNvGraphicFramePr>
          <p:nvPr>
            <p:extLst>
              <p:ext uri="{D42A27DB-BD31-4B8C-83A1-F6EECF244321}">
                <p14:modId xmlns:p14="http://schemas.microsoft.com/office/powerpoint/2010/main" val="666863195"/>
              </p:ext>
            </p:extLst>
          </p:nvPr>
        </p:nvGraphicFramePr>
        <p:xfrm>
          <a:off x="3491345" y="179705"/>
          <a:ext cx="8503920" cy="6475985"/>
        </p:xfrm>
        <a:graphic>
          <a:graphicData uri="http://schemas.openxmlformats.org/drawingml/2006/table">
            <a:tbl>
              <a:tblPr>
                <a:tableStyleId>{5940675A-B579-460E-94D1-54222C63F5DA}</a:tableStyleId>
              </a:tblPr>
              <a:tblGrid>
                <a:gridCol w="2307724">
                  <a:extLst>
                    <a:ext uri="{9D8B030D-6E8A-4147-A177-3AD203B41FA5}">
                      <a16:colId xmlns:a16="http://schemas.microsoft.com/office/drawing/2014/main" val="1326699367"/>
                    </a:ext>
                  </a:extLst>
                </a:gridCol>
                <a:gridCol w="1090463">
                  <a:extLst>
                    <a:ext uri="{9D8B030D-6E8A-4147-A177-3AD203B41FA5}">
                      <a16:colId xmlns:a16="http://schemas.microsoft.com/office/drawing/2014/main" val="2230252274"/>
                    </a:ext>
                  </a:extLst>
                </a:gridCol>
                <a:gridCol w="5105733">
                  <a:extLst>
                    <a:ext uri="{9D8B030D-6E8A-4147-A177-3AD203B41FA5}">
                      <a16:colId xmlns:a16="http://schemas.microsoft.com/office/drawing/2014/main" val="641833828"/>
                    </a:ext>
                  </a:extLst>
                </a:gridCol>
              </a:tblGrid>
              <a:tr h="106130">
                <a:tc>
                  <a:txBody>
                    <a:bodyPr/>
                    <a:lstStyle/>
                    <a:p>
                      <a:pPr>
                        <a:buNone/>
                      </a:pPr>
                      <a:r>
                        <a:rPr lang="en-US" sz="1400" b="1"/>
                        <a:t>Column Name</a:t>
                      </a:r>
                    </a:p>
                  </a:txBody>
                  <a:tcPr marL="26533" marR="26533" marT="13266" marB="13266" anchor="ctr"/>
                </a:tc>
                <a:tc>
                  <a:txBody>
                    <a:bodyPr/>
                    <a:lstStyle/>
                    <a:p>
                      <a:pPr>
                        <a:buNone/>
                      </a:pPr>
                      <a:r>
                        <a:rPr lang="en-US" sz="1400" b="1"/>
                        <a:t>Data Type</a:t>
                      </a:r>
                    </a:p>
                  </a:txBody>
                  <a:tcPr marL="26533" marR="26533" marT="13266" marB="13266" anchor="ctr"/>
                </a:tc>
                <a:tc>
                  <a:txBody>
                    <a:bodyPr/>
                    <a:lstStyle/>
                    <a:p>
                      <a:pPr>
                        <a:buNone/>
                      </a:pPr>
                      <a:r>
                        <a:rPr lang="en-US" sz="1400" b="1" dirty="0"/>
                        <a:t>Description</a:t>
                      </a:r>
                    </a:p>
                  </a:txBody>
                  <a:tcPr marL="26533" marR="26533" marT="13266" marB="13266" anchor="ctr"/>
                </a:tc>
                <a:extLst>
                  <a:ext uri="{0D108BD9-81ED-4DB2-BD59-A6C34878D82A}">
                    <a16:rowId xmlns:a16="http://schemas.microsoft.com/office/drawing/2014/main" val="1924886090"/>
                  </a:ext>
                </a:extLst>
              </a:tr>
              <a:tr h="185728">
                <a:tc>
                  <a:txBody>
                    <a:bodyPr/>
                    <a:lstStyle/>
                    <a:p>
                      <a:pPr>
                        <a:buNone/>
                      </a:pPr>
                      <a:r>
                        <a:rPr lang="en-US" sz="1400" b="1"/>
                        <a:t>_id</a:t>
                      </a:r>
                      <a:endParaRPr lang="en-US" sz="1400"/>
                    </a:p>
                  </a:txBody>
                  <a:tcPr marL="26533" marR="26533" marT="13266" marB="13266" anchor="ctr"/>
                </a:tc>
                <a:tc>
                  <a:txBody>
                    <a:bodyPr/>
                    <a:lstStyle/>
                    <a:p>
                      <a:pPr>
                        <a:buNone/>
                      </a:pPr>
                      <a:r>
                        <a:rPr lang="en-US" sz="1400"/>
                        <a:t>INTEGER</a:t>
                      </a:r>
                    </a:p>
                  </a:txBody>
                  <a:tcPr marL="26533" marR="26533" marT="13266" marB="13266" anchor="ctr"/>
                </a:tc>
                <a:tc>
                  <a:txBody>
                    <a:bodyPr/>
                    <a:lstStyle/>
                    <a:p>
                      <a:pPr>
                        <a:buNone/>
                      </a:pPr>
                      <a:r>
                        <a:rPr lang="en-GB" sz="1400"/>
                        <a:t>Primary key (unique ID of the raw contact)</a:t>
                      </a:r>
                    </a:p>
                  </a:txBody>
                  <a:tcPr marL="26533" marR="26533" marT="13266" marB="13266" anchor="ctr"/>
                </a:tc>
                <a:extLst>
                  <a:ext uri="{0D108BD9-81ED-4DB2-BD59-A6C34878D82A}">
                    <a16:rowId xmlns:a16="http://schemas.microsoft.com/office/drawing/2014/main" val="230873000"/>
                  </a:ext>
                </a:extLst>
              </a:tr>
              <a:tr h="265325">
                <a:tc>
                  <a:txBody>
                    <a:bodyPr/>
                    <a:lstStyle/>
                    <a:p>
                      <a:pPr>
                        <a:buNone/>
                      </a:pPr>
                      <a:r>
                        <a:rPr lang="en-US" sz="1400" b="1">
                          <a:highlight>
                            <a:srgbClr val="FFFF00"/>
                          </a:highlight>
                        </a:rPr>
                        <a:t>account_id</a:t>
                      </a:r>
                      <a:endParaRPr lang="en-US" sz="1400">
                        <a:highlight>
                          <a:srgbClr val="FFFF00"/>
                        </a:highlight>
                      </a:endParaRPr>
                    </a:p>
                  </a:txBody>
                  <a:tcPr marL="26533" marR="26533" marT="13266" marB="13266" anchor="ctr"/>
                </a:tc>
                <a:tc>
                  <a:txBody>
                    <a:bodyPr/>
                    <a:lstStyle/>
                    <a:p>
                      <a:pPr>
                        <a:buNone/>
                      </a:pPr>
                      <a:r>
                        <a:rPr lang="en-US" sz="1400">
                          <a:highlight>
                            <a:srgbClr val="FFFF00"/>
                          </a:highlight>
                        </a:rPr>
                        <a:t>INTEGER</a:t>
                      </a:r>
                    </a:p>
                  </a:txBody>
                  <a:tcPr marL="26533" marR="26533" marT="13266" marB="13266" anchor="ctr"/>
                </a:tc>
                <a:tc>
                  <a:txBody>
                    <a:bodyPr/>
                    <a:lstStyle/>
                    <a:p>
                      <a:pPr>
                        <a:buNone/>
                      </a:pPr>
                      <a:r>
                        <a:rPr lang="en-GB" sz="1400" dirty="0">
                          <a:highlight>
                            <a:srgbClr val="FFFF00"/>
                          </a:highlight>
                        </a:rPr>
                        <a:t>Foreign key linking to the accounts table (</a:t>
                      </a:r>
                      <a:r>
                        <a:rPr lang="en-GB" sz="1400" dirty="0" err="1">
                          <a:highlight>
                            <a:srgbClr val="FFFF00"/>
                          </a:highlight>
                        </a:rPr>
                        <a:t>accounts._id</a:t>
                      </a:r>
                      <a:r>
                        <a:rPr lang="en-GB" sz="1400" dirty="0">
                          <a:highlight>
                            <a:srgbClr val="FFFF00"/>
                          </a:highlight>
                        </a:rPr>
                        <a:t>)</a:t>
                      </a:r>
                    </a:p>
                  </a:txBody>
                  <a:tcPr marL="26533" marR="26533" marT="13266" marB="13266" anchor="ctr"/>
                </a:tc>
                <a:extLst>
                  <a:ext uri="{0D108BD9-81ED-4DB2-BD59-A6C34878D82A}">
                    <a16:rowId xmlns:a16="http://schemas.microsoft.com/office/drawing/2014/main" val="3807089466"/>
                  </a:ext>
                </a:extLst>
              </a:tr>
              <a:tr h="185728">
                <a:tc>
                  <a:txBody>
                    <a:bodyPr/>
                    <a:lstStyle/>
                    <a:p>
                      <a:pPr>
                        <a:buNone/>
                      </a:pPr>
                      <a:r>
                        <a:rPr lang="en-US" sz="1400" b="1"/>
                        <a:t>sourceid</a:t>
                      </a:r>
                      <a:endParaRPr lang="en-US" sz="1400"/>
                    </a:p>
                  </a:txBody>
                  <a:tcPr marL="26533" marR="26533" marT="13266" marB="13266" anchor="ctr"/>
                </a:tc>
                <a:tc>
                  <a:txBody>
                    <a:bodyPr/>
                    <a:lstStyle/>
                    <a:p>
                      <a:pPr>
                        <a:buNone/>
                      </a:pPr>
                      <a:r>
                        <a:rPr lang="en-US" sz="1400"/>
                        <a:t>TEXT</a:t>
                      </a:r>
                    </a:p>
                  </a:txBody>
                  <a:tcPr marL="26533" marR="26533" marT="13266" marB="13266" anchor="ctr"/>
                </a:tc>
                <a:tc>
                  <a:txBody>
                    <a:bodyPr/>
                    <a:lstStyle/>
                    <a:p>
                      <a:pPr>
                        <a:buNone/>
                      </a:pPr>
                      <a:r>
                        <a:rPr lang="en-GB" sz="1400"/>
                        <a:t>Unique ID of this contact in its source account (e.g., Google ID)</a:t>
                      </a:r>
                    </a:p>
                  </a:txBody>
                  <a:tcPr marL="26533" marR="26533" marT="13266" marB="13266" anchor="ctr"/>
                </a:tc>
                <a:extLst>
                  <a:ext uri="{0D108BD9-81ED-4DB2-BD59-A6C34878D82A}">
                    <a16:rowId xmlns:a16="http://schemas.microsoft.com/office/drawing/2014/main" val="995163723"/>
                  </a:ext>
                </a:extLst>
              </a:tr>
              <a:tr h="185728">
                <a:tc>
                  <a:txBody>
                    <a:bodyPr/>
                    <a:lstStyle/>
                    <a:p>
                      <a:pPr>
                        <a:buNone/>
                      </a:pPr>
                      <a:r>
                        <a:rPr lang="en-GB" sz="1400" b="1"/>
                        <a:t>raw_contact_is_read_only</a:t>
                      </a:r>
                      <a:endParaRPr lang="en-GB" sz="1400"/>
                    </a:p>
                  </a:txBody>
                  <a:tcPr marL="26533" marR="26533" marT="13266" marB="13266" anchor="ctr"/>
                </a:tc>
                <a:tc>
                  <a:txBody>
                    <a:bodyPr/>
                    <a:lstStyle/>
                    <a:p>
                      <a:pPr>
                        <a:buNone/>
                      </a:pPr>
                      <a:r>
                        <a:rPr lang="en-US" sz="1400"/>
                        <a:t>INTEGER</a:t>
                      </a:r>
                    </a:p>
                  </a:txBody>
                  <a:tcPr marL="26533" marR="26533" marT="13266" marB="13266" anchor="ctr"/>
                </a:tc>
                <a:tc>
                  <a:txBody>
                    <a:bodyPr/>
                    <a:lstStyle/>
                    <a:p>
                      <a:pPr>
                        <a:buNone/>
                      </a:pPr>
                      <a:r>
                        <a:rPr lang="en-GB" sz="1400"/>
                        <a:t>1 if the contact cannot be edited locally</a:t>
                      </a:r>
                    </a:p>
                  </a:txBody>
                  <a:tcPr marL="26533" marR="26533" marT="13266" marB="13266" anchor="ctr"/>
                </a:tc>
                <a:extLst>
                  <a:ext uri="{0D108BD9-81ED-4DB2-BD59-A6C34878D82A}">
                    <a16:rowId xmlns:a16="http://schemas.microsoft.com/office/drawing/2014/main" val="3503368930"/>
                  </a:ext>
                </a:extLst>
              </a:tr>
              <a:tr h="185728">
                <a:tc>
                  <a:txBody>
                    <a:bodyPr/>
                    <a:lstStyle/>
                    <a:p>
                      <a:pPr>
                        <a:buNone/>
                      </a:pPr>
                      <a:r>
                        <a:rPr lang="en-US" sz="1400" b="1"/>
                        <a:t>version</a:t>
                      </a:r>
                      <a:endParaRPr lang="en-US" sz="1400"/>
                    </a:p>
                  </a:txBody>
                  <a:tcPr marL="26533" marR="26533" marT="13266" marB="13266" anchor="ctr"/>
                </a:tc>
                <a:tc>
                  <a:txBody>
                    <a:bodyPr/>
                    <a:lstStyle/>
                    <a:p>
                      <a:pPr>
                        <a:buNone/>
                      </a:pPr>
                      <a:r>
                        <a:rPr lang="en-US" sz="1400"/>
                        <a:t>INTEGER</a:t>
                      </a:r>
                    </a:p>
                  </a:txBody>
                  <a:tcPr marL="26533" marR="26533" marT="13266" marB="13266" anchor="ctr"/>
                </a:tc>
                <a:tc>
                  <a:txBody>
                    <a:bodyPr/>
                    <a:lstStyle/>
                    <a:p>
                      <a:pPr>
                        <a:buNone/>
                      </a:pPr>
                      <a:r>
                        <a:rPr lang="en-GB" sz="1400" dirty="0"/>
                        <a:t>Version counter incremented when contact changes</a:t>
                      </a:r>
                    </a:p>
                  </a:txBody>
                  <a:tcPr marL="26533" marR="26533" marT="13266" marB="13266" anchor="ctr"/>
                </a:tc>
                <a:extLst>
                  <a:ext uri="{0D108BD9-81ED-4DB2-BD59-A6C34878D82A}">
                    <a16:rowId xmlns:a16="http://schemas.microsoft.com/office/drawing/2014/main" val="3723841944"/>
                  </a:ext>
                </a:extLst>
              </a:tr>
              <a:tr h="106130">
                <a:tc>
                  <a:txBody>
                    <a:bodyPr/>
                    <a:lstStyle/>
                    <a:p>
                      <a:pPr>
                        <a:buNone/>
                      </a:pPr>
                      <a:r>
                        <a:rPr lang="en-US" sz="1400" b="1"/>
                        <a:t>dirty</a:t>
                      </a:r>
                      <a:endParaRPr lang="en-US" sz="1400"/>
                    </a:p>
                  </a:txBody>
                  <a:tcPr marL="26533" marR="26533" marT="13266" marB="13266" anchor="ctr"/>
                </a:tc>
                <a:tc>
                  <a:txBody>
                    <a:bodyPr/>
                    <a:lstStyle/>
                    <a:p>
                      <a:pPr>
                        <a:buNone/>
                      </a:pPr>
                      <a:r>
                        <a:rPr lang="en-US" sz="1400"/>
                        <a:t>INTEGER</a:t>
                      </a:r>
                    </a:p>
                  </a:txBody>
                  <a:tcPr marL="26533" marR="26533" marT="13266" marB="13266" anchor="ctr"/>
                </a:tc>
                <a:tc>
                  <a:txBody>
                    <a:bodyPr/>
                    <a:lstStyle/>
                    <a:p>
                      <a:pPr>
                        <a:buNone/>
                      </a:pPr>
                      <a:r>
                        <a:rPr lang="en-GB" sz="1400"/>
                        <a:t>1 if unsynced changes exist</a:t>
                      </a:r>
                    </a:p>
                  </a:txBody>
                  <a:tcPr marL="26533" marR="26533" marT="13266" marB="13266" anchor="ctr"/>
                </a:tc>
                <a:extLst>
                  <a:ext uri="{0D108BD9-81ED-4DB2-BD59-A6C34878D82A}">
                    <a16:rowId xmlns:a16="http://schemas.microsoft.com/office/drawing/2014/main" val="374711631"/>
                  </a:ext>
                </a:extLst>
              </a:tr>
              <a:tr h="185728">
                <a:tc>
                  <a:txBody>
                    <a:bodyPr/>
                    <a:lstStyle/>
                    <a:p>
                      <a:pPr>
                        <a:buNone/>
                      </a:pPr>
                      <a:r>
                        <a:rPr lang="en-US" sz="1400" b="1">
                          <a:highlight>
                            <a:srgbClr val="FFFF00"/>
                          </a:highlight>
                        </a:rPr>
                        <a:t>deleted</a:t>
                      </a:r>
                      <a:endParaRPr lang="en-US" sz="1400">
                        <a:highlight>
                          <a:srgbClr val="FFFF00"/>
                        </a:highlight>
                      </a:endParaRPr>
                    </a:p>
                  </a:txBody>
                  <a:tcPr marL="26533" marR="26533" marT="13266" marB="13266" anchor="ctr"/>
                </a:tc>
                <a:tc>
                  <a:txBody>
                    <a:bodyPr/>
                    <a:lstStyle/>
                    <a:p>
                      <a:pPr>
                        <a:buNone/>
                      </a:pPr>
                      <a:r>
                        <a:rPr lang="en-US" sz="1400">
                          <a:highlight>
                            <a:srgbClr val="FFFF00"/>
                          </a:highlight>
                        </a:rPr>
                        <a:t>INTEGER</a:t>
                      </a:r>
                    </a:p>
                  </a:txBody>
                  <a:tcPr marL="26533" marR="26533" marT="13266" marB="13266" anchor="ctr"/>
                </a:tc>
                <a:tc>
                  <a:txBody>
                    <a:bodyPr/>
                    <a:lstStyle/>
                    <a:p>
                      <a:pPr>
                        <a:buNone/>
                      </a:pPr>
                      <a:r>
                        <a:rPr lang="en-GB" sz="1400" dirty="0">
                          <a:highlight>
                            <a:srgbClr val="FFFF00"/>
                          </a:highlight>
                        </a:rPr>
                        <a:t>1 if marked deleted but not yet purged</a:t>
                      </a:r>
                    </a:p>
                  </a:txBody>
                  <a:tcPr marL="26533" marR="26533" marT="13266" marB="13266" anchor="ctr"/>
                </a:tc>
                <a:extLst>
                  <a:ext uri="{0D108BD9-81ED-4DB2-BD59-A6C34878D82A}">
                    <a16:rowId xmlns:a16="http://schemas.microsoft.com/office/drawing/2014/main" val="3330271185"/>
                  </a:ext>
                </a:extLst>
              </a:tr>
              <a:tr h="185728">
                <a:tc>
                  <a:txBody>
                    <a:bodyPr/>
                    <a:lstStyle/>
                    <a:p>
                      <a:pPr>
                        <a:buNone/>
                      </a:pPr>
                      <a:r>
                        <a:rPr lang="en-US" sz="1400" b="1"/>
                        <a:t>contact_id</a:t>
                      </a:r>
                      <a:endParaRPr lang="en-US" sz="1400"/>
                    </a:p>
                  </a:txBody>
                  <a:tcPr marL="26533" marR="26533" marT="13266" marB="13266" anchor="ctr"/>
                </a:tc>
                <a:tc>
                  <a:txBody>
                    <a:bodyPr/>
                    <a:lstStyle/>
                    <a:p>
                      <a:pPr>
                        <a:buNone/>
                      </a:pPr>
                      <a:r>
                        <a:rPr lang="en-US" sz="1400"/>
                        <a:t>INTEGER</a:t>
                      </a:r>
                    </a:p>
                  </a:txBody>
                  <a:tcPr marL="26533" marR="26533" marT="13266" marB="13266" anchor="ctr"/>
                </a:tc>
                <a:tc>
                  <a:txBody>
                    <a:bodyPr/>
                    <a:lstStyle/>
                    <a:p>
                      <a:pPr>
                        <a:buNone/>
                      </a:pPr>
                      <a:r>
                        <a:rPr lang="en-GB" sz="1400" dirty="0"/>
                        <a:t>Link to the aggregated contact in the contacts table</a:t>
                      </a:r>
                    </a:p>
                  </a:txBody>
                  <a:tcPr marL="26533" marR="26533" marT="13266" marB="13266" anchor="ctr"/>
                </a:tc>
                <a:extLst>
                  <a:ext uri="{0D108BD9-81ED-4DB2-BD59-A6C34878D82A}">
                    <a16:rowId xmlns:a16="http://schemas.microsoft.com/office/drawing/2014/main" val="799459136"/>
                  </a:ext>
                </a:extLst>
              </a:tr>
              <a:tr h="265325">
                <a:tc>
                  <a:txBody>
                    <a:bodyPr/>
                    <a:lstStyle/>
                    <a:p>
                      <a:pPr>
                        <a:buNone/>
                      </a:pPr>
                      <a:r>
                        <a:rPr lang="en-US" sz="1400" b="1" dirty="0" err="1">
                          <a:highlight>
                            <a:srgbClr val="FFFF00"/>
                          </a:highlight>
                        </a:rPr>
                        <a:t>aggregation_mode</a:t>
                      </a:r>
                      <a:endParaRPr lang="en-US" sz="1400" dirty="0">
                        <a:highlight>
                          <a:srgbClr val="FFFF00"/>
                        </a:highlight>
                      </a:endParaRPr>
                    </a:p>
                  </a:txBody>
                  <a:tcPr marL="26533" marR="26533" marT="13266" marB="13266" anchor="ctr"/>
                </a:tc>
                <a:tc>
                  <a:txBody>
                    <a:bodyPr/>
                    <a:lstStyle/>
                    <a:p>
                      <a:pPr>
                        <a:buNone/>
                      </a:pPr>
                      <a:r>
                        <a:rPr lang="en-US" sz="1400"/>
                        <a:t>INTEGER</a:t>
                      </a:r>
                    </a:p>
                  </a:txBody>
                  <a:tcPr marL="26533" marR="26533" marT="13266" marB="13266" anchor="ctr"/>
                </a:tc>
                <a:tc>
                  <a:txBody>
                    <a:bodyPr/>
                    <a:lstStyle/>
                    <a:p>
                      <a:pPr>
                        <a:buNone/>
                      </a:pPr>
                      <a:r>
                        <a:rPr lang="en-GB" sz="1400" dirty="0"/>
                        <a:t>How this raw contact participates in aggregation (e.g., automatic/manual)</a:t>
                      </a:r>
                    </a:p>
                  </a:txBody>
                  <a:tcPr marL="26533" marR="26533" marT="13266" marB="13266" anchor="ctr"/>
                </a:tc>
                <a:extLst>
                  <a:ext uri="{0D108BD9-81ED-4DB2-BD59-A6C34878D82A}">
                    <a16:rowId xmlns:a16="http://schemas.microsoft.com/office/drawing/2014/main" val="2189128668"/>
                  </a:ext>
                </a:extLst>
              </a:tr>
              <a:tr h="185728">
                <a:tc>
                  <a:txBody>
                    <a:bodyPr/>
                    <a:lstStyle/>
                    <a:p>
                      <a:pPr>
                        <a:buNone/>
                      </a:pPr>
                      <a:r>
                        <a:rPr lang="en-US" sz="1400" b="1"/>
                        <a:t>aggregation_needed</a:t>
                      </a:r>
                      <a:endParaRPr lang="en-US" sz="1400"/>
                    </a:p>
                  </a:txBody>
                  <a:tcPr marL="26533" marR="26533" marT="13266" marB="13266" anchor="ctr"/>
                </a:tc>
                <a:tc>
                  <a:txBody>
                    <a:bodyPr/>
                    <a:lstStyle/>
                    <a:p>
                      <a:pPr>
                        <a:buNone/>
                      </a:pPr>
                      <a:r>
                        <a:rPr lang="en-US" sz="1400"/>
                        <a:t>INTEGER</a:t>
                      </a:r>
                    </a:p>
                  </a:txBody>
                  <a:tcPr marL="26533" marR="26533" marT="13266" marB="13266" anchor="ctr"/>
                </a:tc>
                <a:tc>
                  <a:txBody>
                    <a:bodyPr/>
                    <a:lstStyle/>
                    <a:p>
                      <a:pPr>
                        <a:buNone/>
                      </a:pPr>
                      <a:r>
                        <a:rPr lang="en-GB" sz="1400"/>
                        <a:t>Indicates if re-aggregation is needed</a:t>
                      </a:r>
                    </a:p>
                  </a:txBody>
                  <a:tcPr marL="26533" marR="26533" marT="13266" marB="13266" anchor="ctr"/>
                </a:tc>
                <a:extLst>
                  <a:ext uri="{0D108BD9-81ED-4DB2-BD59-A6C34878D82A}">
                    <a16:rowId xmlns:a16="http://schemas.microsoft.com/office/drawing/2014/main" val="3384917504"/>
                  </a:ext>
                </a:extLst>
              </a:tr>
              <a:tr h="185728">
                <a:tc>
                  <a:txBody>
                    <a:bodyPr/>
                    <a:lstStyle/>
                    <a:p>
                      <a:pPr>
                        <a:buNone/>
                      </a:pPr>
                      <a:r>
                        <a:rPr lang="en-US" sz="1400" b="1">
                          <a:highlight>
                            <a:srgbClr val="FFFF00"/>
                          </a:highlight>
                        </a:rPr>
                        <a:t>display_name</a:t>
                      </a:r>
                      <a:endParaRPr lang="en-US" sz="1400">
                        <a:highlight>
                          <a:srgbClr val="FFFF00"/>
                        </a:highlight>
                      </a:endParaRPr>
                    </a:p>
                  </a:txBody>
                  <a:tcPr marL="26533" marR="26533" marT="13266" marB="13266" anchor="ctr"/>
                </a:tc>
                <a:tc>
                  <a:txBody>
                    <a:bodyPr/>
                    <a:lstStyle/>
                    <a:p>
                      <a:pPr>
                        <a:buNone/>
                      </a:pPr>
                      <a:r>
                        <a:rPr lang="en-US" sz="1400">
                          <a:highlight>
                            <a:srgbClr val="FFFF00"/>
                          </a:highlight>
                        </a:rPr>
                        <a:t>TEXT</a:t>
                      </a:r>
                    </a:p>
                  </a:txBody>
                  <a:tcPr marL="26533" marR="26533" marT="13266" marB="13266" anchor="ctr"/>
                </a:tc>
                <a:tc>
                  <a:txBody>
                    <a:bodyPr/>
                    <a:lstStyle/>
                    <a:p>
                      <a:pPr>
                        <a:buNone/>
                      </a:pPr>
                      <a:r>
                        <a:rPr lang="en-GB" sz="1400" dirty="0">
                          <a:highlight>
                            <a:srgbClr val="FFFF00"/>
                          </a:highlight>
                        </a:rPr>
                        <a:t>Cached display name (may be null or derived from data table)</a:t>
                      </a:r>
                    </a:p>
                  </a:txBody>
                  <a:tcPr marL="26533" marR="26533" marT="13266" marB="13266" anchor="ctr"/>
                </a:tc>
                <a:extLst>
                  <a:ext uri="{0D108BD9-81ED-4DB2-BD59-A6C34878D82A}">
                    <a16:rowId xmlns:a16="http://schemas.microsoft.com/office/drawing/2014/main" val="919992493"/>
                  </a:ext>
                </a:extLst>
              </a:tr>
              <a:tr h="106130">
                <a:tc>
                  <a:txBody>
                    <a:bodyPr/>
                    <a:lstStyle/>
                    <a:p>
                      <a:pPr>
                        <a:buNone/>
                      </a:pPr>
                      <a:r>
                        <a:rPr lang="en-US" sz="1400" b="1"/>
                        <a:t>display_name_alt</a:t>
                      </a:r>
                      <a:endParaRPr lang="en-US" sz="1400"/>
                    </a:p>
                  </a:txBody>
                  <a:tcPr marL="26533" marR="26533" marT="13266" marB="13266" anchor="ctr"/>
                </a:tc>
                <a:tc>
                  <a:txBody>
                    <a:bodyPr/>
                    <a:lstStyle/>
                    <a:p>
                      <a:pPr>
                        <a:buNone/>
                      </a:pPr>
                      <a:r>
                        <a:rPr lang="en-US" sz="1400"/>
                        <a:t>TEXT</a:t>
                      </a:r>
                    </a:p>
                  </a:txBody>
                  <a:tcPr marL="26533" marR="26533" marT="13266" marB="13266" anchor="ctr"/>
                </a:tc>
                <a:tc>
                  <a:txBody>
                    <a:bodyPr/>
                    <a:lstStyle/>
                    <a:p>
                      <a:pPr>
                        <a:buNone/>
                      </a:pPr>
                      <a:r>
                        <a:rPr lang="en-US" sz="1400"/>
                        <a:t>Alternative display name format</a:t>
                      </a:r>
                    </a:p>
                  </a:txBody>
                  <a:tcPr marL="26533" marR="26533" marT="13266" marB="13266" anchor="ctr"/>
                </a:tc>
                <a:extLst>
                  <a:ext uri="{0D108BD9-81ED-4DB2-BD59-A6C34878D82A}">
                    <a16:rowId xmlns:a16="http://schemas.microsoft.com/office/drawing/2014/main" val="3819154335"/>
                  </a:ext>
                </a:extLst>
              </a:tr>
              <a:tr h="185728">
                <a:tc>
                  <a:txBody>
                    <a:bodyPr/>
                    <a:lstStyle/>
                    <a:p>
                      <a:pPr>
                        <a:buNone/>
                      </a:pPr>
                      <a:r>
                        <a:rPr lang="en-US" sz="1400" b="1"/>
                        <a:t>custom_ringtone</a:t>
                      </a:r>
                      <a:endParaRPr lang="en-US" sz="1400"/>
                    </a:p>
                  </a:txBody>
                  <a:tcPr marL="26533" marR="26533" marT="13266" marB="13266" anchor="ctr"/>
                </a:tc>
                <a:tc>
                  <a:txBody>
                    <a:bodyPr/>
                    <a:lstStyle/>
                    <a:p>
                      <a:pPr>
                        <a:buNone/>
                      </a:pPr>
                      <a:r>
                        <a:rPr lang="en-US" sz="1400"/>
                        <a:t>TEXT</a:t>
                      </a:r>
                    </a:p>
                  </a:txBody>
                  <a:tcPr marL="26533" marR="26533" marT="13266" marB="13266" anchor="ctr"/>
                </a:tc>
                <a:tc>
                  <a:txBody>
                    <a:bodyPr/>
                    <a:lstStyle/>
                    <a:p>
                      <a:pPr>
                        <a:buNone/>
                      </a:pPr>
                      <a:r>
                        <a:rPr lang="en-GB" sz="1400"/>
                        <a:t>URI of a custom ringtone assigned to the contact</a:t>
                      </a:r>
                    </a:p>
                  </a:txBody>
                  <a:tcPr marL="26533" marR="26533" marT="13266" marB="13266" anchor="ctr"/>
                </a:tc>
                <a:extLst>
                  <a:ext uri="{0D108BD9-81ED-4DB2-BD59-A6C34878D82A}">
                    <a16:rowId xmlns:a16="http://schemas.microsoft.com/office/drawing/2014/main" val="1737300631"/>
                  </a:ext>
                </a:extLst>
              </a:tr>
              <a:tr h="185728">
                <a:tc>
                  <a:txBody>
                    <a:bodyPr/>
                    <a:lstStyle/>
                    <a:p>
                      <a:pPr>
                        <a:buNone/>
                      </a:pPr>
                      <a:r>
                        <a:rPr lang="en-US" sz="1400" b="1"/>
                        <a:t>send_to_voicemail</a:t>
                      </a:r>
                      <a:endParaRPr lang="en-US" sz="1400"/>
                    </a:p>
                  </a:txBody>
                  <a:tcPr marL="26533" marR="26533" marT="13266" marB="13266" anchor="ctr"/>
                </a:tc>
                <a:tc>
                  <a:txBody>
                    <a:bodyPr/>
                    <a:lstStyle/>
                    <a:p>
                      <a:pPr>
                        <a:buNone/>
                      </a:pPr>
                      <a:r>
                        <a:rPr lang="en-US" sz="1400"/>
                        <a:t>INTEGER</a:t>
                      </a:r>
                    </a:p>
                  </a:txBody>
                  <a:tcPr marL="26533" marR="26533" marT="13266" marB="13266" anchor="ctr"/>
                </a:tc>
                <a:tc>
                  <a:txBody>
                    <a:bodyPr/>
                    <a:lstStyle/>
                    <a:p>
                      <a:pPr>
                        <a:buNone/>
                      </a:pPr>
                      <a:r>
                        <a:rPr lang="en-GB" sz="1400"/>
                        <a:t>1 if calls should go straight to voicemail</a:t>
                      </a:r>
                    </a:p>
                  </a:txBody>
                  <a:tcPr marL="26533" marR="26533" marT="13266" marB="13266" anchor="ctr"/>
                </a:tc>
                <a:extLst>
                  <a:ext uri="{0D108BD9-81ED-4DB2-BD59-A6C34878D82A}">
                    <a16:rowId xmlns:a16="http://schemas.microsoft.com/office/drawing/2014/main" val="2360509773"/>
                  </a:ext>
                </a:extLst>
              </a:tr>
              <a:tr h="106130">
                <a:tc>
                  <a:txBody>
                    <a:bodyPr/>
                    <a:lstStyle/>
                    <a:p>
                      <a:pPr>
                        <a:buNone/>
                      </a:pPr>
                      <a:r>
                        <a:rPr lang="en-US" sz="1400" b="1">
                          <a:highlight>
                            <a:srgbClr val="FFFF00"/>
                          </a:highlight>
                        </a:rPr>
                        <a:t>last_time_contacted</a:t>
                      </a:r>
                      <a:endParaRPr lang="en-US" sz="1400">
                        <a:highlight>
                          <a:srgbClr val="FFFF00"/>
                        </a:highlight>
                      </a:endParaRPr>
                    </a:p>
                  </a:txBody>
                  <a:tcPr marL="26533" marR="26533" marT="13266" marB="13266" anchor="ctr"/>
                </a:tc>
                <a:tc>
                  <a:txBody>
                    <a:bodyPr/>
                    <a:lstStyle/>
                    <a:p>
                      <a:pPr>
                        <a:buNone/>
                      </a:pPr>
                      <a:r>
                        <a:rPr lang="en-US" sz="1400">
                          <a:highlight>
                            <a:srgbClr val="FFFF00"/>
                          </a:highlight>
                        </a:rPr>
                        <a:t>INTEGER</a:t>
                      </a:r>
                    </a:p>
                  </a:txBody>
                  <a:tcPr marL="26533" marR="26533" marT="13266" marB="13266" anchor="ctr"/>
                </a:tc>
                <a:tc>
                  <a:txBody>
                    <a:bodyPr/>
                    <a:lstStyle/>
                    <a:p>
                      <a:pPr>
                        <a:buNone/>
                      </a:pPr>
                      <a:r>
                        <a:rPr lang="en-GB" sz="1400" dirty="0">
                          <a:highlight>
                            <a:srgbClr val="FFFF00"/>
                          </a:highlight>
                        </a:rPr>
                        <a:t>Unix timestamp of last interaction</a:t>
                      </a:r>
                    </a:p>
                  </a:txBody>
                  <a:tcPr marL="26533" marR="26533" marT="13266" marB="13266" anchor="ctr"/>
                </a:tc>
                <a:extLst>
                  <a:ext uri="{0D108BD9-81ED-4DB2-BD59-A6C34878D82A}">
                    <a16:rowId xmlns:a16="http://schemas.microsoft.com/office/drawing/2014/main" val="428616584"/>
                  </a:ext>
                </a:extLst>
              </a:tr>
              <a:tr h="185728">
                <a:tc>
                  <a:txBody>
                    <a:bodyPr/>
                    <a:lstStyle/>
                    <a:p>
                      <a:pPr>
                        <a:buNone/>
                      </a:pPr>
                      <a:r>
                        <a:rPr lang="en-US" sz="1400" b="1">
                          <a:highlight>
                            <a:srgbClr val="FFFF00"/>
                          </a:highlight>
                        </a:rPr>
                        <a:t>times_contacted</a:t>
                      </a:r>
                      <a:endParaRPr lang="en-US" sz="1400">
                        <a:highlight>
                          <a:srgbClr val="FFFF00"/>
                        </a:highlight>
                      </a:endParaRPr>
                    </a:p>
                  </a:txBody>
                  <a:tcPr marL="26533" marR="26533" marT="13266" marB="13266" anchor="ctr"/>
                </a:tc>
                <a:tc>
                  <a:txBody>
                    <a:bodyPr/>
                    <a:lstStyle/>
                    <a:p>
                      <a:pPr>
                        <a:buNone/>
                      </a:pPr>
                      <a:r>
                        <a:rPr lang="en-US" sz="1400">
                          <a:highlight>
                            <a:srgbClr val="FFFF00"/>
                          </a:highlight>
                        </a:rPr>
                        <a:t>INTEGER</a:t>
                      </a:r>
                    </a:p>
                  </a:txBody>
                  <a:tcPr marL="26533" marR="26533" marT="13266" marB="13266" anchor="ctr"/>
                </a:tc>
                <a:tc>
                  <a:txBody>
                    <a:bodyPr/>
                    <a:lstStyle/>
                    <a:p>
                      <a:pPr>
                        <a:buNone/>
                      </a:pPr>
                      <a:r>
                        <a:rPr lang="en-GB" sz="1400" dirty="0">
                          <a:highlight>
                            <a:srgbClr val="FFFF00"/>
                          </a:highlight>
                        </a:rPr>
                        <a:t>Counter of how many times the contact has been interacted with</a:t>
                      </a:r>
                    </a:p>
                  </a:txBody>
                  <a:tcPr marL="26533" marR="26533" marT="13266" marB="13266" anchor="ctr"/>
                </a:tc>
                <a:extLst>
                  <a:ext uri="{0D108BD9-81ED-4DB2-BD59-A6C34878D82A}">
                    <a16:rowId xmlns:a16="http://schemas.microsoft.com/office/drawing/2014/main" val="255634632"/>
                  </a:ext>
                </a:extLst>
              </a:tr>
              <a:tr h="106130">
                <a:tc>
                  <a:txBody>
                    <a:bodyPr/>
                    <a:lstStyle/>
                    <a:p>
                      <a:pPr>
                        <a:buNone/>
                      </a:pPr>
                      <a:r>
                        <a:rPr lang="en-US" sz="1400" b="1">
                          <a:highlight>
                            <a:srgbClr val="FFFF00"/>
                          </a:highlight>
                        </a:rPr>
                        <a:t>starred</a:t>
                      </a:r>
                      <a:endParaRPr lang="en-US" sz="1400">
                        <a:highlight>
                          <a:srgbClr val="FFFF00"/>
                        </a:highlight>
                      </a:endParaRPr>
                    </a:p>
                  </a:txBody>
                  <a:tcPr marL="26533" marR="26533" marT="13266" marB="13266" anchor="ctr"/>
                </a:tc>
                <a:tc>
                  <a:txBody>
                    <a:bodyPr/>
                    <a:lstStyle/>
                    <a:p>
                      <a:pPr>
                        <a:buNone/>
                      </a:pPr>
                      <a:r>
                        <a:rPr lang="en-US" sz="1400">
                          <a:highlight>
                            <a:srgbClr val="FFFF00"/>
                          </a:highlight>
                        </a:rPr>
                        <a:t>INTEGER</a:t>
                      </a:r>
                    </a:p>
                  </a:txBody>
                  <a:tcPr marL="26533" marR="26533" marT="13266" marB="13266" anchor="ctr"/>
                </a:tc>
                <a:tc>
                  <a:txBody>
                    <a:bodyPr/>
                    <a:lstStyle/>
                    <a:p>
                      <a:pPr>
                        <a:buNone/>
                      </a:pPr>
                      <a:r>
                        <a:rPr lang="en-GB" sz="1400" dirty="0">
                          <a:highlight>
                            <a:srgbClr val="FFFF00"/>
                          </a:highlight>
                        </a:rPr>
                        <a:t>1 if marked as </a:t>
                      </a:r>
                      <a:r>
                        <a:rPr lang="en-GB" sz="1400" dirty="0" err="1">
                          <a:highlight>
                            <a:srgbClr val="FFFF00"/>
                          </a:highlight>
                        </a:rPr>
                        <a:t>favorite</a:t>
                      </a:r>
                      <a:endParaRPr lang="en-GB" sz="1400" dirty="0">
                        <a:highlight>
                          <a:srgbClr val="FFFF00"/>
                        </a:highlight>
                      </a:endParaRPr>
                    </a:p>
                  </a:txBody>
                  <a:tcPr marL="26533" marR="26533" marT="13266" marB="13266" anchor="ctr"/>
                </a:tc>
                <a:extLst>
                  <a:ext uri="{0D108BD9-81ED-4DB2-BD59-A6C34878D82A}">
                    <a16:rowId xmlns:a16="http://schemas.microsoft.com/office/drawing/2014/main" val="645833427"/>
                  </a:ext>
                </a:extLst>
              </a:tr>
              <a:tr h="106130">
                <a:tc>
                  <a:txBody>
                    <a:bodyPr/>
                    <a:lstStyle/>
                    <a:p>
                      <a:pPr>
                        <a:buNone/>
                      </a:pPr>
                      <a:r>
                        <a:rPr lang="en-US" sz="1400" b="1"/>
                        <a:t>pinned</a:t>
                      </a:r>
                      <a:endParaRPr lang="en-US" sz="1400"/>
                    </a:p>
                  </a:txBody>
                  <a:tcPr marL="26533" marR="26533" marT="13266" marB="13266" anchor="ctr"/>
                </a:tc>
                <a:tc>
                  <a:txBody>
                    <a:bodyPr/>
                    <a:lstStyle/>
                    <a:p>
                      <a:pPr>
                        <a:buNone/>
                      </a:pPr>
                      <a:r>
                        <a:rPr lang="en-US" sz="1400"/>
                        <a:t>INTEGER</a:t>
                      </a:r>
                    </a:p>
                  </a:txBody>
                  <a:tcPr marL="26533" marR="26533" marT="13266" marB="13266" anchor="ctr"/>
                </a:tc>
                <a:tc>
                  <a:txBody>
                    <a:bodyPr/>
                    <a:lstStyle/>
                    <a:p>
                      <a:pPr>
                        <a:buNone/>
                      </a:pPr>
                      <a:r>
                        <a:rPr lang="en-GB" sz="1400" dirty="0"/>
                        <a:t>Position in the “pinned” list</a:t>
                      </a:r>
                    </a:p>
                  </a:txBody>
                  <a:tcPr marL="26533" marR="26533" marT="13266" marB="13266" anchor="ctr"/>
                </a:tc>
                <a:extLst>
                  <a:ext uri="{0D108BD9-81ED-4DB2-BD59-A6C34878D82A}">
                    <a16:rowId xmlns:a16="http://schemas.microsoft.com/office/drawing/2014/main" val="3844460332"/>
                  </a:ext>
                </a:extLst>
              </a:tr>
              <a:tr h="106130">
                <a:tc>
                  <a:txBody>
                    <a:bodyPr/>
                    <a:lstStyle/>
                    <a:p>
                      <a:pPr>
                        <a:buNone/>
                      </a:pPr>
                      <a:r>
                        <a:rPr lang="en-US" sz="1400" b="1"/>
                        <a:t>photo_id</a:t>
                      </a:r>
                      <a:endParaRPr lang="en-US" sz="1400"/>
                    </a:p>
                  </a:txBody>
                  <a:tcPr marL="26533" marR="26533" marT="13266" marB="13266" anchor="ctr"/>
                </a:tc>
                <a:tc>
                  <a:txBody>
                    <a:bodyPr/>
                    <a:lstStyle/>
                    <a:p>
                      <a:pPr>
                        <a:buNone/>
                      </a:pPr>
                      <a:r>
                        <a:rPr lang="en-US" sz="1400"/>
                        <a:t>INTEGER</a:t>
                      </a:r>
                    </a:p>
                  </a:txBody>
                  <a:tcPr marL="26533" marR="26533" marT="13266" marB="13266" anchor="ctr"/>
                </a:tc>
                <a:tc>
                  <a:txBody>
                    <a:bodyPr/>
                    <a:lstStyle/>
                    <a:p>
                      <a:pPr>
                        <a:buNone/>
                      </a:pPr>
                      <a:r>
                        <a:rPr lang="en-GB" sz="1400"/>
                        <a:t>Link to the photo in data table</a:t>
                      </a:r>
                    </a:p>
                  </a:txBody>
                  <a:tcPr marL="26533" marR="26533" marT="13266" marB="13266" anchor="ctr"/>
                </a:tc>
                <a:extLst>
                  <a:ext uri="{0D108BD9-81ED-4DB2-BD59-A6C34878D82A}">
                    <a16:rowId xmlns:a16="http://schemas.microsoft.com/office/drawing/2014/main" val="1565063245"/>
                  </a:ext>
                </a:extLst>
              </a:tr>
              <a:tr h="106130">
                <a:tc>
                  <a:txBody>
                    <a:bodyPr/>
                    <a:lstStyle/>
                    <a:p>
                      <a:pPr>
                        <a:buNone/>
                      </a:pPr>
                      <a:r>
                        <a:rPr lang="en-US" sz="1400" b="1"/>
                        <a:t>photo_uri</a:t>
                      </a:r>
                      <a:endParaRPr lang="en-US" sz="1400"/>
                    </a:p>
                  </a:txBody>
                  <a:tcPr marL="26533" marR="26533" marT="13266" marB="13266" anchor="ctr"/>
                </a:tc>
                <a:tc>
                  <a:txBody>
                    <a:bodyPr/>
                    <a:lstStyle/>
                    <a:p>
                      <a:pPr>
                        <a:buNone/>
                      </a:pPr>
                      <a:r>
                        <a:rPr lang="en-US" sz="1400"/>
                        <a:t>TEXT</a:t>
                      </a:r>
                    </a:p>
                  </a:txBody>
                  <a:tcPr marL="26533" marR="26533" marT="13266" marB="13266" anchor="ctr"/>
                </a:tc>
                <a:tc>
                  <a:txBody>
                    <a:bodyPr/>
                    <a:lstStyle/>
                    <a:p>
                      <a:pPr>
                        <a:buNone/>
                      </a:pPr>
                      <a:r>
                        <a:rPr lang="en-GB" sz="1400"/>
                        <a:t>Cached URI of contact photo</a:t>
                      </a:r>
                    </a:p>
                  </a:txBody>
                  <a:tcPr marL="26533" marR="26533" marT="13266" marB="13266" anchor="ctr"/>
                </a:tc>
                <a:extLst>
                  <a:ext uri="{0D108BD9-81ED-4DB2-BD59-A6C34878D82A}">
                    <a16:rowId xmlns:a16="http://schemas.microsoft.com/office/drawing/2014/main" val="1890884337"/>
                  </a:ext>
                </a:extLst>
              </a:tr>
              <a:tr h="185728">
                <a:tc>
                  <a:txBody>
                    <a:bodyPr/>
                    <a:lstStyle/>
                    <a:p>
                      <a:pPr>
                        <a:buNone/>
                      </a:pPr>
                      <a:r>
                        <a:rPr lang="en-US" sz="1400" b="1"/>
                        <a:t>photo_file_id</a:t>
                      </a:r>
                      <a:endParaRPr lang="en-US" sz="1400"/>
                    </a:p>
                  </a:txBody>
                  <a:tcPr marL="26533" marR="26533" marT="13266" marB="13266" anchor="ctr"/>
                </a:tc>
                <a:tc>
                  <a:txBody>
                    <a:bodyPr/>
                    <a:lstStyle/>
                    <a:p>
                      <a:pPr>
                        <a:buNone/>
                      </a:pPr>
                      <a:r>
                        <a:rPr lang="en-US" sz="1400"/>
                        <a:t>INTEGER</a:t>
                      </a:r>
                    </a:p>
                  </a:txBody>
                  <a:tcPr marL="26533" marR="26533" marT="13266" marB="13266" anchor="ctr"/>
                </a:tc>
                <a:tc>
                  <a:txBody>
                    <a:bodyPr/>
                    <a:lstStyle/>
                    <a:p>
                      <a:pPr>
                        <a:buNone/>
                      </a:pPr>
                      <a:r>
                        <a:rPr lang="en-GB" sz="1400"/>
                        <a:t>File ID if photo stored in the file table (Android 11+)</a:t>
                      </a:r>
                    </a:p>
                  </a:txBody>
                  <a:tcPr marL="26533" marR="26533" marT="13266" marB="13266" anchor="ctr"/>
                </a:tc>
                <a:extLst>
                  <a:ext uri="{0D108BD9-81ED-4DB2-BD59-A6C34878D82A}">
                    <a16:rowId xmlns:a16="http://schemas.microsoft.com/office/drawing/2014/main" val="2937532686"/>
                  </a:ext>
                </a:extLst>
              </a:tr>
              <a:tr h="185728">
                <a:tc>
                  <a:txBody>
                    <a:bodyPr/>
                    <a:lstStyle/>
                    <a:p>
                      <a:pPr>
                        <a:buNone/>
                      </a:pPr>
                      <a:r>
                        <a:rPr lang="en-US" sz="1400" b="1"/>
                        <a:t>sync1</a:t>
                      </a:r>
                      <a:endParaRPr lang="en-US" sz="1400"/>
                    </a:p>
                  </a:txBody>
                  <a:tcPr marL="26533" marR="26533" marT="13266" marB="13266" anchor="ctr"/>
                </a:tc>
                <a:tc>
                  <a:txBody>
                    <a:bodyPr/>
                    <a:lstStyle/>
                    <a:p>
                      <a:pPr>
                        <a:buNone/>
                      </a:pPr>
                      <a:r>
                        <a:rPr lang="en-US" sz="1400"/>
                        <a:t>TEXT</a:t>
                      </a:r>
                    </a:p>
                  </a:txBody>
                  <a:tcPr marL="26533" marR="26533" marT="13266" marB="13266" anchor="ctr"/>
                </a:tc>
                <a:tc>
                  <a:txBody>
                    <a:bodyPr/>
                    <a:lstStyle/>
                    <a:p>
                      <a:pPr>
                        <a:buNone/>
                      </a:pPr>
                      <a:r>
                        <a:rPr lang="en-US" sz="1400" dirty="0"/>
                        <a:t>Adapter-reserved sync metadata field (customized for different apps)</a:t>
                      </a:r>
                    </a:p>
                  </a:txBody>
                  <a:tcPr marL="26533" marR="26533" marT="13266" marB="13266" anchor="ctr"/>
                </a:tc>
                <a:extLst>
                  <a:ext uri="{0D108BD9-81ED-4DB2-BD59-A6C34878D82A}">
                    <a16:rowId xmlns:a16="http://schemas.microsoft.com/office/drawing/2014/main" val="1522017415"/>
                  </a:ext>
                </a:extLst>
              </a:tr>
              <a:tr h="185728">
                <a:tc>
                  <a:txBody>
                    <a:bodyPr/>
                    <a:lstStyle/>
                    <a:p>
                      <a:pPr>
                        <a:buNone/>
                      </a:pPr>
                      <a:r>
                        <a:rPr lang="en-US" sz="1400" b="1"/>
                        <a:t>sync2</a:t>
                      </a:r>
                      <a:endParaRPr lang="en-US" sz="1400"/>
                    </a:p>
                  </a:txBody>
                  <a:tcPr marL="26533" marR="26533" marT="13266" marB="13266" anchor="ctr"/>
                </a:tc>
                <a:tc>
                  <a:txBody>
                    <a:bodyPr/>
                    <a:lstStyle/>
                    <a:p>
                      <a:pPr>
                        <a:buNone/>
                      </a:pPr>
                      <a:r>
                        <a:rPr lang="en-US" sz="1400"/>
                        <a:t>TEXT</a:t>
                      </a:r>
                    </a:p>
                  </a:txBody>
                  <a:tcPr marL="26533" marR="26533" marT="13266" marB="13266" anchor="ctr"/>
                </a:tc>
                <a:tc>
                  <a:txBody>
                    <a:bodyPr/>
                    <a:lstStyle/>
                    <a:p>
                      <a:pPr>
                        <a:buNone/>
                      </a:pPr>
                      <a:r>
                        <a:rPr lang="en-US" sz="1400"/>
                        <a:t>Adapter-reserved sync metadata field</a:t>
                      </a:r>
                    </a:p>
                  </a:txBody>
                  <a:tcPr marL="26533" marR="26533" marT="13266" marB="13266" anchor="ctr"/>
                </a:tc>
                <a:extLst>
                  <a:ext uri="{0D108BD9-81ED-4DB2-BD59-A6C34878D82A}">
                    <a16:rowId xmlns:a16="http://schemas.microsoft.com/office/drawing/2014/main" val="3782613179"/>
                  </a:ext>
                </a:extLst>
              </a:tr>
              <a:tr h="185728">
                <a:tc>
                  <a:txBody>
                    <a:bodyPr/>
                    <a:lstStyle/>
                    <a:p>
                      <a:pPr>
                        <a:buNone/>
                      </a:pPr>
                      <a:r>
                        <a:rPr lang="en-US" sz="1400" b="1"/>
                        <a:t>sync3</a:t>
                      </a:r>
                      <a:endParaRPr lang="en-US" sz="1400"/>
                    </a:p>
                  </a:txBody>
                  <a:tcPr marL="26533" marR="26533" marT="13266" marB="13266" anchor="ctr"/>
                </a:tc>
                <a:tc>
                  <a:txBody>
                    <a:bodyPr/>
                    <a:lstStyle/>
                    <a:p>
                      <a:pPr>
                        <a:buNone/>
                      </a:pPr>
                      <a:r>
                        <a:rPr lang="en-US" sz="1400"/>
                        <a:t>TEXT</a:t>
                      </a:r>
                    </a:p>
                  </a:txBody>
                  <a:tcPr marL="26533" marR="26533" marT="13266" marB="13266" anchor="ctr"/>
                </a:tc>
                <a:tc>
                  <a:txBody>
                    <a:bodyPr/>
                    <a:lstStyle/>
                    <a:p>
                      <a:pPr>
                        <a:buNone/>
                      </a:pPr>
                      <a:r>
                        <a:rPr lang="en-US" sz="1400"/>
                        <a:t>Adapter-reserved sync metadata field</a:t>
                      </a:r>
                    </a:p>
                  </a:txBody>
                  <a:tcPr marL="26533" marR="26533" marT="13266" marB="13266" anchor="ctr"/>
                </a:tc>
                <a:extLst>
                  <a:ext uri="{0D108BD9-81ED-4DB2-BD59-A6C34878D82A}">
                    <a16:rowId xmlns:a16="http://schemas.microsoft.com/office/drawing/2014/main" val="1409257818"/>
                  </a:ext>
                </a:extLst>
              </a:tr>
              <a:tr h="185728">
                <a:tc>
                  <a:txBody>
                    <a:bodyPr/>
                    <a:lstStyle/>
                    <a:p>
                      <a:pPr>
                        <a:buNone/>
                      </a:pPr>
                      <a:r>
                        <a:rPr lang="en-US" sz="1400" b="1"/>
                        <a:t>sync4</a:t>
                      </a:r>
                      <a:endParaRPr lang="en-US" sz="1400"/>
                    </a:p>
                  </a:txBody>
                  <a:tcPr marL="26533" marR="26533" marT="13266" marB="13266" anchor="ctr"/>
                </a:tc>
                <a:tc>
                  <a:txBody>
                    <a:bodyPr/>
                    <a:lstStyle/>
                    <a:p>
                      <a:pPr>
                        <a:buNone/>
                      </a:pPr>
                      <a:r>
                        <a:rPr lang="en-US" sz="1400"/>
                        <a:t>TEXT</a:t>
                      </a:r>
                    </a:p>
                  </a:txBody>
                  <a:tcPr marL="26533" marR="26533" marT="13266" marB="13266" anchor="ctr"/>
                </a:tc>
                <a:tc>
                  <a:txBody>
                    <a:bodyPr/>
                    <a:lstStyle/>
                    <a:p>
                      <a:pPr>
                        <a:buNone/>
                      </a:pPr>
                      <a:r>
                        <a:rPr lang="en-US" sz="1400" dirty="0"/>
                        <a:t>Adapter-reserved sync metadata field</a:t>
                      </a:r>
                    </a:p>
                  </a:txBody>
                  <a:tcPr marL="26533" marR="26533" marT="13266" marB="13266" anchor="ctr"/>
                </a:tc>
                <a:extLst>
                  <a:ext uri="{0D108BD9-81ED-4DB2-BD59-A6C34878D82A}">
                    <a16:rowId xmlns:a16="http://schemas.microsoft.com/office/drawing/2014/main" val="2852211715"/>
                  </a:ext>
                </a:extLst>
              </a:tr>
            </a:tbl>
          </a:graphicData>
        </a:graphic>
      </p:graphicFrame>
    </p:spTree>
    <p:extLst>
      <p:ext uri="{BB962C8B-B14F-4D97-AF65-F5344CB8AC3E}">
        <p14:creationId xmlns:p14="http://schemas.microsoft.com/office/powerpoint/2010/main" val="224108266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FE3EDC-FBDC-32C5-EC53-FAF3A81487A0}"/>
            </a:ext>
          </a:extLst>
        </p:cNvPr>
        <p:cNvGrpSpPr/>
        <p:nvPr/>
      </p:nvGrpSpPr>
      <p:grpSpPr>
        <a:xfrm>
          <a:off x="0" y="0"/>
          <a:ext cx="0" cy="0"/>
          <a:chOff x="0" y="0"/>
          <a:chExt cx="0" cy="0"/>
        </a:xfrm>
      </p:grpSpPr>
      <p:pic>
        <p:nvPicPr>
          <p:cNvPr id="9" name="Picture 8" descr="A computer screen capture&#10;&#10;Description automatically generated with medium confidence">
            <a:extLst>
              <a:ext uri="{FF2B5EF4-FFF2-40B4-BE49-F238E27FC236}">
                <a16:creationId xmlns:a16="http://schemas.microsoft.com/office/drawing/2014/main" id="{78E35BCC-8F46-F809-693E-2F0FFC7911F6}"/>
              </a:ext>
            </a:extLst>
          </p:cNvPr>
          <p:cNvPicPr>
            <a:picLocks noChangeAspect="1"/>
          </p:cNvPicPr>
          <p:nvPr/>
        </p:nvPicPr>
        <p:blipFill>
          <a:blip r:embed="rId3"/>
          <a:stretch>
            <a:fillRect/>
          </a:stretch>
        </p:blipFill>
        <p:spPr>
          <a:xfrm>
            <a:off x="838200" y="2942449"/>
            <a:ext cx="10722269" cy="2956816"/>
          </a:xfrm>
          <a:prstGeom prst="rect">
            <a:avLst/>
          </a:prstGeom>
        </p:spPr>
      </p:pic>
      <p:cxnSp>
        <p:nvCxnSpPr>
          <p:cNvPr id="12" name="Straight Arrow Connector 11">
            <a:extLst>
              <a:ext uri="{FF2B5EF4-FFF2-40B4-BE49-F238E27FC236}">
                <a16:creationId xmlns:a16="http://schemas.microsoft.com/office/drawing/2014/main" id="{EF8E2FE2-3126-8FBC-D10D-25D353B8D856}"/>
              </a:ext>
            </a:extLst>
          </p:cNvPr>
          <p:cNvCxnSpPr/>
          <p:nvPr/>
        </p:nvCxnSpPr>
        <p:spPr>
          <a:xfrm>
            <a:off x="10234863" y="2779157"/>
            <a:ext cx="417095" cy="457200"/>
          </a:xfrm>
          <a:prstGeom prst="straightConnector1">
            <a:avLst/>
          </a:prstGeom>
          <a:ln w="5715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3" name="TextBox 12">
            <a:extLst>
              <a:ext uri="{FF2B5EF4-FFF2-40B4-BE49-F238E27FC236}">
                <a16:creationId xmlns:a16="http://schemas.microsoft.com/office/drawing/2014/main" id="{160D2646-69CF-36AC-398D-E32CC107E8AB}"/>
              </a:ext>
            </a:extLst>
          </p:cNvPr>
          <p:cNvSpPr txBox="1"/>
          <p:nvPr/>
        </p:nvSpPr>
        <p:spPr>
          <a:xfrm>
            <a:off x="838200" y="2546546"/>
            <a:ext cx="3037563" cy="369332"/>
          </a:xfrm>
          <a:prstGeom prst="rect">
            <a:avLst/>
          </a:prstGeom>
          <a:solidFill>
            <a:schemeClr val="accent4"/>
          </a:solidFill>
        </p:spPr>
        <p:txBody>
          <a:bodyPr wrap="square" rtlCol="0">
            <a:normAutofit fontScale="25000" lnSpcReduction="20000"/>
          </a:bodyPr>
          <a:lstStyle/>
          <a:p>
            <a:pPr>
              <a:defRPr sz="2200">
                <a:latin typeface="Arial"/>
              </a:defRPr>
            </a:pPr>
            <a:r>
              <a:t>Goal: identify which raw contacts came from a specific account or application.</a:t>
            </a:r>
            <a:endParaRPr lang="en-US" i="1" dirty="0">
              <a:solidFill>
                <a:srgbClr val="7030A0"/>
              </a:solidFill>
            </a:endParaRPr>
          </a:p>
          <a:p>
            <a:pPr>
              <a:defRPr sz="2200">
                <a:latin typeface="Arial"/>
              </a:defRPr>
            </a:pPr>
            <a:r>
              <a:t>Example finding: Telegram saved three contacts; two were marked deleted.</a:t>
            </a:r>
          </a:p>
          <a:p>
            <a:pPr>
              <a:defRPr sz="2200">
                <a:latin typeface="Arial"/>
              </a:defRPr>
            </a:pPr>
            <a:r>
              <a:t>Key join: raw_contacts.account_id = accounts._id.</a:t>
            </a:r>
          </a:p>
          <a:p>
            <a:pPr>
              <a:defRPr sz="2200">
                <a:latin typeface="Arial"/>
              </a:defRPr>
            </a:pPr>
            <a:r>
              <a:t>Interpretation: a deleted flag can indicate a removed contact that still appears in the database.</a:t>
            </a:r>
          </a:p>
        </p:txBody>
      </p:sp>
      <p:cxnSp>
        <p:nvCxnSpPr>
          <p:cNvPr id="5" name="Straight Arrow Connector 4">
            <a:extLst>
              <a:ext uri="{FF2B5EF4-FFF2-40B4-BE49-F238E27FC236}">
                <a16:creationId xmlns:a16="http://schemas.microsoft.com/office/drawing/2014/main" id="{ED8A5CA5-BCFA-DC32-39FD-444E52FBDFE2}"/>
              </a:ext>
            </a:extLst>
          </p:cNvPr>
          <p:cNvCxnSpPr>
            <a:cxnSpLocks/>
          </p:cNvCxnSpPr>
          <p:nvPr/>
        </p:nvCxnSpPr>
        <p:spPr>
          <a:xfrm>
            <a:off x="8024648" y="2731212"/>
            <a:ext cx="452925" cy="2480227"/>
          </a:xfrm>
          <a:prstGeom prst="straightConnector1">
            <a:avLst/>
          </a:prstGeom>
          <a:ln>
            <a:tailEnd type="triangle"/>
          </a:ln>
        </p:spPr>
        <p:style>
          <a:lnRef idx="1">
            <a:schemeClr val="accent2"/>
          </a:lnRef>
          <a:fillRef idx="0">
            <a:schemeClr val="accent2"/>
          </a:fillRef>
          <a:effectRef idx="0">
            <a:schemeClr val="accent2"/>
          </a:effectRef>
          <a:fontRef idx="minor">
            <a:schemeClr val="tx1"/>
          </a:fontRef>
        </p:style>
      </p:cxnSp>
      <p:pic>
        <p:nvPicPr>
          <p:cNvPr id="6" name="Picture 5">
            <a:extLst>
              <a:ext uri="{FF2B5EF4-FFF2-40B4-BE49-F238E27FC236}">
                <a16:creationId xmlns:a16="http://schemas.microsoft.com/office/drawing/2014/main" id="{A8B68CA8-DFAE-244C-FB99-ECBDEF717E39}"/>
              </a:ext>
            </a:extLst>
          </p:cNvPr>
          <p:cNvPicPr>
            <a:picLocks noChangeAspect="1"/>
          </p:cNvPicPr>
          <p:nvPr/>
        </p:nvPicPr>
        <p:blipFill>
          <a:blip r:embed="rId4"/>
          <a:stretch>
            <a:fillRect/>
          </a:stretch>
        </p:blipFill>
        <p:spPr>
          <a:xfrm>
            <a:off x="5106718" y="1735673"/>
            <a:ext cx="6220439" cy="267866"/>
          </a:xfrm>
          <a:prstGeom prst="rect">
            <a:avLst/>
          </a:prstGeom>
        </p:spPr>
      </p:pic>
      <mc:AlternateContent xmlns:mc="http://schemas.openxmlformats.org/markup-compatibility/2006" xmlns:p14="http://schemas.microsoft.com/office/powerpoint/2010/main">
        <mc:Choice Requires="p14">
          <p:contentPart p14:bwMode="auto" r:id="rId5">
            <p14:nvContentPartPr>
              <p14:cNvPr id="7" name="Ink 6">
                <a:extLst>
                  <a:ext uri="{FF2B5EF4-FFF2-40B4-BE49-F238E27FC236}">
                    <a16:creationId xmlns:a16="http://schemas.microsoft.com/office/drawing/2014/main" id="{FDA0DEA3-6F40-C7BB-DC6E-A4B04E860C3F}"/>
                  </a:ext>
                </a:extLst>
              </p14:cNvPr>
              <p14:cNvContentPartPr/>
              <p14:nvPr/>
            </p14:nvContentPartPr>
            <p14:xfrm>
              <a:off x="5660507" y="1743826"/>
              <a:ext cx="231840" cy="280800"/>
            </p14:xfrm>
          </p:contentPart>
        </mc:Choice>
        <mc:Fallback xmlns="">
          <p:pic>
            <p:nvPicPr>
              <p:cNvPr id="7" name="Ink 6">
                <a:extLst>
                  <a:ext uri="{FF2B5EF4-FFF2-40B4-BE49-F238E27FC236}">
                    <a16:creationId xmlns:a16="http://schemas.microsoft.com/office/drawing/2014/main" id="{FDA0DEA3-6F40-C7BB-DC6E-A4B04E860C3F}"/>
                  </a:ext>
                </a:extLst>
              </p:cNvPr>
              <p:cNvPicPr/>
              <p:nvPr/>
            </p:nvPicPr>
            <p:blipFill>
              <a:blip r:embed="rId6"/>
              <a:stretch>
                <a:fillRect/>
              </a:stretch>
            </p:blipFill>
            <p:spPr>
              <a:xfrm>
                <a:off x="5651867" y="1735186"/>
                <a:ext cx="249480" cy="298440"/>
              </a:xfrm>
              <a:prstGeom prst="rect">
                <a:avLst/>
              </a:prstGeom>
            </p:spPr>
          </p:pic>
        </mc:Fallback>
      </mc:AlternateContent>
      <mc:AlternateContent xmlns:mc="http://schemas.openxmlformats.org/markup-compatibility/2006" xmlns:p14="http://schemas.microsoft.com/office/powerpoint/2010/main">
        <mc:Choice Requires="p14">
          <p:contentPart p14:bwMode="auto" r:id="rId7">
            <p14:nvContentPartPr>
              <p14:cNvPr id="14" name="Ink 13">
                <a:extLst>
                  <a:ext uri="{FF2B5EF4-FFF2-40B4-BE49-F238E27FC236}">
                    <a16:creationId xmlns:a16="http://schemas.microsoft.com/office/drawing/2014/main" id="{07781950-1E65-5508-43EE-C8D3726BC45C}"/>
                  </a:ext>
                </a:extLst>
              </p14:cNvPr>
              <p14:cNvContentPartPr/>
              <p14:nvPr/>
            </p14:nvContentPartPr>
            <p14:xfrm>
              <a:off x="2141507" y="3951346"/>
              <a:ext cx="222840" cy="183600"/>
            </p14:xfrm>
          </p:contentPart>
        </mc:Choice>
        <mc:Fallback xmlns="">
          <p:pic>
            <p:nvPicPr>
              <p:cNvPr id="14" name="Ink 13">
                <a:extLst>
                  <a:ext uri="{FF2B5EF4-FFF2-40B4-BE49-F238E27FC236}">
                    <a16:creationId xmlns:a16="http://schemas.microsoft.com/office/drawing/2014/main" id="{07781950-1E65-5508-43EE-C8D3726BC45C}"/>
                  </a:ext>
                </a:extLst>
              </p:cNvPr>
              <p:cNvPicPr/>
              <p:nvPr/>
            </p:nvPicPr>
            <p:blipFill>
              <a:blip r:embed="rId8"/>
              <a:stretch>
                <a:fillRect/>
              </a:stretch>
            </p:blipFill>
            <p:spPr>
              <a:xfrm>
                <a:off x="2132867" y="3942706"/>
                <a:ext cx="240480" cy="201240"/>
              </a:xfrm>
              <a:prstGeom prst="rect">
                <a:avLst/>
              </a:prstGeom>
            </p:spPr>
          </p:pic>
        </mc:Fallback>
      </mc:AlternateContent>
      <mc:AlternateContent xmlns:mc="http://schemas.openxmlformats.org/markup-compatibility/2006" xmlns:p14="http://schemas.microsoft.com/office/powerpoint/2010/main">
        <mc:Choice Requires="p14">
          <p:contentPart p14:bwMode="auto" r:id="rId9">
            <p14:nvContentPartPr>
              <p14:cNvPr id="17" name="Ink 16">
                <a:extLst>
                  <a:ext uri="{FF2B5EF4-FFF2-40B4-BE49-F238E27FC236}">
                    <a16:creationId xmlns:a16="http://schemas.microsoft.com/office/drawing/2014/main" id="{C9CC5957-7AAE-8669-5486-73E6CF9FCD70}"/>
                  </a:ext>
                </a:extLst>
              </p14:cNvPr>
              <p14:cNvContentPartPr/>
              <p14:nvPr/>
            </p14:nvContentPartPr>
            <p14:xfrm>
              <a:off x="2083547" y="4750546"/>
              <a:ext cx="240840" cy="396360"/>
            </p14:xfrm>
          </p:contentPart>
        </mc:Choice>
        <mc:Fallback xmlns="">
          <p:pic>
            <p:nvPicPr>
              <p:cNvPr id="17" name="Ink 16">
                <a:extLst>
                  <a:ext uri="{FF2B5EF4-FFF2-40B4-BE49-F238E27FC236}">
                    <a16:creationId xmlns:a16="http://schemas.microsoft.com/office/drawing/2014/main" id="{C9CC5957-7AAE-8669-5486-73E6CF9FCD70}"/>
                  </a:ext>
                </a:extLst>
              </p:cNvPr>
              <p:cNvPicPr/>
              <p:nvPr/>
            </p:nvPicPr>
            <p:blipFill>
              <a:blip r:embed="rId10"/>
              <a:stretch>
                <a:fillRect/>
              </a:stretch>
            </p:blipFill>
            <p:spPr>
              <a:xfrm>
                <a:off x="2074907" y="4741546"/>
                <a:ext cx="258480" cy="414000"/>
              </a:xfrm>
              <a:prstGeom prst="rect">
                <a:avLst/>
              </a:prstGeom>
            </p:spPr>
          </p:pic>
        </mc:Fallback>
      </mc:AlternateContent>
      <mc:AlternateContent xmlns:mc="http://schemas.openxmlformats.org/markup-compatibility/2006" xmlns:p14="http://schemas.microsoft.com/office/powerpoint/2010/main">
        <mc:Choice Requires="p14">
          <p:contentPart p14:bwMode="auto" r:id="rId11">
            <p14:nvContentPartPr>
              <p14:cNvPr id="18" name="Ink 17">
                <a:extLst>
                  <a:ext uri="{FF2B5EF4-FFF2-40B4-BE49-F238E27FC236}">
                    <a16:creationId xmlns:a16="http://schemas.microsoft.com/office/drawing/2014/main" id="{09647EB2-1658-8D5D-3EA6-41BD94DAAAEC}"/>
                  </a:ext>
                </a:extLst>
              </p14:cNvPr>
              <p14:cNvContentPartPr/>
              <p14:nvPr/>
            </p14:nvContentPartPr>
            <p14:xfrm>
              <a:off x="2398547" y="2023906"/>
              <a:ext cx="3409560" cy="2002680"/>
            </p14:xfrm>
          </p:contentPart>
        </mc:Choice>
        <mc:Fallback xmlns="">
          <p:pic>
            <p:nvPicPr>
              <p:cNvPr id="18" name="Ink 17">
                <a:extLst>
                  <a:ext uri="{FF2B5EF4-FFF2-40B4-BE49-F238E27FC236}">
                    <a16:creationId xmlns:a16="http://schemas.microsoft.com/office/drawing/2014/main" id="{09647EB2-1658-8D5D-3EA6-41BD94DAAAEC}"/>
                  </a:ext>
                </a:extLst>
              </p:cNvPr>
              <p:cNvPicPr/>
              <p:nvPr/>
            </p:nvPicPr>
            <p:blipFill>
              <a:blip r:embed="rId12"/>
              <a:stretch>
                <a:fillRect/>
              </a:stretch>
            </p:blipFill>
            <p:spPr>
              <a:xfrm>
                <a:off x="2389547" y="2014906"/>
                <a:ext cx="3427200" cy="2020320"/>
              </a:xfrm>
              <a:prstGeom prst="rect">
                <a:avLst/>
              </a:prstGeom>
            </p:spPr>
          </p:pic>
        </mc:Fallback>
      </mc:AlternateContent>
      <mc:AlternateContent xmlns:mc="http://schemas.openxmlformats.org/markup-compatibility/2006" xmlns:p14="http://schemas.microsoft.com/office/powerpoint/2010/main">
        <mc:Choice Requires="p14">
          <p:contentPart p14:bwMode="auto" r:id="rId13">
            <p14:nvContentPartPr>
              <p14:cNvPr id="20" name="Ink 19">
                <a:extLst>
                  <a:ext uri="{FF2B5EF4-FFF2-40B4-BE49-F238E27FC236}">
                    <a16:creationId xmlns:a16="http://schemas.microsoft.com/office/drawing/2014/main" id="{1B7AD2F2-1B3F-D397-64BB-20D0CBBB3E55}"/>
                  </a:ext>
                </a:extLst>
              </p14:cNvPr>
              <p14:cNvContentPartPr/>
              <p14:nvPr/>
            </p14:nvContentPartPr>
            <p14:xfrm>
              <a:off x="2372267" y="3794746"/>
              <a:ext cx="708840" cy="1104480"/>
            </p14:xfrm>
          </p:contentPart>
        </mc:Choice>
        <mc:Fallback xmlns="">
          <p:pic>
            <p:nvPicPr>
              <p:cNvPr id="20" name="Ink 19">
                <a:extLst>
                  <a:ext uri="{FF2B5EF4-FFF2-40B4-BE49-F238E27FC236}">
                    <a16:creationId xmlns:a16="http://schemas.microsoft.com/office/drawing/2014/main" id="{1B7AD2F2-1B3F-D397-64BB-20D0CBBB3E55}"/>
                  </a:ext>
                </a:extLst>
              </p:cNvPr>
              <p:cNvPicPr/>
              <p:nvPr/>
            </p:nvPicPr>
            <p:blipFill>
              <a:blip r:embed="rId14"/>
              <a:stretch>
                <a:fillRect/>
              </a:stretch>
            </p:blipFill>
            <p:spPr>
              <a:xfrm>
                <a:off x="2363267" y="3786106"/>
                <a:ext cx="726480" cy="1122120"/>
              </a:xfrm>
              <a:prstGeom prst="rect">
                <a:avLst/>
              </a:prstGeom>
            </p:spPr>
          </p:pic>
        </mc:Fallback>
      </mc:AlternateContent>
      <p:sp>
        <p:nvSpPr>
          <p:cNvPr id="2" name="TextBox 1">
            <a:extLst>
              <a:ext uri="{FF2B5EF4-FFF2-40B4-BE49-F238E27FC236}">
                <a16:creationId xmlns:a16="http://schemas.microsoft.com/office/drawing/2014/main" id="{0157FD6D-0775-34FE-E6D3-3D8AA6C1716F}"/>
              </a:ext>
            </a:extLst>
          </p:cNvPr>
          <p:cNvSpPr txBox="1"/>
          <p:nvPr/>
        </p:nvSpPr>
        <p:spPr>
          <a:xfrm>
            <a:off x="4943176" y="2306805"/>
            <a:ext cx="5408853" cy="369332"/>
          </a:xfrm>
          <a:prstGeom prst="rect">
            <a:avLst/>
          </a:prstGeom>
          <a:noFill/>
        </p:spPr>
        <p:txBody>
          <a:bodyPr wrap="none" rtlCol="0">
            <a:spAutoFit/>
          </a:bodyPr>
          <a:lstStyle/>
          <a:p>
            <a:r>
              <a:rPr lang="en-US" dirty="0"/>
              <a:t>telegram saved </a:t>
            </a:r>
            <a:r>
              <a:rPr lang="en-US" dirty="0">
                <a:solidFill>
                  <a:schemeClr val="accent2"/>
                </a:solidFill>
              </a:rPr>
              <a:t>three</a:t>
            </a:r>
            <a:r>
              <a:rPr lang="en-US" dirty="0"/>
              <a:t> contacts; </a:t>
            </a:r>
            <a:r>
              <a:rPr lang="en-US" dirty="0">
                <a:solidFill>
                  <a:schemeClr val="accent2"/>
                </a:solidFill>
              </a:rPr>
              <a:t>two</a:t>
            </a:r>
            <a:r>
              <a:rPr lang="en-US" dirty="0"/>
              <a:t> of them are deleted</a:t>
            </a:r>
          </a:p>
        </p:txBody>
      </p:sp>
      <p:sp>
        <p:nvSpPr>
          <p:cNvPr id="11" name="TextBox 10">
            <a:extLst>
              <a:ext uri="{FF2B5EF4-FFF2-40B4-BE49-F238E27FC236}">
                <a16:creationId xmlns:a16="http://schemas.microsoft.com/office/drawing/2014/main" id="{588AA33B-058B-F020-7349-08EB9D7EA7B7}"/>
              </a:ext>
            </a:extLst>
          </p:cNvPr>
          <p:cNvSpPr txBox="1"/>
          <p:nvPr/>
        </p:nvSpPr>
        <p:spPr>
          <a:xfrm>
            <a:off x="5515961" y="1345254"/>
            <a:ext cx="6220439" cy="369332"/>
          </a:xfrm>
          <a:prstGeom prst="rect">
            <a:avLst/>
          </a:prstGeom>
          <a:noFill/>
        </p:spPr>
        <p:txBody>
          <a:bodyPr wrap="square">
            <a:spAutoFit/>
          </a:bodyPr>
          <a:lstStyle/>
          <a:p>
            <a:r>
              <a:rPr lang="en-GB" dirty="0">
                <a:solidFill>
                  <a:schemeClr val="accent2"/>
                </a:solidFill>
              </a:rPr>
              <a:t>_id | </a:t>
            </a:r>
            <a:r>
              <a:rPr lang="en-GB" dirty="0" err="1">
                <a:solidFill>
                  <a:schemeClr val="accent2"/>
                </a:solidFill>
              </a:rPr>
              <a:t>account_name</a:t>
            </a:r>
            <a:r>
              <a:rPr lang="en-GB" dirty="0">
                <a:solidFill>
                  <a:schemeClr val="accent2"/>
                </a:solidFill>
              </a:rPr>
              <a:t>   | </a:t>
            </a:r>
            <a:r>
              <a:rPr lang="en-GB" dirty="0" err="1">
                <a:solidFill>
                  <a:schemeClr val="accent2"/>
                </a:solidFill>
              </a:rPr>
              <a:t>account_type</a:t>
            </a:r>
            <a:r>
              <a:rPr lang="en-GB" dirty="0">
                <a:solidFill>
                  <a:schemeClr val="accent2"/>
                </a:solidFill>
              </a:rPr>
              <a:t> </a:t>
            </a:r>
            <a:endParaRPr lang="en-US" dirty="0"/>
          </a:p>
        </p:txBody>
      </p:sp>
      <p:sp>
        <p:nvSpPr>
          <p:cNvPr id="15" name="Title 14">
            <a:extLst>
              <a:ext uri="{FF2B5EF4-FFF2-40B4-BE49-F238E27FC236}">
                <a16:creationId xmlns:a16="http://schemas.microsoft.com/office/drawing/2014/main" id="{FEE4D189-2495-419C-FCB6-F45F75954FB3}"/>
              </a:ext>
            </a:extLst>
          </p:cNvPr>
          <p:cNvSpPr>
            <a:spLocks noGrp="1"/>
          </p:cNvSpPr>
          <p:nvPr>
            <p:ph type="title"/>
          </p:nvPr>
        </p:nvSpPr>
        <p:spPr/>
        <p:txBody>
          <a:bodyPr/>
          <a:lstStyle/>
          <a:p>
            <a:r>
              <a:rPr sz="4000">
                <a:solidFill>
                  <a:srgbClr val="000000"/>
                </a:solidFill>
                <a:latin typeface="Arial"/>
              </a:rPr>
              <a:t>Find Contact Records by Account</a:t>
            </a:r>
          </a:p>
        </p:txBody>
      </p:sp>
    </p:spTree>
    <p:extLst>
      <p:ext uri="{BB962C8B-B14F-4D97-AF65-F5344CB8AC3E}">
        <p14:creationId xmlns:p14="http://schemas.microsoft.com/office/powerpoint/2010/main" val="224785486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1274F8E3-E517-083B-8878-087D25F3C523}"/>
              </a:ext>
            </a:extLst>
          </p:cNvPr>
          <p:cNvPicPr>
            <a:picLocks noChangeAspect="1"/>
          </p:cNvPicPr>
          <p:nvPr/>
        </p:nvPicPr>
        <p:blipFill>
          <a:blip r:embed="rId2"/>
          <a:stretch>
            <a:fillRect/>
          </a:stretch>
        </p:blipFill>
        <p:spPr>
          <a:xfrm>
            <a:off x="1270925" y="3429000"/>
            <a:ext cx="9990686" cy="2834886"/>
          </a:xfrm>
          <a:prstGeom prst="rect">
            <a:avLst/>
          </a:prstGeom>
        </p:spPr>
      </p:pic>
      <p:pic>
        <p:nvPicPr>
          <p:cNvPr id="7" name="Picture 6">
            <a:extLst>
              <a:ext uri="{FF2B5EF4-FFF2-40B4-BE49-F238E27FC236}">
                <a16:creationId xmlns:a16="http://schemas.microsoft.com/office/drawing/2014/main" id="{B99DDA90-6679-79A4-B58E-7D7A57CD5D60}"/>
              </a:ext>
            </a:extLst>
          </p:cNvPr>
          <p:cNvPicPr>
            <a:picLocks noChangeAspect="1"/>
          </p:cNvPicPr>
          <p:nvPr/>
        </p:nvPicPr>
        <p:blipFill>
          <a:blip r:embed="rId3"/>
          <a:stretch>
            <a:fillRect/>
          </a:stretch>
        </p:blipFill>
        <p:spPr>
          <a:xfrm>
            <a:off x="1270925" y="453391"/>
            <a:ext cx="10341236" cy="2842506"/>
          </a:xfrm>
          <a:prstGeom prst="rect">
            <a:avLst/>
          </a:prstGeom>
        </p:spPr>
      </p:pic>
      <p:sp>
        <p:nvSpPr>
          <p:cNvPr id="2" name="TextBox 1">
            <a:extLst>
              <a:ext uri="{FF2B5EF4-FFF2-40B4-BE49-F238E27FC236}">
                <a16:creationId xmlns:a16="http://schemas.microsoft.com/office/drawing/2014/main" id="{7C994327-0690-BBC0-424C-0806E949F368}"/>
              </a:ext>
            </a:extLst>
          </p:cNvPr>
          <p:cNvSpPr txBox="1"/>
          <p:nvPr/>
        </p:nvSpPr>
        <p:spPr>
          <a:xfrm>
            <a:off x="441960" y="2865120"/>
            <a:ext cx="3433569" cy="369332"/>
          </a:xfrm>
          <a:prstGeom prst="rect">
            <a:avLst/>
          </a:prstGeom>
          <a:solidFill>
            <a:schemeClr val="accent4">
              <a:lumMod val="20000"/>
              <a:lumOff val="80000"/>
            </a:schemeClr>
          </a:solidFill>
        </p:spPr>
        <p:txBody>
          <a:bodyPr wrap="none" rtlCol="0">
            <a:spAutoFit/>
          </a:bodyPr>
          <a:lstStyle/>
          <a:p>
            <a:r>
              <a:rPr lang="en-US" dirty="0" err="1"/>
              <a:t>telegram.messager</a:t>
            </a:r>
            <a:r>
              <a:rPr lang="en-US" dirty="0"/>
              <a:t> (</a:t>
            </a:r>
            <a:r>
              <a:rPr lang="en-US" dirty="0" err="1">
                <a:solidFill>
                  <a:srgbClr val="FF0000"/>
                </a:solidFill>
              </a:rPr>
              <a:t>account</a:t>
            </a:r>
            <a:r>
              <a:rPr lang="en-US" dirty="0" err="1"/>
              <a:t>_</a:t>
            </a:r>
            <a:r>
              <a:rPr lang="en-US" dirty="0" err="1">
                <a:solidFill>
                  <a:srgbClr val="FF0000"/>
                </a:solidFill>
              </a:rPr>
              <a:t>id</a:t>
            </a:r>
            <a:r>
              <a:rPr lang="en-US" dirty="0">
                <a:solidFill>
                  <a:srgbClr val="FF0000"/>
                </a:solidFill>
              </a:rPr>
              <a:t>=2</a:t>
            </a:r>
            <a:r>
              <a:rPr lang="en-US" dirty="0"/>
              <a:t>)</a:t>
            </a:r>
          </a:p>
        </p:txBody>
      </p:sp>
      <p:grpSp>
        <p:nvGrpSpPr>
          <p:cNvPr id="6" name="Group 5">
            <a:extLst>
              <a:ext uri="{FF2B5EF4-FFF2-40B4-BE49-F238E27FC236}">
                <a16:creationId xmlns:a16="http://schemas.microsoft.com/office/drawing/2014/main" id="{F2AC1971-E513-23A3-9464-3FFFE6733F39}"/>
              </a:ext>
            </a:extLst>
          </p:cNvPr>
          <p:cNvGrpSpPr/>
          <p:nvPr/>
        </p:nvGrpSpPr>
        <p:grpSpPr>
          <a:xfrm>
            <a:off x="144000" y="1500900"/>
            <a:ext cx="1084320" cy="1494000"/>
            <a:chOff x="144000" y="1500900"/>
            <a:chExt cx="1084320" cy="1494000"/>
          </a:xfrm>
        </p:grpSpPr>
        <mc:AlternateContent xmlns:mc="http://schemas.openxmlformats.org/markup-compatibility/2006" xmlns:p14="http://schemas.microsoft.com/office/powerpoint/2010/main">
          <mc:Choice Requires="p14">
            <p:contentPart p14:bwMode="auto" r:id="rId4">
              <p14:nvContentPartPr>
                <p14:cNvPr id="4" name="Ink 3">
                  <a:extLst>
                    <a:ext uri="{FF2B5EF4-FFF2-40B4-BE49-F238E27FC236}">
                      <a16:creationId xmlns:a16="http://schemas.microsoft.com/office/drawing/2014/main" id="{BAC0EA23-9366-C7C4-CC2F-84100F6FCB2C}"/>
                    </a:ext>
                  </a:extLst>
                </p14:cNvPr>
                <p14:cNvContentPartPr/>
                <p14:nvPr/>
              </p14:nvContentPartPr>
              <p14:xfrm>
                <a:off x="144000" y="1564260"/>
                <a:ext cx="992880" cy="1430640"/>
              </p14:xfrm>
            </p:contentPart>
          </mc:Choice>
          <mc:Fallback xmlns="">
            <p:pic>
              <p:nvPicPr>
                <p:cNvPr id="4" name="Ink 3">
                  <a:extLst>
                    <a:ext uri="{FF2B5EF4-FFF2-40B4-BE49-F238E27FC236}">
                      <a16:creationId xmlns:a16="http://schemas.microsoft.com/office/drawing/2014/main" id="{BAC0EA23-9366-C7C4-CC2F-84100F6FCB2C}"/>
                    </a:ext>
                  </a:extLst>
                </p:cNvPr>
                <p:cNvPicPr/>
                <p:nvPr/>
              </p:nvPicPr>
              <p:blipFill>
                <a:blip r:embed="rId5"/>
                <a:stretch>
                  <a:fillRect/>
                </a:stretch>
              </p:blipFill>
              <p:spPr>
                <a:xfrm>
                  <a:off x="135360" y="1555620"/>
                  <a:ext cx="1010520" cy="1448280"/>
                </a:xfrm>
                <a:prstGeom prst="rect">
                  <a:avLst/>
                </a:prstGeom>
              </p:spPr>
            </p:pic>
          </mc:Fallback>
        </mc:AlternateContent>
        <mc:AlternateContent xmlns:mc="http://schemas.openxmlformats.org/markup-compatibility/2006" xmlns:p14="http://schemas.microsoft.com/office/powerpoint/2010/main">
          <mc:Choice Requires="p14">
            <p:contentPart p14:bwMode="auto" r:id="rId6">
              <p14:nvContentPartPr>
                <p14:cNvPr id="5" name="Ink 4">
                  <a:extLst>
                    <a:ext uri="{FF2B5EF4-FFF2-40B4-BE49-F238E27FC236}">
                      <a16:creationId xmlns:a16="http://schemas.microsoft.com/office/drawing/2014/main" id="{1052FA2C-6B99-1D36-CDCA-608B311040DA}"/>
                    </a:ext>
                  </a:extLst>
                </p14:cNvPr>
                <p14:cNvContentPartPr/>
                <p14:nvPr/>
              </p14:nvContentPartPr>
              <p14:xfrm>
                <a:off x="1096920" y="1500900"/>
                <a:ext cx="131400" cy="233640"/>
              </p14:xfrm>
            </p:contentPart>
          </mc:Choice>
          <mc:Fallback xmlns="">
            <p:pic>
              <p:nvPicPr>
                <p:cNvPr id="5" name="Ink 4">
                  <a:extLst>
                    <a:ext uri="{FF2B5EF4-FFF2-40B4-BE49-F238E27FC236}">
                      <a16:creationId xmlns:a16="http://schemas.microsoft.com/office/drawing/2014/main" id="{1052FA2C-6B99-1D36-CDCA-608B311040DA}"/>
                    </a:ext>
                  </a:extLst>
                </p:cNvPr>
                <p:cNvPicPr/>
                <p:nvPr/>
              </p:nvPicPr>
              <p:blipFill>
                <a:blip r:embed="rId7"/>
                <a:stretch>
                  <a:fillRect/>
                </a:stretch>
              </p:blipFill>
              <p:spPr>
                <a:xfrm>
                  <a:off x="1088280" y="1491900"/>
                  <a:ext cx="149040" cy="251280"/>
                </a:xfrm>
                <a:prstGeom prst="rect">
                  <a:avLst/>
                </a:prstGeom>
              </p:spPr>
            </p:pic>
          </mc:Fallback>
        </mc:AlternateContent>
      </p:grpSp>
      <p:grpSp>
        <p:nvGrpSpPr>
          <p:cNvPr id="10" name="Group 9">
            <a:extLst>
              <a:ext uri="{FF2B5EF4-FFF2-40B4-BE49-F238E27FC236}">
                <a16:creationId xmlns:a16="http://schemas.microsoft.com/office/drawing/2014/main" id="{35E89C4F-0224-1819-1171-94EC38EC8C0F}"/>
              </a:ext>
            </a:extLst>
          </p:cNvPr>
          <p:cNvGrpSpPr/>
          <p:nvPr/>
        </p:nvGrpSpPr>
        <p:grpSpPr>
          <a:xfrm>
            <a:off x="441360" y="2346900"/>
            <a:ext cx="725760" cy="579240"/>
            <a:chOff x="441360" y="2346900"/>
            <a:chExt cx="725760" cy="579240"/>
          </a:xfrm>
        </p:grpSpPr>
        <mc:AlternateContent xmlns:mc="http://schemas.openxmlformats.org/markup-compatibility/2006" xmlns:p14="http://schemas.microsoft.com/office/powerpoint/2010/main">
          <mc:Choice Requires="p14">
            <p:contentPart p14:bwMode="auto" r:id="rId8">
              <p14:nvContentPartPr>
                <p14:cNvPr id="8" name="Ink 7">
                  <a:extLst>
                    <a:ext uri="{FF2B5EF4-FFF2-40B4-BE49-F238E27FC236}">
                      <a16:creationId xmlns:a16="http://schemas.microsoft.com/office/drawing/2014/main" id="{41A42997-0BF7-6F9C-1D02-23BCDA284CFA}"/>
                    </a:ext>
                  </a:extLst>
                </p14:cNvPr>
                <p14:cNvContentPartPr/>
                <p14:nvPr/>
              </p14:nvContentPartPr>
              <p14:xfrm>
                <a:off x="441360" y="2432580"/>
                <a:ext cx="672480" cy="493560"/>
              </p14:xfrm>
            </p:contentPart>
          </mc:Choice>
          <mc:Fallback xmlns="">
            <p:pic>
              <p:nvPicPr>
                <p:cNvPr id="8" name="Ink 7">
                  <a:extLst>
                    <a:ext uri="{FF2B5EF4-FFF2-40B4-BE49-F238E27FC236}">
                      <a16:creationId xmlns:a16="http://schemas.microsoft.com/office/drawing/2014/main" id="{41A42997-0BF7-6F9C-1D02-23BCDA284CFA}"/>
                    </a:ext>
                  </a:extLst>
                </p:cNvPr>
                <p:cNvPicPr/>
                <p:nvPr/>
              </p:nvPicPr>
              <p:blipFill>
                <a:blip r:embed="rId9"/>
                <a:stretch>
                  <a:fillRect/>
                </a:stretch>
              </p:blipFill>
              <p:spPr>
                <a:xfrm>
                  <a:off x="432360" y="2423580"/>
                  <a:ext cx="690120" cy="511200"/>
                </a:xfrm>
                <a:prstGeom prst="rect">
                  <a:avLst/>
                </a:prstGeom>
              </p:spPr>
            </p:pic>
          </mc:Fallback>
        </mc:AlternateContent>
        <mc:AlternateContent xmlns:mc="http://schemas.openxmlformats.org/markup-compatibility/2006" xmlns:p14="http://schemas.microsoft.com/office/powerpoint/2010/main">
          <mc:Choice Requires="p14">
            <p:contentPart p14:bwMode="auto" r:id="rId10">
              <p14:nvContentPartPr>
                <p14:cNvPr id="9" name="Ink 8">
                  <a:extLst>
                    <a:ext uri="{FF2B5EF4-FFF2-40B4-BE49-F238E27FC236}">
                      <a16:creationId xmlns:a16="http://schemas.microsoft.com/office/drawing/2014/main" id="{BA3EDE56-102E-F0B6-0EBF-0325889C431C}"/>
                    </a:ext>
                  </a:extLst>
                </p14:cNvPr>
                <p14:cNvContentPartPr/>
                <p14:nvPr/>
              </p14:nvContentPartPr>
              <p14:xfrm>
                <a:off x="1087560" y="2346900"/>
                <a:ext cx="79560" cy="218520"/>
              </p14:xfrm>
            </p:contentPart>
          </mc:Choice>
          <mc:Fallback xmlns="">
            <p:pic>
              <p:nvPicPr>
                <p:cNvPr id="9" name="Ink 8">
                  <a:extLst>
                    <a:ext uri="{FF2B5EF4-FFF2-40B4-BE49-F238E27FC236}">
                      <a16:creationId xmlns:a16="http://schemas.microsoft.com/office/drawing/2014/main" id="{BA3EDE56-102E-F0B6-0EBF-0325889C431C}"/>
                    </a:ext>
                  </a:extLst>
                </p:cNvPr>
                <p:cNvPicPr/>
                <p:nvPr/>
              </p:nvPicPr>
              <p:blipFill>
                <a:blip r:embed="rId11"/>
                <a:stretch>
                  <a:fillRect/>
                </a:stretch>
              </p:blipFill>
              <p:spPr>
                <a:xfrm>
                  <a:off x="1078560" y="2337900"/>
                  <a:ext cx="97200" cy="236160"/>
                </a:xfrm>
                <a:prstGeom prst="rect">
                  <a:avLst/>
                </a:prstGeom>
              </p:spPr>
            </p:pic>
          </mc:Fallback>
        </mc:AlternateContent>
      </p:grpSp>
      <p:grpSp>
        <p:nvGrpSpPr>
          <p:cNvPr id="16" name="Group 15">
            <a:extLst>
              <a:ext uri="{FF2B5EF4-FFF2-40B4-BE49-F238E27FC236}">
                <a16:creationId xmlns:a16="http://schemas.microsoft.com/office/drawing/2014/main" id="{327F942B-F384-38B9-25FD-D732F8064599}"/>
              </a:ext>
            </a:extLst>
          </p:cNvPr>
          <p:cNvGrpSpPr/>
          <p:nvPr/>
        </p:nvGrpSpPr>
        <p:grpSpPr>
          <a:xfrm>
            <a:off x="455400" y="3215580"/>
            <a:ext cx="738360" cy="2289600"/>
            <a:chOff x="455400" y="3215580"/>
            <a:chExt cx="738360" cy="2289600"/>
          </a:xfrm>
        </p:grpSpPr>
        <mc:AlternateContent xmlns:mc="http://schemas.openxmlformats.org/markup-compatibility/2006" xmlns:p14="http://schemas.microsoft.com/office/powerpoint/2010/main">
          <mc:Choice Requires="p14">
            <p:contentPart p14:bwMode="auto" r:id="rId12">
              <p14:nvContentPartPr>
                <p14:cNvPr id="11" name="Ink 10">
                  <a:extLst>
                    <a:ext uri="{FF2B5EF4-FFF2-40B4-BE49-F238E27FC236}">
                      <a16:creationId xmlns:a16="http://schemas.microsoft.com/office/drawing/2014/main" id="{989C0781-D2EA-BDB8-C35E-CC4C76FDCA86}"/>
                    </a:ext>
                  </a:extLst>
                </p14:cNvPr>
                <p14:cNvContentPartPr/>
                <p14:nvPr/>
              </p14:nvContentPartPr>
              <p14:xfrm>
                <a:off x="767880" y="3215580"/>
                <a:ext cx="421560" cy="1277640"/>
              </p14:xfrm>
            </p:contentPart>
          </mc:Choice>
          <mc:Fallback xmlns="">
            <p:pic>
              <p:nvPicPr>
                <p:cNvPr id="11" name="Ink 10">
                  <a:extLst>
                    <a:ext uri="{FF2B5EF4-FFF2-40B4-BE49-F238E27FC236}">
                      <a16:creationId xmlns:a16="http://schemas.microsoft.com/office/drawing/2014/main" id="{989C0781-D2EA-BDB8-C35E-CC4C76FDCA86}"/>
                    </a:ext>
                  </a:extLst>
                </p:cNvPr>
                <p:cNvPicPr/>
                <p:nvPr/>
              </p:nvPicPr>
              <p:blipFill>
                <a:blip r:embed="rId13"/>
                <a:stretch>
                  <a:fillRect/>
                </a:stretch>
              </p:blipFill>
              <p:spPr>
                <a:xfrm>
                  <a:off x="759240" y="3206580"/>
                  <a:ext cx="439200" cy="129528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12" name="Ink 11">
                  <a:extLst>
                    <a:ext uri="{FF2B5EF4-FFF2-40B4-BE49-F238E27FC236}">
                      <a16:creationId xmlns:a16="http://schemas.microsoft.com/office/drawing/2014/main" id="{EFFDA282-9F2B-735A-CAC4-CE7EC2D8596C}"/>
                    </a:ext>
                  </a:extLst>
                </p14:cNvPr>
                <p14:cNvContentPartPr/>
                <p14:nvPr/>
              </p14:nvContentPartPr>
              <p14:xfrm>
                <a:off x="1086480" y="4396740"/>
                <a:ext cx="96120" cy="204120"/>
              </p14:xfrm>
            </p:contentPart>
          </mc:Choice>
          <mc:Fallback xmlns="">
            <p:pic>
              <p:nvPicPr>
                <p:cNvPr id="12" name="Ink 11">
                  <a:extLst>
                    <a:ext uri="{FF2B5EF4-FFF2-40B4-BE49-F238E27FC236}">
                      <a16:creationId xmlns:a16="http://schemas.microsoft.com/office/drawing/2014/main" id="{EFFDA282-9F2B-735A-CAC4-CE7EC2D8596C}"/>
                    </a:ext>
                  </a:extLst>
                </p:cNvPr>
                <p:cNvPicPr/>
                <p:nvPr/>
              </p:nvPicPr>
              <p:blipFill>
                <a:blip r:embed="rId15"/>
                <a:stretch>
                  <a:fillRect/>
                </a:stretch>
              </p:blipFill>
              <p:spPr>
                <a:xfrm>
                  <a:off x="1077840" y="4387740"/>
                  <a:ext cx="113760" cy="221760"/>
                </a:xfrm>
                <a:prstGeom prst="rect">
                  <a:avLst/>
                </a:prstGeom>
              </p:spPr>
            </p:pic>
          </mc:Fallback>
        </mc:AlternateContent>
        <mc:AlternateContent xmlns:mc="http://schemas.openxmlformats.org/markup-compatibility/2006" xmlns:p14="http://schemas.microsoft.com/office/powerpoint/2010/main">
          <mc:Choice Requires="p14">
            <p:contentPart p14:bwMode="auto" r:id="rId16">
              <p14:nvContentPartPr>
                <p14:cNvPr id="14" name="Ink 13">
                  <a:extLst>
                    <a:ext uri="{FF2B5EF4-FFF2-40B4-BE49-F238E27FC236}">
                      <a16:creationId xmlns:a16="http://schemas.microsoft.com/office/drawing/2014/main" id="{A627A5A0-5855-3FEA-B963-E3E8805EAB55}"/>
                    </a:ext>
                  </a:extLst>
                </p14:cNvPr>
                <p14:cNvContentPartPr/>
                <p14:nvPr/>
              </p14:nvContentPartPr>
              <p14:xfrm>
                <a:off x="455400" y="3261300"/>
                <a:ext cx="703800" cy="2142000"/>
              </p14:xfrm>
            </p:contentPart>
          </mc:Choice>
          <mc:Fallback xmlns="">
            <p:pic>
              <p:nvPicPr>
                <p:cNvPr id="14" name="Ink 13">
                  <a:extLst>
                    <a:ext uri="{FF2B5EF4-FFF2-40B4-BE49-F238E27FC236}">
                      <a16:creationId xmlns:a16="http://schemas.microsoft.com/office/drawing/2014/main" id="{A627A5A0-5855-3FEA-B963-E3E8805EAB55}"/>
                    </a:ext>
                  </a:extLst>
                </p:cNvPr>
                <p:cNvPicPr/>
                <p:nvPr/>
              </p:nvPicPr>
              <p:blipFill>
                <a:blip r:embed="rId17"/>
                <a:stretch>
                  <a:fillRect/>
                </a:stretch>
              </p:blipFill>
              <p:spPr>
                <a:xfrm>
                  <a:off x="446760" y="3252300"/>
                  <a:ext cx="721440" cy="2159640"/>
                </a:xfrm>
                <a:prstGeom prst="rect">
                  <a:avLst/>
                </a:prstGeom>
              </p:spPr>
            </p:pic>
          </mc:Fallback>
        </mc:AlternateContent>
        <mc:AlternateContent xmlns:mc="http://schemas.openxmlformats.org/markup-compatibility/2006" xmlns:p14="http://schemas.microsoft.com/office/powerpoint/2010/main">
          <mc:Choice Requires="p14">
            <p:contentPart p14:bwMode="auto" r:id="rId18">
              <p14:nvContentPartPr>
                <p14:cNvPr id="15" name="Ink 14">
                  <a:extLst>
                    <a:ext uri="{FF2B5EF4-FFF2-40B4-BE49-F238E27FC236}">
                      <a16:creationId xmlns:a16="http://schemas.microsoft.com/office/drawing/2014/main" id="{F9B02A73-CFE4-E761-2FD0-8894915F86E5}"/>
                    </a:ext>
                  </a:extLst>
                </p14:cNvPr>
                <p14:cNvContentPartPr/>
                <p14:nvPr/>
              </p14:nvContentPartPr>
              <p14:xfrm>
                <a:off x="1077120" y="5311140"/>
                <a:ext cx="116640" cy="194040"/>
              </p14:xfrm>
            </p:contentPart>
          </mc:Choice>
          <mc:Fallback xmlns="">
            <p:pic>
              <p:nvPicPr>
                <p:cNvPr id="15" name="Ink 14">
                  <a:extLst>
                    <a:ext uri="{FF2B5EF4-FFF2-40B4-BE49-F238E27FC236}">
                      <a16:creationId xmlns:a16="http://schemas.microsoft.com/office/drawing/2014/main" id="{F9B02A73-CFE4-E761-2FD0-8894915F86E5}"/>
                    </a:ext>
                  </a:extLst>
                </p:cNvPr>
                <p:cNvPicPr/>
                <p:nvPr/>
              </p:nvPicPr>
              <p:blipFill>
                <a:blip r:embed="rId19"/>
                <a:stretch>
                  <a:fillRect/>
                </a:stretch>
              </p:blipFill>
              <p:spPr>
                <a:xfrm>
                  <a:off x="1068120" y="5302140"/>
                  <a:ext cx="134280" cy="211680"/>
                </a:xfrm>
                <a:prstGeom prst="rect">
                  <a:avLst/>
                </a:prstGeom>
              </p:spPr>
            </p:pic>
          </mc:Fallback>
        </mc:AlternateContent>
      </p:grpSp>
    </p:spTree>
    <p:extLst>
      <p:ext uri="{BB962C8B-B14F-4D97-AF65-F5344CB8AC3E}">
        <p14:creationId xmlns:p14="http://schemas.microsoft.com/office/powerpoint/2010/main" val="241710197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F92A9D65-3675-6860-75B4-CDB8885B5018}"/>
              </a:ext>
            </a:extLst>
          </p:cNvPr>
          <p:cNvSpPr txBox="1"/>
          <p:nvPr/>
        </p:nvSpPr>
        <p:spPr>
          <a:xfrm>
            <a:off x="896663" y="5716280"/>
            <a:ext cx="10457137" cy="830997"/>
          </a:xfrm>
          <a:prstGeom prst="rect">
            <a:avLst/>
          </a:prstGeom>
          <a:noFill/>
        </p:spPr>
        <p:txBody>
          <a:bodyPr wrap="square">
            <a:spAutoFit/>
          </a:bodyPr>
          <a:lstStyle/>
          <a:p>
            <a:r>
              <a:rPr sz="1400" dirty="0">
                <a:latin typeface="Consolas"/>
              </a:rPr>
              <a:t>SELECT </a:t>
            </a:r>
            <a:r>
              <a:rPr sz="1400" dirty="0" err="1">
                <a:latin typeface="Consolas"/>
              </a:rPr>
              <a:t>raw_contacts.account_id</a:t>
            </a:r>
            <a:r>
              <a:rPr sz="1400" dirty="0">
                <a:latin typeface="Consolas"/>
              </a:rPr>
              <a:t>, </a:t>
            </a:r>
            <a:r>
              <a:rPr sz="1400" dirty="0" err="1">
                <a:latin typeface="Consolas"/>
              </a:rPr>
              <a:t>accounts.account_name</a:t>
            </a:r>
            <a:r>
              <a:rPr sz="1400" dirty="0">
                <a:latin typeface="Consolas"/>
              </a:rPr>
              <a:t>, </a:t>
            </a:r>
            <a:r>
              <a:rPr sz="1400" dirty="0" err="1">
                <a:latin typeface="Consolas"/>
              </a:rPr>
              <a:t>accounts.account_type</a:t>
            </a:r>
            <a:r>
              <a:rPr sz="1400" dirty="0">
                <a:latin typeface="Consolas"/>
              </a:rPr>
              <a:t>,</a:t>
            </a:r>
          </a:p>
          <a:p>
            <a:r>
              <a:rPr sz="1400" dirty="0">
                <a:latin typeface="Consolas"/>
              </a:rPr>
              <a:t>       raw_contacts.sync1, raw_contacts.sync2, raw_contacts.sync3</a:t>
            </a:r>
          </a:p>
          <a:p>
            <a:r>
              <a:rPr sz="1400" dirty="0">
                <a:latin typeface="Consolas"/>
              </a:rPr>
              <a:t>FROM </a:t>
            </a:r>
            <a:r>
              <a:rPr sz="1400" dirty="0" err="1">
                <a:latin typeface="Consolas"/>
              </a:rPr>
              <a:t>raw_contacts</a:t>
            </a:r>
            <a:endParaRPr sz="1400" dirty="0">
              <a:latin typeface="Consolas"/>
            </a:endParaRPr>
          </a:p>
          <a:p>
            <a:r>
              <a:rPr sz="1400" dirty="0">
                <a:latin typeface="Consolas"/>
              </a:rPr>
              <a:t>INNER JOIN accounts ON </a:t>
            </a:r>
            <a:r>
              <a:rPr sz="1400" dirty="0" err="1">
                <a:latin typeface="Consolas"/>
              </a:rPr>
              <a:t>raw_contacts.account_id</a:t>
            </a:r>
            <a:r>
              <a:rPr sz="1400" dirty="0">
                <a:latin typeface="Consolas"/>
              </a:rPr>
              <a:t> = </a:t>
            </a:r>
            <a:r>
              <a:rPr sz="1400" dirty="0" err="1">
                <a:latin typeface="Consolas"/>
              </a:rPr>
              <a:t>accounts._id</a:t>
            </a:r>
            <a:r>
              <a:rPr sz="1400" dirty="0">
                <a:latin typeface="Consolas"/>
              </a:rPr>
              <a:t>;</a:t>
            </a:r>
          </a:p>
        </p:txBody>
      </p:sp>
      <p:pic>
        <p:nvPicPr>
          <p:cNvPr id="5" name="Picture 4">
            <a:extLst>
              <a:ext uri="{FF2B5EF4-FFF2-40B4-BE49-F238E27FC236}">
                <a16:creationId xmlns:a16="http://schemas.microsoft.com/office/drawing/2014/main" id="{73AB4750-3310-78F1-5AA4-05CB75D639BD}"/>
              </a:ext>
            </a:extLst>
          </p:cNvPr>
          <p:cNvPicPr>
            <a:picLocks noChangeAspect="1"/>
          </p:cNvPicPr>
          <p:nvPr/>
        </p:nvPicPr>
        <p:blipFill>
          <a:blip r:embed="rId3"/>
          <a:stretch>
            <a:fillRect/>
          </a:stretch>
        </p:blipFill>
        <p:spPr>
          <a:xfrm>
            <a:off x="896663" y="1690688"/>
            <a:ext cx="8237934" cy="3962743"/>
          </a:xfrm>
          <a:prstGeom prst="rect">
            <a:avLst/>
          </a:prstGeom>
        </p:spPr>
      </p:pic>
      <p:grpSp>
        <p:nvGrpSpPr>
          <p:cNvPr id="8" name="Group 7">
            <a:extLst>
              <a:ext uri="{FF2B5EF4-FFF2-40B4-BE49-F238E27FC236}">
                <a16:creationId xmlns:a16="http://schemas.microsoft.com/office/drawing/2014/main" id="{F999B253-34E7-2794-6C87-BB0893E58512}"/>
              </a:ext>
            </a:extLst>
          </p:cNvPr>
          <p:cNvGrpSpPr/>
          <p:nvPr/>
        </p:nvGrpSpPr>
        <p:grpSpPr>
          <a:xfrm>
            <a:off x="9189956" y="2722579"/>
            <a:ext cx="1287000" cy="3409200"/>
            <a:chOff x="9323963" y="2109029"/>
            <a:chExt cx="1287000" cy="3409200"/>
          </a:xfrm>
        </p:grpSpPr>
        <mc:AlternateContent xmlns:mc="http://schemas.openxmlformats.org/markup-compatibility/2006" xmlns:p14="http://schemas.microsoft.com/office/powerpoint/2010/main">
          <mc:Choice Requires="p14">
            <p:contentPart p14:bwMode="auto" r:id="rId4">
              <p14:nvContentPartPr>
                <p14:cNvPr id="6" name="Ink 5">
                  <a:extLst>
                    <a:ext uri="{FF2B5EF4-FFF2-40B4-BE49-F238E27FC236}">
                      <a16:creationId xmlns:a16="http://schemas.microsoft.com/office/drawing/2014/main" id="{171313C8-B3A5-A85C-799A-E014DC65AC1B}"/>
                    </a:ext>
                  </a:extLst>
                </p14:cNvPr>
                <p14:cNvContentPartPr/>
                <p14:nvPr/>
              </p14:nvContentPartPr>
              <p14:xfrm>
                <a:off x="9323963" y="2135669"/>
                <a:ext cx="1287000" cy="3382560"/>
              </p14:xfrm>
            </p:contentPart>
          </mc:Choice>
          <mc:Fallback xmlns="">
            <p:pic>
              <p:nvPicPr>
                <p:cNvPr id="6" name="Ink 5">
                  <a:extLst>
                    <a:ext uri="{FF2B5EF4-FFF2-40B4-BE49-F238E27FC236}">
                      <a16:creationId xmlns:a16="http://schemas.microsoft.com/office/drawing/2014/main" id="{171313C8-B3A5-A85C-799A-E014DC65AC1B}"/>
                    </a:ext>
                  </a:extLst>
                </p:cNvPr>
                <p:cNvPicPr/>
                <p:nvPr/>
              </p:nvPicPr>
              <p:blipFill>
                <a:blip r:embed="rId5"/>
                <a:stretch>
                  <a:fillRect/>
                </a:stretch>
              </p:blipFill>
              <p:spPr>
                <a:xfrm>
                  <a:off x="9315323" y="2127029"/>
                  <a:ext cx="1304640" cy="3400200"/>
                </a:xfrm>
                <a:prstGeom prst="rect">
                  <a:avLst/>
                </a:prstGeom>
              </p:spPr>
            </p:pic>
          </mc:Fallback>
        </mc:AlternateContent>
        <mc:AlternateContent xmlns:mc="http://schemas.openxmlformats.org/markup-compatibility/2006" xmlns:p14="http://schemas.microsoft.com/office/powerpoint/2010/main">
          <mc:Choice Requires="p14">
            <p:contentPart p14:bwMode="auto" r:id="rId6">
              <p14:nvContentPartPr>
                <p14:cNvPr id="7" name="Ink 6">
                  <a:extLst>
                    <a:ext uri="{FF2B5EF4-FFF2-40B4-BE49-F238E27FC236}">
                      <a16:creationId xmlns:a16="http://schemas.microsoft.com/office/drawing/2014/main" id="{7A202E36-8609-226E-541D-5CC47AF41616}"/>
                    </a:ext>
                  </a:extLst>
                </p14:cNvPr>
                <p14:cNvContentPartPr/>
                <p14:nvPr/>
              </p14:nvContentPartPr>
              <p14:xfrm>
                <a:off x="9348803" y="2109029"/>
                <a:ext cx="133200" cy="43200"/>
              </p14:xfrm>
            </p:contentPart>
          </mc:Choice>
          <mc:Fallback xmlns="">
            <p:pic>
              <p:nvPicPr>
                <p:cNvPr id="7" name="Ink 6">
                  <a:extLst>
                    <a:ext uri="{FF2B5EF4-FFF2-40B4-BE49-F238E27FC236}">
                      <a16:creationId xmlns:a16="http://schemas.microsoft.com/office/drawing/2014/main" id="{7A202E36-8609-226E-541D-5CC47AF41616}"/>
                    </a:ext>
                  </a:extLst>
                </p:cNvPr>
                <p:cNvPicPr/>
                <p:nvPr/>
              </p:nvPicPr>
              <p:blipFill>
                <a:blip r:embed="rId7"/>
                <a:stretch>
                  <a:fillRect/>
                </a:stretch>
              </p:blipFill>
              <p:spPr>
                <a:xfrm>
                  <a:off x="9340163" y="2100029"/>
                  <a:ext cx="150840" cy="60840"/>
                </a:xfrm>
                <a:prstGeom prst="rect">
                  <a:avLst/>
                </a:prstGeom>
              </p:spPr>
            </p:pic>
          </mc:Fallback>
        </mc:AlternateContent>
      </p:grpSp>
      <p:sp>
        <p:nvSpPr>
          <p:cNvPr id="9" name="Title 8">
            <a:extLst>
              <a:ext uri="{FF2B5EF4-FFF2-40B4-BE49-F238E27FC236}">
                <a16:creationId xmlns:a16="http://schemas.microsoft.com/office/drawing/2014/main" id="{09450F0F-554E-40A9-4168-5D0F47F5EC0A}"/>
              </a:ext>
            </a:extLst>
          </p:cNvPr>
          <p:cNvSpPr>
            <a:spLocks noGrp="1"/>
          </p:cNvSpPr>
          <p:nvPr>
            <p:ph type="title"/>
          </p:nvPr>
        </p:nvSpPr>
        <p:spPr/>
        <p:txBody>
          <a:bodyPr/>
          <a:lstStyle/>
          <a:p>
            <a:r>
              <a:rPr lang="en-US" dirty="0"/>
              <a:t>Results of joining </a:t>
            </a:r>
            <a:r>
              <a:rPr lang="en-US" dirty="0" err="1">
                <a:solidFill>
                  <a:srgbClr val="7030A0"/>
                </a:solidFill>
              </a:rPr>
              <a:t>raw_contacts</a:t>
            </a:r>
            <a:r>
              <a:rPr lang="en-US" dirty="0">
                <a:solidFill>
                  <a:srgbClr val="7030A0"/>
                </a:solidFill>
              </a:rPr>
              <a:t> </a:t>
            </a:r>
            <a:r>
              <a:rPr lang="en-US" dirty="0"/>
              <a:t>with </a:t>
            </a:r>
            <a:r>
              <a:rPr lang="en-US" dirty="0">
                <a:solidFill>
                  <a:schemeClr val="accent2"/>
                </a:solidFill>
              </a:rPr>
              <a:t>accounts</a:t>
            </a:r>
          </a:p>
        </p:txBody>
      </p:sp>
      <p:sp>
        <p:nvSpPr>
          <p:cNvPr id="10" name="Rectangle 9">
            <a:extLst>
              <a:ext uri="{FF2B5EF4-FFF2-40B4-BE49-F238E27FC236}">
                <a16:creationId xmlns:a16="http://schemas.microsoft.com/office/drawing/2014/main" id="{0E0311EF-B55F-EC2C-C0DB-7FBB00EA70A8}"/>
              </a:ext>
            </a:extLst>
          </p:cNvPr>
          <p:cNvSpPr/>
          <p:nvPr/>
        </p:nvSpPr>
        <p:spPr>
          <a:xfrm>
            <a:off x="1576552" y="4437993"/>
            <a:ext cx="5990896" cy="417786"/>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5172C9FD-B034-7F02-1C1D-E8ECE83D02E5}"/>
              </a:ext>
            </a:extLst>
          </p:cNvPr>
          <p:cNvSpPr/>
          <p:nvPr/>
        </p:nvSpPr>
        <p:spPr>
          <a:xfrm>
            <a:off x="1563411" y="3597166"/>
            <a:ext cx="6138044" cy="194442"/>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extBox 1">
            <a:extLst>
              <a:ext uri="{FF2B5EF4-FFF2-40B4-BE49-F238E27FC236}">
                <a16:creationId xmlns:a16="http://schemas.microsoft.com/office/drawing/2014/main" id="{1FEECFFD-93C7-6C9C-199F-0FE4DAD3B377}"/>
              </a:ext>
            </a:extLst>
          </p:cNvPr>
          <p:cNvSpPr txBox="1"/>
          <p:nvPr/>
        </p:nvSpPr>
        <p:spPr>
          <a:xfrm>
            <a:off x="896663" y="1321356"/>
            <a:ext cx="2115900" cy="369332"/>
          </a:xfrm>
          <a:prstGeom prst="rect">
            <a:avLst/>
          </a:prstGeom>
          <a:solidFill>
            <a:schemeClr val="accent4"/>
          </a:solidFill>
        </p:spPr>
        <p:txBody>
          <a:bodyPr wrap="none" rtlCol="0">
            <a:spAutoFit/>
          </a:bodyPr>
          <a:lstStyle/>
          <a:p>
            <a:r>
              <a:rPr lang="en-US" dirty="0"/>
              <a:t>Find 10 raw contacts</a:t>
            </a:r>
            <a:endParaRPr lang="en-US" i="1" dirty="0">
              <a:solidFill>
                <a:srgbClr val="7030A0"/>
              </a:solidFill>
            </a:endParaRPr>
          </a:p>
        </p:txBody>
      </p:sp>
    </p:spTree>
    <p:extLst>
      <p:ext uri="{BB962C8B-B14F-4D97-AF65-F5344CB8AC3E}">
        <p14:creationId xmlns:p14="http://schemas.microsoft.com/office/powerpoint/2010/main" val="688849032"/>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816B0AE6-9020-32EB-6C27-E4B598D07072}"/>
              </a:ext>
            </a:extLst>
          </p:cNvPr>
          <p:cNvPicPr>
            <a:picLocks noChangeAspect="1"/>
          </p:cNvPicPr>
          <p:nvPr/>
        </p:nvPicPr>
        <p:blipFill>
          <a:blip r:embed="rId2"/>
          <a:stretch>
            <a:fillRect/>
          </a:stretch>
        </p:blipFill>
        <p:spPr>
          <a:xfrm>
            <a:off x="616068" y="2110967"/>
            <a:ext cx="11122052" cy="2876669"/>
          </a:xfrm>
          <a:prstGeom prst="rect">
            <a:avLst/>
          </a:prstGeom>
        </p:spPr>
      </p:pic>
      <p:sp>
        <p:nvSpPr>
          <p:cNvPr id="6" name="TextBox 5">
            <a:extLst>
              <a:ext uri="{FF2B5EF4-FFF2-40B4-BE49-F238E27FC236}">
                <a16:creationId xmlns:a16="http://schemas.microsoft.com/office/drawing/2014/main" id="{1C37ED4A-F487-7FE7-5E85-F21C1BA54526}"/>
              </a:ext>
            </a:extLst>
          </p:cNvPr>
          <p:cNvSpPr txBox="1"/>
          <p:nvPr/>
        </p:nvSpPr>
        <p:spPr>
          <a:xfrm>
            <a:off x="677486" y="1680156"/>
            <a:ext cx="10638214" cy="369332"/>
          </a:xfrm>
          <a:prstGeom prst="rect">
            <a:avLst/>
          </a:prstGeom>
          <a:solidFill>
            <a:schemeClr val="accent4"/>
          </a:solidFill>
        </p:spPr>
        <p:txBody>
          <a:bodyPr wrap="square">
            <a:spAutoFit/>
          </a:bodyPr>
          <a:lstStyle/>
          <a:p>
            <a:r>
              <a:rPr lang="en-US" dirty="0"/>
              <a:t>Find 10 raw contacts </a:t>
            </a:r>
            <a:r>
              <a:rPr lang="en-GB" dirty="0"/>
              <a:t>(same as previous commands, just different terminal)</a:t>
            </a:r>
            <a:endParaRPr lang="en-US" dirty="0"/>
          </a:p>
        </p:txBody>
      </p:sp>
    </p:spTree>
    <p:extLst>
      <p:ext uri="{BB962C8B-B14F-4D97-AF65-F5344CB8AC3E}">
        <p14:creationId xmlns:p14="http://schemas.microsoft.com/office/powerpoint/2010/main" val="3738662620"/>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D0A01E-31BF-F6F6-3361-E0C71A47C4A2}"/>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75BBC657-4985-C0F8-DA48-A29CBD96EDCB}"/>
              </a:ext>
            </a:extLst>
          </p:cNvPr>
          <p:cNvSpPr>
            <a:spLocks noGrp="1"/>
          </p:cNvSpPr>
          <p:nvPr>
            <p:ph type="title"/>
          </p:nvPr>
        </p:nvSpPr>
        <p:spPr/>
        <p:txBody>
          <a:bodyPr/>
          <a:lstStyle/>
          <a:p>
            <a:r>
              <a:rPr sz="4000" dirty="0">
                <a:solidFill>
                  <a:srgbClr val="000000"/>
                </a:solidFill>
                <a:latin typeface="Arial"/>
              </a:rPr>
              <a:t>data Table</a:t>
            </a:r>
          </a:p>
        </p:txBody>
      </p:sp>
      <p:sp>
        <p:nvSpPr>
          <p:cNvPr id="5" name="Text Placeholder 4">
            <a:extLst>
              <a:ext uri="{FF2B5EF4-FFF2-40B4-BE49-F238E27FC236}">
                <a16:creationId xmlns:a16="http://schemas.microsoft.com/office/drawing/2014/main" id="{52C71F0D-FB0B-CE53-BBF9-DF6158FCA107}"/>
              </a:ext>
            </a:extLst>
          </p:cNvPr>
          <p:cNvSpPr>
            <a:spLocks noGrp="1"/>
          </p:cNvSpPr>
          <p:nvPr>
            <p:ph type="body" idx="1"/>
          </p:nvPr>
        </p:nvSpPr>
        <p:spPr/>
        <p:txBody>
          <a:bodyPr wrap="square">
            <a:normAutofit/>
          </a:bodyPr>
          <a:lstStyle/>
          <a:p>
            <a:pPr>
              <a:defRPr sz="2400">
                <a:latin typeface="Arial"/>
              </a:defRPr>
            </a:pPr>
            <a:endParaRPr dirty="0"/>
          </a:p>
        </p:txBody>
      </p:sp>
    </p:spTree>
    <p:extLst>
      <p:ext uri="{BB962C8B-B14F-4D97-AF65-F5344CB8AC3E}">
        <p14:creationId xmlns:p14="http://schemas.microsoft.com/office/powerpoint/2010/main" val="49874433"/>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Title 12">
            <a:extLst>
              <a:ext uri="{FF2B5EF4-FFF2-40B4-BE49-F238E27FC236}">
                <a16:creationId xmlns:a16="http://schemas.microsoft.com/office/drawing/2014/main" id="{0EF1E706-8D1E-27E1-1A0A-1D1F7808E668}"/>
              </a:ext>
            </a:extLst>
          </p:cNvPr>
          <p:cNvSpPr>
            <a:spLocks noGrp="1"/>
          </p:cNvSpPr>
          <p:nvPr>
            <p:ph type="title"/>
          </p:nvPr>
        </p:nvSpPr>
        <p:spPr/>
        <p:txBody>
          <a:bodyPr/>
          <a:lstStyle/>
          <a:p>
            <a:r>
              <a:rPr lang="en-US" dirty="0"/>
              <a:t>Investigating Contact ID 10</a:t>
            </a:r>
          </a:p>
        </p:txBody>
      </p:sp>
      <p:pic>
        <p:nvPicPr>
          <p:cNvPr id="4" name="Picture 3">
            <a:extLst>
              <a:ext uri="{FF2B5EF4-FFF2-40B4-BE49-F238E27FC236}">
                <a16:creationId xmlns:a16="http://schemas.microsoft.com/office/drawing/2014/main" id="{64D346DA-D45D-4CA0-9528-B4A0AD8652F6}"/>
              </a:ext>
            </a:extLst>
          </p:cNvPr>
          <p:cNvPicPr>
            <a:picLocks noChangeAspect="1"/>
          </p:cNvPicPr>
          <p:nvPr/>
        </p:nvPicPr>
        <p:blipFill>
          <a:blip r:embed="rId2"/>
          <a:stretch>
            <a:fillRect/>
          </a:stretch>
        </p:blipFill>
        <p:spPr>
          <a:xfrm>
            <a:off x="3882391" y="1690688"/>
            <a:ext cx="6402128" cy="4630789"/>
          </a:xfrm>
          <a:prstGeom prst="rect">
            <a:avLst/>
          </a:prstGeom>
        </p:spPr>
      </p:pic>
      <p:sp>
        <p:nvSpPr>
          <p:cNvPr id="5" name="TextBox 4">
            <a:extLst>
              <a:ext uri="{FF2B5EF4-FFF2-40B4-BE49-F238E27FC236}">
                <a16:creationId xmlns:a16="http://schemas.microsoft.com/office/drawing/2014/main" id="{6AB0076C-462F-489C-8525-5240CF0A8B77}"/>
              </a:ext>
            </a:extLst>
          </p:cNvPr>
          <p:cNvSpPr txBox="1"/>
          <p:nvPr/>
        </p:nvSpPr>
        <p:spPr>
          <a:xfrm>
            <a:off x="838200" y="2038047"/>
            <a:ext cx="2602187" cy="2007817"/>
          </a:xfrm>
          <a:prstGeom prst="rect">
            <a:avLst/>
          </a:prstGeom>
          <a:solidFill>
            <a:schemeClr val="accent4">
              <a:lumMod val="20000"/>
              <a:lumOff val="80000"/>
            </a:schemeClr>
          </a:solidFill>
        </p:spPr>
        <p:txBody>
          <a:bodyPr wrap="square">
            <a:normAutofit fontScale="62500" lnSpcReduction="20000"/>
          </a:bodyPr>
          <a:lstStyle/>
          <a:p>
            <a:pPr>
              <a:defRPr sz="2200">
                <a:latin typeface="Arial"/>
              </a:defRPr>
            </a:pPr>
            <a:r>
              <a:rPr lang="en-GB" dirty="0"/>
              <a:t>1. The data table contains the actual contact values.</a:t>
            </a:r>
          </a:p>
          <a:p>
            <a:pPr>
              <a:defRPr sz="2200">
                <a:latin typeface="Arial"/>
              </a:defRPr>
            </a:pPr>
            <a:r>
              <a:rPr lang="en-GB" dirty="0"/>
              <a:t>2. The same contact may have multiple data rows: display name, phone number, email, address, note, photo, or group membership.</a:t>
            </a:r>
          </a:p>
          <a:p>
            <a:pPr>
              <a:defRPr sz="2200">
                <a:latin typeface="Arial"/>
              </a:defRPr>
            </a:pPr>
            <a:r>
              <a:rPr lang="en-GB" dirty="0"/>
              <a:t>3. Always interpret a data row together with its </a:t>
            </a:r>
            <a:r>
              <a:rPr lang="en-GB" dirty="0" err="1"/>
              <a:t>mimetype</a:t>
            </a:r>
            <a:r>
              <a:rPr lang="en-GB" dirty="0"/>
              <a:t>.</a:t>
            </a:r>
          </a:p>
        </p:txBody>
      </p:sp>
      <p:cxnSp>
        <p:nvCxnSpPr>
          <p:cNvPr id="6" name="Straight Arrow Connector 5">
            <a:extLst>
              <a:ext uri="{FF2B5EF4-FFF2-40B4-BE49-F238E27FC236}">
                <a16:creationId xmlns:a16="http://schemas.microsoft.com/office/drawing/2014/main" id="{E1049955-5A80-4F66-A0D0-71269C9C5F26}"/>
              </a:ext>
            </a:extLst>
          </p:cNvPr>
          <p:cNvCxnSpPr>
            <a:cxnSpLocks/>
            <a:stCxn id="5" idx="3"/>
          </p:cNvCxnSpPr>
          <p:nvPr/>
        </p:nvCxnSpPr>
        <p:spPr>
          <a:xfrm flipV="1">
            <a:off x="3440387" y="1797035"/>
            <a:ext cx="786232" cy="1244921"/>
          </a:xfrm>
          <a:prstGeom prst="straightConnector1">
            <a:avLst/>
          </a:prstGeom>
          <a:ln>
            <a:tailEnd type="triangle"/>
          </a:ln>
        </p:spPr>
        <p:style>
          <a:lnRef idx="1">
            <a:schemeClr val="accent2"/>
          </a:lnRef>
          <a:fillRef idx="0">
            <a:schemeClr val="accent2"/>
          </a:fillRef>
          <a:effectRef idx="0">
            <a:schemeClr val="accent2"/>
          </a:effectRef>
          <a:fontRef idx="minor">
            <a:schemeClr val="tx1"/>
          </a:fontRef>
        </p:style>
      </p:cxnSp>
    </p:spTree>
    <p:extLst>
      <p:ext uri="{BB962C8B-B14F-4D97-AF65-F5344CB8AC3E}">
        <p14:creationId xmlns:p14="http://schemas.microsoft.com/office/powerpoint/2010/main" val="2707371981"/>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TextBox 18">
            <a:extLst>
              <a:ext uri="{FF2B5EF4-FFF2-40B4-BE49-F238E27FC236}">
                <a16:creationId xmlns:a16="http://schemas.microsoft.com/office/drawing/2014/main" id="{76B30044-675D-45EB-A271-551AE6720E7F}"/>
              </a:ext>
            </a:extLst>
          </p:cNvPr>
          <p:cNvSpPr txBox="1"/>
          <p:nvPr/>
        </p:nvSpPr>
        <p:spPr>
          <a:xfrm>
            <a:off x="297808" y="6277253"/>
            <a:ext cx="11040751" cy="336956"/>
          </a:xfrm>
          <a:prstGeom prst="rect">
            <a:avLst/>
          </a:prstGeom>
          <a:solidFill>
            <a:schemeClr val="accent4">
              <a:lumMod val="40000"/>
              <a:lumOff val="60000"/>
            </a:schemeClr>
          </a:solidFill>
        </p:spPr>
        <p:txBody>
          <a:bodyPr wrap="square" rtlCol="0">
            <a:noAutofit/>
          </a:bodyPr>
          <a:lstStyle/>
          <a:p>
            <a:pPr>
              <a:defRPr sz="2200">
                <a:latin typeface="Arial"/>
              </a:defRPr>
            </a:pPr>
            <a:r>
              <a:rPr sz="1400" dirty="0"/>
              <a:t>Each row stores one type of value, such as name, phone number, email, organization, note, photo, or group membership.</a:t>
            </a:r>
          </a:p>
        </p:txBody>
      </p:sp>
      <p:pic>
        <p:nvPicPr>
          <p:cNvPr id="5" name="Picture 4" descr="A screenshot of a computer&#10;&#10;Description automatically generated with medium confidence">
            <a:extLst>
              <a:ext uri="{FF2B5EF4-FFF2-40B4-BE49-F238E27FC236}">
                <a16:creationId xmlns:a16="http://schemas.microsoft.com/office/drawing/2014/main" id="{4159D891-91F6-4026-970B-8D0745452A07}"/>
              </a:ext>
            </a:extLst>
          </p:cNvPr>
          <p:cNvPicPr>
            <a:picLocks noChangeAspect="1"/>
          </p:cNvPicPr>
          <p:nvPr/>
        </p:nvPicPr>
        <p:blipFill>
          <a:blip r:embed="rId2"/>
          <a:stretch>
            <a:fillRect/>
          </a:stretch>
        </p:blipFill>
        <p:spPr>
          <a:xfrm>
            <a:off x="220278" y="2428612"/>
            <a:ext cx="11591024" cy="3749365"/>
          </a:xfrm>
          <a:prstGeom prst="rect">
            <a:avLst/>
          </a:prstGeom>
        </p:spPr>
      </p:pic>
      <p:sp>
        <p:nvSpPr>
          <p:cNvPr id="6" name="TextBox 5">
            <a:extLst>
              <a:ext uri="{FF2B5EF4-FFF2-40B4-BE49-F238E27FC236}">
                <a16:creationId xmlns:a16="http://schemas.microsoft.com/office/drawing/2014/main" id="{0EB54E7E-8304-4E48-AC64-1F000B2FB70B}"/>
              </a:ext>
            </a:extLst>
          </p:cNvPr>
          <p:cNvSpPr txBox="1"/>
          <p:nvPr/>
        </p:nvSpPr>
        <p:spPr>
          <a:xfrm>
            <a:off x="3544375" y="1407603"/>
            <a:ext cx="2929988" cy="830997"/>
          </a:xfrm>
          <a:prstGeom prst="rect">
            <a:avLst/>
          </a:prstGeom>
          <a:solidFill>
            <a:schemeClr val="accent4">
              <a:lumMod val="20000"/>
              <a:lumOff val="80000"/>
            </a:schemeClr>
          </a:solidFill>
        </p:spPr>
        <p:txBody>
          <a:bodyPr wrap="square">
            <a:spAutoFit/>
          </a:bodyPr>
          <a:lstStyle/>
          <a:p>
            <a:r>
              <a:rPr lang="en-US" sz="1600" dirty="0"/>
              <a:t>contact 10 (has four fields, each field has a different value type based on </a:t>
            </a:r>
            <a:r>
              <a:rPr lang="en-US" sz="1600" i="1" dirty="0" err="1">
                <a:solidFill>
                  <a:srgbClr val="7030A0"/>
                </a:solidFill>
              </a:rPr>
              <a:t>minetypes</a:t>
            </a:r>
            <a:r>
              <a:rPr lang="en-US" sz="1600" dirty="0"/>
              <a:t>)</a:t>
            </a:r>
          </a:p>
        </p:txBody>
      </p:sp>
      <p:cxnSp>
        <p:nvCxnSpPr>
          <p:cNvPr id="7" name="Straight Arrow Connector 6">
            <a:extLst>
              <a:ext uri="{FF2B5EF4-FFF2-40B4-BE49-F238E27FC236}">
                <a16:creationId xmlns:a16="http://schemas.microsoft.com/office/drawing/2014/main" id="{02AE82AE-7790-40B8-9460-725218967B08}"/>
              </a:ext>
            </a:extLst>
          </p:cNvPr>
          <p:cNvCxnSpPr>
            <a:cxnSpLocks/>
            <a:stCxn id="6" idx="2"/>
          </p:cNvCxnSpPr>
          <p:nvPr/>
        </p:nvCxnSpPr>
        <p:spPr>
          <a:xfrm flipH="1">
            <a:off x="3124884" y="2238600"/>
            <a:ext cx="1884485" cy="1091340"/>
          </a:xfrm>
          <a:prstGeom prst="straightConnector1">
            <a:avLst/>
          </a:prstGeom>
          <a:ln>
            <a:tailEnd type="triangle"/>
          </a:ln>
        </p:spPr>
        <p:style>
          <a:lnRef idx="1">
            <a:schemeClr val="accent2"/>
          </a:lnRef>
          <a:fillRef idx="0">
            <a:schemeClr val="accent2"/>
          </a:fillRef>
          <a:effectRef idx="0">
            <a:schemeClr val="accent2"/>
          </a:effectRef>
          <a:fontRef idx="minor">
            <a:schemeClr val="tx1"/>
          </a:fontRef>
        </p:style>
      </p:cxnSp>
      <p:sp>
        <p:nvSpPr>
          <p:cNvPr id="11" name="TextBox 10">
            <a:extLst>
              <a:ext uri="{FF2B5EF4-FFF2-40B4-BE49-F238E27FC236}">
                <a16:creationId xmlns:a16="http://schemas.microsoft.com/office/drawing/2014/main" id="{CAAE7A34-EA85-478C-9014-E147F76C21A7}"/>
              </a:ext>
            </a:extLst>
          </p:cNvPr>
          <p:cNvSpPr txBox="1"/>
          <p:nvPr/>
        </p:nvSpPr>
        <p:spPr>
          <a:xfrm>
            <a:off x="851721" y="1391084"/>
            <a:ext cx="2350168" cy="830997"/>
          </a:xfrm>
          <a:prstGeom prst="rect">
            <a:avLst/>
          </a:prstGeom>
          <a:solidFill>
            <a:schemeClr val="accent4">
              <a:lumMod val="20000"/>
              <a:lumOff val="80000"/>
            </a:schemeClr>
          </a:solidFill>
        </p:spPr>
        <p:txBody>
          <a:bodyPr wrap="square">
            <a:spAutoFit/>
          </a:bodyPr>
          <a:lstStyle/>
          <a:p>
            <a:r>
              <a:rPr lang="en-GB" sz="1600" dirty="0"/>
              <a:t>indicate what data type is stored in this row. </a:t>
            </a:r>
          </a:p>
          <a:p>
            <a:r>
              <a:rPr lang="en-GB" sz="1600" dirty="0"/>
              <a:t>See </a:t>
            </a:r>
            <a:r>
              <a:rPr lang="en-US" sz="1600" i="1" dirty="0" err="1">
                <a:solidFill>
                  <a:srgbClr val="7030A0"/>
                </a:solidFill>
              </a:rPr>
              <a:t>mimetypes</a:t>
            </a:r>
            <a:r>
              <a:rPr lang="en-US" sz="1600" dirty="0"/>
              <a:t> Table</a:t>
            </a:r>
          </a:p>
        </p:txBody>
      </p:sp>
      <p:cxnSp>
        <p:nvCxnSpPr>
          <p:cNvPr id="12" name="Straight Arrow Connector 11">
            <a:extLst>
              <a:ext uri="{FF2B5EF4-FFF2-40B4-BE49-F238E27FC236}">
                <a16:creationId xmlns:a16="http://schemas.microsoft.com/office/drawing/2014/main" id="{21E72862-1B2C-4728-952E-83B608E6774E}"/>
              </a:ext>
            </a:extLst>
          </p:cNvPr>
          <p:cNvCxnSpPr>
            <a:cxnSpLocks/>
            <a:stCxn id="11" idx="2"/>
          </p:cNvCxnSpPr>
          <p:nvPr/>
        </p:nvCxnSpPr>
        <p:spPr>
          <a:xfrm>
            <a:off x="2026805" y="2222081"/>
            <a:ext cx="323363" cy="436232"/>
          </a:xfrm>
          <a:prstGeom prst="straightConnector1">
            <a:avLst/>
          </a:prstGeom>
          <a:ln>
            <a:tailEnd type="triangle"/>
          </a:ln>
        </p:spPr>
        <p:style>
          <a:lnRef idx="1">
            <a:schemeClr val="accent2"/>
          </a:lnRef>
          <a:fillRef idx="0">
            <a:schemeClr val="accent2"/>
          </a:fillRef>
          <a:effectRef idx="0">
            <a:schemeClr val="accent2"/>
          </a:effectRef>
          <a:fontRef idx="minor">
            <a:schemeClr val="tx1"/>
          </a:fontRef>
        </p:style>
      </p:cxnSp>
      <p:sp>
        <p:nvSpPr>
          <p:cNvPr id="17" name="TextBox 16">
            <a:extLst>
              <a:ext uri="{FF2B5EF4-FFF2-40B4-BE49-F238E27FC236}">
                <a16:creationId xmlns:a16="http://schemas.microsoft.com/office/drawing/2014/main" id="{A302AC3F-7054-4570-A4BB-989726B6B209}"/>
              </a:ext>
            </a:extLst>
          </p:cNvPr>
          <p:cNvSpPr txBox="1"/>
          <p:nvPr/>
        </p:nvSpPr>
        <p:spPr>
          <a:xfrm>
            <a:off x="7571354" y="1402421"/>
            <a:ext cx="3224701" cy="830997"/>
          </a:xfrm>
          <a:prstGeom prst="rect">
            <a:avLst/>
          </a:prstGeom>
          <a:solidFill>
            <a:schemeClr val="accent4">
              <a:lumMod val="20000"/>
              <a:lumOff val="80000"/>
            </a:schemeClr>
          </a:solidFill>
        </p:spPr>
        <p:txBody>
          <a:bodyPr wrap="square">
            <a:spAutoFit/>
          </a:bodyPr>
          <a:lstStyle/>
          <a:p>
            <a:pPr>
              <a:defRPr sz="2200">
                <a:latin typeface="Arial"/>
              </a:defRPr>
            </a:pPr>
            <a:r>
              <a:rPr lang="en-GB" sz="1600" dirty="0"/>
              <a:t>data is often the main value, but interpretation depends on the </a:t>
            </a:r>
            <a:r>
              <a:rPr lang="en-GB" sz="1600" dirty="0" err="1"/>
              <a:t>mimetype</a:t>
            </a:r>
            <a:r>
              <a:rPr lang="en-GB" sz="1600" dirty="0"/>
              <a:t>.</a:t>
            </a:r>
          </a:p>
        </p:txBody>
      </p:sp>
      <p:cxnSp>
        <p:nvCxnSpPr>
          <p:cNvPr id="18" name="Straight Arrow Connector 17">
            <a:extLst>
              <a:ext uri="{FF2B5EF4-FFF2-40B4-BE49-F238E27FC236}">
                <a16:creationId xmlns:a16="http://schemas.microsoft.com/office/drawing/2014/main" id="{83976A12-E1ED-47DE-A327-D93EB67FD3A1}"/>
              </a:ext>
            </a:extLst>
          </p:cNvPr>
          <p:cNvCxnSpPr>
            <a:cxnSpLocks/>
            <a:stCxn id="17" idx="2"/>
          </p:cNvCxnSpPr>
          <p:nvPr/>
        </p:nvCxnSpPr>
        <p:spPr>
          <a:xfrm>
            <a:off x="9183705" y="2233418"/>
            <a:ext cx="1238971" cy="660085"/>
          </a:xfrm>
          <a:prstGeom prst="straightConnector1">
            <a:avLst/>
          </a:prstGeom>
          <a:ln>
            <a:tailEnd type="triangle"/>
          </a:ln>
        </p:spPr>
        <p:style>
          <a:lnRef idx="1">
            <a:schemeClr val="accent2"/>
          </a:lnRef>
          <a:fillRef idx="0">
            <a:schemeClr val="accent2"/>
          </a:fillRef>
          <a:effectRef idx="0">
            <a:schemeClr val="accent2"/>
          </a:effectRef>
          <a:fontRef idx="minor">
            <a:schemeClr val="tx1"/>
          </a:fontRef>
        </p:style>
      </p:cxnSp>
      <p:sp>
        <p:nvSpPr>
          <p:cNvPr id="9" name="Title 8">
            <a:extLst>
              <a:ext uri="{FF2B5EF4-FFF2-40B4-BE49-F238E27FC236}">
                <a16:creationId xmlns:a16="http://schemas.microsoft.com/office/drawing/2014/main" id="{291E324E-D86E-1BF4-3E56-B6AC0BC90EC7}"/>
              </a:ext>
            </a:extLst>
          </p:cNvPr>
          <p:cNvSpPr>
            <a:spLocks noGrp="1"/>
          </p:cNvSpPr>
          <p:nvPr>
            <p:ph type="title"/>
          </p:nvPr>
        </p:nvSpPr>
        <p:spPr/>
        <p:txBody>
          <a:bodyPr/>
          <a:lstStyle/>
          <a:p>
            <a:r>
              <a:rPr lang="en-US" dirty="0"/>
              <a:t>Interpreting Rows in data</a:t>
            </a:r>
            <a:br>
              <a:rPr lang="en-US" dirty="0"/>
            </a:br>
            <a:endParaRPr lang="en-US" dirty="0"/>
          </a:p>
        </p:txBody>
      </p:sp>
    </p:spTree>
    <p:extLst>
      <p:ext uri="{BB962C8B-B14F-4D97-AF65-F5344CB8AC3E}">
        <p14:creationId xmlns:p14="http://schemas.microsoft.com/office/powerpoint/2010/main" val="3282292129"/>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descr="Text&#10;&#10;Description automatically generated">
            <a:extLst>
              <a:ext uri="{FF2B5EF4-FFF2-40B4-BE49-F238E27FC236}">
                <a16:creationId xmlns:a16="http://schemas.microsoft.com/office/drawing/2014/main" id="{3F29E625-DCBC-4FB4-ACF1-CA7D33C32182}"/>
              </a:ext>
            </a:extLst>
          </p:cNvPr>
          <p:cNvPicPr>
            <a:picLocks noChangeAspect="1"/>
          </p:cNvPicPr>
          <p:nvPr/>
        </p:nvPicPr>
        <p:blipFill>
          <a:blip r:embed="rId2"/>
          <a:stretch>
            <a:fillRect/>
          </a:stretch>
        </p:blipFill>
        <p:spPr>
          <a:xfrm>
            <a:off x="4694773" y="0"/>
            <a:ext cx="5227636" cy="6858000"/>
          </a:xfrm>
          <a:prstGeom prst="rect">
            <a:avLst/>
          </a:prstGeom>
        </p:spPr>
      </p:pic>
      <p:sp>
        <p:nvSpPr>
          <p:cNvPr id="9" name="Rectangle 8">
            <a:extLst>
              <a:ext uri="{FF2B5EF4-FFF2-40B4-BE49-F238E27FC236}">
                <a16:creationId xmlns:a16="http://schemas.microsoft.com/office/drawing/2014/main" id="{80B0531C-A1B6-4851-82BE-998D16A2ADC8}"/>
              </a:ext>
            </a:extLst>
          </p:cNvPr>
          <p:cNvSpPr/>
          <p:nvPr/>
        </p:nvSpPr>
        <p:spPr>
          <a:xfrm>
            <a:off x="5057281" y="1517983"/>
            <a:ext cx="2608596" cy="261937"/>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8E7043EA-3776-4544-93E4-B1550EFFB1F1}"/>
              </a:ext>
            </a:extLst>
          </p:cNvPr>
          <p:cNvSpPr/>
          <p:nvPr/>
        </p:nvSpPr>
        <p:spPr>
          <a:xfrm>
            <a:off x="5065303" y="1919034"/>
            <a:ext cx="2608596" cy="261937"/>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A441DAB9-B84A-4721-B9FB-80766414D3D6}"/>
              </a:ext>
            </a:extLst>
          </p:cNvPr>
          <p:cNvSpPr/>
          <p:nvPr/>
        </p:nvSpPr>
        <p:spPr>
          <a:xfrm>
            <a:off x="5065302" y="6338640"/>
            <a:ext cx="4317079" cy="519360"/>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Picture 3">
            <a:extLst>
              <a:ext uri="{FF2B5EF4-FFF2-40B4-BE49-F238E27FC236}">
                <a16:creationId xmlns:a16="http://schemas.microsoft.com/office/drawing/2014/main" id="{C0B84C0A-03AD-163C-470E-B8B20C4848A0}"/>
              </a:ext>
            </a:extLst>
          </p:cNvPr>
          <p:cNvPicPr>
            <a:picLocks noChangeAspect="1"/>
          </p:cNvPicPr>
          <p:nvPr/>
        </p:nvPicPr>
        <p:blipFill>
          <a:blip r:embed="rId3"/>
          <a:stretch>
            <a:fillRect/>
          </a:stretch>
        </p:blipFill>
        <p:spPr>
          <a:xfrm>
            <a:off x="9936285" y="1521784"/>
            <a:ext cx="2255715" cy="1318374"/>
          </a:xfrm>
          <a:prstGeom prst="rect">
            <a:avLst/>
          </a:prstGeom>
        </p:spPr>
      </p:pic>
      <p:cxnSp>
        <p:nvCxnSpPr>
          <p:cNvPr id="12" name="Straight Arrow Connector 11">
            <a:extLst>
              <a:ext uri="{FF2B5EF4-FFF2-40B4-BE49-F238E27FC236}">
                <a16:creationId xmlns:a16="http://schemas.microsoft.com/office/drawing/2014/main" id="{83B00AC0-B155-5947-3CF7-080987B1C8CE}"/>
              </a:ext>
            </a:extLst>
          </p:cNvPr>
          <p:cNvCxnSpPr/>
          <p:nvPr/>
        </p:nvCxnSpPr>
        <p:spPr>
          <a:xfrm flipH="1" flipV="1">
            <a:off x="7732492" y="2050002"/>
            <a:ext cx="2332495" cy="724195"/>
          </a:xfrm>
          <a:prstGeom prst="straightConnector1">
            <a:avLst/>
          </a:prstGeom>
          <a:ln>
            <a:tailEnd type="triangle"/>
          </a:ln>
        </p:spPr>
        <p:style>
          <a:lnRef idx="1">
            <a:schemeClr val="accent2"/>
          </a:lnRef>
          <a:fillRef idx="0">
            <a:schemeClr val="accent2"/>
          </a:fillRef>
          <a:effectRef idx="0">
            <a:schemeClr val="accent2"/>
          </a:effectRef>
          <a:fontRef idx="minor">
            <a:schemeClr val="tx1"/>
          </a:fontRef>
        </p:style>
      </p:cxnSp>
      <p:cxnSp>
        <p:nvCxnSpPr>
          <p:cNvPr id="14" name="Straight Arrow Connector 13">
            <a:extLst>
              <a:ext uri="{FF2B5EF4-FFF2-40B4-BE49-F238E27FC236}">
                <a16:creationId xmlns:a16="http://schemas.microsoft.com/office/drawing/2014/main" id="{FBDAD0A1-170D-D396-BB72-533C61E52764}"/>
              </a:ext>
            </a:extLst>
          </p:cNvPr>
          <p:cNvCxnSpPr/>
          <p:nvPr/>
        </p:nvCxnSpPr>
        <p:spPr>
          <a:xfrm flipH="1" flipV="1">
            <a:off x="7756355" y="1648951"/>
            <a:ext cx="2248510" cy="923768"/>
          </a:xfrm>
          <a:prstGeom prst="straightConnector1">
            <a:avLst/>
          </a:prstGeom>
          <a:ln>
            <a:tailEnd type="triangle"/>
          </a:ln>
        </p:spPr>
        <p:style>
          <a:lnRef idx="1">
            <a:schemeClr val="accent2"/>
          </a:lnRef>
          <a:fillRef idx="0">
            <a:schemeClr val="accent2"/>
          </a:fillRef>
          <a:effectRef idx="0">
            <a:schemeClr val="accent2"/>
          </a:effectRef>
          <a:fontRef idx="minor">
            <a:schemeClr val="tx1"/>
          </a:fontRef>
        </p:style>
      </p:cxnSp>
      <p:cxnSp>
        <p:nvCxnSpPr>
          <p:cNvPr id="16" name="Straight Arrow Connector 15">
            <a:extLst>
              <a:ext uri="{FF2B5EF4-FFF2-40B4-BE49-F238E27FC236}">
                <a16:creationId xmlns:a16="http://schemas.microsoft.com/office/drawing/2014/main" id="{69F51767-3D23-4F92-3B31-0492D5D92D52}"/>
              </a:ext>
            </a:extLst>
          </p:cNvPr>
          <p:cNvCxnSpPr/>
          <p:nvPr/>
        </p:nvCxnSpPr>
        <p:spPr>
          <a:xfrm flipH="1">
            <a:off x="9096343" y="2345294"/>
            <a:ext cx="968644" cy="3993346"/>
          </a:xfrm>
          <a:prstGeom prst="straightConnector1">
            <a:avLst/>
          </a:prstGeom>
          <a:ln>
            <a:tailEnd type="triangle"/>
          </a:ln>
        </p:spPr>
        <p:style>
          <a:lnRef idx="1">
            <a:schemeClr val="accent2"/>
          </a:lnRef>
          <a:fillRef idx="0">
            <a:schemeClr val="accent2"/>
          </a:fillRef>
          <a:effectRef idx="0">
            <a:schemeClr val="accent2"/>
          </a:effectRef>
          <a:fontRef idx="minor">
            <a:schemeClr val="tx1"/>
          </a:fontRef>
        </p:style>
      </p:cxnSp>
      <p:cxnSp>
        <p:nvCxnSpPr>
          <p:cNvPr id="18" name="Straight Arrow Connector 17">
            <a:extLst>
              <a:ext uri="{FF2B5EF4-FFF2-40B4-BE49-F238E27FC236}">
                <a16:creationId xmlns:a16="http://schemas.microsoft.com/office/drawing/2014/main" id="{8DE61391-D388-4047-13E3-C4799BBE22E3}"/>
              </a:ext>
            </a:extLst>
          </p:cNvPr>
          <p:cNvCxnSpPr/>
          <p:nvPr/>
        </p:nvCxnSpPr>
        <p:spPr>
          <a:xfrm flipH="1">
            <a:off x="9440974" y="2180971"/>
            <a:ext cx="964975" cy="4462578"/>
          </a:xfrm>
          <a:prstGeom prst="straightConnector1">
            <a:avLst/>
          </a:prstGeom>
          <a:ln>
            <a:tailEnd type="triangle"/>
          </a:ln>
        </p:spPr>
        <p:style>
          <a:lnRef idx="1">
            <a:schemeClr val="accent2"/>
          </a:lnRef>
          <a:fillRef idx="0">
            <a:schemeClr val="accent2"/>
          </a:fillRef>
          <a:effectRef idx="0">
            <a:schemeClr val="accent2"/>
          </a:effectRef>
          <a:fontRef idx="minor">
            <a:schemeClr val="tx1"/>
          </a:fontRef>
        </p:style>
      </p:cxnSp>
      <p:sp>
        <p:nvSpPr>
          <p:cNvPr id="19" name="TextBox 18">
            <a:extLst>
              <a:ext uri="{FF2B5EF4-FFF2-40B4-BE49-F238E27FC236}">
                <a16:creationId xmlns:a16="http://schemas.microsoft.com/office/drawing/2014/main" id="{AA618C45-D7CE-2B46-0ADB-D3E61E5356AD}"/>
              </a:ext>
            </a:extLst>
          </p:cNvPr>
          <p:cNvSpPr txBox="1"/>
          <p:nvPr/>
        </p:nvSpPr>
        <p:spPr>
          <a:xfrm>
            <a:off x="7984438" y="5882640"/>
            <a:ext cx="1029449" cy="369332"/>
          </a:xfrm>
          <a:prstGeom prst="rect">
            <a:avLst/>
          </a:prstGeom>
          <a:solidFill>
            <a:schemeClr val="accent4">
              <a:lumMod val="20000"/>
              <a:lumOff val="80000"/>
            </a:schemeClr>
          </a:solidFill>
        </p:spPr>
        <p:txBody>
          <a:bodyPr wrap="none" rtlCol="0">
            <a:spAutoFit/>
          </a:bodyPr>
          <a:lstStyle/>
          <a:p>
            <a:r>
              <a:rPr lang="en-US" dirty="0"/>
              <a:t>google FI</a:t>
            </a:r>
          </a:p>
        </p:txBody>
      </p:sp>
      <p:sp>
        <p:nvSpPr>
          <p:cNvPr id="21" name="Title 20">
            <a:extLst>
              <a:ext uri="{FF2B5EF4-FFF2-40B4-BE49-F238E27FC236}">
                <a16:creationId xmlns:a16="http://schemas.microsoft.com/office/drawing/2014/main" id="{F4EA8488-2F61-BC43-C82D-C320D28718B0}"/>
              </a:ext>
            </a:extLst>
          </p:cNvPr>
          <p:cNvSpPr>
            <a:spLocks noGrp="1"/>
          </p:cNvSpPr>
          <p:nvPr>
            <p:ph type="title"/>
          </p:nvPr>
        </p:nvSpPr>
        <p:spPr/>
        <p:txBody>
          <a:bodyPr/>
          <a:lstStyle/>
          <a:p>
            <a:r>
              <a:rPr lang="en-US" dirty="0" err="1"/>
              <a:t>mimetypes</a:t>
            </a:r>
            <a:r>
              <a:rPr lang="en-US" dirty="0"/>
              <a:t> Table</a:t>
            </a:r>
          </a:p>
        </p:txBody>
      </p:sp>
      <p:sp>
        <p:nvSpPr>
          <p:cNvPr id="22" name="Content Placeholder 21">
            <a:extLst>
              <a:ext uri="{FF2B5EF4-FFF2-40B4-BE49-F238E27FC236}">
                <a16:creationId xmlns:a16="http://schemas.microsoft.com/office/drawing/2014/main" id="{04D9833C-B27F-02C6-0AEF-765AD0994DF8}"/>
              </a:ext>
            </a:extLst>
          </p:cNvPr>
          <p:cNvSpPr>
            <a:spLocks noGrp="1"/>
          </p:cNvSpPr>
          <p:nvPr>
            <p:ph idx="1"/>
          </p:nvPr>
        </p:nvSpPr>
        <p:spPr>
          <a:xfrm>
            <a:off x="838200" y="1825625"/>
            <a:ext cx="3543300" cy="4351338"/>
          </a:xfrm>
        </p:spPr>
        <p:txBody>
          <a:bodyPr>
            <a:normAutofit fontScale="85000" lnSpcReduction="20000"/>
          </a:bodyPr>
          <a:lstStyle/>
          <a:p>
            <a:r>
              <a:rPr lang="en-US" dirty="0"/>
              <a:t>Defines how rows in the data table should be interpreted.</a:t>
            </a:r>
          </a:p>
          <a:p>
            <a:pPr lvl="1"/>
            <a:r>
              <a:rPr lang="en-US" dirty="0"/>
              <a:t>Example: </a:t>
            </a:r>
            <a:r>
              <a:rPr lang="en-US" dirty="0" err="1"/>
              <a:t>vnd.android.cursor.item</a:t>
            </a:r>
            <a:r>
              <a:rPr lang="en-US" dirty="0"/>
              <a:t>/email_v2 means the row stores an email address.</a:t>
            </a:r>
          </a:p>
          <a:p>
            <a:pPr lvl="1"/>
            <a:r>
              <a:rPr lang="en-US" dirty="0"/>
              <a:t>Example: </a:t>
            </a:r>
            <a:r>
              <a:rPr lang="en-US" dirty="0" err="1"/>
              <a:t>vnd.android.cursor.item</a:t>
            </a:r>
            <a:r>
              <a:rPr lang="en-US" dirty="0"/>
              <a:t>/phone_v2 means the row stores a phone number.</a:t>
            </a:r>
          </a:p>
          <a:p>
            <a:r>
              <a:rPr lang="en-US" dirty="0"/>
              <a:t>Forensics: never interpret data1/data2/data3 without first checking the </a:t>
            </a:r>
            <a:r>
              <a:rPr lang="en-US" dirty="0" err="1"/>
              <a:t>mimetype</a:t>
            </a:r>
            <a:r>
              <a:rPr lang="en-US" dirty="0"/>
              <a:t>.</a:t>
            </a:r>
          </a:p>
          <a:p>
            <a:endParaRPr lang="en-US" dirty="0"/>
          </a:p>
        </p:txBody>
      </p:sp>
    </p:spTree>
    <p:extLst>
      <p:ext uri="{BB962C8B-B14F-4D97-AF65-F5344CB8AC3E}">
        <p14:creationId xmlns:p14="http://schemas.microsoft.com/office/powerpoint/2010/main" val="2153434805"/>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39261D6C-4D1E-5C4A-25FD-F536DE10E5D1}"/>
              </a:ext>
            </a:extLst>
          </p:cNvPr>
          <p:cNvPicPr>
            <a:picLocks noChangeAspect="1"/>
          </p:cNvPicPr>
          <p:nvPr/>
        </p:nvPicPr>
        <p:blipFill>
          <a:blip r:embed="rId2"/>
          <a:stretch>
            <a:fillRect/>
          </a:stretch>
        </p:blipFill>
        <p:spPr>
          <a:xfrm>
            <a:off x="0" y="381000"/>
            <a:ext cx="12192000" cy="6096000"/>
          </a:xfrm>
          <a:prstGeom prst="rect">
            <a:avLst/>
          </a:prstGeom>
        </p:spPr>
      </p:pic>
      <mc:AlternateContent xmlns:mc="http://schemas.openxmlformats.org/markup-compatibility/2006">
        <mc:Choice xmlns:p14="http://schemas.microsoft.com/office/powerpoint/2010/main" Requires="p14">
          <p:contentPart p14:bwMode="auto" r:id="rId3">
            <p14:nvContentPartPr>
              <p14:cNvPr id="20" name="Ink 19">
                <a:extLst>
                  <a:ext uri="{FF2B5EF4-FFF2-40B4-BE49-F238E27FC236}">
                    <a16:creationId xmlns:a16="http://schemas.microsoft.com/office/drawing/2014/main" id="{9EDAD863-F076-9F00-EEBB-B79D56665DBB}"/>
                  </a:ext>
                </a:extLst>
              </p14:cNvPr>
              <p14:cNvContentPartPr/>
              <p14:nvPr/>
            </p14:nvContentPartPr>
            <p14:xfrm>
              <a:off x="4291980" y="4723260"/>
              <a:ext cx="1047960" cy="355320"/>
            </p14:xfrm>
          </p:contentPart>
        </mc:Choice>
        <mc:Fallback>
          <p:pic>
            <p:nvPicPr>
              <p:cNvPr id="20" name="Ink 19">
                <a:extLst>
                  <a:ext uri="{FF2B5EF4-FFF2-40B4-BE49-F238E27FC236}">
                    <a16:creationId xmlns:a16="http://schemas.microsoft.com/office/drawing/2014/main" id="{9EDAD863-F076-9F00-EEBB-B79D56665DBB}"/>
                  </a:ext>
                </a:extLst>
              </p:cNvPr>
              <p:cNvPicPr/>
              <p:nvPr/>
            </p:nvPicPr>
            <p:blipFill>
              <a:blip r:embed="rId4"/>
              <a:stretch>
                <a:fillRect/>
              </a:stretch>
            </p:blipFill>
            <p:spPr>
              <a:xfrm>
                <a:off x="4283340" y="4714260"/>
                <a:ext cx="1065600" cy="372960"/>
              </a:xfrm>
              <a:prstGeom prst="rect">
                <a:avLst/>
              </a:prstGeom>
            </p:spPr>
          </p:pic>
        </mc:Fallback>
      </mc:AlternateContent>
      <mc:AlternateContent xmlns:mc="http://schemas.openxmlformats.org/markup-compatibility/2006">
        <mc:Choice xmlns:p14="http://schemas.microsoft.com/office/powerpoint/2010/main" Requires="p14">
          <p:contentPart p14:bwMode="auto" r:id="rId5">
            <p14:nvContentPartPr>
              <p14:cNvPr id="21" name="Ink 20">
                <a:extLst>
                  <a:ext uri="{FF2B5EF4-FFF2-40B4-BE49-F238E27FC236}">
                    <a16:creationId xmlns:a16="http://schemas.microsoft.com/office/drawing/2014/main" id="{2FFD8517-4C49-EDC2-10D4-BF7808871AE9}"/>
                  </a:ext>
                </a:extLst>
              </p14:cNvPr>
              <p14:cNvContentPartPr/>
              <p14:nvPr/>
            </p14:nvContentPartPr>
            <p14:xfrm>
              <a:off x="8702340" y="4008300"/>
              <a:ext cx="282960" cy="229320"/>
            </p14:xfrm>
          </p:contentPart>
        </mc:Choice>
        <mc:Fallback>
          <p:pic>
            <p:nvPicPr>
              <p:cNvPr id="21" name="Ink 20">
                <a:extLst>
                  <a:ext uri="{FF2B5EF4-FFF2-40B4-BE49-F238E27FC236}">
                    <a16:creationId xmlns:a16="http://schemas.microsoft.com/office/drawing/2014/main" id="{2FFD8517-4C49-EDC2-10D4-BF7808871AE9}"/>
                  </a:ext>
                </a:extLst>
              </p:cNvPr>
              <p:cNvPicPr/>
              <p:nvPr/>
            </p:nvPicPr>
            <p:blipFill>
              <a:blip r:embed="rId6"/>
              <a:stretch>
                <a:fillRect/>
              </a:stretch>
            </p:blipFill>
            <p:spPr>
              <a:xfrm>
                <a:off x="8693340" y="3999300"/>
                <a:ext cx="300600" cy="246960"/>
              </a:xfrm>
              <a:prstGeom prst="rect">
                <a:avLst/>
              </a:prstGeom>
            </p:spPr>
          </p:pic>
        </mc:Fallback>
      </mc:AlternateContent>
      <p:grpSp>
        <p:nvGrpSpPr>
          <p:cNvPr id="39" name="Group 38">
            <a:extLst>
              <a:ext uri="{FF2B5EF4-FFF2-40B4-BE49-F238E27FC236}">
                <a16:creationId xmlns:a16="http://schemas.microsoft.com/office/drawing/2014/main" id="{D6B73F20-1318-9D92-A77B-EE8FFDC5E136}"/>
              </a:ext>
            </a:extLst>
          </p:cNvPr>
          <p:cNvGrpSpPr/>
          <p:nvPr/>
        </p:nvGrpSpPr>
        <p:grpSpPr>
          <a:xfrm>
            <a:off x="5356860" y="4267140"/>
            <a:ext cx="3552120" cy="869400"/>
            <a:chOff x="5356860" y="4267140"/>
            <a:chExt cx="3552120" cy="869400"/>
          </a:xfrm>
        </p:grpSpPr>
        <mc:AlternateContent xmlns:mc="http://schemas.openxmlformats.org/markup-compatibility/2006">
          <mc:Choice xmlns:p14="http://schemas.microsoft.com/office/powerpoint/2010/main" Requires="p14">
            <p:contentPart p14:bwMode="auto" r:id="rId7">
              <p14:nvContentPartPr>
                <p14:cNvPr id="22" name="Ink 21">
                  <a:extLst>
                    <a:ext uri="{FF2B5EF4-FFF2-40B4-BE49-F238E27FC236}">
                      <a16:creationId xmlns:a16="http://schemas.microsoft.com/office/drawing/2014/main" id="{76355D1E-C4D7-EFAB-B216-178FB700CD13}"/>
                    </a:ext>
                  </a:extLst>
                </p14:cNvPr>
                <p14:cNvContentPartPr/>
                <p14:nvPr/>
              </p14:nvContentPartPr>
              <p14:xfrm>
                <a:off x="5356860" y="4268940"/>
                <a:ext cx="3459960" cy="867600"/>
              </p14:xfrm>
            </p:contentPart>
          </mc:Choice>
          <mc:Fallback>
            <p:pic>
              <p:nvPicPr>
                <p:cNvPr id="22" name="Ink 21">
                  <a:extLst>
                    <a:ext uri="{FF2B5EF4-FFF2-40B4-BE49-F238E27FC236}">
                      <a16:creationId xmlns:a16="http://schemas.microsoft.com/office/drawing/2014/main" id="{76355D1E-C4D7-EFAB-B216-178FB700CD13}"/>
                    </a:ext>
                  </a:extLst>
                </p:cNvPr>
                <p:cNvPicPr/>
                <p:nvPr/>
              </p:nvPicPr>
              <p:blipFill>
                <a:blip r:embed="rId8"/>
                <a:stretch>
                  <a:fillRect/>
                </a:stretch>
              </p:blipFill>
              <p:spPr>
                <a:xfrm>
                  <a:off x="5347860" y="4260300"/>
                  <a:ext cx="3477600" cy="885240"/>
                </a:xfrm>
                <a:prstGeom prst="rect">
                  <a:avLst/>
                </a:prstGeom>
              </p:spPr>
            </p:pic>
          </mc:Fallback>
        </mc:AlternateContent>
        <mc:AlternateContent xmlns:mc="http://schemas.openxmlformats.org/markup-compatibility/2006">
          <mc:Choice xmlns:p14="http://schemas.microsoft.com/office/powerpoint/2010/main" Requires="p14">
            <p:contentPart p14:bwMode="auto" r:id="rId9">
              <p14:nvContentPartPr>
                <p14:cNvPr id="23" name="Ink 22">
                  <a:extLst>
                    <a:ext uri="{FF2B5EF4-FFF2-40B4-BE49-F238E27FC236}">
                      <a16:creationId xmlns:a16="http://schemas.microsoft.com/office/drawing/2014/main" id="{B6F5E1FA-D3E5-1CFA-CC07-2F68F706A634}"/>
                    </a:ext>
                  </a:extLst>
                </p14:cNvPr>
                <p14:cNvContentPartPr/>
                <p14:nvPr/>
              </p14:nvContentPartPr>
              <p14:xfrm>
                <a:off x="8816100" y="4267140"/>
                <a:ext cx="92880" cy="74880"/>
              </p14:xfrm>
            </p:contentPart>
          </mc:Choice>
          <mc:Fallback>
            <p:pic>
              <p:nvPicPr>
                <p:cNvPr id="23" name="Ink 22">
                  <a:extLst>
                    <a:ext uri="{FF2B5EF4-FFF2-40B4-BE49-F238E27FC236}">
                      <a16:creationId xmlns:a16="http://schemas.microsoft.com/office/drawing/2014/main" id="{B6F5E1FA-D3E5-1CFA-CC07-2F68F706A634}"/>
                    </a:ext>
                  </a:extLst>
                </p:cNvPr>
                <p:cNvPicPr/>
                <p:nvPr/>
              </p:nvPicPr>
              <p:blipFill>
                <a:blip r:embed="rId10"/>
                <a:stretch>
                  <a:fillRect/>
                </a:stretch>
              </p:blipFill>
              <p:spPr>
                <a:xfrm>
                  <a:off x="8807100" y="4258140"/>
                  <a:ext cx="110520" cy="92520"/>
                </a:xfrm>
                <a:prstGeom prst="rect">
                  <a:avLst/>
                </a:prstGeom>
              </p:spPr>
            </p:pic>
          </mc:Fallback>
        </mc:AlternateContent>
      </p:grpSp>
      <mc:AlternateContent xmlns:mc="http://schemas.openxmlformats.org/markup-compatibility/2006">
        <mc:Choice xmlns:p14="http://schemas.microsoft.com/office/powerpoint/2010/main" Requires="p14">
          <p:contentPart p14:bwMode="auto" r:id="rId11">
            <p14:nvContentPartPr>
              <p14:cNvPr id="40" name="Ink 39">
                <a:extLst>
                  <a:ext uri="{FF2B5EF4-FFF2-40B4-BE49-F238E27FC236}">
                    <a16:creationId xmlns:a16="http://schemas.microsoft.com/office/drawing/2014/main" id="{BBC42835-145F-83D6-074F-045FD35E68B2}"/>
                  </a:ext>
                </a:extLst>
              </p14:cNvPr>
              <p14:cNvContentPartPr/>
              <p14:nvPr/>
            </p14:nvContentPartPr>
            <p14:xfrm>
              <a:off x="5359020" y="4808220"/>
              <a:ext cx="89640" cy="124920"/>
            </p14:xfrm>
          </p:contentPart>
        </mc:Choice>
        <mc:Fallback>
          <p:pic>
            <p:nvPicPr>
              <p:cNvPr id="40" name="Ink 39">
                <a:extLst>
                  <a:ext uri="{FF2B5EF4-FFF2-40B4-BE49-F238E27FC236}">
                    <a16:creationId xmlns:a16="http://schemas.microsoft.com/office/drawing/2014/main" id="{BBC42835-145F-83D6-074F-045FD35E68B2}"/>
                  </a:ext>
                </a:extLst>
              </p:cNvPr>
              <p:cNvPicPr/>
              <p:nvPr/>
            </p:nvPicPr>
            <p:blipFill>
              <a:blip r:embed="rId12"/>
              <a:stretch>
                <a:fillRect/>
              </a:stretch>
            </p:blipFill>
            <p:spPr>
              <a:xfrm>
                <a:off x="5350020" y="4799220"/>
                <a:ext cx="107280" cy="142560"/>
              </a:xfrm>
              <a:prstGeom prst="rect">
                <a:avLst/>
              </a:prstGeom>
            </p:spPr>
          </p:pic>
        </mc:Fallback>
      </mc:AlternateContent>
      <p:sp>
        <p:nvSpPr>
          <p:cNvPr id="41" name="Rectangle 40">
            <a:extLst>
              <a:ext uri="{FF2B5EF4-FFF2-40B4-BE49-F238E27FC236}">
                <a16:creationId xmlns:a16="http://schemas.microsoft.com/office/drawing/2014/main" id="{64192E08-B49C-DC78-07CF-6DA49B1C1F20}"/>
              </a:ext>
            </a:extLst>
          </p:cNvPr>
          <p:cNvSpPr/>
          <p:nvPr/>
        </p:nvSpPr>
        <p:spPr>
          <a:xfrm>
            <a:off x="3581400" y="3070860"/>
            <a:ext cx="8496300" cy="2552700"/>
          </a:xfrm>
          <a:prstGeom prst="rect">
            <a:avLst/>
          </a:prstGeom>
          <a:noFill/>
          <a:ln>
            <a:solidFill>
              <a:srgbClr val="AB51D6"/>
            </a:solidFill>
            <a:prstDash val="lg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n>
                <a:solidFill>
                  <a:srgbClr val="D81E00"/>
                </a:solidFill>
              </a:ln>
              <a:noFill/>
            </a:endParaRPr>
          </a:p>
        </p:txBody>
      </p:sp>
    </p:spTree>
    <p:extLst>
      <p:ext uri="{BB962C8B-B14F-4D97-AF65-F5344CB8AC3E}">
        <p14:creationId xmlns:p14="http://schemas.microsoft.com/office/powerpoint/2010/main" val="2648726226"/>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CF7F52E1-2035-07A6-A0F9-8BA7F13AEF7D}"/>
              </a:ext>
            </a:extLst>
          </p:cNvPr>
          <p:cNvSpPr>
            <a:spLocks noGrp="1"/>
          </p:cNvSpPr>
          <p:nvPr>
            <p:ph type="title"/>
          </p:nvPr>
        </p:nvSpPr>
        <p:spPr/>
        <p:txBody>
          <a:bodyPr/>
          <a:lstStyle/>
          <a:p>
            <a:r>
              <a:rPr lang="en-US" dirty="0">
                <a:solidFill>
                  <a:schemeClr val="accent2"/>
                </a:solidFill>
              </a:rPr>
              <a:t>contacts </a:t>
            </a:r>
            <a:r>
              <a:rPr lang="en-US" dirty="0"/>
              <a:t>table</a:t>
            </a:r>
          </a:p>
        </p:txBody>
      </p:sp>
      <p:sp>
        <p:nvSpPr>
          <p:cNvPr id="5" name="Text Placeholder 4">
            <a:extLst>
              <a:ext uri="{FF2B5EF4-FFF2-40B4-BE49-F238E27FC236}">
                <a16:creationId xmlns:a16="http://schemas.microsoft.com/office/drawing/2014/main" id="{45BCF8EB-D944-5492-4A28-E9A1F00A56CD}"/>
              </a:ext>
            </a:extLst>
          </p:cNvPr>
          <p:cNvSpPr>
            <a:spLocks noGrp="1"/>
          </p:cNvSpPr>
          <p:nvPr>
            <p:ph type="body" idx="1"/>
          </p:nvPr>
        </p:nvSpPr>
        <p:spPr/>
        <p:txBody>
          <a:bodyPr/>
          <a:lstStyle/>
          <a:p>
            <a:endParaRPr lang="en-US"/>
          </a:p>
        </p:txBody>
      </p:sp>
    </p:spTree>
    <p:extLst>
      <p:ext uri="{BB962C8B-B14F-4D97-AF65-F5344CB8AC3E}">
        <p14:creationId xmlns:p14="http://schemas.microsoft.com/office/powerpoint/2010/main" val="2568376622"/>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Picture 8" descr="A computer screen capture&#10;&#10;Description automatically generated with medium confidence">
            <a:extLst>
              <a:ext uri="{FF2B5EF4-FFF2-40B4-BE49-F238E27FC236}">
                <a16:creationId xmlns:a16="http://schemas.microsoft.com/office/drawing/2014/main" id="{F96E0123-87E5-45F8-BC29-65BF01750590}"/>
              </a:ext>
            </a:extLst>
          </p:cNvPr>
          <p:cNvPicPr>
            <a:picLocks noChangeAspect="1"/>
          </p:cNvPicPr>
          <p:nvPr/>
        </p:nvPicPr>
        <p:blipFill>
          <a:blip r:embed="rId2"/>
          <a:stretch>
            <a:fillRect/>
          </a:stretch>
        </p:blipFill>
        <p:spPr>
          <a:xfrm>
            <a:off x="734865" y="2648054"/>
            <a:ext cx="10722269" cy="2956816"/>
          </a:xfrm>
          <a:prstGeom prst="rect">
            <a:avLst/>
          </a:prstGeom>
        </p:spPr>
      </p:pic>
      <p:cxnSp>
        <p:nvCxnSpPr>
          <p:cNvPr id="12" name="Straight Arrow Connector 11">
            <a:extLst>
              <a:ext uri="{FF2B5EF4-FFF2-40B4-BE49-F238E27FC236}">
                <a16:creationId xmlns:a16="http://schemas.microsoft.com/office/drawing/2014/main" id="{662E2137-7BB7-4510-92DC-6C8A26107114}"/>
              </a:ext>
            </a:extLst>
          </p:cNvPr>
          <p:cNvCxnSpPr/>
          <p:nvPr/>
        </p:nvCxnSpPr>
        <p:spPr>
          <a:xfrm>
            <a:off x="10218239" y="2419454"/>
            <a:ext cx="417095" cy="457200"/>
          </a:xfrm>
          <a:prstGeom prst="straightConnector1">
            <a:avLst/>
          </a:prstGeom>
          <a:ln w="57150">
            <a:solidFill>
              <a:srgbClr val="FF0000"/>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mc:Choice xmlns:p14="http://schemas.microsoft.com/office/powerpoint/2010/main" Requires="p14">
          <p:contentPart p14:bwMode="auto" r:id="rId3">
            <p14:nvContentPartPr>
              <p14:cNvPr id="14" name="Ink 13">
                <a:extLst>
                  <a:ext uri="{FF2B5EF4-FFF2-40B4-BE49-F238E27FC236}">
                    <a16:creationId xmlns:a16="http://schemas.microsoft.com/office/drawing/2014/main" id="{6F6D13EF-0CA8-4047-7CC4-F2A87D6399B6}"/>
                  </a:ext>
                </a:extLst>
              </p14:cNvPr>
              <p14:cNvContentPartPr/>
              <p14:nvPr/>
            </p14:nvContentPartPr>
            <p14:xfrm>
              <a:off x="2038172" y="3449182"/>
              <a:ext cx="222840" cy="183600"/>
            </p14:xfrm>
          </p:contentPart>
        </mc:Choice>
        <mc:Fallback>
          <p:pic>
            <p:nvPicPr>
              <p:cNvPr id="14" name="Ink 13">
                <a:extLst>
                  <a:ext uri="{FF2B5EF4-FFF2-40B4-BE49-F238E27FC236}">
                    <a16:creationId xmlns:a16="http://schemas.microsoft.com/office/drawing/2014/main" id="{6F6D13EF-0CA8-4047-7CC4-F2A87D6399B6}"/>
                  </a:ext>
                </a:extLst>
              </p:cNvPr>
              <p:cNvPicPr/>
              <p:nvPr/>
            </p:nvPicPr>
            <p:blipFill>
              <a:blip r:embed="rId4"/>
              <a:stretch>
                <a:fillRect/>
              </a:stretch>
            </p:blipFill>
            <p:spPr>
              <a:xfrm>
                <a:off x="2029172" y="3440182"/>
                <a:ext cx="240480" cy="201240"/>
              </a:xfrm>
              <a:prstGeom prst="rect">
                <a:avLst/>
              </a:prstGeom>
            </p:spPr>
          </p:pic>
        </mc:Fallback>
      </mc:AlternateContent>
      <mc:AlternateContent xmlns:mc="http://schemas.openxmlformats.org/markup-compatibility/2006">
        <mc:Choice xmlns:p14="http://schemas.microsoft.com/office/powerpoint/2010/main" Requires="p14">
          <p:contentPart p14:bwMode="auto" r:id="rId5">
            <p14:nvContentPartPr>
              <p14:cNvPr id="17" name="Ink 16">
                <a:extLst>
                  <a:ext uri="{FF2B5EF4-FFF2-40B4-BE49-F238E27FC236}">
                    <a16:creationId xmlns:a16="http://schemas.microsoft.com/office/drawing/2014/main" id="{279A0A2D-0E8A-16C5-9AFF-160FD63F79E5}"/>
                  </a:ext>
                </a:extLst>
              </p14:cNvPr>
              <p14:cNvContentPartPr/>
              <p14:nvPr/>
            </p14:nvContentPartPr>
            <p14:xfrm>
              <a:off x="1980212" y="4126462"/>
              <a:ext cx="240840" cy="396360"/>
            </p14:xfrm>
          </p:contentPart>
        </mc:Choice>
        <mc:Fallback>
          <p:pic>
            <p:nvPicPr>
              <p:cNvPr id="17" name="Ink 16">
                <a:extLst>
                  <a:ext uri="{FF2B5EF4-FFF2-40B4-BE49-F238E27FC236}">
                    <a16:creationId xmlns:a16="http://schemas.microsoft.com/office/drawing/2014/main" id="{279A0A2D-0E8A-16C5-9AFF-160FD63F79E5}"/>
                  </a:ext>
                </a:extLst>
              </p:cNvPr>
              <p:cNvPicPr/>
              <p:nvPr/>
            </p:nvPicPr>
            <p:blipFill>
              <a:blip r:embed="rId6"/>
              <a:stretch>
                <a:fillRect/>
              </a:stretch>
            </p:blipFill>
            <p:spPr>
              <a:xfrm>
                <a:off x="1971212" y="4117462"/>
                <a:ext cx="258480" cy="414000"/>
              </a:xfrm>
              <a:prstGeom prst="rect">
                <a:avLst/>
              </a:prstGeom>
            </p:spPr>
          </p:pic>
        </mc:Fallback>
      </mc:AlternateContent>
      <p:sp>
        <p:nvSpPr>
          <p:cNvPr id="3" name="Title 2">
            <a:extLst>
              <a:ext uri="{FF2B5EF4-FFF2-40B4-BE49-F238E27FC236}">
                <a16:creationId xmlns:a16="http://schemas.microsoft.com/office/drawing/2014/main" id="{09C6B47A-8C8B-3EA1-6F8A-DFF362FC6CF2}"/>
              </a:ext>
            </a:extLst>
          </p:cNvPr>
          <p:cNvSpPr>
            <a:spLocks noGrp="1"/>
          </p:cNvSpPr>
          <p:nvPr>
            <p:ph type="title"/>
          </p:nvPr>
        </p:nvSpPr>
        <p:spPr/>
        <p:txBody>
          <a:bodyPr/>
          <a:lstStyle/>
          <a:p>
            <a:r>
              <a:rPr lang="en-GB" dirty="0"/>
              <a:t>Aggregation: Many Raw Contacts, One Person</a:t>
            </a:r>
            <a:endParaRPr lang="en-US" dirty="0"/>
          </a:p>
        </p:txBody>
      </p:sp>
      <p:sp>
        <p:nvSpPr>
          <p:cNvPr id="24" name="TextBox 23">
            <a:extLst>
              <a:ext uri="{FF2B5EF4-FFF2-40B4-BE49-F238E27FC236}">
                <a16:creationId xmlns:a16="http://schemas.microsoft.com/office/drawing/2014/main" id="{6CB4E373-1C54-A997-6E42-242014874448}"/>
              </a:ext>
            </a:extLst>
          </p:cNvPr>
          <p:cNvSpPr txBox="1"/>
          <p:nvPr/>
        </p:nvSpPr>
        <p:spPr>
          <a:xfrm>
            <a:off x="3618655" y="1531975"/>
            <a:ext cx="7771529" cy="874931"/>
          </a:xfrm>
          <a:prstGeom prst="rect">
            <a:avLst/>
          </a:prstGeom>
          <a:solidFill>
            <a:schemeClr val="accent4">
              <a:lumMod val="20000"/>
              <a:lumOff val="80000"/>
            </a:schemeClr>
          </a:solidFill>
        </p:spPr>
        <p:txBody>
          <a:bodyPr wrap="square">
            <a:normAutofit fontScale="92500"/>
          </a:bodyPr>
          <a:lstStyle/>
          <a:p>
            <a:pPr marL="171450" indent="-171450">
              <a:buFont typeface="Arial" panose="020B0604020202020204" pitchFamily="34" charset="0"/>
              <a:buChar char="•"/>
              <a:defRPr sz="2100">
                <a:latin typeface="Arial"/>
              </a:defRPr>
            </a:pPr>
            <a:r>
              <a:rPr sz="1200" dirty="0"/>
              <a:t>Android may merge several raw contact records into one unified contact.</a:t>
            </a:r>
          </a:p>
          <a:p>
            <a:pPr marL="171450" indent="-171450">
              <a:buFont typeface="Arial" panose="020B0604020202020204" pitchFamily="34" charset="0"/>
              <a:buChar char="•"/>
              <a:defRPr sz="2100">
                <a:latin typeface="Arial"/>
              </a:defRPr>
            </a:pPr>
            <a:r>
              <a:rPr sz="1200" dirty="0"/>
              <a:t>Example: ten </a:t>
            </a:r>
            <a:r>
              <a:rPr sz="1200" dirty="0" err="1"/>
              <a:t>raw_contacts</a:t>
            </a:r>
            <a:r>
              <a:rPr sz="1200" dirty="0"/>
              <a:t> rows may point to the same </a:t>
            </a:r>
            <a:r>
              <a:rPr sz="1200" dirty="0" err="1"/>
              <a:t>contacts._id</a:t>
            </a:r>
            <a:r>
              <a:rPr sz="1200" dirty="0"/>
              <a:t>.</a:t>
            </a:r>
          </a:p>
          <a:p>
            <a:pPr marL="171450" indent="-171450">
              <a:buFont typeface="Arial" panose="020B0604020202020204" pitchFamily="34" charset="0"/>
              <a:buChar char="•"/>
              <a:defRPr sz="2100">
                <a:latin typeface="Arial"/>
              </a:defRPr>
            </a:pPr>
            <a:r>
              <a:rPr sz="1200" dirty="0"/>
              <a:t>This does not mean ten different people; it may mean one person represented across multiple accounts or records.</a:t>
            </a:r>
          </a:p>
          <a:p>
            <a:pPr marL="171450" indent="-171450">
              <a:buFont typeface="Arial" panose="020B0604020202020204" pitchFamily="34" charset="0"/>
              <a:buChar char="•"/>
              <a:defRPr sz="2100">
                <a:latin typeface="Arial"/>
              </a:defRPr>
            </a:pPr>
            <a:r>
              <a:rPr sz="1200" dirty="0"/>
              <a:t>Forensics: report both the raw source records and the unified contact interpretation.</a:t>
            </a:r>
          </a:p>
        </p:txBody>
      </p:sp>
      <p:sp>
        <p:nvSpPr>
          <p:cNvPr id="2" name="TextBox 1">
            <a:extLst>
              <a:ext uri="{FF2B5EF4-FFF2-40B4-BE49-F238E27FC236}">
                <a16:creationId xmlns:a16="http://schemas.microsoft.com/office/drawing/2014/main" id="{7F51A30F-9DDF-B5F3-1CEB-239097812494}"/>
              </a:ext>
            </a:extLst>
          </p:cNvPr>
          <p:cNvSpPr txBox="1"/>
          <p:nvPr/>
        </p:nvSpPr>
        <p:spPr>
          <a:xfrm>
            <a:off x="734865" y="5791200"/>
            <a:ext cx="10629833" cy="369332"/>
          </a:xfrm>
          <a:prstGeom prst="rect">
            <a:avLst/>
          </a:prstGeom>
          <a:noFill/>
        </p:spPr>
        <p:txBody>
          <a:bodyPr wrap="none" rtlCol="0">
            <a:spAutoFit/>
          </a:bodyPr>
          <a:lstStyle/>
          <a:p>
            <a:r>
              <a:rPr lang="en-US" dirty="0">
                <a:solidFill>
                  <a:srgbClr val="FF0000"/>
                </a:solidFill>
              </a:rPr>
              <a:t>Conclusion</a:t>
            </a:r>
            <a:r>
              <a:rPr lang="en-US" dirty="0"/>
              <a:t>: There are </a:t>
            </a:r>
            <a:r>
              <a:rPr lang="en-US" dirty="0">
                <a:solidFill>
                  <a:srgbClr val="FF0000"/>
                </a:solidFill>
              </a:rPr>
              <a:t>10</a:t>
            </a:r>
            <a:r>
              <a:rPr lang="en-US" dirty="0"/>
              <a:t> raw contacts, but the system believes that </a:t>
            </a:r>
            <a:r>
              <a:rPr lang="en-US" dirty="0">
                <a:solidFill>
                  <a:srgbClr val="FF0000"/>
                </a:solidFill>
              </a:rPr>
              <a:t>one</a:t>
            </a:r>
            <a:r>
              <a:rPr lang="en-US" dirty="0"/>
              <a:t> person (id=</a:t>
            </a:r>
            <a:r>
              <a:rPr lang="en-US" dirty="0">
                <a:solidFill>
                  <a:schemeClr val="accent6"/>
                </a:solidFill>
              </a:rPr>
              <a:t>10</a:t>
            </a:r>
            <a:r>
              <a:rPr lang="en-US" dirty="0"/>
              <a:t>) created 10 raw contacts</a:t>
            </a:r>
          </a:p>
        </p:txBody>
      </p:sp>
    </p:spTree>
    <p:extLst>
      <p:ext uri="{BB962C8B-B14F-4D97-AF65-F5344CB8AC3E}">
        <p14:creationId xmlns:p14="http://schemas.microsoft.com/office/powerpoint/2010/main" val="838189211"/>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6" name="Picture 16">
            <a:extLst>
              <a:ext uri="{FF2B5EF4-FFF2-40B4-BE49-F238E27FC236}">
                <a16:creationId xmlns:a16="http://schemas.microsoft.com/office/drawing/2014/main" id="{B846D504-0365-4A56-8893-96AEBE2675F0}"/>
              </a:ext>
            </a:extLst>
          </p:cNvPr>
          <p:cNvPicPr>
            <a:picLocks noChangeAspect="1"/>
          </p:cNvPicPr>
          <p:nvPr/>
        </p:nvPicPr>
        <p:blipFill>
          <a:blip r:embed="rId3"/>
          <a:stretch>
            <a:fillRect/>
          </a:stretch>
        </p:blipFill>
        <p:spPr>
          <a:xfrm>
            <a:off x="4560237" y="412017"/>
            <a:ext cx="6472455" cy="6033965"/>
          </a:xfrm>
          <a:prstGeom prst="rect">
            <a:avLst/>
          </a:prstGeom>
        </p:spPr>
      </p:pic>
      <p:sp>
        <p:nvSpPr>
          <p:cNvPr id="17" name="Rectangle 16">
            <a:extLst>
              <a:ext uri="{FF2B5EF4-FFF2-40B4-BE49-F238E27FC236}">
                <a16:creationId xmlns:a16="http://schemas.microsoft.com/office/drawing/2014/main" id="{F15EAB34-EE8B-4817-AB64-0B5220272023}"/>
              </a:ext>
            </a:extLst>
          </p:cNvPr>
          <p:cNvSpPr/>
          <p:nvPr/>
        </p:nvSpPr>
        <p:spPr>
          <a:xfrm>
            <a:off x="5365014" y="2309528"/>
            <a:ext cx="730986" cy="179830"/>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9FB494A6-D6F6-4CBA-8B2F-3632A1964DA1}"/>
              </a:ext>
            </a:extLst>
          </p:cNvPr>
          <p:cNvSpPr/>
          <p:nvPr/>
        </p:nvSpPr>
        <p:spPr>
          <a:xfrm>
            <a:off x="5440051" y="3579598"/>
            <a:ext cx="521369" cy="173790"/>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Rectangle 21">
            <a:extLst>
              <a:ext uri="{FF2B5EF4-FFF2-40B4-BE49-F238E27FC236}">
                <a16:creationId xmlns:a16="http://schemas.microsoft.com/office/drawing/2014/main" id="{F87CF61B-E053-42D9-9DC8-E3245CB3F4B4}"/>
              </a:ext>
            </a:extLst>
          </p:cNvPr>
          <p:cNvSpPr/>
          <p:nvPr/>
        </p:nvSpPr>
        <p:spPr>
          <a:xfrm flipV="1">
            <a:off x="5353787" y="6161099"/>
            <a:ext cx="1087653" cy="173790"/>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AA477BDE-DFDB-424A-A89B-966B1A677AC9}"/>
              </a:ext>
            </a:extLst>
          </p:cNvPr>
          <p:cNvSpPr txBox="1"/>
          <p:nvPr/>
        </p:nvSpPr>
        <p:spPr>
          <a:xfrm>
            <a:off x="835283" y="1583595"/>
            <a:ext cx="2473101" cy="830997"/>
          </a:xfrm>
          <a:prstGeom prst="rect">
            <a:avLst/>
          </a:prstGeom>
          <a:solidFill>
            <a:schemeClr val="accent4">
              <a:lumMod val="20000"/>
              <a:lumOff val="80000"/>
            </a:schemeClr>
          </a:solidFill>
        </p:spPr>
        <p:txBody>
          <a:bodyPr wrap="square">
            <a:spAutoFit/>
          </a:bodyPr>
          <a:lstStyle/>
          <a:p>
            <a:r>
              <a:rPr lang="en-US" sz="1600"/>
              <a:t>metadata of each contacts info, e.g., times contacted, last time contacted</a:t>
            </a:r>
          </a:p>
        </p:txBody>
      </p:sp>
      <p:cxnSp>
        <p:nvCxnSpPr>
          <p:cNvPr id="13" name="Straight Arrow Connector 12">
            <a:extLst>
              <a:ext uri="{FF2B5EF4-FFF2-40B4-BE49-F238E27FC236}">
                <a16:creationId xmlns:a16="http://schemas.microsoft.com/office/drawing/2014/main" id="{1E6E512E-4565-495A-9A52-69F5199F5EE8}"/>
              </a:ext>
            </a:extLst>
          </p:cNvPr>
          <p:cNvCxnSpPr>
            <a:cxnSpLocks/>
            <a:stCxn id="12" idx="3"/>
            <a:endCxn id="17" idx="1"/>
          </p:cNvCxnSpPr>
          <p:nvPr/>
        </p:nvCxnSpPr>
        <p:spPr>
          <a:xfrm>
            <a:off x="3308384" y="1999094"/>
            <a:ext cx="2056630" cy="400349"/>
          </a:xfrm>
          <a:prstGeom prst="straightConnector1">
            <a:avLst/>
          </a:prstGeom>
          <a:ln>
            <a:tailEnd type="triangle"/>
          </a:ln>
        </p:spPr>
        <p:style>
          <a:lnRef idx="1">
            <a:schemeClr val="accent2"/>
          </a:lnRef>
          <a:fillRef idx="0">
            <a:schemeClr val="accent2"/>
          </a:fillRef>
          <a:effectRef idx="0">
            <a:schemeClr val="accent2"/>
          </a:effectRef>
          <a:fontRef idx="minor">
            <a:schemeClr val="tx1"/>
          </a:fontRef>
        </p:style>
      </p:cxnSp>
      <p:sp>
        <p:nvSpPr>
          <p:cNvPr id="25" name="TextBox 24">
            <a:extLst>
              <a:ext uri="{FF2B5EF4-FFF2-40B4-BE49-F238E27FC236}">
                <a16:creationId xmlns:a16="http://schemas.microsoft.com/office/drawing/2014/main" id="{B86D2D12-3525-4192-84F4-2153ACDA45A9}"/>
              </a:ext>
            </a:extLst>
          </p:cNvPr>
          <p:cNvSpPr txBox="1"/>
          <p:nvPr/>
        </p:nvSpPr>
        <p:spPr>
          <a:xfrm>
            <a:off x="870474" y="3250995"/>
            <a:ext cx="2246396" cy="830997"/>
          </a:xfrm>
          <a:prstGeom prst="rect">
            <a:avLst/>
          </a:prstGeom>
          <a:solidFill>
            <a:schemeClr val="accent4">
              <a:lumMod val="20000"/>
              <a:lumOff val="80000"/>
            </a:schemeClr>
          </a:solidFill>
        </p:spPr>
        <p:txBody>
          <a:bodyPr wrap="square">
            <a:spAutoFit/>
          </a:bodyPr>
          <a:lstStyle/>
          <a:p>
            <a:r>
              <a:rPr lang="en-US" sz="1600"/>
              <a:t>contact group information, e.g., family, friends</a:t>
            </a:r>
          </a:p>
        </p:txBody>
      </p:sp>
      <p:cxnSp>
        <p:nvCxnSpPr>
          <p:cNvPr id="26" name="Straight Arrow Connector 25">
            <a:extLst>
              <a:ext uri="{FF2B5EF4-FFF2-40B4-BE49-F238E27FC236}">
                <a16:creationId xmlns:a16="http://schemas.microsoft.com/office/drawing/2014/main" id="{7D681489-DDAC-455B-9021-650FA725D2D9}"/>
              </a:ext>
            </a:extLst>
          </p:cNvPr>
          <p:cNvCxnSpPr>
            <a:cxnSpLocks/>
            <a:stCxn id="25" idx="3"/>
            <a:endCxn id="20" idx="1"/>
          </p:cNvCxnSpPr>
          <p:nvPr/>
        </p:nvCxnSpPr>
        <p:spPr>
          <a:xfrm flipV="1">
            <a:off x="3116870" y="3666493"/>
            <a:ext cx="2323181" cy="1"/>
          </a:xfrm>
          <a:prstGeom prst="straightConnector1">
            <a:avLst/>
          </a:prstGeom>
          <a:ln>
            <a:tailEnd type="triangle"/>
          </a:ln>
        </p:spPr>
        <p:style>
          <a:lnRef idx="1">
            <a:schemeClr val="accent2"/>
          </a:lnRef>
          <a:fillRef idx="0">
            <a:schemeClr val="accent2"/>
          </a:fillRef>
          <a:effectRef idx="0">
            <a:schemeClr val="accent2"/>
          </a:effectRef>
          <a:fontRef idx="minor">
            <a:schemeClr val="tx1"/>
          </a:fontRef>
        </p:style>
      </p:cxnSp>
      <p:sp>
        <p:nvSpPr>
          <p:cNvPr id="27" name="Rectangle 26">
            <a:extLst>
              <a:ext uri="{FF2B5EF4-FFF2-40B4-BE49-F238E27FC236}">
                <a16:creationId xmlns:a16="http://schemas.microsoft.com/office/drawing/2014/main" id="{7263A828-1D5D-495A-AEC2-638A0EC92E71}"/>
              </a:ext>
            </a:extLst>
          </p:cNvPr>
          <p:cNvSpPr/>
          <p:nvPr/>
        </p:nvSpPr>
        <p:spPr>
          <a:xfrm>
            <a:off x="5383196" y="2522888"/>
            <a:ext cx="534737" cy="160422"/>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TextBox 27">
            <a:extLst>
              <a:ext uri="{FF2B5EF4-FFF2-40B4-BE49-F238E27FC236}">
                <a16:creationId xmlns:a16="http://schemas.microsoft.com/office/drawing/2014/main" id="{D698E735-FD65-4C50-82CD-3FF6868481CB}"/>
              </a:ext>
            </a:extLst>
          </p:cNvPr>
          <p:cNvSpPr txBox="1"/>
          <p:nvPr/>
        </p:nvSpPr>
        <p:spPr>
          <a:xfrm>
            <a:off x="837122" y="2616313"/>
            <a:ext cx="2463240" cy="584775"/>
          </a:xfrm>
          <a:prstGeom prst="rect">
            <a:avLst/>
          </a:prstGeom>
          <a:solidFill>
            <a:schemeClr val="accent4">
              <a:lumMod val="20000"/>
              <a:lumOff val="80000"/>
            </a:schemeClr>
          </a:solidFill>
        </p:spPr>
        <p:txBody>
          <a:bodyPr wrap="square">
            <a:spAutoFit/>
          </a:bodyPr>
          <a:lstStyle/>
          <a:p>
            <a:pPr marL="285750" indent="-285750">
              <a:buFont typeface="Arial" panose="020B0604020202020204" pitchFamily="34" charset="0"/>
              <a:buChar char="•"/>
            </a:pPr>
            <a:r>
              <a:rPr lang="en-US" sz="1600" dirty="0"/>
              <a:t>contacts info</a:t>
            </a:r>
          </a:p>
          <a:p>
            <a:pPr marL="285750" indent="-285750">
              <a:buFont typeface="Arial" panose="020B0604020202020204" pitchFamily="34" charset="0"/>
              <a:buChar char="•"/>
            </a:pPr>
            <a:r>
              <a:rPr lang="en-US" sz="1600" dirty="0"/>
              <a:t>fields of contacts</a:t>
            </a:r>
          </a:p>
        </p:txBody>
      </p:sp>
      <p:cxnSp>
        <p:nvCxnSpPr>
          <p:cNvPr id="29" name="Straight Arrow Connector 28">
            <a:extLst>
              <a:ext uri="{FF2B5EF4-FFF2-40B4-BE49-F238E27FC236}">
                <a16:creationId xmlns:a16="http://schemas.microsoft.com/office/drawing/2014/main" id="{7C87B5EC-4697-4B95-B74F-BAFAD843C411}"/>
              </a:ext>
            </a:extLst>
          </p:cNvPr>
          <p:cNvCxnSpPr>
            <a:cxnSpLocks/>
            <a:stCxn id="28" idx="3"/>
            <a:endCxn id="27" idx="1"/>
          </p:cNvCxnSpPr>
          <p:nvPr/>
        </p:nvCxnSpPr>
        <p:spPr>
          <a:xfrm flipV="1">
            <a:off x="3300362" y="2603099"/>
            <a:ext cx="2082834" cy="305602"/>
          </a:xfrm>
          <a:prstGeom prst="straightConnector1">
            <a:avLst/>
          </a:prstGeom>
          <a:ln>
            <a:tailEnd type="triangle"/>
          </a:ln>
        </p:spPr>
        <p:style>
          <a:lnRef idx="1">
            <a:schemeClr val="accent2"/>
          </a:lnRef>
          <a:fillRef idx="0">
            <a:schemeClr val="accent2"/>
          </a:fillRef>
          <a:effectRef idx="0">
            <a:schemeClr val="accent2"/>
          </a:effectRef>
          <a:fontRef idx="minor">
            <a:schemeClr val="tx1"/>
          </a:fontRef>
        </p:style>
      </p:cxnSp>
      <p:sp>
        <p:nvSpPr>
          <p:cNvPr id="30" name="TextBox 29">
            <a:extLst>
              <a:ext uri="{FF2B5EF4-FFF2-40B4-BE49-F238E27FC236}">
                <a16:creationId xmlns:a16="http://schemas.microsoft.com/office/drawing/2014/main" id="{B9EC2D7C-5B0D-488D-8FB8-D2E674D24633}"/>
              </a:ext>
            </a:extLst>
          </p:cNvPr>
          <p:cNvSpPr txBox="1"/>
          <p:nvPr/>
        </p:nvSpPr>
        <p:spPr>
          <a:xfrm>
            <a:off x="837122" y="4348752"/>
            <a:ext cx="3021539" cy="830997"/>
          </a:xfrm>
          <a:prstGeom prst="rect">
            <a:avLst/>
          </a:prstGeom>
          <a:solidFill>
            <a:schemeClr val="accent4">
              <a:lumMod val="20000"/>
              <a:lumOff val="80000"/>
            </a:schemeClr>
          </a:solidFill>
        </p:spPr>
        <p:txBody>
          <a:bodyPr wrap="square">
            <a:spAutoFit/>
          </a:bodyPr>
          <a:lstStyle/>
          <a:p>
            <a:r>
              <a:rPr lang="en-US" sz="1600" dirty="0"/>
              <a:t>raw data is unprocessed data, which contains contacts from difference accounts</a:t>
            </a:r>
          </a:p>
        </p:txBody>
      </p:sp>
      <p:cxnSp>
        <p:nvCxnSpPr>
          <p:cNvPr id="31" name="Straight Arrow Connector 30">
            <a:extLst>
              <a:ext uri="{FF2B5EF4-FFF2-40B4-BE49-F238E27FC236}">
                <a16:creationId xmlns:a16="http://schemas.microsoft.com/office/drawing/2014/main" id="{E5339916-B664-438B-813C-887287F9CB27}"/>
              </a:ext>
            </a:extLst>
          </p:cNvPr>
          <p:cNvCxnSpPr>
            <a:cxnSpLocks/>
            <a:stCxn id="30" idx="3"/>
          </p:cNvCxnSpPr>
          <p:nvPr/>
        </p:nvCxnSpPr>
        <p:spPr>
          <a:xfrm>
            <a:off x="3858661" y="4764251"/>
            <a:ext cx="1495126" cy="1396848"/>
          </a:xfrm>
          <a:prstGeom prst="straightConnector1">
            <a:avLst/>
          </a:prstGeom>
          <a:ln>
            <a:tailEnd type="triangle"/>
          </a:ln>
        </p:spPr>
        <p:style>
          <a:lnRef idx="1">
            <a:schemeClr val="accent2"/>
          </a:lnRef>
          <a:fillRef idx="0">
            <a:schemeClr val="accent2"/>
          </a:fillRef>
          <a:effectRef idx="0">
            <a:schemeClr val="accent2"/>
          </a:effectRef>
          <a:fontRef idx="minor">
            <a:schemeClr val="tx1"/>
          </a:fontRef>
        </p:style>
      </p:cxnSp>
      <p:sp>
        <p:nvSpPr>
          <p:cNvPr id="18" name="Rectangle 17">
            <a:extLst>
              <a:ext uri="{FF2B5EF4-FFF2-40B4-BE49-F238E27FC236}">
                <a16:creationId xmlns:a16="http://schemas.microsoft.com/office/drawing/2014/main" id="{96847A99-A071-432F-9F68-47D9BC9DEC8F}"/>
              </a:ext>
            </a:extLst>
          </p:cNvPr>
          <p:cNvSpPr/>
          <p:nvPr/>
        </p:nvSpPr>
        <p:spPr>
          <a:xfrm>
            <a:off x="5343591" y="4243040"/>
            <a:ext cx="1087653" cy="173790"/>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9" name="Straight Arrow Connector 18">
            <a:extLst>
              <a:ext uri="{FF2B5EF4-FFF2-40B4-BE49-F238E27FC236}">
                <a16:creationId xmlns:a16="http://schemas.microsoft.com/office/drawing/2014/main" id="{389C8237-C232-436E-A6E7-B2D0CBDF2903}"/>
              </a:ext>
            </a:extLst>
          </p:cNvPr>
          <p:cNvCxnSpPr>
            <a:cxnSpLocks/>
            <a:stCxn id="28" idx="3"/>
            <a:endCxn id="18" idx="1"/>
          </p:cNvCxnSpPr>
          <p:nvPr/>
        </p:nvCxnSpPr>
        <p:spPr>
          <a:xfrm>
            <a:off x="3300362" y="2908701"/>
            <a:ext cx="2043229" cy="1421234"/>
          </a:xfrm>
          <a:prstGeom prst="straightConnector1">
            <a:avLst/>
          </a:prstGeom>
          <a:ln>
            <a:tailEnd type="triangle"/>
          </a:ln>
        </p:spPr>
        <p:style>
          <a:lnRef idx="1">
            <a:schemeClr val="accent2"/>
          </a:lnRef>
          <a:fillRef idx="0">
            <a:schemeClr val="accent2"/>
          </a:fillRef>
          <a:effectRef idx="0">
            <a:schemeClr val="accent2"/>
          </a:effectRef>
          <a:fontRef idx="minor">
            <a:schemeClr val="tx1"/>
          </a:fontRef>
        </p:style>
      </p:cxnSp>
    </p:spTree>
    <p:extLst>
      <p:ext uri="{BB962C8B-B14F-4D97-AF65-F5344CB8AC3E}">
        <p14:creationId xmlns:p14="http://schemas.microsoft.com/office/powerpoint/2010/main" val="817345557"/>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3D632C71-4760-8016-FA9B-BC47348D2B38}"/>
              </a:ext>
            </a:extLst>
          </p:cNvPr>
          <p:cNvPicPr>
            <a:picLocks noChangeAspect="1"/>
          </p:cNvPicPr>
          <p:nvPr/>
        </p:nvPicPr>
        <p:blipFill>
          <a:blip r:embed="rId3"/>
          <a:stretch>
            <a:fillRect/>
          </a:stretch>
        </p:blipFill>
        <p:spPr>
          <a:xfrm>
            <a:off x="277483" y="1619885"/>
            <a:ext cx="4114931" cy="3066415"/>
          </a:xfrm>
          <a:prstGeom prst="rect">
            <a:avLst/>
          </a:prstGeom>
        </p:spPr>
      </p:pic>
      <p:graphicFrame>
        <p:nvGraphicFramePr>
          <p:cNvPr id="7" name="Table 6">
            <a:extLst>
              <a:ext uri="{FF2B5EF4-FFF2-40B4-BE49-F238E27FC236}">
                <a16:creationId xmlns:a16="http://schemas.microsoft.com/office/drawing/2014/main" id="{63AA41E0-9995-479C-CA8A-ACFC2F2E6138}"/>
              </a:ext>
            </a:extLst>
          </p:cNvPr>
          <p:cNvGraphicFramePr>
            <a:graphicFrameLocks noGrp="1"/>
          </p:cNvGraphicFramePr>
          <p:nvPr>
            <p:extLst>
              <p:ext uri="{D42A27DB-BD31-4B8C-83A1-F6EECF244321}">
                <p14:modId xmlns:p14="http://schemas.microsoft.com/office/powerpoint/2010/main" val="1155183136"/>
              </p:ext>
            </p:extLst>
          </p:nvPr>
        </p:nvGraphicFramePr>
        <p:xfrm>
          <a:off x="4472940" y="842803"/>
          <a:ext cx="7543799" cy="4794908"/>
        </p:xfrm>
        <a:graphic>
          <a:graphicData uri="http://schemas.openxmlformats.org/drawingml/2006/table">
            <a:tbl>
              <a:tblPr>
                <a:tableStyleId>{5940675A-B579-460E-94D1-54222C63F5DA}</a:tableStyleId>
              </a:tblPr>
              <a:tblGrid>
                <a:gridCol w="1956130">
                  <a:extLst>
                    <a:ext uri="{9D8B030D-6E8A-4147-A177-3AD203B41FA5}">
                      <a16:colId xmlns:a16="http://schemas.microsoft.com/office/drawing/2014/main" val="3789534106"/>
                    </a:ext>
                  </a:extLst>
                </a:gridCol>
                <a:gridCol w="840410">
                  <a:extLst>
                    <a:ext uri="{9D8B030D-6E8A-4147-A177-3AD203B41FA5}">
                      <a16:colId xmlns:a16="http://schemas.microsoft.com/office/drawing/2014/main" val="860321829"/>
                    </a:ext>
                  </a:extLst>
                </a:gridCol>
                <a:gridCol w="4747259">
                  <a:extLst>
                    <a:ext uri="{9D8B030D-6E8A-4147-A177-3AD203B41FA5}">
                      <a16:colId xmlns:a16="http://schemas.microsoft.com/office/drawing/2014/main" val="840809914"/>
                    </a:ext>
                  </a:extLst>
                </a:gridCol>
              </a:tblGrid>
              <a:tr h="134369">
                <a:tc>
                  <a:txBody>
                    <a:bodyPr/>
                    <a:lstStyle/>
                    <a:p>
                      <a:pPr>
                        <a:buNone/>
                      </a:pPr>
                      <a:r>
                        <a:rPr lang="en-US" sz="1400"/>
                        <a:t>Column Name</a:t>
                      </a:r>
                    </a:p>
                  </a:txBody>
                  <a:tcPr marL="36566" marR="36566" marT="18283" marB="18283" anchor="ctr"/>
                </a:tc>
                <a:tc>
                  <a:txBody>
                    <a:bodyPr/>
                    <a:lstStyle/>
                    <a:p>
                      <a:pPr>
                        <a:buNone/>
                      </a:pPr>
                      <a:r>
                        <a:rPr lang="en-US" sz="1400"/>
                        <a:t>Data Type</a:t>
                      </a:r>
                    </a:p>
                  </a:txBody>
                  <a:tcPr marL="36566" marR="36566" marT="18283" marB="18283" anchor="ctr"/>
                </a:tc>
                <a:tc>
                  <a:txBody>
                    <a:bodyPr/>
                    <a:lstStyle/>
                    <a:p>
                      <a:pPr>
                        <a:buNone/>
                      </a:pPr>
                      <a:r>
                        <a:rPr lang="en-US" sz="1400"/>
                        <a:t>Description</a:t>
                      </a:r>
                    </a:p>
                  </a:txBody>
                  <a:tcPr marL="36566" marR="36566" marT="18283" marB="18283" anchor="ctr"/>
                </a:tc>
                <a:extLst>
                  <a:ext uri="{0D108BD9-81ED-4DB2-BD59-A6C34878D82A}">
                    <a16:rowId xmlns:a16="http://schemas.microsoft.com/office/drawing/2014/main" val="4152135781"/>
                  </a:ext>
                </a:extLst>
              </a:tr>
              <a:tr h="255961">
                <a:tc>
                  <a:txBody>
                    <a:bodyPr/>
                    <a:lstStyle/>
                    <a:p>
                      <a:pPr>
                        <a:buNone/>
                      </a:pPr>
                      <a:r>
                        <a:rPr lang="en-US" sz="1400" b="1">
                          <a:highlight>
                            <a:srgbClr val="FFFF00"/>
                          </a:highlight>
                        </a:rPr>
                        <a:t>_id</a:t>
                      </a:r>
                      <a:endParaRPr lang="en-US" sz="1400">
                        <a:highlight>
                          <a:srgbClr val="FFFF00"/>
                        </a:highlight>
                      </a:endParaRPr>
                    </a:p>
                  </a:txBody>
                  <a:tcPr marL="36566" marR="36566" marT="18283" marB="18283" anchor="ctr"/>
                </a:tc>
                <a:tc>
                  <a:txBody>
                    <a:bodyPr/>
                    <a:lstStyle/>
                    <a:p>
                      <a:pPr>
                        <a:buNone/>
                      </a:pPr>
                      <a:r>
                        <a:rPr lang="en-US" sz="1400">
                          <a:highlight>
                            <a:srgbClr val="FFFF00"/>
                          </a:highlight>
                        </a:rPr>
                        <a:t>INTEGER</a:t>
                      </a:r>
                    </a:p>
                  </a:txBody>
                  <a:tcPr marL="36566" marR="36566" marT="18283" marB="18283" anchor="ctr"/>
                </a:tc>
                <a:tc>
                  <a:txBody>
                    <a:bodyPr/>
                    <a:lstStyle/>
                    <a:p>
                      <a:pPr>
                        <a:buNone/>
                      </a:pPr>
                      <a:r>
                        <a:rPr lang="en-GB" sz="1400" dirty="0">
                          <a:highlight>
                            <a:srgbClr val="FFFF00"/>
                          </a:highlight>
                        </a:rPr>
                        <a:t>Primary key — unique ID for the aggregated contact.</a:t>
                      </a:r>
                    </a:p>
                  </a:txBody>
                  <a:tcPr marL="36566" marR="36566" marT="18283" marB="18283" anchor="ctr"/>
                </a:tc>
                <a:extLst>
                  <a:ext uri="{0D108BD9-81ED-4DB2-BD59-A6C34878D82A}">
                    <a16:rowId xmlns:a16="http://schemas.microsoft.com/office/drawing/2014/main" val="2581387544"/>
                  </a:ext>
                </a:extLst>
              </a:tr>
              <a:tr h="365659">
                <a:tc>
                  <a:txBody>
                    <a:bodyPr/>
                    <a:lstStyle/>
                    <a:p>
                      <a:pPr>
                        <a:buNone/>
                      </a:pPr>
                      <a:r>
                        <a:rPr lang="en-US" sz="1400" b="1"/>
                        <a:t>name_raw_contact_id</a:t>
                      </a:r>
                      <a:endParaRPr lang="en-US" sz="1400"/>
                    </a:p>
                  </a:txBody>
                  <a:tcPr marL="36566" marR="36566" marT="18283" marB="18283" anchor="ctr"/>
                </a:tc>
                <a:tc>
                  <a:txBody>
                    <a:bodyPr/>
                    <a:lstStyle/>
                    <a:p>
                      <a:pPr>
                        <a:buNone/>
                      </a:pPr>
                      <a:r>
                        <a:rPr lang="en-US" sz="1400"/>
                        <a:t>INTEGER</a:t>
                      </a:r>
                    </a:p>
                  </a:txBody>
                  <a:tcPr marL="36566" marR="36566" marT="18283" marB="18283" anchor="ctr"/>
                </a:tc>
                <a:tc>
                  <a:txBody>
                    <a:bodyPr/>
                    <a:lstStyle/>
                    <a:p>
                      <a:pPr>
                        <a:buNone/>
                      </a:pPr>
                      <a:r>
                        <a:rPr lang="en-GB" sz="1400"/>
                        <a:t>References the raw_contacts._id used to display the contact’s name.</a:t>
                      </a:r>
                    </a:p>
                  </a:txBody>
                  <a:tcPr marL="36566" marR="36566" marT="18283" marB="18283" anchor="ctr"/>
                </a:tc>
                <a:extLst>
                  <a:ext uri="{0D108BD9-81ED-4DB2-BD59-A6C34878D82A}">
                    <a16:rowId xmlns:a16="http://schemas.microsoft.com/office/drawing/2014/main" val="1395789414"/>
                  </a:ext>
                </a:extLst>
              </a:tr>
              <a:tr h="255961">
                <a:tc>
                  <a:txBody>
                    <a:bodyPr/>
                    <a:lstStyle/>
                    <a:p>
                      <a:pPr>
                        <a:buNone/>
                      </a:pPr>
                      <a:r>
                        <a:rPr lang="en-US" sz="1400" b="1"/>
                        <a:t>photo_id</a:t>
                      </a:r>
                      <a:endParaRPr lang="en-US" sz="1400"/>
                    </a:p>
                  </a:txBody>
                  <a:tcPr marL="36566" marR="36566" marT="18283" marB="18283" anchor="ctr"/>
                </a:tc>
                <a:tc>
                  <a:txBody>
                    <a:bodyPr/>
                    <a:lstStyle/>
                    <a:p>
                      <a:pPr>
                        <a:buNone/>
                      </a:pPr>
                      <a:r>
                        <a:rPr lang="en-US" sz="1400"/>
                        <a:t>INTEGER</a:t>
                      </a:r>
                    </a:p>
                  </a:txBody>
                  <a:tcPr marL="36566" marR="36566" marT="18283" marB="18283" anchor="ctr"/>
                </a:tc>
                <a:tc>
                  <a:txBody>
                    <a:bodyPr/>
                    <a:lstStyle/>
                    <a:p>
                      <a:pPr>
                        <a:buNone/>
                      </a:pPr>
                      <a:r>
                        <a:rPr lang="en-GB" sz="1400"/>
                        <a:t>References the contact’s main photo record in the data table.</a:t>
                      </a:r>
                    </a:p>
                  </a:txBody>
                  <a:tcPr marL="36566" marR="36566" marT="18283" marB="18283" anchor="ctr"/>
                </a:tc>
                <a:extLst>
                  <a:ext uri="{0D108BD9-81ED-4DB2-BD59-A6C34878D82A}">
                    <a16:rowId xmlns:a16="http://schemas.microsoft.com/office/drawing/2014/main" val="1820608986"/>
                  </a:ext>
                </a:extLst>
              </a:tr>
              <a:tr h="255961">
                <a:tc>
                  <a:txBody>
                    <a:bodyPr/>
                    <a:lstStyle/>
                    <a:p>
                      <a:pPr>
                        <a:buNone/>
                      </a:pPr>
                      <a:r>
                        <a:rPr lang="en-US" sz="1400" b="1" dirty="0" err="1"/>
                        <a:t>photo_file_id</a:t>
                      </a:r>
                      <a:endParaRPr lang="en-US" sz="1400" dirty="0"/>
                    </a:p>
                  </a:txBody>
                  <a:tcPr marL="36566" marR="36566" marT="18283" marB="18283" anchor="ctr"/>
                </a:tc>
                <a:tc>
                  <a:txBody>
                    <a:bodyPr/>
                    <a:lstStyle/>
                    <a:p>
                      <a:pPr>
                        <a:buNone/>
                      </a:pPr>
                      <a:r>
                        <a:rPr lang="en-US" sz="1400"/>
                        <a:t>INTEGER</a:t>
                      </a:r>
                    </a:p>
                  </a:txBody>
                  <a:tcPr marL="36566" marR="36566" marT="18283" marB="18283" anchor="ctr"/>
                </a:tc>
                <a:tc>
                  <a:txBody>
                    <a:bodyPr/>
                    <a:lstStyle/>
                    <a:p>
                      <a:pPr>
                        <a:buNone/>
                      </a:pPr>
                      <a:r>
                        <a:rPr lang="en-GB" sz="1400"/>
                        <a:t>File-based photo reference (Android 11+ scoped storage).</a:t>
                      </a:r>
                    </a:p>
                  </a:txBody>
                  <a:tcPr marL="36566" marR="36566" marT="18283" marB="18283" anchor="ctr"/>
                </a:tc>
                <a:extLst>
                  <a:ext uri="{0D108BD9-81ED-4DB2-BD59-A6C34878D82A}">
                    <a16:rowId xmlns:a16="http://schemas.microsoft.com/office/drawing/2014/main" val="978774136"/>
                  </a:ext>
                </a:extLst>
              </a:tr>
              <a:tr h="255961">
                <a:tc>
                  <a:txBody>
                    <a:bodyPr/>
                    <a:lstStyle/>
                    <a:p>
                      <a:pPr>
                        <a:buNone/>
                      </a:pPr>
                      <a:r>
                        <a:rPr lang="en-US" sz="1400" b="1"/>
                        <a:t>custom_ringtone</a:t>
                      </a:r>
                      <a:endParaRPr lang="en-US" sz="1400"/>
                    </a:p>
                  </a:txBody>
                  <a:tcPr marL="36566" marR="36566" marT="18283" marB="18283" anchor="ctr"/>
                </a:tc>
                <a:tc>
                  <a:txBody>
                    <a:bodyPr/>
                    <a:lstStyle/>
                    <a:p>
                      <a:pPr>
                        <a:buNone/>
                      </a:pPr>
                      <a:r>
                        <a:rPr lang="en-US" sz="1400"/>
                        <a:t>TEXT</a:t>
                      </a:r>
                    </a:p>
                  </a:txBody>
                  <a:tcPr marL="36566" marR="36566" marT="18283" marB="18283" anchor="ctr"/>
                </a:tc>
                <a:tc>
                  <a:txBody>
                    <a:bodyPr/>
                    <a:lstStyle/>
                    <a:p>
                      <a:pPr>
                        <a:buNone/>
                      </a:pPr>
                      <a:r>
                        <a:rPr lang="en-GB" sz="1400"/>
                        <a:t>URI of a custom ringtone assigned to this contact.</a:t>
                      </a:r>
                    </a:p>
                  </a:txBody>
                  <a:tcPr marL="36566" marR="36566" marT="18283" marB="18283" anchor="ctr"/>
                </a:tc>
                <a:extLst>
                  <a:ext uri="{0D108BD9-81ED-4DB2-BD59-A6C34878D82A}">
                    <a16:rowId xmlns:a16="http://schemas.microsoft.com/office/drawing/2014/main" val="4125392918"/>
                  </a:ext>
                </a:extLst>
              </a:tr>
              <a:tr h="255961">
                <a:tc>
                  <a:txBody>
                    <a:bodyPr/>
                    <a:lstStyle/>
                    <a:p>
                      <a:pPr>
                        <a:buNone/>
                      </a:pPr>
                      <a:r>
                        <a:rPr lang="en-US" sz="1400" b="1"/>
                        <a:t>send_to_voicemail</a:t>
                      </a:r>
                      <a:endParaRPr lang="en-US" sz="1400"/>
                    </a:p>
                  </a:txBody>
                  <a:tcPr marL="36566" marR="36566" marT="18283" marB="18283" anchor="ctr"/>
                </a:tc>
                <a:tc>
                  <a:txBody>
                    <a:bodyPr/>
                    <a:lstStyle/>
                    <a:p>
                      <a:pPr>
                        <a:buNone/>
                      </a:pPr>
                      <a:r>
                        <a:rPr lang="en-US" sz="1400"/>
                        <a:t>INTEGER</a:t>
                      </a:r>
                    </a:p>
                  </a:txBody>
                  <a:tcPr marL="36566" marR="36566" marT="18283" marB="18283" anchor="ctr"/>
                </a:tc>
                <a:tc>
                  <a:txBody>
                    <a:bodyPr/>
                    <a:lstStyle/>
                    <a:p>
                      <a:pPr>
                        <a:buNone/>
                      </a:pPr>
                      <a:r>
                        <a:rPr lang="en-GB" sz="1400"/>
                        <a:t>1 if calls from this contact should go directly to voicemail.</a:t>
                      </a:r>
                    </a:p>
                  </a:txBody>
                  <a:tcPr marL="36566" marR="36566" marT="18283" marB="18283" anchor="ctr"/>
                </a:tc>
                <a:extLst>
                  <a:ext uri="{0D108BD9-81ED-4DB2-BD59-A6C34878D82A}">
                    <a16:rowId xmlns:a16="http://schemas.microsoft.com/office/drawing/2014/main" val="1265447635"/>
                  </a:ext>
                </a:extLst>
              </a:tr>
              <a:tr h="290917">
                <a:tc>
                  <a:txBody>
                    <a:bodyPr/>
                    <a:lstStyle/>
                    <a:p>
                      <a:pPr>
                        <a:buNone/>
                      </a:pPr>
                      <a:r>
                        <a:rPr lang="en-US" sz="1400" b="1"/>
                        <a:t>x_times_contacted</a:t>
                      </a:r>
                      <a:endParaRPr lang="en-US" sz="1400"/>
                    </a:p>
                  </a:txBody>
                  <a:tcPr marL="36566" marR="36566" marT="18283" marB="18283" anchor="ctr"/>
                </a:tc>
                <a:tc>
                  <a:txBody>
                    <a:bodyPr/>
                    <a:lstStyle/>
                    <a:p>
                      <a:pPr>
                        <a:buNone/>
                      </a:pPr>
                      <a:r>
                        <a:rPr lang="en-US" sz="1400"/>
                        <a:t>INTEGER</a:t>
                      </a:r>
                    </a:p>
                  </a:txBody>
                  <a:tcPr marL="36566" marR="36566" marT="18283" marB="18283" anchor="ctr"/>
                </a:tc>
                <a:tc>
                  <a:txBody>
                    <a:bodyPr/>
                    <a:lstStyle/>
                    <a:p>
                      <a:pPr>
                        <a:buNone/>
                      </a:pPr>
                      <a:r>
                        <a:rPr lang="en-GB" sz="1400"/>
                        <a:t>Legacy counter for number of interactions (deprecated).</a:t>
                      </a:r>
                    </a:p>
                  </a:txBody>
                  <a:tcPr marL="36566" marR="36566" marT="18283" marB="18283" anchor="ctr"/>
                </a:tc>
                <a:extLst>
                  <a:ext uri="{0D108BD9-81ED-4DB2-BD59-A6C34878D82A}">
                    <a16:rowId xmlns:a16="http://schemas.microsoft.com/office/drawing/2014/main" val="3112458392"/>
                  </a:ext>
                </a:extLst>
              </a:tr>
              <a:tr h="255961">
                <a:tc>
                  <a:txBody>
                    <a:bodyPr/>
                    <a:lstStyle/>
                    <a:p>
                      <a:pPr>
                        <a:buNone/>
                      </a:pPr>
                      <a:r>
                        <a:rPr lang="en-US" sz="1400" b="1"/>
                        <a:t>x_last_time_contacted</a:t>
                      </a:r>
                      <a:endParaRPr lang="en-US" sz="1400"/>
                    </a:p>
                  </a:txBody>
                  <a:tcPr marL="36566" marR="36566" marT="18283" marB="18283" anchor="ctr"/>
                </a:tc>
                <a:tc>
                  <a:txBody>
                    <a:bodyPr/>
                    <a:lstStyle/>
                    <a:p>
                      <a:pPr>
                        <a:buNone/>
                      </a:pPr>
                      <a:r>
                        <a:rPr lang="en-US" sz="1400"/>
                        <a:t>INTEGER</a:t>
                      </a:r>
                    </a:p>
                  </a:txBody>
                  <a:tcPr marL="36566" marR="36566" marT="18283" marB="18283" anchor="ctr"/>
                </a:tc>
                <a:tc>
                  <a:txBody>
                    <a:bodyPr/>
                    <a:lstStyle/>
                    <a:p>
                      <a:pPr>
                        <a:buNone/>
                      </a:pPr>
                      <a:r>
                        <a:rPr lang="en-GB" sz="1400"/>
                        <a:t>Legacy timestamp of last interaction (deprecated).</a:t>
                      </a:r>
                    </a:p>
                  </a:txBody>
                  <a:tcPr marL="36566" marR="36566" marT="18283" marB="18283" anchor="ctr"/>
                </a:tc>
                <a:extLst>
                  <a:ext uri="{0D108BD9-81ED-4DB2-BD59-A6C34878D82A}">
                    <a16:rowId xmlns:a16="http://schemas.microsoft.com/office/drawing/2014/main" val="2174323147"/>
                  </a:ext>
                </a:extLst>
              </a:tr>
              <a:tr h="255961">
                <a:tc>
                  <a:txBody>
                    <a:bodyPr/>
                    <a:lstStyle/>
                    <a:p>
                      <a:pPr>
                        <a:buNone/>
                      </a:pPr>
                      <a:r>
                        <a:rPr lang="en-US" sz="1400" b="1">
                          <a:highlight>
                            <a:srgbClr val="FFFF00"/>
                          </a:highlight>
                        </a:rPr>
                        <a:t>times_contacted</a:t>
                      </a:r>
                      <a:endParaRPr lang="en-US" sz="1400">
                        <a:highlight>
                          <a:srgbClr val="FFFF00"/>
                        </a:highlight>
                      </a:endParaRPr>
                    </a:p>
                  </a:txBody>
                  <a:tcPr marL="36566" marR="36566" marT="18283" marB="18283" anchor="ctr"/>
                </a:tc>
                <a:tc>
                  <a:txBody>
                    <a:bodyPr/>
                    <a:lstStyle/>
                    <a:p>
                      <a:pPr>
                        <a:buNone/>
                      </a:pPr>
                      <a:r>
                        <a:rPr lang="en-US" sz="1400">
                          <a:highlight>
                            <a:srgbClr val="FFFF00"/>
                          </a:highlight>
                        </a:rPr>
                        <a:t>INTEGER</a:t>
                      </a:r>
                    </a:p>
                  </a:txBody>
                  <a:tcPr marL="36566" marR="36566" marT="18283" marB="18283" anchor="ctr"/>
                </a:tc>
                <a:tc>
                  <a:txBody>
                    <a:bodyPr/>
                    <a:lstStyle/>
                    <a:p>
                      <a:pPr>
                        <a:buNone/>
                      </a:pPr>
                      <a:r>
                        <a:rPr lang="en-GB" sz="1400" dirty="0">
                          <a:highlight>
                            <a:srgbClr val="FFFF00"/>
                          </a:highlight>
                        </a:rPr>
                        <a:t>Number of times the contact has been interacted with.</a:t>
                      </a:r>
                    </a:p>
                  </a:txBody>
                  <a:tcPr marL="36566" marR="36566" marT="18283" marB="18283" anchor="ctr"/>
                </a:tc>
                <a:extLst>
                  <a:ext uri="{0D108BD9-81ED-4DB2-BD59-A6C34878D82A}">
                    <a16:rowId xmlns:a16="http://schemas.microsoft.com/office/drawing/2014/main" val="3825126087"/>
                  </a:ext>
                </a:extLst>
              </a:tr>
              <a:tr h="255961">
                <a:tc>
                  <a:txBody>
                    <a:bodyPr/>
                    <a:lstStyle/>
                    <a:p>
                      <a:pPr>
                        <a:buNone/>
                      </a:pPr>
                      <a:r>
                        <a:rPr lang="en-US" sz="1400" b="1">
                          <a:highlight>
                            <a:srgbClr val="FFFF00"/>
                          </a:highlight>
                        </a:rPr>
                        <a:t>last_time_contacted</a:t>
                      </a:r>
                      <a:endParaRPr lang="en-US" sz="1400">
                        <a:highlight>
                          <a:srgbClr val="FFFF00"/>
                        </a:highlight>
                      </a:endParaRPr>
                    </a:p>
                  </a:txBody>
                  <a:tcPr marL="36566" marR="36566" marT="18283" marB="18283" anchor="ctr"/>
                </a:tc>
                <a:tc>
                  <a:txBody>
                    <a:bodyPr/>
                    <a:lstStyle/>
                    <a:p>
                      <a:pPr>
                        <a:buNone/>
                      </a:pPr>
                      <a:r>
                        <a:rPr lang="en-US" sz="1400">
                          <a:highlight>
                            <a:srgbClr val="FFFF00"/>
                          </a:highlight>
                        </a:rPr>
                        <a:t>INTEGER</a:t>
                      </a:r>
                    </a:p>
                  </a:txBody>
                  <a:tcPr marL="36566" marR="36566" marT="18283" marB="18283" anchor="ctr"/>
                </a:tc>
                <a:tc>
                  <a:txBody>
                    <a:bodyPr/>
                    <a:lstStyle/>
                    <a:p>
                      <a:pPr>
                        <a:buNone/>
                      </a:pPr>
                      <a:r>
                        <a:rPr lang="en-GB" sz="1400" dirty="0">
                          <a:highlight>
                            <a:srgbClr val="FFFF00"/>
                          </a:highlight>
                        </a:rPr>
                        <a:t>Timestamp (in milliseconds) of the last interaction.</a:t>
                      </a:r>
                    </a:p>
                  </a:txBody>
                  <a:tcPr marL="36566" marR="36566" marT="18283" marB="18283" anchor="ctr"/>
                </a:tc>
                <a:extLst>
                  <a:ext uri="{0D108BD9-81ED-4DB2-BD59-A6C34878D82A}">
                    <a16:rowId xmlns:a16="http://schemas.microsoft.com/office/drawing/2014/main" val="1809110911"/>
                  </a:ext>
                </a:extLst>
              </a:tr>
              <a:tr h="255961">
                <a:tc>
                  <a:txBody>
                    <a:bodyPr/>
                    <a:lstStyle/>
                    <a:p>
                      <a:pPr>
                        <a:buNone/>
                      </a:pPr>
                      <a:r>
                        <a:rPr lang="en-US" sz="1400" b="1"/>
                        <a:t>starred</a:t>
                      </a:r>
                      <a:endParaRPr lang="en-US" sz="1400"/>
                    </a:p>
                  </a:txBody>
                  <a:tcPr marL="36566" marR="36566" marT="18283" marB="18283" anchor="ctr"/>
                </a:tc>
                <a:tc>
                  <a:txBody>
                    <a:bodyPr/>
                    <a:lstStyle/>
                    <a:p>
                      <a:pPr>
                        <a:buNone/>
                      </a:pPr>
                      <a:r>
                        <a:rPr lang="en-US" sz="1400"/>
                        <a:t>INTEGER</a:t>
                      </a:r>
                    </a:p>
                  </a:txBody>
                  <a:tcPr marL="36566" marR="36566" marT="18283" marB="18283" anchor="ctr"/>
                </a:tc>
                <a:tc>
                  <a:txBody>
                    <a:bodyPr/>
                    <a:lstStyle/>
                    <a:p>
                      <a:pPr>
                        <a:buNone/>
                      </a:pPr>
                      <a:r>
                        <a:rPr lang="en-GB" sz="1400"/>
                        <a:t>1 if the contact is marked as a “favorite.”</a:t>
                      </a:r>
                    </a:p>
                  </a:txBody>
                  <a:tcPr marL="36566" marR="36566" marT="18283" marB="18283" anchor="ctr"/>
                </a:tc>
                <a:extLst>
                  <a:ext uri="{0D108BD9-81ED-4DB2-BD59-A6C34878D82A}">
                    <a16:rowId xmlns:a16="http://schemas.microsoft.com/office/drawing/2014/main" val="2253416986"/>
                  </a:ext>
                </a:extLst>
              </a:tr>
              <a:tr h="255961">
                <a:tc>
                  <a:txBody>
                    <a:bodyPr/>
                    <a:lstStyle/>
                    <a:p>
                      <a:pPr>
                        <a:buNone/>
                      </a:pPr>
                      <a:r>
                        <a:rPr lang="en-US" sz="1400" b="1"/>
                        <a:t>pinned</a:t>
                      </a:r>
                      <a:endParaRPr lang="en-US" sz="1400"/>
                    </a:p>
                  </a:txBody>
                  <a:tcPr marL="36566" marR="36566" marT="18283" marB="18283" anchor="ctr"/>
                </a:tc>
                <a:tc>
                  <a:txBody>
                    <a:bodyPr/>
                    <a:lstStyle/>
                    <a:p>
                      <a:pPr>
                        <a:buNone/>
                      </a:pPr>
                      <a:r>
                        <a:rPr lang="en-US" sz="1400"/>
                        <a:t>INTEGER</a:t>
                      </a:r>
                    </a:p>
                  </a:txBody>
                  <a:tcPr marL="36566" marR="36566" marT="18283" marB="18283" anchor="ctr"/>
                </a:tc>
                <a:tc>
                  <a:txBody>
                    <a:bodyPr/>
                    <a:lstStyle/>
                    <a:p>
                      <a:pPr>
                        <a:buNone/>
                      </a:pPr>
                      <a:r>
                        <a:rPr lang="en-GB" sz="1400"/>
                        <a:t>Indicates the position in the pinned favorites list.</a:t>
                      </a:r>
                    </a:p>
                  </a:txBody>
                  <a:tcPr marL="36566" marR="36566" marT="18283" marB="18283" anchor="ctr"/>
                </a:tc>
                <a:extLst>
                  <a:ext uri="{0D108BD9-81ED-4DB2-BD59-A6C34878D82A}">
                    <a16:rowId xmlns:a16="http://schemas.microsoft.com/office/drawing/2014/main" val="2044210932"/>
                  </a:ext>
                </a:extLst>
              </a:tr>
              <a:tr h="255961">
                <a:tc>
                  <a:txBody>
                    <a:bodyPr/>
                    <a:lstStyle/>
                    <a:p>
                      <a:pPr>
                        <a:buNone/>
                      </a:pPr>
                      <a:r>
                        <a:rPr lang="en-US" sz="1400" b="1"/>
                        <a:t>has_phone_number</a:t>
                      </a:r>
                      <a:endParaRPr lang="en-US" sz="1400"/>
                    </a:p>
                  </a:txBody>
                  <a:tcPr marL="36566" marR="36566" marT="18283" marB="18283" anchor="ctr"/>
                </a:tc>
                <a:tc>
                  <a:txBody>
                    <a:bodyPr/>
                    <a:lstStyle/>
                    <a:p>
                      <a:pPr>
                        <a:buNone/>
                      </a:pPr>
                      <a:r>
                        <a:rPr lang="en-US" sz="1400"/>
                        <a:t>INTEGER</a:t>
                      </a:r>
                    </a:p>
                  </a:txBody>
                  <a:tcPr marL="36566" marR="36566" marT="18283" marB="18283" anchor="ctr"/>
                </a:tc>
                <a:tc>
                  <a:txBody>
                    <a:bodyPr/>
                    <a:lstStyle/>
                    <a:p>
                      <a:pPr>
                        <a:buNone/>
                      </a:pPr>
                      <a:r>
                        <a:rPr lang="en-GB" sz="1400"/>
                        <a:t>1 if this contact has at least one phone number.</a:t>
                      </a:r>
                    </a:p>
                  </a:txBody>
                  <a:tcPr marL="36566" marR="36566" marT="18283" marB="18283" anchor="ctr"/>
                </a:tc>
                <a:extLst>
                  <a:ext uri="{0D108BD9-81ED-4DB2-BD59-A6C34878D82A}">
                    <a16:rowId xmlns:a16="http://schemas.microsoft.com/office/drawing/2014/main" val="4184268141"/>
                  </a:ext>
                </a:extLst>
              </a:tr>
              <a:tr h="255961">
                <a:tc>
                  <a:txBody>
                    <a:bodyPr/>
                    <a:lstStyle/>
                    <a:p>
                      <a:pPr>
                        <a:buNone/>
                      </a:pPr>
                      <a:r>
                        <a:rPr lang="en-US" sz="1400" b="1"/>
                        <a:t>lookup</a:t>
                      </a:r>
                      <a:endParaRPr lang="en-US" sz="1400"/>
                    </a:p>
                  </a:txBody>
                  <a:tcPr marL="36566" marR="36566" marT="18283" marB="18283" anchor="ctr"/>
                </a:tc>
                <a:tc>
                  <a:txBody>
                    <a:bodyPr/>
                    <a:lstStyle/>
                    <a:p>
                      <a:pPr>
                        <a:buNone/>
                      </a:pPr>
                      <a:r>
                        <a:rPr lang="en-US" sz="1400"/>
                        <a:t>TEXT</a:t>
                      </a:r>
                    </a:p>
                  </a:txBody>
                  <a:tcPr marL="36566" marR="36566" marT="18283" marB="18283" anchor="ctr"/>
                </a:tc>
                <a:tc>
                  <a:txBody>
                    <a:bodyPr/>
                    <a:lstStyle/>
                    <a:p>
                      <a:pPr>
                        <a:buNone/>
                      </a:pPr>
                      <a:r>
                        <a:rPr lang="en-GB" sz="1400"/>
                        <a:t>Stable lookup key used by Android for contact identification.</a:t>
                      </a:r>
                    </a:p>
                  </a:txBody>
                  <a:tcPr marL="36566" marR="36566" marT="18283" marB="18283" anchor="ctr"/>
                </a:tc>
                <a:extLst>
                  <a:ext uri="{0D108BD9-81ED-4DB2-BD59-A6C34878D82A}">
                    <a16:rowId xmlns:a16="http://schemas.microsoft.com/office/drawing/2014/main" val="3076506667"/>
                  </a:ext>
                </a:extLst>
              </a:tr>
              <a:tr h="255961">
                <a:tc>
                  <a:txBody>
                    <a:bodyPr/>
                    <a:lstStyle/>
                    <a:p>
                      <a:pPr>
                        <a:buNone/>
                      </a:pPr>
                      <a:r>
                        <a:rPr lang="en-US" sz="1400" b="1"/>
                        <a:t>status_update_id</a:t>
                      </a:r>
                      <a:endParaRPr lang="en-US" sz="1400"/>
                    </a:p>
                  </a:txBody>
                  <a:tcPr marL="36566" marR="36566" marT="18283" marB="18283" anchor="ctr"/>
                </a:tc>
                <a:tc>
                  <a:txBody>
                    <a:bodyPr/>
                    <a:lstStyle/>
                    <a:p>
                      <a:pPr>
                        <a:buNone/>
                      </a:pPr>
                      <a:r>
                        <a:rPr lang="en-US" sz="1400"/>
                        <a:t>INTEGER</a:t>
                      </a:r>
                    </a:p>
                  </a:txBody>
                  <a:tcPr marL="36566" marR="36566" marT="18283" marB="18283" anchor="ctr"/>
                </a:tc>
                <a:tc>
                  <a:txBody>
                    <a:bodyPr/>
                    <a:lstStyle/>
                    <a:p>
                      <a:pPr>
                        <a:buNone/>
                      </a:pPr>
                      <a:r>
                        <a:rPr lang="en-GB" sz="1400"/>
                        <a:t>Links to social status or presence information (if available).</a:t>
                      </a:r>
                    </a:p>
                  </a:txBody>
                  <a:tcPr marL="36566" marR="36566" marT="18283" marB="18283" anchor="ctr"/>
                </a:tc>
                <a:extLst>
                  <a:ext uri="{0D108BD9-81ED-4DB2-BD59-A6C34878D82A}">
                    <a16:rowId xmlns:a16="http://schemas.microsoft.com/office/drawing/2014/main" val="3269534552"/>
                  </a:ext>
                </a:extLst>
              </a:tr>
              <a:tr h="255961">
                <a:tc>
                  <a:txBody>
                    <a:bodyPr/>
                    <a:lstStyle/>
                    <a:p>
                      <a:pPr>
                        <a:buNone/>
                      </a:pPr>
                      <a:r>
                        <a:rPr lang="en-US" sz="1400" b="1"/>
                        <a:t>contact_last_updated_timestamp</a:t>
                      </a:r>
                      <a:endParaRPr lang="en-US" sz="1400"/>
                    </a:p>
                  </a:txBody>
                  <a:tcPr marL="36566" marR="36566" marT="18283" marB="18283" anchor="ctr"/>
                </a:tc>
                <a:tc>
                  <a:txBody>
                    <a:bodyPr/>
                    <a:lstStyle/>
                    <a:p>
                      <a:pPr>
                        <a:buNone/>
                      </a:pPr>
                      <a:r>
                        <a:rPr lang="en-US" sz="1400"/>
                        <a:t>INTEGER</a:t>
                      </a:r>
                    </a:p>
                  </a:txBody>
                  <a:tcPr marL="36566" marR="36566" marT="18283" marB="18283" anchor="ctr"/>
                </a:tc>
                <a:tc>
                  <a:txBody>
                    <a:bodyPr/>
                    <a:lstStyle/>
                    <a:p>
                      <a:pPr>
                        <a:buNone/>
                      </a:pPr>
                      <a:r>
                        <a:rPr lang="en-GB" sz="1400" dirty="0"/>
                        <a:t>Unix timestamp of the last update to this contact record.</a:t>
                      </a:r>
                    </a:p>
                  </a:txBody>
                  <a:tcPr marL="36566" marR="36566" marT="18283" marB="18283" anchor="ctr"/>
                </a:tc>
                <a:extLst>
                  <a:ext uri="{0D108BD9-81ED-4DB2-BD59-A6C34878D82A}">
                    <a16:rowId xmlns:a16="http://schemas.microsoft.com/office/drawing/2014/main" val="530941624"/>
                  </a:ext>
                </a:extLst>
              </a:tr>
            </a:tbl>
          </a:graphicData>
        </a:graphic>
      </p:graphicFrame>
    </p:spTree>
    <p:extLst>
      <p:ext uri="{BB962C8B-B14F-4D97-AF65-F5344CB8AC3E}">
        <p14:creationId xmlns:p14="http://schemas.microsoft.com/office/powerpoint/2010/main" val="3217328724"/>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AC639827-B52D-2B8E-7066-98F228B11DA0}"/>
              </a:ext>
            </a:extLst>
          </p:cNvPr>
          <p:cNvSpPr>
            <a:spLocks noGrp="1"/>
          </p:cNvSpPr>
          <p:nvPr>
            <p:ph type="title"/>
          </p:nvPr>
        </p:nvSpPr>
        <p:spPr/>
        <p:txBody>
          <a:bodyPr/>
          <a:lstStyle/>
          <a:p>
            <a:r>
              <a:rPr lang="en-US" dirty="0"/>
              <a:t>Show rows in </a:t>
            </a:r>
            <a:r>
              <a:rPr lang="en-US" dirty="0">
                <a:solidFill>
                  <a:schemeClr val="accent2"/>
                </a:solidFill>
              </a:rPr>
              <a:t>contacts </a:t>
            </a:r>
            <a:r>
              <a:rPr lang="en-US" dirty="0"/>
              <a:t>table</a:t>
            </a:r>
          </a:p>
        </p:txBody>
      </p:sp>
      <p:pic>
        <p:nvPicPr>
          <p:cNvPr id="6" name="Picture 5">
            <a:extLst>
              <a:ext uri="{FF2B5EF4-FFF2-40B4-BE49-F238E27FC236}">
                <a16:creationId xmlns:a16="http://schemas.microsoft.com/office/drawing/2014/main" id="{635153F1-BF9B-38DC-05CA-2EFE88D7474B}"/>
              </a:ext>
            </a:extLst>
          </p:cNvPr>
          <p:cNvPicPr>
            <a:picLocks noChangeAspect="1"/>
          </p:cNvPicPr>
          <p:nvPr/>
        </p:nvPicPr>
        <p:blipFill>
          <a:blip r:embed="rId2"/>
          <a:stretch>
            <a:fillRect/>
          </a:stretch>
        </p:blipFill>
        <p:spPr>
          <a:xfrm>
            <a:off x="865142" y="1598686"/>
            <a:ext cx="8792626" cy="775203"/>
          </a:xfrm>
          <a:prstGeom prst="rect">
            <a:avLst/>
          </a:prstGeom>
        </p:spPr>
      </p:pic>
      <p:sp>
        <p:nvSpPr>
          <p:cNvPr id="7" name="Rectangle 6">
            <a:extLst>
              <a:ext uri="{FF2B5EF4-FFF2-40B4-BE49-F238E27FC236}">
                <a16:creationId xmlns:a16="http://schemas.microsoft.com/office/drawing/2014/main" id="{CF2A1557-DF24-997E-D45E-FCF85D9489D8}"/>
              </a:ext>
            </a:extLst>
          </p:cNvPr>
          <p:cNvSpPr/>
          <p:nvPr/>
        </p:nvSpPr>
        <p:spPr>
          <a:xfrm>
            <a:off x="922874" y="2203952"/>
            <a:ext cx="245968" cy="254442"/>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67E55921-0EF8-D586-B645-2F98A10A6F59}"/>
              </a:ext>
            </a:extLst>
          </p:cNvPr>
          <p:cNvSpPr txBox="1"/>
          <p:nvPr/>
        </p:nvSpPr>
        <p:spPr>
          <a:xfrm>
            <a:off x="768176" y="2458394"/>
            <a:ext cx="10184605" cy="646331"/>
          </a:xfrm>
          <a:prstGeom prst="rect">
            <a:avLst/>
          </a:prstGeom>
          <a:noFill/>
        </p:spPr>
        <p:txBody>
          <a:bodyPr wrap="square">
            <a:spAutoFit/>
          </a:bodyPr>
          <a:lstStyle/>
          <a:p>
            <a:pPr>
              <a:buFont typeface="Arial" panose="020B0604020202020204" pitchFamily="34" charset="0"/>
              <a:buChar char="•"/>
            </a:pPr>
            <a:r>
              <a:rPr lang="en-GB" b="1" dirty="0">
                <a:solidFill>
                  <a:srgbClr val="FF0000"/>
                </a:solidFill>
              </a:rPr>
              <a:t>_id</a:t>
            </a:r>
            <a:r>
              <a:rPr lang="en-GB" dirty="0">
                <a:solidFill>
                  <a:srgbClr val="FF0000"/>
                </a:solidFill>
              </a:rPr>
              <a:t>: 10 </a:t>
            </a:r>
            <a:r>
              <a:rPr lang="en-GB" dirty="0"/>
              <a:t>This contact’s unique ID is 10, which can be used to link to other tables (e.g., </a:t>
            </a:r>
            <a:r>
              <a:rPr lang="en-GB" dirty="0">
                <a:solidFill>
                  <a:schemeClr val="accent2"/>
                </a:solidFill>
              </a:rPr>
              <a:t>contacts’ _id </a:t>
            </a:r>
            <a:r>
              <a:rPr lang="en-GB" dirty="0"/>
              <a:t>in </a:t>
            </a:r>
            <a:r>
              <a:rPr lang="en-GB" dirty="0" err="1">
                <a:solidFill>
                  <a:schemeClr val="accent2"/>
                </a:solidFill>
              </a:rPr>
              <a:t>raw_contacts</a:t>
            </a:r>
            <a:r>
              <a:rPr lang="en-GB" dirty="0"/>
              <a:t>). This is the aggregation of multiple rows in </a:t>
            </a:r>
            <a:r>
              <a:rPr lang="en-GB" dirty="0" err="1">
                <a:solidFill>
                  <a:schemeClr val="accent2"/>
                </a:solidFill>
              </a:rPr>
              <a:t>raw_contacts</a:t>
            </a:r>
            <a:r>
              <a:rPr lang="en-GB" dirty="0">
                <a:solidFill>
                  <a:schemeClr val="accent2"/>
                </a:solidFill>
              </a:rPr>
              <a:t>.</a:t>
            </a:r>
            <a:endParaRPr lang="en-GB" dirty="0"/>
          </a:p>
        </p:txBody>
      </p:sp>
      <p:pic>
        <p:nvPicPr>
          <p:cNvPr id="16" name="Picture 15">
            <a:extLst>
              <a:ext uri="{FF2B5EF4-FFF2-40B4-BE49-F238E27FC236}">
                <a16:creationId xmlns:a16="http://schemas.microsoft.com/office/drawing/2014/main" id="{7D4B61E1-44E6-9B53-EAA4-0A7C0C393861}"/>
              </a:ext>
            </a:extLst>
          </p:cNvPr>
          <p:cNvPicPr>
            <a:picLocks noChangeAspect="1"/>
          </p:cNvPicPr>
          <p:nvPr/>
        </p:nvPicPr>
        <p:blipFill>
          <a:blip r:embed="rId3"/>
          <a:srcRect t="7250" b="13250"/>
          <a:stretch>
            <a:fillRect/>
          </a:stretch>
        </p:blipFill>
        <p:spPr>
          <a:xfrm>
            <a:off x="1019867" y="3189231"/>
            <a:ext cx="9078034" cy="3608518"/>
          </a:xfrm>
          <a:prstGeom prst="rect">
            <a:avLst/>
          </a:prstGeom>
        </p:spPr>
      </p:pic>
      <p:sp>
        <p:nvSpPr>
          <p:cNvPr id="20" name="Rectangle 19">
            <a:extLst>
              <a:ext uri="{FF2B5EF4-FFF2-40B4-BE49-F238E27FC236}">
                <a16:creationId xmlns:a16="http://schemas.microsoft.com/office/drawing/2014/main" id="{FD2D3037-D291-982B-335C-3458045A7D91}"/>
              </a:ext>
            </a:extLst>
          </p:cNvPr>
          <p:cNvSpPr/>
          <p:nvPr/>
        </p:nvSpPr>
        <p:spPr>
          <a:xfrm>
            <a:off x="1045858" y="3189230"/>
            <a:ext cx="9203928" cy="1731965"/>
          </a:xfrm>
          <a:prstGeom prst="rect">
            <a:avLst/>
          </a:prstGeom>
          <a:noFill/>
          <a:ln w="38100">
            <a:solidFill>
              <a:srgbClr val="AB51D6"/>
            </a:solidFill>
            <a:prstDash val="lg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n>
                <a:solidFill>
                  <a:srgbClr val="D81E00"/>
                </a:solidFill>
              </a:ln>
              <a:noFill/>
            </a:endParaRPr>
          </a:p>
        </p:txBody>
      </p:sp>
      <mc:AlternateContent xmlns:mc="http://schemas.openxmlformats.org/markup-compatibility/2006">
        <mc:Choice xmlns:p14="http://schemas.microsoft.com/office/powerpoint/2010/main" Requires="p14">
          <p:contentPart p14:bwMode="auto" r:id="rId4">
            <p14:nvContentPartPr>
              <p14:cNvPr id="22" name="Ink 21">
                <a:extLst>
                  <a:ext uri="{FF2B5EF4-FFF2-40B4-BE49-F238E27FC236}">
                    <a16:creationId xmlns:a16="http://schemas.microsoft.com/office/drawing/2014/main" id="{40B10141-0A56-ACED-B2E8-680B2B7524D8}"/>
                  </a:ext>
                </a:extLst>
              </p14:cNvPr>
              <p14:cNvContentPartPr/>
              <p14:nvPr/>
            </p14:nvContentPartPr>
            <p14:xfrm>
              <a:off x="4337537" y="4203148"/>
              <a:ext cx="581760" cy="249120"/>
            </p14:xfrm>
          </p:contentPart>
        </mc:Choice>
        <mc:Fallback>
          <p:pic>
            <p:nvPicPr>
              <p:cNvPr id="22" name="Ink 21">
                <a:extLst>
                  <a:ext uri="{FF2B5EF4-FFF2-40B4-BE49-F238E27FC236}">
                    <a16:creationId xmlns:a16="http://schemas.microsoft.com/office/drawing/2014/main" id="{40B10141-0A56-ACED-B2E8-680B2B7524D8}"/>
                  </a:ext>
                </a:extLst>
              </p:cNvPr>
              <p:cNvPicPr/>
              <p:nvPr/>
            </p:nvPicPr>
            <p:blipFill>
              <a:blip r:embed="rId5"/>
              <a:stretch>
                <a:fillRect/>
              </a:stretch>
            </p:blipFill>
            <p:spPr>
              <a:xfrm>
                <a:off x="4328537" y="4194508"/>
                <a:ext cx="599400" cy="266760"/>
              </a:xfrm>
              <a:prstGeom prst="rect">
                <a:avLst/>
              </a:prstGeom>
            </p:spPr>
          </p:pic>
        </mc:Fallback>
      </mc:AlternateContent>
      <mc:AlternateContent xmlns:mc="http://schemas.openxmlformats.org/markup-compatibility/2006">
        <mc:Choice xmlns:p14="http://schemas.microsoft.com/office/powerpoint/2010/main" Requires="p14">
          <p:contentPart p14:bwMode="auto" r:id="rId6">
            <p14:nvContentPartPr>
              <p14:cNvPr id="23" name="Ink 22">
                <a:extLst>
                  <a:ext uri="{FF2B5EF4-FFF2-40B4-BE49-F238E27FC236}">
                    <a16:creationId xmlns:a16="http://schemas.microsoft.com/office/drawing/2014/main" id="{EADA0DD0-DB15-5BAC-9440-33960B40DF8B}"/>
                  </a:ext>
                </a:extLst>
              </p14:cNvPr>
              <p14:cNvContentPartPr/>
              <p14:nvPr/>
            </p14:nvContentPartPr>
            <p14:xfrm>
              <a:off x="7540457" y="3792028"/>
              <a:ext cx="328680" cy="290880"/>
            </p14:xfrm>
          </p:contentPart>
        </mc:Choice>
        <mc:Fallback>
          <p:pic>
            <p:nvPicPr>
              <p:cNvPr id="23" name="Ink 22">
                <a:extLst>
                  <a:ext uri="{FF2B5EF4-FFF2-40B4-BE49-F238E27FC236}">
                    <a16:creationId xmlns:a16="http://schemas.microsoft.com/office/drawing/2014/main" id="{EADA0DD0-DB15-5BAC-9440-33960B40DF8B}"/>
                  </a:ext>
                </a:extLst>
              </p:cNvPr>
              <p:cNvPicPr/>
              <p:nvPr/>
            </p:nvPicPr>
            <p:blipFill>
              <a:blip r:embed="rId7"/>
              <a:stretch>
                <a:fillRect/>
              </a:stretch>
            </p:blipFill>
            <p:spPr>
              <a:xfrm>
                <a:off x="7531457" y="3783388"/>
                <a:ext cx="346320" cy="308520"/>
              </a:xfrm>
              <a:prstGeom prst="rect">
                <a:avLst/>
              </a:prstGeom>
            </p:spPr>
          </p:pic>
        </mc:Fallback>
      </mc:AlternateContent>
      <p:grpSp>
        <p:nvGrpSpPr>
          <p:cNvPr id="29" name="Group 28">
            <a:extLst>
              <a:ext uri="{FF2B5EF4-FFF2-40B4-BE49-F238E27FC236}">
                <a16:creationId xmlns:a16="http://schemas.microsoft.com/office/drawing/2014/main" id="{A81196C3-001B-E205-CC2F-68BF352B9368}"/>
              </a:ext>
            </a:extLst>
          </p:cNvPr>
          <p:cNvGrpSpPr/>
          <p:nvPr/>
        </p:nvGrpSpPr>
        <p:grpSpPr>
          <a:xfrm>
            <a:off x="4975817" y="4061308"/>
            <a:ext cx="2592360" cy="420840"/>
            <a:chOff x="4975817" y="4061308"/>
            <a:chExt cx="2592360" cy="420840"/>
          </a:xfrm>
        </p:grpSpPr>
        <mc:AlternateContent xmlns:mc="http://schemas.openxmlformats.org/markup-compatibility/2006">
          <mc:Choice xmlns:p14="http://schemas.microsoft.com/office/powerpoint/2010/main" Requires="p14">
            <p:contentPart p14:bwMode="auto" r:id="rId8">
              <p14:nvContentPartPr>
                <p14:cNvPr id="24" name="Ink 23">
                  <a:extLst>
                    <a:ext uri="{FF2B5EF4-FFF2-40B4-BE49-F238E27FC236}">
                      <a16:creationId xmlns:a16="http://schemas.microsoft.com/office/drawing/2014/main" id="{EFD405CA-E705-5020-FAB9-E6ABB64D1D3A}"/>
                    </a:ext>
                  </a:extLst>
                </p14:cNvPr>
                <p14:cNvContentPartPr/>
                <p14:nvPr/>
              </p14:nvContentPartPr>
              <p14:xfrm>
                <a:off x="4975817" y="4062028"/>
                <a:ext cx="2545560" cy="420120"/>
              </p14:xfrm>
            </p:contentPart>
          </mc:Choice>
          <mc:Fallback>
            <p:pic>
              <p:nvPicPr>
                <p:cNvPr id="24" name="Ink 23">
                  <a:extLst>
                    <a:ext uri="{FF2B5EF4-FFF2-40B4-BE49-F238E27FC236}">
                      <a16:creationId xmlns:a16="http://schemas.microsoft.com/office/drawing/2014/main" id="{EFD405CA-E705-5020-FAB9-E6ABB64D1D3A}"/>
                    </a:ext>
                  </a:extLst>
                </p:cNvPr>
                <p:cNvPicPr/>
                <p:nvPr/>
              </p:nvPicPr>
              <p:blipFill>
                <a:blip r:embed="rId9"/>
                <a:stretch>
                  <a:fillRect/>
                </a:stretch>
              </p:blipFill>
              <p:spPr>
                <a:xfrm>
                  <a:off x="4966817" y="4053388"/>
                  <a:ext cx="2563200" cy="437760"/>
                </a:xfrm>
                <a:prstGeom prst="rect">
                  <a:avLst/>
                </a:prstGeom>
              </p:spPr>
            </p:pic>
          </mc:Fallback>
        </mc:AlternateContent>
        <mc:AlternateContent xmlns:mc="http://schemas.openxmlformats.org/markup-compatibility/2006">
          <mc:Choice xmlns:p14="http://schemas.microsoft.com/office/powerpoint/2010/main" Requires="p14">
            <p:contentPart p14:bwMode="auto" r:id="rId10">
              <p14:nvContentPartPr>
                <p14:cNvPr id="25" name="Ink 24">
                  <a:extLst>
                    <a:ext uri="{FF2B5EF4-FFF2-40B4-BE49-F238E27FC236}">
                      <a16:creationId xmlns:a16="http://schemas.microsoft.com/office/drawing/2014/main" id="{1CE064D8-0105-3A9F-5A85-12820140238A}"/>
                    </a:ext>
                  </a:extLst>
                </p14:cNvPr>
                <p14:cNvContentPartPr/>
                <p14:nvPr/>
              </p14:nvContentPartPr>
              <p14:xfrm>
                <a:off x="7485017" y="4061308"/>
                <a:ext cx="83160" cy="78480"/>
              </p14:xfrm>
            </p:contentPart>
          </mc:Choice>
          <mc:Fallback>
            <p:pic>
              <p:nvPicPr>
                <p:cNvPr id="25" name="Ink 24">
                  <a:extLst>
                    <a:ext uri="{FF2B5EF4-FFF2-40B4-BE49-F238E27FC236}">
                      <a16:creationId xmlns:a16="http://schemas.microsoft.com/office/drawing/2014/main" id="{1CE064D8-0105-3A9F-5A85-12820140238A}"/>
                    </a:ext>
                  </a:extLst>
                </p:cNvPr>
                <p:cNvPicPr/>
                <p:nvPr/>
              </p:nvPicPr>
              <p:blipFill>
                <a:blip r:embed="rId11"/>
                <a:stretch>
                  <a:fillRect/>
                </a:stretch>
              </p:blipFill>
              <p:spPr>
                <a:xfrm>
                  <a:off x="7476377" y="4052668"/>
                  <a:ext cx="100800" cy="96120"/>
                </a:xfrm>
                <a:prstGeom prst="rect">
                  <a:avLst/>
                </a:prstGeom>
              </p:spPr>
            </p:pic>
          </mc:Fallback>
        </mc:AlternateContent>
      </p:grpSp>
      <mc:AlternateContent xmlns:mc="http://schemas.openxmlformats.org/markup-compatibility/2006">
        <mc:Choice xmlns:p14="http://schemas.microsoft.com/office/powerpoint/2010/main" Requires="p14">
          <p:contentPart p14:bwMode="auto" r:id="rId12">
            <p14:nvContentPartPr>
              <p14:cNvPr id="32" name="Ink 31">
                <a:extLst>
                  <a:ext uri="{FF2B5EF4-FFF2-40B4-BE49-F238E27FC236}">
                    <a16:creationId xmlns:a16="http://schemas.microsoft.com/office/drawing/2014/main" id="{22BCC926-6707-8C96-D53F-529F66BA64AC}"/>
                  </a:ext>
                </a:extLst>
              </p14:cNvPr>
              <p14:cNvContentPartPr/>
              <p14:nvPr/>
            </p14:nvContentPartPr>
            <p14:xfrm>
              <a:off x="4936577" y="4302508"/>
              <a:ext cx="80280" cy="115560"/>
            </p14:xfrm>
          </p:contentPart>
        </mc:Choice>
        <mc:Fallback>
          <p:pic>
            <p:nvPicPr>
              <p:cNvPr id="32" name="Ink 31">
                <a:extLst>
                  <a:ext uri="{FF2B5EF4-FFF2-40B4-BE49-F238E27FC236}">
                    <a16:creationId xmlns:a16="http://schemas.microsoft.com/office/drawing/2014/main" id="{22BCC926-6707-8C96-D53F-529F66BA64AC}"/>
                  </a:ext>
                </a:extLst>
              </p:cNvPr>
              <p:cNvPicPr/>
              <p:nvPr/>
            </p:nvPicPr>
            <p:blipFill>
              <a:blip r:embed="rId13"/>
              <a:stretch>
                <a:fillRect/>
              </a:stretch>
            </p:blipFill>
            <p:spPr>
              <a:xfrm>
                <a:off x="4927577" y="4293508"/>
                <a:ext cx="97920" cy="133200"/>
              </a:xfrm>
              <a:prstGeom prst="rect">
                <a:avLst/>
              </a:prstGeom>
            </p:spPr>
          </p:pic>
        </mc:Fallback>
      </mc:AlternateContent>
      <mc:AlternateContent xmlns:mc="http://schemas.openxmlformats.org/markup-compatibility/2006">
        <mc:Choice xmlns:p14="http://schemas.microsoft.com/office/powerpoint/2010/main" Requires="p14">
          <p:contentPart p14:bwMode="auto" r:id="rId14">
            <p14:nvContentPartPr>
              <p14:cNvPr id="37" name="Ink 36">
                <a:extLst>
                  <a:ext uri="{FF2B5EF4-FFF2-40B4-BE49-F238E27FC236}">
                    <a16:creationId xmlns:a16="http://schemas.microsoft.com/office/drawing/2014/main" id="{EBA6E080-367D-99FC-88D5-652599B391D7}"/>
                  </a:ext>
                </a:extLst>
              </p14:cNvPr>
              <p14:cNvContentPartPr/>
              <p14:nvPr/>
            </p14:nvContentPartPr>
            <p14:xfrm>
              <a:off x="1232177" y="3824788"/>
              <a:ext cx="264600" cy="222840"/>
            </p14:xfrm>
          </p:contentPart>
        </mc:Choice>
        <mc:Fallback>
          <p:pic>
            <p:nvPicPr>
              <p:cNvPr id="37" name="Ink 36">
                <a:extLst>
                  <a:ext uri="{FF2B5EF4-FFF2-40B4-BE49-F238E27FC236}">
                    <a16:creationId xmlns:a16="http://schemas.microsoft.com/office/drawing/2014/main" id="{EBA6E080-367D-99FC-88D5-652599B391D7}"/>
                  </a:ext>
                </a:extLst>
              </p:cNvPr>
              <p:cNvPicPr/>
              <p:nvPr/>
            </p:nvPicPr>
            <p:blipFill>
              <a:blip r:embed="rId15"/>
              <a:stretch>
                <a:fillRect/>
              </a:stretch>
            </p:blipFill>
            <p:spPr>
              <a:xfrm>
                <a:off x="1223177" y="3816148"/>
                <a:ext cx="282240" cy="240480"/>
              </a:xfrm>
              <a:prstGeom prst="rect">
                <a:avLst/>
              </a:prstGeom>
            </p:spPr>
          </p:pic>
        </mc:Fallback>
      </mc:AlternateContent>
      <mc:AlternateContent xmlns:mc="http://schemas.openxmlformats.org/markup-compatibility/2006">
        <mc:Choice xmlns:p14="http://schemas.microsoft.com/office/powerpoint/2010/main" Requires="p14">
          <p:contentPart p14:bwMode="auto" r:id="rId16">
            <p14:nvContentPartPr>
              <p14:cNvPr id="38" name="Ink 37">
                <a:extLst>
                  <a:ext uri="{FF2B5EF4-FFF2-40B4-BE49-F238E27FC236}">
                    <a16:creationId xmlns:a16="http://schemas.microsoft.com/office/drawing/2014/main" id="{9F19ACCB-5D9F-E316-8009-680657F5E854}"/>
                  </a:ext>
                </a:extLst>
              </p14:cNvPr>
              <p14:cNvContentPartPr/>
              <p14:nvPr/>
            </p14:nvContentPartPr>
            <p14:xfrm>
              <a:off x="4371737" y="4011268"/>
              <a:ext cx="563400" cy="214920"/>
            </p14:xfrm>
          </p:contentPart>
        </mc:Choice>
        <mc:Fallback>
          <p:pic>
            <p:nvPicPr>
              <p:cNvPr id="38" name="Ink 37">
                <a:extLst>
                  <a:ext uri="{FF2B5EF4-FFF2-40B4-BE49-F238E27FC236}">
                    <a16:creationId xmlns:a16="http://schemas.microsoft.com/office/drawing/2014/main" id="{9F19ACCB-5D9F-E316-8009-680657F5E854}"/>
                  </a:ext>
                </a:extLst>
              </p:cNvPr>
              <p:cNvPicPr/>
              <p:nvPr/>
            </p:nvPicPr>
            <p:blipFill>
              <a:blip r:embed="rId17"/>
              <a:stretch>
                <a:fillRect/>
              </a:stretch>
            </p:blipFill>
            <p:spPr>
              <a:xfrm>
                <a:off x="4362737" y="4002628"/>
                <a:ext cx="581040" cy="232560"/>
              </a:xfrm>
              <a:prstGeom prst="rect">
                <a:avLst/>
              </a:prstGeom>
            </p:spPr>
          </p:pic>
        </mc:Fallback>
      </mc:AlternateContent>
      <mc:AlternateContent xmlns:mc="http://schemas.openxmlformats.org/markup-compatibility/2006">
        <mc:Choice xmlns:p14="http://schemas.microsoft.com/office/powerpoint/2010/main" Requires="p14">
          <p:contentPart p14:bwMode="auto" r:id="rId18">
            <p14:nvContentPartPr>
              <p14:cNvPr id="40" name="Ink 39">
                <a:extLst>
                  <a:ext uri="{FF2B5EF4-FFF2-40B4-BE49-F238E27FC236}">
                    <a16:creationId xmlns:a16="http://schemas.microsoft.com/office/drawing/2014/main" id="{0B0BE0D4-0C90-0E1C-473D-D520A03B9B5D}"/>
                  </a:ext>
                </a:extLst>
              </p14:cNvPr>
              <p14:cNvContentPartPr/>
              <p14:nvPr/>
            </p14:nvContentPartPr>
            <p14:xfrm>
              <a:off x="1552217" y="3941068"/>
              <a:ext cx="2878200" cy="170280"/>
            </p14:xfrm>
          </p:contentPart>
        </mc:Choice>
        <mc:Fallback>
          <p:pic>
            <p:nvPicPr>
              <p:cNvPr id="40" name="Ink 39">
                <a:extLst>
                  <a:ext uri="{FF2B5EF4-FFF2-40B4-BE49-F238E27FC236}">
                    <a16:creationId xmlns:a16="http://schemas.microsoft.com/office/drawing/2014/main" id="{0B0BE0D4-0C90-0E1C-473D-D520A03B9B5D}"/>
                  </a:ext>
                </a:extLst>
              </p:cNvPr>
              <p:cNvPicPr/>
              <p:nvPr/>
            </p:nvPicPr>
            <p:blipFill>
              <a:blip r:embed="rId19"/>
              <a:stretch>
                <a:fillRect/>
              </a:stretch>
            </p:blipFill>
            <p:spPr>
              <a:xfrm>
                <a:off x="1543577" y="3932428"/>
                <a:ext cx="2895840" cy="187920"/>
              </a:xfrm>
              <a:prstGeom prst="rect">
                <a:avLst/>
              </a:prstGeom>
            </p:spPr>
          </p:pic>
        </mc:Fallback>
      </mc:AlternateContent>
      <mc:AlternateContent xmlns:mc="http://schemas.openxmlformats.org/markup-compatibility/2006">
        <mc:Choice xmlns:p14="http://schemas.microsoft.com/office/powerpoint/2010/main" Requires="p14">
          <p:contentPart p14:bwMode="auto" r:id="rId20">
            <p14:nvContentPartPr>
              <p14:cNvPr id="41" name="Ink 40">
                <a:extLst>
                  <a:ext uri="{FF2B5EF4-FFF2-40B4-BE49-F238E27FC236}">
                    <a16:creationId xmlns:a16="http://schemas.microsoft.com/office/drawing/2014/main" id="{C8582664-7650-E5DA-0B80-B243FE52DDC5}"/>
                  </a:ext>
                </a:extLst>
              </p14:cNvPr>
              <p14:cNvContentPartPr/>
              <p14:nvPr/>
            </p14:nvContentPartPr>
            <p14:xfrm>
              <a:off x="1584617" y="3848548"/>
              <a:ext cx="116640" cy="165240"/>
            </p14:xfrm>
          </p:contentPart>
        </mc:Choice>
        <mc:Fallback>
          <p:pic>
            <p:nvPicPr>
              <p:cNvPr id="41" name="Ink 40">
                <a:extLst>
                  <a:ext uri="{FF2B5EF4-FFF2-40B4-BE49-F238E27FC236}">
                    <a16:creationId xmlns:a16="http://schemas.microsoft.com/office/drawing/2014/main" id="{C8582664-7650-E5DA-0B80-B243FE52DDC5}"/>
                  </a:ext>
                </a:extLst>
              </p:cNvPr>
              <p:cNvPicPr/>
              <p:nvPr/>
            </p:nvPicPr>
            <p:blipFill>
              <a:blip r:embed="rId21"/>
              <a:stretch>
                <a:fillRect/>
              </a:stretch>
            </p:blipFill>
            <p:spPr>
              <a:xfrm>
                <a:off x="1575617" y="3839908"/>
                <a:ext cx="134280" cy="182880"/>
              </a:xfrm>
              <a:prstGeom prst="rect">
                <a:avLst/>
              </a:prstGeom>
            </p:spPr>
          </p:pic>
        </mc:Fallback>
      </mc:AlternateContent>
      <mc:AlternateContent xmlns:mc="http://schemas.openxmlformats.org/markup-compatibility/2006">
        <mc:Choice xmlns:p14="http://schemas.microsoft.com/office/powerpoint/2010/main" Requires="p14">
          <p:contentPart p14:bwMode="auto" r:id="rId22">
            <p14:nvContentPartPr>
              <p14:cNvPr id="43" name="Ink 42">
                <a:extLst>
                  <a:ext uri="{FF2B5EF4-FFF2-40B4-BE49-F238E27FC236}">
                    <a16:creationId xmlns:a16="http://schemas.microsoft.com/office/drawing/2014/main" id="{8B89A5D3-8ADB-FC56-87E1-85E82BA789BA}"/>
                  </a:ext>
                </a:extLst>
              </p14:cNvPr>
              <p14:cNvContentPartPr/>
              <p14:nvPr/>
            </p14:nvContentPartPr>
            <p14:xfrm>
              <a:off x="4224497" y="4018828"/>
              <a:ext cx="92520" cy="162360"/>
            </p14:xfrm>
          </p:contentPart>
        </mc:Choice>
        <mc:Fallback>
          <p:pic>
            <p:nvPicPr>
              <p:cNvPr id="43" name="Ink 42">
                <a:extLst>
                  <a:ext uri="{FF2B5EF4-FFF2-40B4-BE49-F238E27FC236}">
                    <a16:creationId xmlns:a16="http://schemas.microsoft.com/office/drawing/2014/main" id="{8B89A5D3-8ADB-FC56-87E1-85E82BA789BA}"/>
                  </a:ext>
                </a:extLst>
              </p:cNvPr>
              <p:cNvPicPr/>
              <p:nvPr/>
            </p:nvPicPr>
            <p:blipFill>
              <a:blip r:embed="rId23"/>
              <a:stretch>
                <a:fillRect/>
              </a:stretch>
            </p:blipFill>
            <p:spPr>
              <a:xfrm>
                <a:off x="4215857" y="4009828"/>
                <a:ext cx="110160" cy="180000"/>
              </a:xfrm>
              <a:prstGeom prst="rect">
                <a:avLst/>
              </a:prstGeom>
            </p:spPr>
          </p:pic>
        </mc:Fallback>
      </mc:AlternateContent>
    </p:spTree>
    <p:extLst>
      <p:ext uri="{BB962C8B-B14F-4D97-AF65-F5344CB8AC3E}">
        <p14:creationId xmlns:p14="http://schemas.microsoft.com/office/powerpoint/2010/main" val="76627285"/>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F3AFA1-7AC4-4706-9080-2FD2F76AD7EA}"/>
              </a:ext>
            </a:extLst>
          </p:cNvPr>
          <p:cNvSpPr>
            <a:spLocks noGrp="1"/>
          </p:cNvSpPr>
          <p:nvPr>
            <p:ph type="title"/>
          </p:nvPr>
        </p:nvSpPr>
        <p:spPr/>
        <p:txBody>
          <a:bodyPr/>
          <a:lstStyle/>
          <a:p>
            <a:r>
              <a:rPr lang="en-US" dirty="0"/>
              <a:t>(Alternative)  Using </a:t>
            </a:r>
            <a:r>
              <a:rPr lang="en-US" dirty="0" err="1"/>
              <a:t>sqlitebrowser</a:t>
            </a:r>
            <a:endParaRPr lang="en-US" dirty="0"/>
          </a:p>
        </p:txBody>
      </p:sp>
      <p:pic>
        <p:nvPicPr>
          <p:cNvPr id="4" name="Picture 16">
            <a:extLst>
              <a:ext uri="{FF2B5EF4-FFF2-40B4-BE49-F238E27FC236}">
                <a16:creationId xmlns:a16="http://schemas.microsoft.com/office/drawing/2014/main" id="{F5F9D753-479A-4789-A49C-96E18FA7378B}"/>
              </a:ext>
            </a:extLst>
          </p:cNvPr>
          <p:cNvPicPr>
            <a:picLocks noChangeAspect="1"/>
          </p:cNvPicPr>
          <p:nvPr/>
        </p:nvPicPr>
        <p:blipFill>
          <a:blip r:embed="rId2"/>
          <a:stretch>
            <a:fillRect/>
          </a:stretch>
        </p:blipFill>
        <p:spPr>
          <a:xfrm>
            <a:off x="4604374" y="1432543"/>
            <a:ext cx="5428067" cy="5060332"/>
          </a:xfrm>
          <a:prstGeom prst="rect">
            <a:avLst/>
          </a:prstGeom>
        </p:spPr>
      </p:pic>
      <p:sp>
        <p:nvSpPr>
          <p:cNvPr id="5" name="Rectangle 4">
            <a:extLst>
              <a:ext uri="{FF2B5EF4-FFF2-40B4-BE49-F238E27FC236}">
                <a16:creationId xmlns:a16="http://schemas.microsoft.com/office/drawing/2014/main" id="{68CC52F0-63B3-42E3-8253-F767AC940F8E}"/>
              </a:ext>
            </a:extLst>
          </p:cNvPr>
          <p:cNvSpPr/>
          <p:nvPr/>
        </p:nvSpPr>
        <p:spPr>
          <a:xfrm>
            <a:off x="5333651" y="2972296"/>
            <a:ext cx="604390" cy="176923"/>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7" name="Straight Arrow Connector 6">
            <a:extLst>
              <a:ext uri="{FF2B5EF4-FFF2-40B4-BE49-F238E27FC236}">
                <a16:creationId xmlns:a16="http://schemas.microsoft.com/office/drawing/2014/main" id="{2D08EE21-6A1C-4DB5-B8BB-7C6D8F64661F}"/>
              </a:ext>
            </a:extLst>
          </p:cNvPr>
          <p:cNvCxnSpPr/>
          <p:nvPr/>
        </p:nvCxnSpPr>
        <p:spPr>
          <a:xfrm>
            <a:off x="2872409" y="2832652"/>
            <a:ext cx="2461242" cy="228105"/>
          </a:xfrm>
          <a:prstGeom prst="straightConnector1">
            <a:avLst/>
          </a:prstGeom>
          <a:ln>
            <a:tailEnd type="triangle"/>
          </a:ln>
        </p:spPr>
        <p:style>
          <a:lnRef idx="1">
            <a:schemeClr val="accent2"/>
          </a:lnRef>
          <a:fillRef idx="0">
            <a:schemeClr val="accent2"/>
          </a:fillRef>
          <a:effectRef idx="0">
            <a:schemeClr val="accent2"/>
          </a:effectRef>
          <a:fontRef idx="minor">
            <a:schemeClr val="tx1"/>
          </a:fontRef>
        </p:style>
      </p:cxnSp>
      <p:sp>
        <p:nvSpPr>
          <p:cNvPr id="8" name="TextBox 7">
            <a:extLst>
              <a:ext uri="{FF2B5EF4-FFF2-40B4-BE49-F238E27FC236}">
                <a16:creationId xmlns:a16="http://schemas.microsoft.com/office/drawing/2014/main" id="{4B65CF10-7051-4D3B-8971-20656A410E58}"/>
              </a:ext>
            </a:extLst>
          </p:cNvPr>
          <p:cNvSpPr txBox="1"/>
          <p:nvPr/>
        </p:nvSpPr>
        <p:spPr>
          <a:xfrm>
            <a:off x="954505" y="2739782"/>
            <a:ext cx="2054345" cy="369332"/>
          </a:xfrm>
          <a:prstGeom prst="rect">
            <a:avLst/>
          </a:prstGeom>
          <a:solidFill>
            <a:schemeClr val="accent4"/>
          </a:solidFill>
        </p:spPr>
        <p:txBody>
          <a:bodyPr wrap="none" rtlCol="0">
            <a:spAutoFit/>
          </a:bodyPr>
          <a:lstStyle/>
          <a:p>
            <a:r>
              <a:rPr lang="en-US" dirty="0"/>
              <a:t>Exam </a:t>
            </a:r>
            <a:r>
              <a:rPr lang="en-US" i="1" dirty="0">
                <a:solidFill>
                  <a:srgbClr val="7030A0"/>
                </a:solidFill>
              </a:rPr>
              <a:t>contacts</a:t>
            </a:r>
            <a:r>
              <a:rPr lang="en-US" dirty="0"/>
              <a:t> table</a:t>
            </a:r>
          </a:p>
        </p:txBody>
      </p:sp>
    </p:spTree>
    <p:extLst>
      <p:ext uri="{BB962C8B-B14F-4D97-AF65-F5344CB8AC3E}">
        <p14:creationId xmlns:p14="http://schemas.microsoft.com/office/powerpoint/2010/main" val="2074265143"/>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4E0F42EA-4D46-49A8-A64E-27DBBBCC930B}"/>
              </a:ext>
            </a:extLst>
          </p:cNvPr>
          <p:cNvPicPr>
            <a:picLocks noChangeAspect="1"/>
          </p:cNvPicPr>
          <p:nvPr/>
        </p:nvPicPr>
        <p:blipFill>
          <a:blip r:embed="rId2"/>
          <a:stretch>
            <a:fillRect/>
          </a:stretch>
        </p:blipFill>
        <p:spPr>
          <a:xfrm>
            <a:off x="847380" y="1937310"/>
            <a:ext cx="9785591" cy="4227547"/>
          </a:xfrm>
          <a:prstGeom prst="rect">
            <a:avLst/>
          </a:prstGeom>
        </p:spPr>
      </p:pic>
      <p:sp>
        <p:nvSpPr>
          <p:cNvPr id="3" name="TextBox 2">
            <a:extLst>
              <a:ext uri="{FF2B5EF4-FFF2-40B4-BE49-F238E27FC236}">
                <a16:creationId xmlns:a16="http://schemas.microsoft.com/office/drawing/2014/main" id="{02EB02DC-885D-44B0-9A20-487C8C035FCB}"/>
              </a:ext>
            </a:extLst>
          </p:cNvPr>
          <p:cNvSpPr txBox="1"/>
          <p:nvPr/>
        </p:nvSpPr>
        <p:spPr>
          <a:xfrm>
            <a:off x="3474418" y="1354035"/>
            <a:ext cx="1137681" cy="338554"/>
          </a:xfrm>
          <a:prstGeom prst="rect">
            <a:avLst/>
          </a:prstGeom>
          <a:solidFill>
            <a:schemeClr val="accent4">
              <a:lumMod val="20000"/>
              <a:lumOff val="80000"/>
            </a:schemeClr>
          </a:solidFill>
        </p:spPr>
        <p:txBody>
          <a:bodyPr wrap="square">
            <a:spAutoFit/>
          </a:bodyPr>
          <a:lstStyle/>
          <a:p>
            <a:r>
              <a:rPr lang="en-US" sz="1600" b="0" i="0" dirty="0">
                <a:solidFill>
                  <a:srgbClr val="3A3A3A"/>
                </a:solidFill>
                <a:effectLst/>
                <a:latin typeface="-apple-system"/>
              </a:rPr>
              <a:t>contact id</a:t>
            </a:r>
            <a:endParaRPr lang="en-US" sz="1600" dirty="0"/>
          </a:p>
        </p:txBody>
      </p:sp>
      <p:cxnSp>
        <p:nvCxnSpPr>
          <p:cNvPr id="4" name="Straight Arrow Connector 3">
            <a:extLst>
              <a:ext uri="{FF2B5EF4-FFF2-40B4-BE49-F238E27FC236}">
                <a16:creationId xmlns:a16="http://schemas.microsoft.com/office/drawing/2014/main" id="{D24176FD-477B-4F0C-A43F-B49C52DF9FAB}"/>
              </a:ext>
            </a:extLst>
          </p:cNvPr>
          <p:cNvCxnSpPr>
            <a:cxnSpLocks/>
            <a:stCxn id="3" idx="2"/>
          </p:cNvCxnSpPr>
          <p:nvPr/>
        </p:nvCxnSpPr>
        <p:spPr>
          <a:xfrm flipH="1">
            <a:off x="2227575" y="1692589"/>
            <a:ext cx="1815684" cy="649558"/>
          </a:xfrm>
          <a:prstGeom prst="straightConnector1">
            <a:avLst/>
          </a:prstGeom>
          <a:ln>
            <a:tailEnd type="triangle"/>
          </a:ln>
        </p:spPr>
        <p:style>
          <a:lnRef idx="1">
            <a:schemeClr val="accent2"/>
          </a:lnRef>
          <a:fillRef idx="0">
            <a:schemeClr val="accent2"/>
          </a:fillRef>
          <a:effectRef idx="0">
            <a:schemeClr val="accent2"/>
          </a:effectRef>
          <a:fontRef idx="minor">
            <a:schemeClr val="tx1"/>
          </a:fontRef>
        </p:style>
      </p:cxnSp>
      <p:sp>
        <p:nvSpPr>
          <p:cNvPr id="6" name="TextBox 5">
            <a:extLst>
              <a:ext uri="{FF2B5EF4-FFF2-40B4-BE49-F238E27FC236}">
                <a16:creationId xmlns:a16="http://schemas.microsoft.com/office/drawing/2014/main" id="{3FEBDFDA-761B-436D-8A8A-49D7D373EE0E}"/>
              </a:ext>
            </a:extLst>
          </p:cNvPr>
          <p:cNvSpPr txBox="1"/>
          <p:nvPr/>
        </p:nvSpPr>
        <p:spPr>
          <a:xfrm>
            <a:off x="5153371" y="383132"/>
            <a:ext cx="2661028" cy="830997"/>
          </a:xfrm>
          <a:prstGeom prst="rect">
            <a:avLst/>
          </a:prstGeom>
          <a:solidFill>
            <a:schemeClr val="accent4">
              <a:lumMod val="20000"/>
              <a:lumOff val="80000"/>
            </a:schemeClr>
          </a:solidFill>
        </p:spPr>
        <p:txBody>
          <a:bodyPr wrap="square">
            <a:spAutoFit/>
          </a:bodyPr>
          <a:lstStyle/>
          <a:p>
            <a:r>
              <a:rPr lang="en-GB" sz="1600" b="0" i="0" dirty="0">
                <a:solidFill>
                  <a:srgbClr val="3A3A3A"/>
                </a:solidFill>
                <a:effectLst/>
                <a:latin typeface="-apple-system"/>
              </a:rPr>
              <a:t>The last time this contact is contacted. The format is in milliseconds.</a:t>
            </a:r>
            <a:endParaRPr lang="en-US" sz="1600" dirty="0"/>
          </a:p>
        </p:txBody>
      </p:sp>
      <p:cxnSp>
        <p:nvCxnSpPr>
          <p:cNvPr id="7" name="Straight Arrow Connector 6">
            <a:extLst>
              <a:ext uri="{FF2B5EF4-FFF2-40B4-BE49-F238E27FC236}">
                <a16:creationId xmlns:a16="http://schemas.microsoft.com/office/drawing/2014/main" id="{02BBC5B3-B009-4818-8C9C-58781C699143}"/>
              </a:ext>
            </a:extLst>
          </p:cNvPr>
          <p:cNvCxnSpPr>
            <a:cxnSpLocks/>
          </p:cNvCxnSpPr>
          <p:nvPr/>
        </p:nvCxnSpPr>
        <p:spPr>
          <a:xfrm flipH="1">
            <a:off x="3360821" y="1211129"/>
            <a:ext cx="2735179" cy="3264618"/>
          </a:xfrm>
          <a:prstGeom prst="straightConnector1">
            <a:avLst/>
          </a:prstGeom>
          <a:ln>
            <a:tailEnd type="triangle"/>
          </a:ln>
        </p:spPr>
        <p:style>
          <a:lnRef idx="1">
            <a:schemeClr val="accent2"/>
          </a:lnRef>
          <a:fillRef idx="0">
            <a:schemeClr val="accent2"/>
          </a:fillRef>
          <a:effectRef idx="0">
            <a:schemeClr val="accent2"/>
          </a:effectRef>
          <a:fontRef idx="minor">
            <a:schemeClr val="tx1"/>
          </a:fontRef>
        </p:style>
      </p:cxnSp>
      <p:sp>
        <p:nvSpPr>
          <p:cNvPr id="10" name="TextBox 9">
            <a:extLst>
              <a:ext uri="{FF2B5EF4-FFF2-40B4-BE49-F238E27FC236}">
                <a16:creationId xmlns:a16="http://schemas.microsoft.com/office/drawing/2014/main" id="{A2C346DB-F829-4FEB-B735-3B59B9713F5A}"/>
              </a:ext>
            </a:extLst>
          </p:cNvPr>
          <p:cNvSpPr txBox="1"/>
          <p:nvPr/>
        </p:nvSpPr>
        <p:spPr>
          <a:xfrm>
            <a:off x="8169211" y="809462"/>
            <a:ext cx="2661028" cy="584775"/>
          </a:xfrm>
          <a:prstGeom prst="rect">
            <a:avLst/>
          </a:prstGeom>
          <a:solidFill>
            <a:schemeClr val="accent4">
              <a:lumMod val="20000"/>
              <a:lumOff val="80000"/>
            </a:schemeClr>
          </a:solidFill>
        </p:spPr>
        <p:txBody>
          <a:bodyPr wrap="square">
            <a:spAutoFit/>
          </a:bodyPr>
          <a:lstStyle/>
          <a:p>
            <a:r>
              <a:rPr lang="en-GB" sz="1600" b="0" i="0" dirty="0">
                <a:solidFill>
                  <a:srgbClr val="3A3A3A"/>
                </a:solidFill>
                <a:effectLst/>
                <a:latin typeface="-apple-system"/>
              </a:rPr>
              <a:t>The timestamp this contact is updated for the last time.</a:t>
            </a:r>
            <a:endParaRPr lang="en-US" sz="1600" dirty="0"/>
          </a:p>
        </p:txBody>
      </p:sp>
      <p:cxnSp>
        <p:nvCxnSpPr>
          <p:cNvPr id="11" name="Straight Arrow Connector 10">
            <a:extLst>
              <a:ext uri="{FF2B5EF4-FFF2-40B4-BE49-F238E27FC236}">
                <a16:creationId xmlns:a16="http://schemas.microsoft.com/office/drawing/2014/main" id="{188C44F4-8AC3-40C9-9D80-7E7B9A043400}"/>
              </a:ext>
            </a:extLst>
          </p:cNvPr>
          <p:cNvCxnSpPr>
            <a:cxnSpLocks/>
            <a:stCxn id="10" idx="2"/>
          </p:cNvCxnSpPr>
          <p:nvPr/>
        </p:nvCxnSpPr>
        <p:spPr>
          <a:xfrm flipH="1">
            <a:off x="4612099" y="1394237"/>
            <a:ext cx="4887626" cy="4437068"/>
          </a:xfrm>
          <a:prstGeom prst="straightConnector1">
            <a:avLst/>
          </a:prstGeom>
          <a:ln>
            <a:tailEnd type="triangle"/>
          </a:ln>
        </p:spPr>
        <p:style>
          <a:lnRef idx="1">
            <a:schemeClr val="accent2"/>
          </a:lnRef>
          <a:fillRef idx="0">
            <a:schemeClr val="accent2"/>
          </a:fillRef>
          <a:effectRef idx="0">
            <a:schemeClr val="accent2"/>
          </a:effectRef>
          <a:fontRef idx="minor">
            <a:schemeClr val="tx1"/>
          </a:fontRef>
        </p:style>
      </p:cxnSp>
      <p:sp>
        <p:nvSpPr>
          <p:cNvPr id="18" name="Rectangle 17">
            <a:extLst>
              <a:ext uri="{FF2B5EF4-FFF2-40B4-BE49-F238E27FC236}">
                <a16:creationId xmlns:a16="http://schemas.microsoft.com/office/drawing/2014/main" id="{A108A489-7B01-4224-9612-49439D96F16A}"/>
              </a:ext>
            </a:extLst>
          </p:cNvPr>
          <p:cNvSpPr/>
          <p:nvPr/>
        </p:nvSpPr>
        <p:spPr>
          <a:xfrm>
            <a:off x="1352756" y="4453200"/>
            <a:ext cx="2037347" cy="224591"/>
          </a:xfrm>
          <a:prstGeom prst="rect">
            <a:avLst/>
          </a:prstGeom>
          <a:noFill/>
          <a:ln>
            <a:solidFill>
              <a:srgbClr val="FF0000"/>
            </a:solid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dirty="0"/>
          </a:p>
        </p:txBody>
      </p:sp>
      <p:sp>
        <p:nvSpPr>
          <p:cNvPr id="19" name="Rectangle 18">
            <a:extLst>
              <a:ext uri="{FF2B5EF4-FFF2-40B4-BE49-F238E27FC236}">
                <a16:creationId xmlns:a16="http://schemas.microsoft.com/office/drawing/2014/main" id="{B53D5C3E-AEDF-4AA3-9B8E-F736E6FBBA8B}"/>
              </a:ext>
            </a:extLst>
          </p:cNvPr>
          <p:cNvSpPr/>
          <p:nvPr/>
        </p:nvSpPr>
        <p:spPr>
          <a:xfrm>
            <a:off x="1360778" y="5910832"/>
            <a:ext cx="2689854" cy="194699"/>
          </a:xfrm>
          <a:prstGeom prst="rect">
            <a:avLst/>
          </a:prstGeom>
          <a:noFill/>
          <a:ln>
            <a:solidFill>
              <a:srgbClr val="FF0000"/>
            </a:solid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dirty="0"/>
          </a:p>
        </p:txBody>
      </p:sp>
      <p:sp>
        <p:nvSpPr>
          <p:cNvPr id="2" name="Title 1">
            <a:extLst>
              <a:ext uri="{FF2B5EF4-FFF2-40B4-BE49-F238E27FC236}">
                <a16:creationId xmlns:a16="http://schemas.microsoft.com/office/drawing/2014/main" id="{7BBAD77C-7772-9029-D9CA-F462E2E2C687}"/>
              </a:ext>
            </a:extLst>
          </p:cNvPr>
          <p:cNvSpPr>
            <a:spLocks noGrp="1"/>
          </p:cNvSpPr>
          <p:nvPr>
            <p:ph type="title"/>
          </p:nvPr>
        </p:nvSpPr>
        <p:spPr/>
        <p:txBody>
          <a:bodyPr/>
          <a:lstStyle/>
          <a:p>
            <a:r>
              <a:rPr lang="en-US" dirty="0"/>
              <a:t>(Alternative)</a:t>
            </a:r>
          </a:p>
        </p:txBody>
      </p:sp>
    </p:spTree>
    <p:extLst>
      <p:ext uri="{BB962C8B-B14F-4D97-AF65-F5344CB8AC3E}">
        <p14:creationId xmlns:p14="http://schemas.microsoft.com/office/powerpoint/2010/main" val="702882773"/>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69FC16D4-C535-47BC-9AFE-70F32EC91B16}"/>
              </a:ext>
            </a:extLst>
          </p:cNvPr>
          <p:cNvPicPr>
            <a:picLocks noChangeAspect="1"/>
          </p:cNvPicPr>
          <p:nvPr/>
        </p:nvPicPr>
        <p:blipFill rotWithShape="1">
          <a:blip r:embed="rId3"/>
          <a:srcRect l="22597"/>
          <a:stretch/>
        </p:blipFill>
        <p:spPr>
          <a:xfrm>
            <a:off x="1013948" y="3890148"/>
            <a:ext cx="10340466" cy="1510748"/>
          </a:xfrm>
          <a:prstGeom prst="rect">
            <a:avLst/>
          </a:prstGeom>
        </p:spPr>
      </p:pic>
      <p:pic>
        <p:nvPicPr>
          <p:cNvPr id="7" name="Picture 6" descr="Graphical user interface, application&#10;&#10;Description automatically generated">
            <a:extLst>
              <a:ext uri="{FF2B5EF4-FFF2-40B4-BE49-F238E27FC236}">
                <a16:creationId xmlns:a16="http://schemas.microsoft.com/office/drawing/2014/main" id="{81FC4861-FE64-4A43-A229-446B4E99EE91}"/>
              </a:ext>
            </a:extLst>
          </p:cNvPr>
          <p:cNvPicPr>
            <a:picLocks noChangeAspect="1"/>
          </p:cNvPicPr>
          <p:nvPr/>
        </p:nvPicPr>
        <p:blipFill>
          <a:blip r:embed="rId4"/>
          <a:stretch>
            <a:fillRect/>
          </a:stretch>
        </p:blipFill>
        <p:spPr>
          <a:xfrm>
            <a:off x="1013948" y="2125990"/>
            <a:ext cx="5802872" cy="1510748"/>
          </a:xfrm>
          <a:prstGeom prst="rect">
            <a:avLst/>
          </a:prstGeom>
        </p:spPr>
      </p:pic>
      <p:pic>
        <p:nvPicPr>
          <p:cNvPr id="9" name="Picture 8" descr="Text&#10;&#10;Description automatically generated with medium confidence">
            <a:extLst>
              <a:ext uri="{FF2B5EF4-FFF2-40B4-BE49-F238E27FC236}">
                <a16:creationId xmlns:a16="http://schemas.microsoft.com/office/drawing/2014/main" id="{E2F68F52-0928-4CD0-9979-44B2222F9130}"/>
              </a:ext>
            </a:extLst>
          </p:cNvPr>
          <p:cNvPicPr>
            <a:picLocks noChangeAspect="1"/>
          </p:cNvPicPr>
          <p:nvPr/>
        </p:nvPicPr>
        <p:blipFill>
          <a:blip r:embed="rId5"/>
          <a:stretch>
            <a:fillRect/>
          </a:stretch>
        </p:blipFill>
        <p:spPr>
          <a:xfrm>
            <a:off x="8595735" y="5783752"/>
            <a:ext cx="2758679" cy="632515"/>
          </a:xfrm>
          <a:prstGeom prst="rect">
            <a:avLst/>
          </a:prstGeom>
        </p:spPr>
      </p:pic>
      <p:sp>
        <p:nvSpPr>
          <p:cNvPr id="2" name="Title 1">
            <a:extLst>
              <a:ext uri="{FF2B5EF4-FFF2-40B4-BE49-F238E27FC236}">
                <a16:creationId xmlns:a16="http://schemas.microsoft.com/office/drawing/2014/main" id="{1E4C6D54-09AC-A2C4-78F5-54ADA3D05949}"/>
              </a:ext>
            </a:extLst>
          </p:cNvPr>
          <p:cNvSpPr>
            <a:spLocks noGrp="1"/>
          </p:cNvSpPr>
          <p:nvPr>
            <p:ph type="title"/>
          </p:nvPr>
        </p:nvSpPr>
        <p:spPr/>
        <p:txBody>
          <a:bodyPr/>
          <a:lstStyle/>
          <a:p>
            <a:r>
              <a:rPr lang="en-US" dirty="0"/>
              <a:t>(Alternative) Show rows in </a:t>
            </a:r>
            <a:r>
              <a:rPr lang="en-US" dirty="0">
                <a:solidFill>
                  <a:schemeClr val="accent2"/>
                </a:solidFill>
              </a:rPr>
              <a:t>contacts</a:t>
            </a:r>
            <a:r>
              <a:rPr lang="en-US" dirty="0"/>
              <a:t> table</a:t>
            </a:r>
          </a:p>
        </p:txBody>
      </p:sp>
    </p:spTree>
    <p:extLst>
      <p:ext uri="{BB962C8B-B14F-4D97-AF65-F5344CB8AC3E}">
        <p14:creationId xmlns:p14="http://schemas.microsoft.com/office/powerpoint/2010/main" val="2794388900"/>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0CFB5B5-1E6D-4885-2A2F-AFF714A80752}"/>
              </a:ext>
            </a:extLst>
          </p:cNvPr>
          <p:cNvSpPr>
            <a:spLocks noGrp="1"/>
          </p:cNvSpPr>
          <p:nvPr>
            <p:ph type="title"/>
          </p:nvPr>
        </p:nvSpPr>
        <p:spPr/>
        <p:txBody>
          <a:bodyPr/>
          <a:lstStyle/>
          <a:p>
            <a:r>
              <a:rPr lang="en-US" dirty="0"/>
              <a:t>When a new </a:t>
            </a:r>
            <a:r>
              <a:rPr lang="en-US" dirty="0">
                <a:solidFill>
                  <a:schemeClr val="accent2"/>
                </a:solidFill>
              </a:rPr>
              <a:t>raw contact entry </a:t>
            </a:r>
            <a:r>
              <a:rPr lang="en-US" dirty="0"/>
              <a:t>is added to </a:t>
            </a:r>
            <a:r>
              <a:rPr lang="en-US" dirty="0" err="1">
                <a:solidFill>
                  <a:srgbClr val="7030A0"/>
                </a:solidFill>
              </a:rPr>
              <a:t>raw_contacts</a:t>
            </a:r>
            <a:r>
              <a:rPr lang="en-US" dirty="0">
                <a:solidFill>
                  <a:srgbClr val="7030A0"/>
                </a:solidFill>
              </a:rPr>
              <a:t> </a:t>
            </a:r>
            <a:r>
              <a:rPr lang="en-US" dirty="0"/>
              <a:t>table</a:t>
            </a:r>
          </a:p>
        </p:txBody>
      </p:sp>
      <p:sp>
        <p:nvSpPr>
          <p:cNvPr id="3" name="Text Placeholder 2">
            <a:extLst>
              <a:ext uri="{FF2B5EF4-FFF2-40B4-BE49-F238E27FC236}">
                <a16:creationId xmlns:a16="http://schemas.microsoft.com/office/drawing/2014/main" id="{E1EB7B39-B70C-2140-F198-7BF9FF178B06}"/>
              </a:ext>
            </a:extLst>
          </p:cNvPr>
          <p:cNvSpPr>
            <a:spLocks noGrp="1"/>
          </p:cNvSpPr>
          <p:nvPr>
            <p:ph type="body" idx="1"/>
          </p:nvPr>
        </p:nvSpPr>
        <p:spPr/>
        <p:txBody>
          <a:bodyPr/>
          <a:lstStyle/>
          <a:p>
            <a:endParaRPr lang="en-US"/>
          </a:p>
        </p:txBody>
      </p:sp>
    </p:spTree>
    <p:extLst>
      <p:ext uri="{BB962C8B-B14F-4D97-AF65-F5344CB8AC3E}">
        <p14:creationId xmlns:p14="http://schemas.microsoft.com/office/powerpoint/2010/main" val="49358649"/>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03D01E32-49EA-42FA-ABDE-B0249BF84335}"/>
              </a:ext>
            </a:extLst>
          </p:cNvPr>
          <p:cNvPicPr>
            <a:picLocks noChangeAspect="1"/>
          </p:cNvPicPr>
          <p:nvPr/>
        </p:nvPicPr>
        <p:blipFill>
          <a:blip r:embed="rId2"/>
          <a:stretch>
            <a:fillRect/>
          </a:stretch>
        </p:blipFill>
        <p:spPr>
          <a:xfrm>
            <a:off x="1420624" y="1382852"/>
            <a:ext cx="8890024" cy="4202415"/>
          </a:xfrm>
          <a:prstGeom prst="rect">
            <a:avLst/>
          </a:prstGeom>
        </p:spPr>
      </p:pic>
    </p:spTree>
    <p:extLst>
      <p:ext uri="{BB962C8B-B14F-4D97-AF65-F5344CB8AC3E}">
        <p14:creationId xmlns:p14="http://schemas.microsoft.com/office/powerpoint/2010/main" val="398994365"/>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1AB64CB0-A719-EB35-2176-ECF20A7F96CE}"/>
              </a:ext>
            </a:extLst>
          </p:cNvPr>
          <p:cNvPicPr>
            <a:picLocks noChangeAspect="1"/>
          </p:cNvPicPr>
          <p:nvPr/>
        </p:nvPicPr>
        <p:blipFill>
          <a:blip r:embed="rId2"/>
          <a:stretch>
            <a:fillRect/>
          </a:stretch>
        </p:blipFill>
        <p:spPr>
          <a:xfrm>
            <a:off x="1333628" y="303746"/>
            <a:ext cx="8126678" cy="4737352"/>
          </a:xfrm>
          <a:prstGeom prst="rect">
            <a:avLst/>
          </a:prstGeom>
        </p:spPr>
      </p:pic>
      <p:pic>
        <p:nvPicPr>
          <p:cNvPr id="6" name="Picture 5">
            <a:extLst>
              <a:ext uri="{FF2B5EF4-FFF2-40B4-BE49-F238E27FC236}">
                <a16:creationId xmlns:a16="http://schemas.microsoft.com/office/drawing/2014/main" id="{B03CC534-F117-8CF9-846C-82C1539C32BD}"/>
              </a:ext>
            </a:extLst>
          </p:cNvPr>
          <p:cNvPicPr>
            <a:picLocks noChangeAspect="1"/>
          </p:cNvPicPr>
          <p:nvPr/>
        </p:nvPicPr>
        <p:blipFill>
          <a:blip r:embed="rId3"/>
          <a:stretch>
            <a:fillRect/>
          </a:stretch>
        </p:blipFill>
        <p:spPr>
          <a:xfrm>
            <a:off x="1333628" y="5252736"/>
            <a:ext cx="8085521" cy="1181202"/>
          </a:xfrm>
          <a:prstGeom prst="rect">
            <a:avLst/>
          </a:prstGeom>
        </p:spPr>
      </p:pic>
      <p:grpSp>
        <p:nvGrpSpPr>
          <p:cNvPr id="10" name="Group 9">
            <a:extLst>
              <a:ext uri="{FF2B5EF4-FFF2-40B4-BE49-F238E27FC236}">
                <a16:creationId xmlns:a16="http://schemas.microsoft.com/office/drawing/2014/main" id="{CE3A5BA5-5A93-D98C-3322-43FEECDE1A0B}"/>
              </a:ext>
            </a:extLst>
          </p:cNvPr>
          <p:cNvGrpSpPr/>
          <p:nvPr/>
        </p:nvGrpSpPr>
        <p:grpSpPr>
          <a:xfrm>
            <a:off x="6375063" y="1819269"/>
            <a:ext cx="1694880" cy="1742760"/>
            <a:chOff x="6375063" y="1819269"/>
            <a:chExt cx="1694880" cy="1742760"/>
          </a:xfrm>
        </p:grpSpPr>
        <mc:AlternateContent xmlns:mc="http://schemas.openxmlformats.org/markup-compatibility/2006" xmlns:p14="http://schemas.microsoft.com/office/powerpoint/2010/main">
          <mc:Choice Requires="p14">
            <p:contentPart p14:bwMode="auto" r:id="rId4">
              <p14:nvContentPartPr>
                <p14:cNvPr id="7" name="Ink 6">
                  <a:extLst>
                    <a:ext uri="{FF2B5EF4-FFF2-40B4-BE49-F238E27FC236}">
                      <a16:creationId xmlns:a16="http://schemas.microsoft.com/office/drawing/2014/main" id="{5A72CA5B-4D67-5DF1-3334-E54951BCCDAF}"/>
                    </a:ext>
                  </a:extLst>
                </p14:cNvPr>
                <p14:cNvContentPartPr/>
                <p14:nvPr/>
              </p14:nvContentPartPr>
              <p14:xfrm>
                <a:off x="6375063" y="1819269"/>
                <a:ext cx="1262520" cy="396720"/>
              </p14:xfrm>
            </p:contentPart>
          </mc:Choice>
          <mc:Fallback xmlns="">
            <p:pic>
              <p:nvPicPr>
                <p:cNvPr id="7" name="Ink 6">
                  <a:extLst>
                    <a:ext uri="{FF2B5EF4-FFF2-40B4-BE49-F238E27FC236}">
                      <a16:creationId xmlns:a16="http://schemas.microsoft.com/office/drawing/2014/main" id="{5A72CA5B-4D67-5DF1-3334-E54951BCCDAF}"/>
                    </a:ext>
                  </a:extLst>
                </p:cNvPr>
                <p:cNvPicPr/>
                <p:nvPr/>
              </p:nvPicPr>
              <p:blipFill>
                <a:blip r:embed="rId5"/>
                <a:stretch>
                  <a:fillRect/>
                </a:stretch>
              </p:blipFill>
              <p:spPr>
                <a:xfrm>
                  <a:off x="6366063" y="1810269"/>
                  <a:ext cx="1280160" cy="414360"/>
                </a:xfrm>
                <a:prstGeom prst="rect">
                  <a:avLst/>
                </a:prstGeom>
              </p:spPr>
            </p:pic>
          </mc:Fallback>
        </mc:AlternateContent>
        <mc:AlternateContent xmlns:mc="http://schemas.openxmlformats.org/markup-compatibility/2006" xmlns:p14="http://schemas.microsoft.com/office/powerpoint/2010/main">
          <mc:Choice Requires="p14">
            <p:contentPart p14:bwMode="auto" r:id="rId6">
              <p14:nvContentPartPr>
                <p14:cNvPr id="8" name="Ink 7">
                  <a:extLst>
                    <a:ext uri="{FF2B5EF4-FFF2-40B4-BE49-F238E27FC236}">
                      <a16:creationId xmlns:a16="http://schemas.microsoft.com/office/drawing/2014/main" id="{332830CB-8388-6757-E6CE-9A3B9F1867BC}"/>
                    </a:ext>
                  </a:extLst>
                </p14:cNvPr>
                <p14:cNvContentPartPr/>
                <p14:nvPr/>
              </p14:nvContentPartPr>
              <p14:xfrm>
                <a:off x="6391983" y="3031389"/>
                <a:ext cx="1172520" cy="530640"/>
              </p14:xfrm>
            </p:contentPart>
          </mc:Choice>
          <mc:Fallback xmlns="">
            <p:pic>
              <p:nvPicPr>
                <p:cNvPr id="8" name="Ink 7">
                  <a:extLst>
                    <a:ext uri="{FF2B5EF4-FFF2-40B4-BE49-F238E27FC236}">
                      <a16:creationId xmlns:a16="http://schemas.microsoft.com/office/drawing/2014/main" id="{332830CB-8388-6757-E6CE-9A3B9F1867BC}"/>
                    </a:ext>
                  </a:extLst>
                </p:cNvPr>
                <p:cNvPicPr/>
                <p:nvPr/>
              </p:nvPicPr>
              <p:blipFill>
                <a:blip r:embed="rId7"/>
                <a:stretch>
                  <a:fillRect/>
                </a:stretch>
              </p:blipFill>
              <p:spPr>
                <a:xfrm>
                  <a:off x="6383343" y="3022749"/>
                  <a:ext cx="1190160" cy="54828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9" name="Ink 8">
                  <a:extLst>
                    <a:ext uri="{FF2B5EF4-FFF2-40B4-BE49-F238E27FC236}">
                      <a16:creationId xmlns:a16="http://schemas.microsoft.com/office/drawing/2014/main" id="{626F82FB-988A-CA78-79A3-5547779AAB33}"/>
                    </a:ext>
                  </a:extLst>
                </p14:cNvPr>
                <p14:cNvContentPartPr/>
                <p14:nvPr/>
              </p14:nvContentPartPr>
              <p14:xfrm>
                <a:off x="7651983" y="2157309"/>
                <a:ext cx="417960" cy="1010160"/>
              </p14:xfrm>
            </p:contentPart>
          </mc:Choice>
          <mc:Fallback xmlns="">
            <p:pic>
              <p:nvPicPr>
                <p:cNvPr id="9" name="Ink 8">
                  <a:extLst>
                    <a:ext uri="{FF2B5EF4-FFF2-40B4-BE49-F238E27FC236}">
                      <a16:creationId xmlns:a16="http://schemas.microsoft.com/office/drawing/2014/main" id="{626F82FB-988A-CA78-79A3-5547779AAB33}"/>
                    </a:ext>
                  </a:extLst>
                </p:cNvPr>
                <p:cNvPicPr/>
                <p:nvPr/>
              </p:nvPicPr>
              <p:blipFill>
                <a:blip r:embed="rId9"/>
                <a:stretch>
                  <a:fillRect/>
                </a:stretch>
              </p:blipFill>
              <p:spPr>
                <a:xfrm>
                  <a:off x="7643343" y="2148309"/>
                  <a:ext cx="435600" cy="1027800"/>
                </a:xfrm>
                <a:prstGeom prst="rect">
                  <a:avLst/>
                </a:prstGeom>
              </p:spPr>
            </p:pic>
          </mc:Fallback>
        </mc:AlternateContent>
      </p:grpSp>
      <p:grpSp>
        <p:nvGrpSpPr>
          <p:cNvPr id="19" name="Group 18">
            <a:extLst>
              <a:ext uri="{FF2B5EF4-FFF2-40B4-BE49-F238E27FC236}">
                <a16:creationId xmlns:a16="http://schemas.microsoft.com/office/drawing/2014/main" id="{F45D3D60-4C20-568B-E9CB-EEB6C7230799}"/>
              </a:ext>
            </a:extLst>
          </p:cNvPr>
          <p:cNvGrpSpPr/>
          <p:nvPr/>
        </p:nvGrpSpPr>
        <p:grpSpPr>
          <a:xfrm>
            <a:off x="7708143" y="1555749"/>
            <a:ext cx="842760" cy="337680"/>
            <a:chOff x="7708143" y="1555749"/>
            <a:chExt cx="842760" cy="337680"/>
          </a:xfrm>
        </p:grpSpPr>
        <mc:AlternateContent xmlns:mc="http://schemas.openxmlformats.org/markup-compatibility/2006" xmlns:p14="http://schemas.microsoft.com/office/powerpoint/2010/main">
          <mc:Choice Requires="p14">
            <p:contentPart p14:bwMode="auto" r:id="rId10">
              <p14:nvContentPartPr>
                <p14:cNvPr id="11" name="Ink 10">
                  <a:extLst>
                    <a:ext uri="{FF2B5EF4-FFF2-40B4-BE49-F238E27FC236}">
                      <a16:creationId xmlns:a16="http://schemas.microsoft.com/office/drawing/2014/main" id="{247628DF-31AA-96DA-510C-5F9DD8B27226}"/>
                    </a:ext>
                  </a:extLst>
                </p14:cNvPr>
                <p14:cNvContentPartPr/>
                <p14:nvPr/>
              </p14:nvContentPartPr>
              <p14:xfrm>
                <a:off x="7708143" y="1714869"/>
                <a:ext cx="239400" cy="151560"/>
              </p14:xfrm>
            </p:contentPart>
          </mc:Choice>
          <mc:Fallback xmlns="">
            <p:pic>
              <p:nvPicPr>
                <p:cNvPr id="11" name="Ink 10">
                  <a:extLst>
                    <a:ext uri="{FF2B5EF4-FFF2-40B4-BE49-F238E27FC236}">
                      <a16:creationId xmlns:a16="http://schemas.microsoft.com/office/drawing/2014/main" id="{247628DF-31AA-96DA-510C-5F9DD8B27226}"/>
                    </a:ext>
                  </a:extLst>
                </p:cNvPr>
                <p:cNvPicPr/>
                <p:nvPr/>
              </p:nvPicPr>
              <p:blipFill>
                <a:blip r:embed="rId11"/>
                <a:stretch>
                  <a:fillRect/>
                </a:stretch>
              </p:blipFill>
              <p:spPr>
                <a:xfrm>
                  <a:off x="7699503" y="1705869"/>
                  <a:ext cx="257040" cy="169200"/>
                </a:xfrm>
                <a:prstGeom prst="rect">
                  <a:avLst/>
                </a:prstGeom>
              </p:spPr>
            </p:pic>
          </mc:Fallback>
        </mc:AlternateContent>
        <mc:AlternateContent xmlns:mc="http://schemas.openxmlformats.org/markup-compatibility/2006" xmlns:p14="http://schemas.microsoft.com/office/powerpoint/2010/main">
          <mc:Choice Requires="p14">
            <p:contentPart p14:bwMode="auto" r:id="rId12">
              <p14:nvContentPartPr>
                <p14:cNvPr id="12" name="Ink 11">
                  <a:extLst>
                    <a:ext uri="{FF2B5EF4-FFF2-40B4-BE49-F238E27FC236}">
                      <a16:creationId xmlns:a16="http://schemas.microsoft.com/office/drawing/2014/main" id="{3083D0B3-C61E-4F36-7C0F-EF6EA1E814C5}"/>
                    </a:ext>
                  </a:extLst>
                </p14:cNvPr>
                <p14:cNvContentPartPr/>
                <p14:nvPr/>
              </p14:nvContentPartPr>
              <p14:xfrm>
                <a:off x="7986423" y="1694709"/>
                <a:ext cx="99000" cy="149400"/>
              </p14:xfrm>
            </p:contentPart>
          </mc:Choice>
          <mc:Fallback xmlns="">
            <p:pic>
              <p:nvPicPr>
                <p:cNvPr id="12" name="Ink 11">
                  <a:extLst>
                    <a:ext uri="{FF2B5EF4-FFF2-40B4-BE49-F238E27FC236}">
                      <a16:creationId xmlns:a16="http://schemas.microsoft.com/office/drawing/2014/main" id="{3083D0B3-C61E-4F36-7C0F-EF6EA1E814C5}"/>
                    </a:ext>
                  </a:extLst>
                </p:cNvPr>
                <p:cNvPicPr/>
                <p:nvPr/>
              </p:nvPicPr>
              <p:blipFill>
                <a:blip r:embed="rId13"/>
                <a:stretch>
                  <a:fillRect/>
                </a:stretch>
              </p:blipFill>
              <p:spPr>
                <a:xfrm>
                  <a:off x="7977783" y="1686069"/>
                  <a:ext cx="116640" cy="16704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14" name="Ink 13">
                  <a:extLst>
                    <a:ext uri="{FF2B5EF4-FFF2-40B4-BE49-F238E27FC236}">
                      <a16:creationId xmlns:a16="http://schemas.microsoft.com/office/drawing/2014/main" id="{D09C2B45-97EC-394E-13C0-D04B5F79D722}"/>
                    </a:ext>
                  </a:extLst>
                </p14:cNvPr>
                <p14:cNvContentPartPr/>
                <p14:nvPr/>
              </p14:nvContentPartPr>
              <p14:xfrm>
                <a:off x="8101263" y="1700469"/>
                <a:ext cx="95760" cy="24480"/>
              </p14:xfrm>
            </p:contentPart>
          </mc:Choice>
          <mc:Fallback xmlns="">
            <p:pic>
              <p:nvPicPr>
                <p:cNvPr id="14" name="Ink 13">
                  <a:extLst>
                    <a:ext uri="{FF2B5EF4-FFF2-40B4-BE49-F238E27FC236}">
                      <a16:creationId xmlns:a16="http://schemas.microsoft.com/office/drawing/2014/main" id="{D09C2B45-97EC-394E-13C0-D04B5F79D722}"/>
                    </a:ext>
                  </a:extLst>
                </p:cNvPr>
                <p:cNvPicPr/>
                <p:nvPr/>
              </p:nvPicPr>
              <p:blipFill>
                <a:blip r:embed="rId15"/>
                <a:stretch>
                  <a:fillRect/>
                </a:stretch>
              </p:blipFill>
              <p:spPr>
                <a:xfrm>
                  <a:off x="8092263" y="1691469"/>
                  <a:ext cx="113400" cy="42120"/>
                </a:xfrm>
                <a:prstGeom prst="rect">
                  <a:avLst/>
                </a:prstGeom>
              </p:spPr>
            </p:pic>
          </mc:Fallback>
        </mc:AlternateContent>
        <mc:AlternateContent xmlns:mc="http://schemas.openxmlformats.org/markup-compatibility/2006" xmlns:p14="http://schemas.microsoft.com/office/powerpoint/2010/main">
          <mc:Choice Requires="p14">
            <p:contentPart p14:bwMode="auto" r:id="rId16">
              <p14:nvContentPartPr>
                <p14:cNvPr id="15" name="Ink 14">
                  <a:extLst>
                    <a:ext uri="{FF2B5EF4-FFF2-40B4-BE49-F238E27FC236}">
                      <a16:creationId xmlns:a16="http://schemas.microsoft.com/office/drawing/2014/main" id="{F060C111-48B8-68C4-CF3C-8EE1D353D134}"/>
                    </a:ext>
                  </a:extLst>
                </p14:cNvPr>
                <p14:cNvContentPartPr/>
                <p14:nvPr/>
              </p14:nvContentPartPr>
              <p14:xfrm>
                <a:off x="8132943" y="1611909"/>
                <a:ext cx="49320" cy="255600"/>
              </p14:xfrm>
            </p:contentPart>
          </mc:Choice>
          <mc:Fallback xmlns="">
            <p:pic>
              <p:nvPicPr>
                <p:cNvPr id="15" name="Ink 14">
                  <a:extLst>
                    <a:ext uri="{FF2B5EF4-FFF2-40B4-BE49-F238E27FC236}">
                      <a16:creationId xmlns:a16="http://schemas.microsoft.com/office/drawing/2014/main" id="{F060C111-48B8-68C4-CF3C-8EE1D353D134}"/>
                    </a:ext>
                  </a:extLst>
                </p:cNvPr>
                <p:cNvPicPr/>
                <p:nvPr/>
              </p:nvPicPr>
              <p:blipFill>
                <a:blip r:embed="rId17"/>
                <a:stretch>
                  <a:fillRect/>
                </a:stretch>
              </p:blipFill>
              <p:spPr>
                <a:xfrm>
                  <a:off x="8123943" y="1603269"/>
                  <a:ext cx="66960" cy="273240"/>
                </a:xfrm>
                <a:prstGeom prst="rect">
                  <a:avLst/>
                </a:prstGeom>
              </p:spPr>
            </p:pic>
          </mc:Fallback>
        </mc:AlternateContent>
        <mc:AlternateContent xmlns:mc="http://schemas.openxmlformats.org/markup-compatibility/2006" xmlns:p14="http://schemas.microsoft.com/office/powerpoint/2010/main">
          <mc:Choice Requires="p14">
            <p:contentPart p14:bwMode="auto" r:id="rId18">
              <p14:nvContentPartPr>
                <p14:cNvPr id="16" name="Ink 15">
                  <a:extLst>
                    <a:ext uri="{FF2B5EF4-FFF2-40B4-BE49-F238E27FC236}">
                      <a16:creationId xmlns:a16="http://schemas.microsoft.com/office/drawing/2014/main" id="{210CA226-44C6-8853-0D4D-E90F718A4C66}"/>
                    </a:ext>
                  </a:extLst>
                </p14:cNvPr>
                <p14:cNvContentPartPr/>
                <p14:nvPr/>
              </p14:nvContentPartPr>
              <p14:xfrm>
                <a:off x="8301423" y="1743669"/>
                <a:ext cx="55080" cy="104040"/>
              </p14:xfrm>
            </p:contentPart>
          </mc:Choice>
          <mc:Fallback xmlns="">
            <p:pic>
              <p:nvPicPr>
                <p:cNvPr id="16" name="Ink 15">
                  <a:extLst>
                    <a:ext uri="{FF2B5EF4-FFF2-40B4-BE49-F238E27FC236}">
                      <a16:creationId xmlns:a16="http://schemas.microsoft.com/office/drawing/2014/main" id="{210CA226-44C6-8853-0D4D-E90F718A4C66}"/>
                    </a:ext>
                  </a:extLst>
                </p:cNvPr>
                <p:cNvPicPr/>
                <p:nvPr/>
              </p:nvPicPr>
              <p:blipFill>
                <a:blip r:embed="rId19"/>
                <a:stretch>
                  <a:fillRect/>
                </a:stretch>
              </p:blipFill>
              <p:spPr>
                <a:xfrm>
                  <a:off x="8292423" y="1735029"/>
                  <a:ext cx="72720" cy="121680"/>
                </a:xfrm>
                <a:prstGeom prst="rect">
                  <a:avLst/>
                </a:prstGeom>
              </p:spPr>
            </p:pic>
          </mc:Fallback>
        </mc:AlternateContent>
        <mc:AlternateContent xmlns:mc="http://schemas.openxmlformats.org/markup-compatibility/2006" xmlns:p14="http://schemas.microsoft.com/office/powerpoint/2010/main">
          <mc:Choice Requires="p14">
            <p:contentPart p14:bwMode="auto" r:id="rId20">
              <p14:nvContentPartPr>
                <p14:cNvPr id="18" name="Ink 17">
                  <a:extLst>
                    <a:ext uri="{FF2B5EF4-FFF2-40B4-BE49-F238E27FC236}">
                      <a16:creationId xmlns:a16="http://schemas.microsoft.com/office/drawing/2014/main" id="{B6172EC1-39BA-60C5-2209-E161E57A058A}"/>
                    </a:ext>
                  </a:extLst>
                </p14:cNvPr>
                <p14:cNvContentPartPr/>
                <p14:nvPr/>
              </p14:nvContentPartPr>
              <p14:xfrm>
                <a:off x="8405823" y="1555749"/>
                <a:ext cx="145080" cy="337680"/>
              </p14:xfrm>
            </p:contentPart>
          </mc:Choice>
          <mc:Fallback xmlns="">
            <p:pic>
              <p:nvPicPr>
                <p:cNvPr id="18" name="Ink 17">
                  <a:extLst>
                    <a:ext uri="{FF2B5EF4-FFF2-40B4-BE49-F238E27FC236}">
                      <a16:creationId xmlns:a16="http://schemas.microsoft.com/office/drawing/2014/main" id="{B6172EC1-39BA-60C5-2209-E161E57A058A}"/>
                    </a:ext>
                  </a:extLst>
                </p:cNvPr>
                <p:cNvPicPr/>
                <p:nvPr/>
              </p:nvPicPr>
              <p:blipFill>
                <a:blip r:embed="rId21"/>
                <a:stretch>
                  <a:fillRect/>
                </a:stretch>
              </p:blipFill>
              <p:spPr>
                <a:xfrm>
                  <a:off x="8396823" y="1547109"/>
                  <a:ext cx="162720" cy="35532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22">
            <p14:nvContentPartPr>
              <p14:cNvPr id="20" name="Ink 19">
                <a:extLst>
                  <a:ext uri="{FF2B5EF4-FFF2-40B4-BE49-F238E27FC236}">
                    <a16:creationId xmlns:a16="http://schemas.microsoft.com/office/drawing/2014/main" id="{9D088B27-6BFD-2600-AC5A-EBA484D8A378}"/>
                  </a:ext>
                </a:extLst>
              </p14:cNvPr>
              <p14:cNvContentPartPr/>
              <p14:nvPr/>
            </p14:nvContentPartPr>
            <p14:xfrm>
              <a:off x="10482115" y="2762755"/>
              <a:ext cx="360" cy="360"/>
            </p14:xfrm>
          </p:contentPart>
        </mc:Choice>
        <mc:Fallback xmlns="">
          <p:pic>
            <p:nvPicPr>
              <p:cNvPr id="20" name="Ink 19">
                <a:extLst>
                  <a:ext uri="{FF2B5EF4-FFF2-40B4-BE49-F238E27FC236}">
                    <a16:creationId xmlns:a16="http://schemas.microsoft.com/office/drawing/2014/main" id="{9D088B27-6BFD-2600-AC5A-EBA484D8A378}"/>
                  </a:ext>
                </a:extLst>
              </p:cNvPr>
              <p:cNvPicPr/>
              <p:nvPr/>
            </p:nvPicPr>
            <p:blipFill>
              <a:blip r:embed="rId23"/>
              <a:stretch>
                <a:fillRect/>
              </a:stretch>
            </p:blipFill>
            <p:spPr>
              <a:xfrm>
                <a:off x="10473475" y="2754115"/>
                <a:ext cx="18000" cy="18000"/>
              </a:xfrm>
              <a:prstGeom prst="rect">
                <a:avLst/>
              </a:prstGeom>
            </p:spPr>
          </p:pic>
        </mc:Fallback>
      </mc:AlternateContent>
      <p:sp>
        <p:nvSpPr>
          <p:cNvPr id="21" name="Rectangle 20">
            <a:extLst>
              <a:ext uri="{FF2B5EF4-FFF2-40B4-BE49-F238E27FC236}">
                <a16:creationId xmlns:a16="http://schemas.microsoft.com/office/drawing/2014/main" id="{DDF17EB1-5933-7697-D10B-C93D412B3F21}"/>
              </a:ext>
            </a:extLst>
          </p:cNvPr>
          <p:cNvSpPr/>
          <p:nvPr/>
        </p:nvSpPr>
        <p:spPr>
          <a:xfrm>
            <a:off x="1333628" y="6069496"/>
            <a:ext cx="534929" cy="278295"/>
          </a:xfrm>
          <a:prstGeom prst="rect">
            <a:avLst/>
          </a:prstGeom>
          <a:noFill/>
          <a:ln w="57150">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Rectangle 1">
            <a:extLst>
              <a:ext uri="{FF2B5EF4-FFF2-40B4-BE49-F238E27FC236}">
                <a16:creationId xmlns:a16="http://schemas.microsoft.com/office/drawing/2014/main" id="{19A13EE2-B703-9323-3F90-CBC8FCA4DAFA}"/>
              </a:ext>
            </a:extLst>
          </p:cNvPr>
          <p:cNvSpPr/>
          <p:nvPr/>
        </p:nvSpPr>
        <p:spPr>
          <a:xfrm>
            <a:off x="1426777" y="3129451"/>
            <a:ext cx="8284781" cy="915620"/>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440963D3-82D3-9F46-ADDE-7054E71B726A}"/>
              </a:ext>
            </a:extLst>
          </p:cNvPr>
          <p:cNvSpPr txBox="1"/>
          <p:nvPr/>
        </p:nvSpPr>
        <p:spPr>
          <a:xfrm>
            <a:off x="9989048" y="3377363"/>
            <a:ext cx="776175" cy="369332"/>
          </a:xfrm>
          <a:prstGeom prst="rect">
            <a:avLst/>
          </a:prstGeom>
          <a:noFill/>
        </p:spPr>
        <p:txBody>
          <a:bodyPr wrap="none" rtlCol="0">
            <a:spAutoFit/>
          </a:bodyPr>
          <a:lstStyle/>
          <a:p>
            <a:r>
              <a:rPr lang="en-US" dirty="0">
                <a:solidFill>
                  <a:srgbClr val="FF0000"/>
                </a:solidFill>
              </a:rPr>
              <a:t>added</a:t>
            </a:r>
          </a:p>
        </p:txBody>
      </p:sp>
      <p:cxnSp>
        <p:nvCxnSpPr>
          <p:cNvPr id="13" name="Straight Arrow Connector 12">
            <a:extLst>
              <a:ext uri="{FF2B5EF4-FFF2-40B4-BE49-F238E27FC236}">
                <a16:creationId xmlns:a16="http://schemas.microsoft.com/office/drawing/2014/main" id="{7FDBC72C-8660-A797-BF12-EE82EADDC205}"/>
              </a:ext>
            </a:extLst>
          </p:cNvPr>
          <p:cNvCxnSpPr>
            <a:stCxn id="3" idx="1"/>
          </p:cNvCxnSpPr>
          <p:nvPr/>
        </p:nvCxnSpPr>
        <p:spPr>
          <a:xfrm flipH="1">
            <a:off x="9711558" y="3562029"/>
            <a:ext cx="277490" cy="18466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696663503"/>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C79C7656-7585-06EC-9C8D-1F579C1B637F}"/>
              </a:ext>
            </a:extLst>
          </p:cNvPr>
          <p:cNvSpPr>
            <a:spLocks noGrp="1"/>
          </p:cNvSpPr>
          <p:nvPr>
            <p:ph type="title"/>
          </p:nvPr>
        </p:nvSpPr>
        <p:spPr/>
        <p:txBody>
          <a:bodyPr/>
          <a:lstStyle/>
          <a:p>
            <a:r>
              <a:rPr lang="en-US" dirty="0">
                <a:solidFill>
                  <a:srgbClr val="7030A0"/>
                </a:solidFill>
              </a:rPr>
              <a:t>groups</a:t>
            </a:r>
            <a:r>
              <a:rPr lang="en-US" dirty="0"/>
              <a:t> table</a:t>
            </a:r>
          </a:p>
        </p:txBody>
      </p:sp>
      <p:sp>
        <p:nvSpPr>
          <p:cNvPr id="5" name="Text Placeholder 4">
            <a:extLst>
              <a:ext uri="{FF2B5EF4-FFF2-40B4-BE49-F238E27FC236}">
                <a16:creationId xmlns:a16="http://schemas.microsoft.com/office/drawing/2014/main" id="{D1EECCCF-3C3E-ABDB-545B-856CAC7DFA6E}"/>
              </a:ext>
            </a:extLst>
          </p:cNvPr>
          <p:cNvSpPr>
            <a:spLocks noGrp="1"/>
          </p:cNvSpPr>
          <p:nvPr>
            <p:ph type="body" idx="1"/>
          </p:nvPr>
        </p:nvSpPr>
        <p:spPr/>
        <p:txBody>
          <a:bodyPr/>
          <a:lstStyle/>
          <a:p>
            <a:endParaRPr lang="en-US"/>
          </a:p>
        </p:txBody>
      </p:sp>
    </p:spTree>
    <p:extLst>
      <p:ext uri="{BB962C8B-B14F-4D97-AF65-F5344CB8AC3E}">
        <p14:creationId xmlns:p14="http://schemas.microsoft.com/office/powerpoint/2010/main" val="134592686"/>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6207BCE4-E811-4AF3-B1A2-CE1E4CAFEF0B}"/>
              </a:ext>
            </a:extLst>
          </p:cNvPr>
          <p:cNvSpPr>
            <a:spLocks noGrp="1"/>
          </p:cNvSpPr>
          <p:nvPr>
            <p:ph type="title"/>
          </p:nvPr>
        </p:nvSpPr>
        <p:spPr/>
        <p:txBody>
          <a:bodyPr/>
          <a:lstStyle/>
          <a:p>
            <a:r>
              <a:rPr sz="4000">
                <a:solidFill>
                  <a:srgbClr val="000000"/>
                </a:solidFill>
                <a:latin typeface="Arial"/>
              </a:rPr>
              <a:t>Investigating Contact Groups</a:t>
            </a:r>
          </a:p>
        </p:txBody>
      </p:sp>
      <p:sp>
        <p:nvSpPr>
          <p:cNvPr id="12" name="Content Placeholder 11">
            <a:extLst>
              <a:ext uri="{FF2B5EF4-FFF2-40B4-BE49-F238E27FC236}">
                <a16:creationId xmlns:a16="http://schemas.microsoft.com/office/drawing/2014/main" id="{1A2D28D3-04E3-4638-B985-158FCF103C97}"/>
              </a:ext>
            </a:extLst>
          </p:cNvPr>
          <p:cNvSpPr>
            <a:spLocks noGrp="1"/>
          </p:cNvSpPr>
          <p:nvPr>
            <p:ph idx="1"/>
          </p:nvPr>
        </p:nvSpPr>
        <p:spPr>
          <a:xfrm>
            <a:off x="838200" y="1825625"/>
            <a:ext cx="4379843" cy="4351338"/>
          </a:xfrm>
        </p:spPr>
        <p:txBody>
          <a:bodyPr wrap="square">
            <a:normAutofit/>
          </a:bodyPr>
          <a:lstStyle/>
          <a:p>
            <a:pPr>
              <a:defRPr sz="2300">
                <a:latin typeface="Arial"/>
              </a:defRPr>
            </a:pPr>
            <a:r>
              <a:t>Before adding a contact, Android can create or select a contact group.</a:t>
            </a:r>
            <a:endParaRPr lang="en-US" dirty="0"/>
          </a:p>
          <a:p>
            <a:pPr>
              <a:defRPr sz="2300">
                <a:latin typeface="Arial"/>
              </a:defRPr>
            </a:pPr>
            <a:r>
              <a:t>Groups may reveal user-defined social, family, school, work, or app-specific organization.</a:t>
            </a:r>
          </a:p>
          <a:p>
            <a:pPr>
              <a:defRPr sz="2300">
                <a:latin typeface="Arial"/>
              </a:defRPr>
            </a:pPr>
            <a:r>
              <a:t>Investigative questions: how many groups exist, what are their names, and which contacts belong to each group?</a:t>
            </a:r>
          </a:p>
        </p:txBody>
      </p:sp>
      <p:pic>
        <p:nvPicPr>
          <p:cNvPr id="5" name="Picture 16">
            <a:extLst>
              <a:ext uri="{FF2B5EF4-FFF2-40B4-BE49-F238E27FC236}">
                <a16:creationId xmlns:a16="http://schemas.microsoft.com/office/drawing/2014/main" id="{02CC0FCB-E7DE-4570-BC16-D100F46F7863}"/>
              </a:ext>
            </a:extLst>
          </p:cNvPr>
          <p:cNvPicPr>
            <a:picLocks noChangeAspect="1"/>
          </p:cNvPicPr>
          <p:nvPr/>
        </p:nvPicPr>
        <p:blipFill>
          <a:blip r:embed="rId2"/>
          <a:stretch>
            <a:fillRect/>
          </a:stretch>
        </p:blipFill>
        <p:spPr>
          <a:xfrm>
            <a:off x="5636471" y="1411710"/>
            <a:ext cx="5450415" cy="5081166"/>
          </a:xfrm>
          <a:prstGeom prst="rect">
            <a:avLst/>
          </a:prstGeom>
        </p:spPr>
      </p:pic>
      <p:sp>
        <p:nvSpPr>
          <p:cNvPr id="6" name="TextBox 5">
            <a:extLst>
              <a:ext uri="{FF2B5EF4-FFF2-40B4-BE49-F238E27FC236}">
                <a16:creationId xmlns:a16="http://schemas.microsoft.com/office/drawing/2014/main" id="{CCDC2B7B-FDAD-49F7-B167-680B0AD9E5B6}"/>
              </a:ext>
            </a:extLst>
          </p:cNvPr>
          <p:cNvSpPr txBox="1"/>
          <p:nvPr/>
        </p:nvSpPr>
        <p:spPr>
          <a:xfrm>
            <a:off x="7656443" y="2587268"/>
            <a:ext cx="2246396" cy="830997"/>
          </a:xfrm>
          <a:prstGeom prst="rect">
            <a:avLst/>
          </a:prstGeom>
          <a:solidFill>
            <a:schemeClr val="accent4"/>
          </a:solidFill>
        </p:spPr>
        <p:txBody>
          <a:bodyPr wrap="square">
            <a:spAutoFit/>
          </a:bodyPr>
          <a:lstStyle/>
          <a:p>
            <a:r>
              <a:rPr lang="en-US" sz="1600" dirty="0"/>
              <a:t>Exam contact group information, e.g., family, friends</a:t>
            </a:r>
          </a:p>
        </p:txBody>
      </p:sp>
      <p:cxnSp>
        <p:nvCxnSpPr>
          <p:cNvPr id="7" name="Straight Arrow Connector 6">
            <a:extLst>
              <a:ext uri="{FF2B5EF4-FFF2-40B4-BE49-F238E27FC236}">
                <a16:creationId xmlns:a16="http://schemas.microsoft.com/office/drawing/2014/main" id="{9C5AF29D-266A-479D-8BA8-C4CF3D692E7F}"/>
              </a:ext>
            </a:extLst>
          </p:cNvPr>
          <p:cNvCxnSpPr>
            <a:cxnSpLocks/>
          </p:cNvCxnSpPr>
          <p:nvPr/>
        </p:nvCxnSpPr>
        <p:spPr>
          <a:xfrm flipH="1">
            <a:off x="6769768" y="3439736"/>
            <a:ext cx="1907094" cy="842390"/>
          </a:xfrm>
          <a:prstGeom prst="straightConnector1">
            <a:avLst/>
          </a:prstGeom>
          <a:ln>
            <a:tailEnd type="triangle"/>
          </a:ln>
        </p:spPr>
        <p:style>
          <a:lnRef idx="1">
            <a:schemeClr val="accent2"/>
          </a:lnRef>
          <a:fillRef idx="0">
            <a:schemeClr val="accent2"/>
          </a:fillRef>
          <a:effectRef idx="0">
            <a:schemeClr val="accent2"/>
          </a:effectRef>
          <a:fontRef idx="minor">
            <a:schemeClr val="tx1"/>
          </a:fontRef>
        </p:style>
      </p:cxnSp>
      <p:sp>
        <p:nvSpPr>
          <p:cNvPr id="9" name="Rectangle 8">
            <a:extLst>
              <a:ext uri="{FF2B5EF4-FFF2-40B4-BE49-F238E27FC236}">
                <a16:creationId xmlns:a16="http://schemas.microsoft.com/office/drawing/2014/main" id="{F08CBBAB-F842-4A4D-8BA0-B54581147F12}"/>
              </a:ext>
            </a:extLst>
          </p:cNvPr>
          <p:cNvSpPr/>
          <p:nvPr/>
        </p:nvSpPr>
        <p:spPr>
          <a:xfrm>
            <a:off x="6288156" y="4081140"/>
            <a:ext cx="604390" cy="176923"/>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682760572"/>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CB4AD52C-AB02-4BEC-9A39-99B1003D15EB}"/>
              </a:ext>
            </a:extLst>
          </p:cNvPr>
          <p:cNvPicPr>
            <a:picLocks noChangeAspect="1"/>
          </p:cNvPicPr>
          <p:nvPr/>
        </p:nvPicPr>
        <p:blipFill>
          <a:blip r:embed="rId2"/>
          <a:stretch>
            <a:fillRect/>
          </a:stretch>
        </p:blipFill>
        <p:spPr>
          <a:xfrm>
            <a:off x="669122" y="924341"/>
            <a:ext cx="10853755" cy="5257799"/>
          </a:xfrm>
          <a:prstGeom prst="rect">
            <a:avLst/>
          </a:prstGeom>
        </p:spPr>
      </p:pic>
      <p:sp>
        <p:nvSpPr>
          <p:cNvPr id="4" name="TextBox 3">
            <a:extLst>
              <a:ext uri="{FF2B5EF4-FFF2-40B4-BE49-F238E27FC236}">
                <a16:creationId xmlns:a16="http://schemas.microsoft.com/office/drawing/2014/main" id="{2DA14151-DD8B-4376-9EFD-E0E79462659C}"/>
              </a:ext>
            </a:extLst>
          </p:cNvPr>
          <p:cNvSpPr txBox="1"/>
          <p:nvPr/>
        </p:nvSpPr>
        <p:spPr>
          <a:xfrm>
            <a:off x="669122" y="585787"/>
            <a:ext cx="5056642" cy="338554"/>
          </a:xfrm>
          <a:prstGeom prst="rect">
            <a:avLst/>
          </a:prstGeom>
          <a:solidFill>
            <a:schemeClr val="accent4"/>
          </a:solidFill>
        </p:spPr>
        <p:txBody>
          <a:bodyPr wrap="square">
            <a:spAutoFit/>
          </a:bodyPr>
          <a:lstStyle/>
          <a:p>
            <a:r>
              <a:rPr lang="en-US" sz="1600" dirty="0"/>
              <a:t>Show group table schema </a:t>
            </a:r>
          </a:p>
        </p:txBody>
      </p:sp>
      <p:sp>
        <p:nvSpPr>
          <p:cNvPr id="5" name="Rectangle 4">
            <a:extLst>
              <a:ext uri="{FF2B5EF4-FFF2-40B4-BE49-F238E27FC236}">
                <a16:creationId xmlns:a16="http://schemas.microsoft.com/office/drawing/2014/main" id="{4A34C5F4-6EB9-4545-A8A4-8C2C65DF4793}"/>
              </a:ext>
            </a:extLst>
          </p:cNvPr>
          <p:cNvSpPr/>
          <p:nvPr/>
        </p:nvSpPr>
        <p:spPr>
          <a:xfrm>
            <a:off x="1435070" y="2725582"/>
            <a:ext cx="604390" cy="176923"/>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9A47155F-8C27-4858-892F-FEF2C4F89B0F}"/>
              </a:ext>
            </a:extLst>
          </p:cNvPr>
          <p:cNvSpPr/>
          <p:nvPr/>
        </p:nvSpPr>
        <p:spPr>
          <a:xfrm>
            <a:off x="1403335" y="3241059"/>
            <a:ext cx="636125" cy="159867"/>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6C42C0D4-1FAC-4EDD-B374-54FC02F9C8F5}"/>
              </a:ext>
            </a:extLst>
          </p:cNvPr>
          <p:cNvSpPr txBox="1"/>
          <p:nvPr/>
        </p:nvSpPr>
        <p:spPr>
          <a:xfrm>
            <a:off x="3048370" y="3267644"/>
            <a:ext cx="2488532" cy="369332"/>
          </a:xfrm>
          <a:prstGeom prst="rect">
            <a:avLst/>
          </a:prstGeom>
          <a:solidFill>
            <a:schemeClr val="accent4">
              <a:lumMod val="20000"/>
              <a:lumOff val="80000"/>
            </a:schemeClr>
          </a:solidFill>
        </p:spPr>
        <p:txBody>
          <a:bodyPr wrap="square">
            <a:spAutoFit/>
          </a:bodyPr>
          <a:lstStyle/>
          <a:p>
            <a:r>
              <a:rPr lang="en-US" dirty="0"/>
              <a:t>group description info.</a:t>
            </a:r>
          </a:p>
        </p:txBody>
      </p:sp>
      <p:cxnSp>
        <p:nvCxnSpPr>
          <p:cNvPr id="10" name="Straight Arrow Connector 9">
            <a:extLst>
              <a:ext uri="{FF2B5EF4-FFF2-40B4-BE49-F238E27FC236}">
                <a16:creationId xmlns:a16="http://schemas.microsoft.com/office/drawing/2014/main" id="{8B2D6B02-95C7-4590-B391-976632A6795B}"/>
              </a:ext>
            </a:extLst>
          </p:cNvPr>
          <p:cNvCxnSpPr>
            <a:stCxn id="6" idx="3"/>
            <a:endCxn id="8" idx="1"/>
          </p:cNvCxnSpPr>
          <p:nvPr/>
        </p:nvCxnSpPr>
        <p:spPr>
          <a:xfrm>
            <a:off x="2039460" y="3320993"/>
            <a:ext cx="1008910" cy="131317"/>
          </a:xfrm>
          <a:prstGeom prst="straightConnector1">
            <a:avLst/>
          </a:prstGeom>
          <a:ln>
            <a:tailEnd type="triangle"/>
          </a:ln>
        </p:spPr>
        <p:style>
          <a:lnRef idx="1">
            <a:schemeClr val="accent4"/>
          </a:lnRef>
          <a:fillRef idx="0">
            <a:schemeClr val="accent4"/>
          </a:fillRef>
          <a:effectRef idx="0">
            <a:schemeClr val="accent4"/>
          </a:effectRef>
          <a:fontRef idx="minor">
            <a:schemeClr val="tx1"/>
          </a:fontRef>
        </p:style>
      </p:cxnSp>
    </p:spTree>
    <p:extLst>
      <p:ext uri="{BB962C8B-B14F-4D97-AF65-F5344CB8AC3E}">
        <p14:creationId xmlns:p14="http://schemas.microsoft.com/office/powerpoint/2010/main" val="3353845145"/>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F40948D-84CB-4A19-B439-6E7435508920}"/>
              </a:ext>
            </a:extLst>
          </p:cNvPr>
          <p:cNvPicPr>
            <a:picLocks noChangeAspect="1"/>
          </p:cNvPicPr>
          <p:nvPr/>
        </p:nvPicPr>
        <p:blipFill>
          <a:blip r:embed="rId2"/>
          <a:stretch>
            <a:fillRect/>
          </a:stretch>
        </p:blipFill>
        <p:spPr>
          <a:xfrm>
            <a:off x="960521" y="1255477"/>
            <a:ext cx="9323387" cy="3669754"/>
          </a:xfrm>
          <a:prstGeom prst="rect">
            <a:avLst/>
          </a:prstGeom>
        </p:spPr>
      </p:pic>
      <p:sp>
        <p:nvSpPr>
          <p:cNvPr id="6" name="Rectangle 5">
            <a:extLst>
              <a:ext uri="{FF2B5EF4-FFF2-40B4-BE49-F238E27FC236}">
                <a16:creationId xmlns:a16="http://schemas.microsoft.com/office/drawing/2014/main" id="{DF6EAD48-490F-4076-96B0-3B261CC69031}"/>
              </a:ext>
            </a:extLst>
          </p:cNvPr>
          <p:cNvSpPr/>
          <p:nvPr/>
        </p:nvSpPr>
        <p:spPr>
          <a:xfrm>
            <a:off x="6466764" y="2494395"/>
            <a:ext cx="2381249" cy="2428874"/>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CEB52195-970F-4B41-BCF7-FD939CC3E6F5}"/>
              </a:ext>
            </a:extLst>
          </p:cNvPr>
          <p:cNvSpPr txBox="1"/>
          <p:nvPr/>
        </p:nvSpPr>
        <p:spPr>
          <a:xfrm>
            <a:off x="960521" y="886145"/>
            <a:ext cx="6172200" cy="369332"/>
          </a:xfrm>
          <a:prstGeom prst="rect">
            <a:avLst/>
          </a:prstGeom>
          <a:solidFill>
            <a:schemeClr val="accent4"/>
          </a:solidFill>
        </p:spPr>
        <p:txBody>
          <a:bodyPr wrap="square">
            <a:spAutoFit/>
          </a:bodyPr>
          <a:lstStyle/>
          <a:p>
            <a:r>
              <a:rPr lang="en-GB" dirty="0"/>
              <a:t>Show 6 groups and the names of the groups</a:t>
            </a:r>
            <a:endParaRPr lang="en-US" dirty="0"/>
          </a:p>
        </p:txBody>
      </p:sp>
      <p:sp>
        <p:nvSpPr>
          <p:cNvPr id="9" name="TextBox 8">
            <a:extLst>
              <a:ext uri="{FF2B5EF4-FFF2-40B4-BE49-F238E27FC236}">
                <a16:creationId xmlns:a16="http://schemas.microsoft.com/office/drawing/2014/main" id="{473C3319-45F7-4C4B-BB65-080B7275EAA5}"/>
              </a:ext>
            </a:extLst>
          </p:cNvPr>
          <p:cNvSpPr txBox="1"/>
          <p:nvPr/>
        </p:nvSpPr>
        <p:spPr>
          <a:xfrm>
            <a:off x="882316" y="5417857"/>
            <a:ext cx="3929474" cy="369332"/>
          </a:xfrm>
          <a:prstGeom prst="rect">
            <a:avLst/>
          </a:prstGeom>
          <a:noFill/>
        </p:spPr>
        <p:txBody>
          <a:bodyPr wrap="none" rtlCol="0">
            <a:spAutoFit/>
          </a:bodyPr>
          <a:lstStyle/>
          <a:p>
            <a:r>
              <a:rPr lang="en-US" dirty="0"/>
              <a:t>Can you list all contacts in each group?</a:t>
            </a:r>
          </a:p>
        </p:txBody>
      </p:sp>
    </p:spTree>
    <p:extLst>
      <p:ext uri="{BB962C8B-B14F-4D97-AF65-F5344CB8AC3E}">
        <p14:creationId xmlns:p14="http://schemas.microsoft.com/office/powerpoint/2010/main" val="1031330878"/>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D3D00397-C94B-4826-BE2C-F2786E278D22}"/>
              </a:ext>
            </a:extLst>
          </p:cNvPr>
          <p:cNvSpPr>
            <a:spLocks noGrp="1"/>
          </p:cNvSpPr>
          <p:nvPr>
            <p:ph type="title"/>
          </p:nvPr>
        </p:nvSpPr>
        <p:spPr/>
        <p:txBody>
          <a:bodyPr/>
          <a:lstStyle/>
          <a:p>
            <a:r>
              <a:rPr lang="en-US" dirty="0"/>
              <a:t>Investigating </a:t>
            </a:r>
            <a:r>
              <a:rPr lang="en-US" dirty="0" err="1">
                <a:solidFill>
                  <a:schemeClr val="accent2"/>
                </a:solidFill>
              </a:rPr>
              <a:t>calllog.db</a:t>
            </a:r>
            <a:endParaRPr lang="en-US" dirty="0">
              <a:solidFill>
                <a:schemeClr val="accent2"/>
              </a:solidFill>
            </a:endParaRPr>
          </a:p>
        </p:txBody>
      </p:sp>
      <p:sp>
        <p:nvSpPr>
          <p:cNvPr id="5" name="Text Placeholder 4">
            <a:extLst>
              <a:ext uri="{FF2B5EF4-FFF2-40B4-BE49-F238E27FC236}">
                <a16:creationId xmlns:a16="http://schemas.microsoft.com/office/drawing/2014/main" id="{7DFFAD04-FB65-4D37-9435-C0588B78AE0C}"/>
              </a:ext>
            </a:extLst>
          </p:cNvPr>
          <p:cNvSpPr>
            <a:spLocks noGrp="1"/>
          </p:cNvSpPr>
          <p:nvPr>
            <p:ph type="body" idx="1"/>
          </p:nvPr>
        </p:nvSpPr>
        <p:spPr/>
        <p:txBody>
          <a:bodyPr/>
          <a:lstStyle/>
          <a:p>
            <a:endParaRPr lang="en-US"/>
          </a:p>
        </p:txBody>
      </p:sp>
    </p:spTree>
    <p:extLst>
      <p:ext uri="{BB962C8B-B14F-4D97-AF65-F5344CB8AC3E}">
        <p14:creationId xmlns:p14="http://schemas.microsoft.com/office/powerpoint/2010/main" val="1532375427"/>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7794BE63-703D-3786-6CA6-0F713B4FAE31}"/>
              </a:ext>
            </a:extLst>
          </p:cNvPr>
          <p:cNvSpPr>
            <a:spLocks noGrp="1"/>
          </p:cNvSpPr>
          <p:nvPr>
            <p:ph type="title"/>
          </p:nvPr>
        </p:nvSpPr>
        <p:spPr/>
        <p:txBody>
          <a:bodyPr/>
          <a:lstStyle/>
          <a:p>
            <a:r>
              <a:rPr sz="4000">
                <a:solidFill>
                  <a:srgbClr val="000000"/>
                </a:solidFill>
                <a:latin typeface="Arial"/>
              </a:rPr>
              <a:t>Why calllog.db Belongs to Contacts Provider</a:t>
            </a:r>
          </a:p>
        </p:txBody>
      </p:sp>
      <p:sp>
        <p:nvSpPr>
          <p:cNvPr id="5" name="Content Placeholder 4">
            <a:extLst>
              <a:ext uri="{FF2B5EF4-FFF2-40B4-BE49-F238E27FC236}">
                <a16:creationId xmlns:a16="http://schemas.microsoft.com/office/drawing/2014/main" id="{529B227E-3235-67AE-FB96-7E0D62692E85}"/>
              </a:ext>
            </a:extLst>
          </p:cNvPr>
          <p:cNvSpPr>
            <a:spLocks noGrp="1"/>
          </p:cNvSpPr>
          <p:nvPr>
            <p:ph idx="1"/>
          </p:nvPr>
        </p:nvSpPr>
        <p:spPr/>
        <p:txBody>
          <a:bodyPr wrap="square">
            <a:normAutofit/>
          </a:bodyPr>
          <a:lstStyle/>
          <a:p>
            <a:pPr>
              <a:defRPr sz="2200">
                <a:latin typeface="Arial"/>
              </a:defRPr>
            </a:pPr>
            <a:r>
              <a:t>The Contacts Provider is not only an address book; it also supports person-related communication records.</a:t>
            </a:r>
          </a:p>
          <a:p>
            <a:pPr>
              <a:defRPr sz="2200">
                <a:latin typeface="Arial"/>
              </a:defRPr>
            </a:pPr>
            <a:r>
              <a:t>Dialer and messaging apps use contact lookup APIs to display calls and messages by name.</a:t>
            </a:r>
          </a:p>
          <a:p>
            <a:pPr>
              <a:defRPr sz="2200">
                <a:latin typeface="Arial"/>
              </a:defRPr>
            </a:pPr>
            <a:r>
              <a:t>calllog.db is therefore stored under com.android.providers.contacts.</a:t>
            </a:r>
          </a:p>
          <a:p>
            <a:pPr>
              <a:defRPr sz="2200">
                <a:latin typeface="Arial"/>
              </a:defRPr>
            </a:pPr>
            <a:r>
              <a:t>Forensics: call logs can be joined with contact lookup data to identify callers and recipients.</a:t>
            </a:r>
          </a:p>
        </p:txBody>
      </p:sp>
    </p:spTree>
    <p:extLst>
      <p:ext uri="{BB962C8B-B14F-4D97-AF65-F5344CB8AC3E}">
        <p14:creationId xmlns:p14="http://schemas.microsoft.com/office/powerpoint/2010/main" val="1590029775"/>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Table 4">
            <a:extLst>
              <a:ext uri="{FF2B5EF4-FFF2-40B4-BE49-F238E27FC236}">
                <a16:creationId xmlns:a16="http://schemas.microsoft.com/office/drawing/2014/main" id="{5214AD05-476C-EFD8-7396-B17A36369F3F}"/>
              </a:ext>
            </a:extLst>
          </p:cNvPr>
          <p:cNvGraphicFramePr>
            <a:graphicFrameLocks noGrp="1"/>
          </p:cNvGraphicFramePr>
          <p:nvPr>
            <p:extLst>
              <p:ext uri="{D42A27DB-BD31-4B8C-83A1-F6EECF244321}">
                <p14:modId xmlns:p14="http://schemas.microsoft.com/office/powerpoint/2010/main" val="3014754165"/>
              </p:ext>
            </p:extLst>
          </p:nvPr>
        </p:nvGraphicFramePr>
        <p:xfrm>
          <a:off x="838200" y="3286125"/>
          <a:ext cx="10317480" cy="1771861"/>
        </p:xfrm>
        <a:graphic>
          <a:graphicData uri="http://schemas.openxmlformats.org/drawingml/2006/table">
            <a:tbl>
              <a:tblPr>
                <a:tableStyleId>{5940675A-B579-460E-94D1-54222C63F5DA}</a:tableStyleId>
              </a:tblPr>
              <a:tblGrid>
                <a:gridCol w="2533650">
                  <a:extLst>
                    <a:ext uri="{9D8B030D-6E8A-4147-A177-3AD203B41FA5}">
                      <a16:colId xmlns:a16="http://schemas.microsoft.com/office/drawing/2014/main" val="2489362346"/>
                    </a:ext>
                  </a:extLst>
                </a:gridCol>
                <a:gridCol w="2533650">
                  <a:extLst>
                    <a:ext uri="{9D8B030D-6E8A-4147-A177-3AD203B41FA5}">
                      <a16:colId xmlns:a16="http://schemas.microsoft.com/office/drawing/2014/main" val="2790274088"/>
                    </a:ext>
                  </a:extLst>
                </a:gridCol>
                <a:gridCol w="2788920">
                  <a:extLst>
                    <a:ext uri="{9D8B030D-6E8A-4147-A177-3AD203B41FA5}">
                      <a16:colId xmlns:a16="http://schemas.microsoft.com/office/drawing/2014/main" val="3379819905"/>
                    </a:ext>
                  </a:extLst>
                </a:gridCol>
                <a:gridCol w="2461260">
                  <a:extLst>
                    <a:ext uri="{9D8B030D-6E8A-4147-A177-3AD203B41FA5}">
                      <a16:colId xmlns:a16="http://schemas.microsoft.com/office/drawing/2014/main" val="2468539627"/>
                    </a:ext>
                  </a:extLst>
                </a:gridCol>
              </a:tblGrid>
              <a:tr h="330793">
                <a:tc>
                  <a:txBody>
                    <a:bodyPr/>
                    <a:lstStyle/>
                    <a:p>
                      <a:pPr>
                        <a:buNone/>
                      </a:pPr>
                      <a:r>
                        <a:rPr lang="en-US"/>
                        <a:t>Category</a:t>
                      </a:r>
                    </a:p>
                  </a:txBody>
                  <a:tcPr anchor="ctr"/>
                </a:tc>
                <a:tc>
                  <a:txBody>
                    <a:bodyPr/>
                    <a:lstStyle/>
                    <a:p>
                      <a:pPr>
                        <a:buNone/>
                      </a:pPr>
                      <a:r>
                        <a:rPr lang="en-US"/>
                        <a:t>Examples</a:t>
                      </a:r>
                    </a:p>
                  </a:txBody>
                  <a:tcPr anchor="ctr"/>
                </a:tc>
                <a:tc>
                  <a:txBody>
                    <a:bodyPr/>
                    <a:lstStyle/>
                    <a:p>
                      <a:pPr>
                        <a:buNone/>
                      </a:pPr>
                      <a:r>
                        <a:rPr lang="en-US"/>
                        <a:t>Can Modify calllog.db?</a:t>
                      </a:r>
                    </a:p>
                  </a:txBody>
                  <a:tcPr anchor="ctr"/>
                </a:tc>
                <a:tc>
                  <a:txBody>
                    <a:bodyPr/>
                    <a:lstStyle/>
                    <a:p>
                      <a:pPr>
                        <a:buNone/>
                      </a:pPr>
                      <a:r>
                        <a:rPr lang="en-US" dirty="0"/>
                        <a:t>Typical Action</a:t>
                      </a:r>
                    </a:p>
                  </a:txBody>
                  <a:tcPr anchor="ctr"/>
                </a:tc>
                <a:extLst>
                  <a:ext uri="{0D108BD9-81ED-4DB2-BD59-A6C34878D82A}">
                    <a16:rowId xmlns:a16="http://schemas.microsoft.com/office/drawing/2014/main" val="2964470309"/>
                  </a:ext>
                </a:extLst>
              </a:tr>
              <a:tr h="826981">
                <a:tc>
                  <a:txBody>
                    <a:bodyPr/>
                    <a:lstStyle/>
                    <a:p>
                      <a:pPr>
                        <a:buNone/>
                      </a:pPr>
                      <a:r>
                        <a:rPr lang="en-US" sz="1600" b="1" dirty="0"/>
                        <a:t>Phone app</a:t>
                      </a:r>
                    </a:p>
                  </a:txBody>
                  <a:tcPr anchor="ctr"/>
                </a:tc>
                <a:tc>
                  <a:txBody>
                    <a:bodyPr/>
                    <a:lstStyle/>
                    <a:p>
                      <a:pPr>
                        <a:buNone/>
                      </a:pPr>
                      <a:endParaRPr lang="en-US" sz="1600" dirty="0"/>
                    </a:p>
                    <a:p>
                      <a:pPr>
                        <a:buNone/>
                      </a:pPr>
                      <a:endParaRPr lang="en-US" sz="1600" dirty="0"/>
                    </a:p>
                    <a:p>
                      <a:pPr>
                        <a:buNone/>
                      </a:pPr>
                      <a:endParaRPr lang="en-US" sz="1600" dirty="0"/>
                    </a:p>
                  </a:txBody>
                  <a:tcPr anchor="ctr"/>
                </a:tc>
                <a:tc>
                  <a:txBody>
                    <a:bodyPr/>
                    <a:lstStyle/>
                    <a:p>
                      <a:pPr>
                        <a:buNone/>
                      </a:pPr>
                      <a:r>
                        <a:rPr lang="en-US" sz="1600" dirty="0"/>
                        <a:t>✅ Full read/write</a:t>
                      </a:r>
                    </a:p>
                  </a:txBody>
                  <a:tcPr anchor="ctr"/>
                </a:tc>
                <a:tc>
                  <a:txBody>
                    <a:bodyPr/>
                    <a:lstStyle/>
                    <a:p>
                      <a:pPr>
                        <a:buNone/>
                      </a:pPr>
                      <a:r>
                        <a:rPr lang="en-US" sz="1600" dirty="0"/>
                        <a:t>Add, edit, delete calls</a:t>
                      </a:r>
                    </a:p>
                  </a:txBody>
                  <a:tcPr anchor="ctr"/>
                </a:tc>
                <a:extLst>
                  <a:ext uri="{0D108BD9-81ED-4DB2-BD59-A6C34878D82A}">
                    <a16:rowId xmlns:a16="http://schemas.microsoft.com/office/drawing/2014/main" val="634471224"/>
                  </a:ext>
                </a:extLst>
              </a:tr>
              <a:tr h="276436">
                <a:tc>
                  <a:txBody>
                    <a:bodyPr/>
                    <a:lstStyle/>
                    <a:p>
                      <a:pPr>
                        <a:buNone/>
                      </a:pPr>
                      <a:r>
                        <a:rPr lang="en-US" sz="1600" b="1" dirty="0"/>
                        <a:t>Telecom-integrated calling apps </a:t>
                      </a:r>
                      <a:endParaRPr lang="en-US" sz="1600" dirty="0"/>
                    </a:p>
                  </a:txBody>
                  <a:tcPr anchor="ctr"/>
                </a:tc>
                <a:tc>
                  <a:txBody>
                    <a:bodyPr/>
                    <a:lstStyle/>
                    <a:p>
                      <a:pPr>
                        <a:buNone/>
                      </a:pPr>
                      <a:r>
                        <a:rPr lang="nb-NO" sz="1600"/>
                        <a:t>Duo, WhatsApp, Skype, Telegram, Signal</a:t>
                      </a:r>
                    </a:p>
                  </a:txBody>
                  <a:tcPr anchor="ctr"/>
                </a:tc>
                <a:tc>
                  <a:txBody>
                    <a:bodyPr/>
                    <a:lstStyle/>
                    <a:p>
                      <a:pPr>
                        <a:buNone/>
                      </a:pPr>
                      <a:r>
                        <a:rPr lang="en-GB" sz="1600" dirty="0"/>
                        <a:t>⚙️ Partial (only pre-Android 10 or if default </a:t>
                      </a:r>
                      <a:r>
                        <a:rPr lang="en-GB" sz="1600" dirty="0" err="1"/>
                        <a:t>dialer</a:t>
                      </a:r>
                      <a:r>
                        <a:rPr lang="en-GB" sz="1600" dirty="0"/>
                        <a:t>)</a:t>
                      </a:r>
                    </a:p>
                  </a:txBody>
                  <a:tcPr anchor="ctr"/>
                </a:tc>
                <a:tc>
                  <a:txBody>
                    <a:bodyPr/>
                    <a:lstStyle/>
                    <a:p>
                      <a:pPr>
                        <a:buNone/>
                      </a:pPr>
                      <a:r>
                        <a:rPr lang="en-US" sz="1600" dirty="0"/>
                        <a:t>Add VoIP call entries</a:t>
                      </a:r>
                    </a:p>
                  </a:txBody>
                  <a:tcPr anchor="ctr"/>
                </a:tc>
                <a:extLst>
                  <a:ext uri="{0D108BD9-81ED-4DB2-BD59-A6C34878D82A}">
                    <a16:rowId xmlns:a16="http://schemas.microsoft.com/office/drawing/2014/main" val="1346168771"/>
                  </a:ext>
                </a:extLst>
              </a:tr>
            </a:tbl>
          </a:graphicData>
        </a:graphic>
      </p:graphicFrame>
      <p:sp>
        <p:nvSpPr>
          <p:cNvPr id="6" name="Title 5">
            <a:extLst>
              <a:ext uri="{FF2B5EF4-FFF2-40B4-BE49-F238E27FC236}">
                <a16:creationId xmlns:a16="http://schemas.microsoft.com/office/drawing/2014/main" id="{FB2E5128-364F-B5B6-6C21-A1A3BD1BAB8E}"/>
              </a:ext>
            </a:extLst>
          </p:cNvPr>
          <p:cNvSpPr>
            <a:spLocks noGrp="1"/>
          </p:cNvSpPr>
          <p:nvPr>
            <p:ph type="title"/>
          </p:nvPr>
        </p:nvSpPr>
        <p:spPr/>
        <p:txBody>
          <a:bodyPr/>
          <a:lstStyle/>
          <a:p>
            <a:r>
              <a:rPr lang="en-GB" dirty="0"/>
              <a:t>Who Can Affect Android Call Logs?</a:t>
            </a:r>
            <a:endParaRPr lang="en-US" dirty="0">
              <a:solidFill>
                <a:schemeClr val="accent2"/>
              </a:solidFill>
            </a:endParaRPr>
          </a:p>
        </p:txBody>
      </p:sp>
      <p:sp>
        <p:nvSpPr>
          <p:cNvPr id="2" name="Content Placeholder 1">
            <a:extLst>
              <a:ext uri="{FF2B5EF4-FFF2-40B4-BE49-F238E27FC236}">
                <a16:creationId xmlns:a16="http://schemas.microsoft.com/office/drawing/2014/main" id="{70E34B33-EA81-E8C2-50CB-82CF7807001E}"/>
              </a:ext>
            </a:extLst>
          </p:cNvPr>
          <p:cNvSpPr>
            <a:spLocks noGrp="1"/>
          </p:cNvSpPr>
          <p:nvPr>
            <p:ph idx="1"/>
          </p:nvPr>
        </p:nvSpPr>
        <p:spPr>
          <a:xfrm>
            <a:off x="838200" y="1825625"/>
            <a:ext cx="10515600" cy="1325563"/>
          </a:xfrm>
        </p:spPr>
        <p:txBody>
          <a:bodyPr>
            <a:normAutofit fontScale="77500" lnSpcReduction="20000"/>
          </a:bodyPr>
          <a:lstStyle/>
          <a:p>
            <a:r>
              <a:rPr lang="en-GB" dirty="0"/>
              <a:t>Apps do not normally write directly to </a:t>
            </a:r>
            <a:r>
              <a:rPr lang="en-GB" dirty="0" err="1"/>
              <a:t>calllog.db</a:t>
            </a:r>
            <a:r>
              <a:rPr lang="en-GB" dirty="0"/>
              <a:t>. </a:t>
            </a:r>
          </a:p>
          <a:p>
            <a:r>
              <a:rPr lang="en-GB" dirty="0"/>
              <a:t>Android Telecom and </a:t>
            </a:r>
            <a:r>
              <a:rPr lang="en-GB" dirty="0" err="1"/>
              <a:t>CallLogProvider</a:t>
            </a:r>
            <a:r>
              <a:rPr lang="en-GB" dirty="0"/>
              <a:t> manage call-log records. </a:t>
            </a:r>
          </a:p>
          <a:p>
            <a:r>
              <a:rPr lang="en-GB" dirty="0"/>
              <a:t>The default Phone app and Telecom-integrated calling apps can affect the system call history. </a:t>
            </a:r>
          </a:p>
          <a:p>
            <a:endParaRPr lang="en-US" dirty="0"/>
          </a:p>
        </p:txBody>
      </p:sp>
      <p:pic>
        <p:nvPicPr>
          <p:cNvPr id="7" name="Picture 6">
            <a:extLst>
              <a:ext uri="{FF2B5EF4-FFF2-40B4-BE49-F238E27FC236}">
                <a16:creationId xmlns:a16="http://schemas.microsoft.com/office/drawing/2014/main" id="{C11C887C-A987-E6DF-E80D-76C116776247}"/>
              </a:ext>
            </a:extLst>
          </p:cNvPr>
          <p:cNvPicPr>
            <a:picLocks noChangeAspect="1"/>
          </p:cNvPicPr>
          <p:nvPr/>
        </p:nvPicPr>
        <p:blipFill>
          <a:blip r:embed="rId2"/>
          <a:stretch>
            <a:fillRect/>
          </a:stretch>
        </p:blipFill>
        <p:spPr>
          <a:xfrm>
            <a:off x="3496154" y="3678682"/>
            <a:ext cx="2115834" cy="718058"/>
          </a:xfrm>
          <a:prstGeom prst="rect">
            <a:avLst/>
          </a:prstGeom>
        </p:spPr>
      </p:pic>
      <p:sp>
        <p:nvSpPr>
          <p:cNvPr id="4" name="TextBox 3">
            <a:extLst>
              <a:ext uri="{FF2B5EF4-FFF2-40B4-BE49-F238E27FC236}">
                <a16:creationId xmlns:a16="http://schemas.microsoft.com/office/drawing/2014/main" id="{DC82F07C-41F3-F6FF-D9EB-610CDDEF930E}"/>
              </a:ext>
            </a:extLst>
          </p:cNvPr>
          <p:cNvSpPr txBox="1"/>
          <p:nvPr/>
        </p:nvSpPr>
        <p:spPr>
          <a:xfrm>
            <a:off x="838200" y="5295582"/>
            <a:ext cx="10618470" cy="923330"/>
          </a:xfrm>
          <a:prstGeom prst="rect">
            <a:avLst/>
          </a:prstGeom>
          <a:solidFill>
            <a:schemeClr val="accent2">
              <a:lumMod val="20000"/>
              <a:lumOff val="80000"/>
            </a:schemeClr>
          </a:solidFill>
        </p:spPr>
        <p:txBody>
          <a:bodyPr wrap="square">
            <a:spAutoFit/>
          </a:bodyPr>
          <a:lstStyle/>
          <a:p>
            <a:r>
              <a:rPr lang="en-GB" b="1" dirty="0"/>
              <a:t>Forensic takeaway: </a:t>
            </a:r>
            <a:r>
              <a:rPr lang="en-GB" dirty="0"/>
              <a:t>A </a:t>
            </a:r>
            <a:r>
              <a:rPr lang="en-GB" dirty="0" err="1"/>
              <a:t>calllog.db</a:t>
            </a:r>
            <a:r>
              <a:rPr lang="en-GB" dirty="0"/>
              <a:t> record may represent either a traditional cellular call or a Telecom-integrated VoIP call. Check fields such as </a:t>
            </a:r>
            <a:r>
              <a:rPr lang="en-GB" dirty="0" err="1"/>
              <a:t>phone_account_component_name</a:t>
            </a:r>
            <a:r>
              <a:rPr lang="en-GB" dirty="0"/>
              <a:t> before attributing the call to a specific service or app</a:t>
            </a:r>
            <a:endParaRPr lang="en-US" dirty="0"/>
          </a:p>
        </p:txBody>
      </p:sp>
    </p:spTree>
    <p:extLst>
      <p:ext uri="{BB962C8B-B14F-4D97-AF65-F5344CB8AC3E}">
        <p14:creationId xmlns:p14="http://schemas.microsoft.com/office/powerpoint/2010/main" val="1920529947"/>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FD74F728-76B3-F8FA-524C-50EA261FE1C9}"/>
              </a:ext>
            </a:extLst>
          </p:cNvPr>
          <p:cNvPicPr>
            <a:picLocks noChangeAspect="1"/>
          </p:cNvPicPr>
          <p:nvPr/>
        </p:nvPicPr>
        <p:blipFill>
          <a:blip r:embed="rId3"/>
          <a:stretch>
            <a:fillRect/>
          </a:stretch>
        </p:blipFill>
        <p:spPr>
          <a:xfrm>
            <a:off x="0" y="381000"/>
            <a:ext cx="12192000" cy="6096000"/>
          </a:xfrm>
          <a:prstGeom prst="rect">
            <a:avLst/>
          </a:prstGeom>
        </p:spPr>
      </p:pic>
    </p:spTree>
    <p:extLst>
      <p:ext uri="{BB962C8B-B14F-4D97-AF65-F5344CB8AC3E}">
        <p14:creationId xmlns:p14="http://schemas.microsoft.com/office/powerpoint/2010/main" val="1028293580"/>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AEDB22-5327-48DD-B912-5B0ECEDA3D70}"/>
              </a:ext>
            </a:extLst>
          </p:cNvPr>
          <p:cNvSpPr>
            <a:spLocks noGrp="1"/>
          </p:cNvSpPr>
          <p:nvPr>
            <p:ph type="title"/>
          </p:nvPr>
        </p:nvSpPr>
        <p:spPr/>
        <p:txBody>
          <a:bodyPr/>
          <a:lstStyle/>
          <a:p>
            <a:r>
              <a:rPr sz="4000">
                <a:solidFill>
                  <a:srgbClr val="000000"/>
                </a:solidFill>
                <a:latin typeface="Arial"/>
              </a:rPr>
              <a:t>Call-Log Scenario</a:t>
            </a:r>
          </a:p>
        </p:txBody>
      </p:sp>
      <p:sp>
        <p:nvSpPr>
          <p:cNvPr id="3" name="Content Placeholder 2">
            <a:extLst>
              <a:ext uri="{FF2B5EF4-FFF2-40B4-BE49-F238E27FC236}">
                <a16:creationId xmlns:a16="http://schemas.microsoft.com/office/drawing/2014/main" id="{3BC780B0-8F3F-400A-B242-6E566C59C7CA}"/>
              </a:ext>
            </a:extLst>
          </p:cNvPr>
          <p:cNvSpPr>
            <a:spLocks noGrp="1"/>
          </p:cNvSpPr>
          <p:nvPr>
            <p:ph idx="1"/>
          </p:nvPr>
        </p:nvSpPr>
        <p:spPr/>
        <p:txBody>
          <a:bodyPr vert="horz" wrap="square" lIns="91440" tIns="45720" rIns="91440" bIns="45720" rtlCol="0" anchor="t">
            <a:normAutofit/>
          </a:bodyPr>
          <a:lstStyle/>
          <a:p>
            <a:pPr>
              <a:defRPr sz="2200">
                <a:latin typeface="Arial"/>
              </a:defRPr>
            </a:pPr>
            <a:r>
              <a:t>Scenario: a call from +19195121037 was made to the device owner on February 12, 2020.</a:t>
            </a:r>
          </a:p>
          <a:p>
            <a:pPr>
              <a:defRPr sz="2200">
                <a:latin typeface="Arial"/>
              </a:defRPr>
            </a:pPr>
            <a:r>
              <a:t>Questions for students:</a:t>
            </a:r>
          </a:p>
          <a:p>
            <a:pPr lvl="1">
              <a:defRPr sz="1800">
                <a:latin typeface="Arial"/>
              </a:defRPr>
            </a:pPr>
            <a:r>
              <a:t>What was the approximate time of the call?</a:t>
            </a:r>
          </a:p>
          <a:p>
            <a:pPr lvl="1">
              <a:defRPr sz="1800">
                <a:latin typeface="Arial"/>
              </a:defRPr>
            </a:pPr>
            <a:r>
              <a:t>Was the call answered, missed, rejected, blocked, or sent to voicemail?</a:t>
            </a:r>
          </a:p>
          <a:p>
            <a:pPr lvl="1">
              <a:defRPr sz="1800">
                <a:latin typeface="Arial"/>
              </a:defRPr>
            </a:pPr>
            <a:r>
              <a:t>If answered, what was the duration?</a:t>
            </a:r>
          </a:p>
          <a:p>
            <a:pPr lvl="1">
              <a:defRPr sz="1800">
                <a:latin typeface="Arial"/>
              </a:defRPr>
            </a:pPr>
            <a:r>
              <a:t>Can the number be linked to a saved contact or geographic indicator?</a:t>
            </a:r>
          </a:p>
        </p:txBody>
      </p:sp>
    </p:spTree>
    <p:extLst>
      <p:ext uri="{BB962C8B-B14F-4D97-AF65-F5344CB8AC3E}">
        <p14:creationId xmlns:p14="http://schemas.microsoft.com/office/powerpoint/2010/main" val="3905067354"/>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65B31E96-0861-E19E-7BE6-130274E216F0}"/>
              </a:ext>
            </a:extLst>
          </p:cNvPr>
          <p:cNvPicPr>
            <a:picLocks noChangeAspect="1"/>
          </p:cNvPicPr>
          <p:nvPr/>
        </p:nvPicPr>
        <p:blipFill>
          <a:blip r:embed="rId2"/>
          <a:stretch>
            <a:fillRect/>
          </a:stretch>
        </p:blipFill>
        <p:spPr>
          <a:xfrm>
            <a:off x="0" y="381000"/>
            <a:ext cx="12192000" cy="6096000"/>
          </a:xfrm>
          <a:prstGeom prst="rect">
            <a:avLst/>
          </a:prstGeom>
        </p:spPr>
      </p:pic>
    </p:spTree>
    <p:extLst>
      <p:ext uri="{BB962C8B-B14F-4D97-AF65-F5344CB8AC3E}">
        <p14:creationId xmlns:p14="http://schemas.microsoft.com/office/powerpoint/2010/main" val="3233347371"/>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8" descr="Graphical user interface, text&#10;&#10;Description automatically generated">
            <a:extLst>
              <a:ext uri="{FF2B5EF4-FFF2-40B4-BE49-F238E27FC236}">
                <a16:creationId xmlns:a16="http://schemas.microsoft.com/office/drawing/2014/main" id="{FF9EFEF3-3AAA-493B-A718-4BE0DF693F20}"/>
              </a:ext>
            </a:extLst>
          </p:cNvPr>
          <p:cNvPicPr>
            <a:picLocks noChangeAspect="1"/>
          </p:cNvPicPr>
          <p:nvPr/>
        </p:nvPicPr>
        <p:blipFill>
          <a:blip r:embed="rId3"/>
          <a:stretch>
            <a:fillRect/>
          </a:stretch>
        </p:blipFill>
        <p:spPr>
          <a:xfrm>
            <a:off x="717613" y="1901623"/>
            <a:ext cx="10756773" cy="2790823"/>
          </a:xfrm>
          <a:prstGeom prst="rect">
            <a:avLst/>
          </a:prstGeom>
        </p:spPr>
      </p:pic>
      <p:sp>
        <p:nvSpPr>
          <p:cNvPr id="6" name="Rectangle 5">
            <a:extLst>
              <a:ext uri="{FF2B5EF4-FFF2-40B4-BE49-F238E27FC236}">
                <a16:creationId xmlns:a16="http://schemas.microsoft.com/office/drawing/2014/main" id="{44F6FCDF-A1EC-4A8D-9C64-039E95008FC0}"/>
              </a:ext>
            </a:extLst>
          </p:cNvPr>
          <p:cNvSpPr/>
          <p:nvPr/>
        </p:nvSpPr>
        <p:spPr>
          <a:xfrm>
            <a:off x="1228217" y="2355521"/>
            <a:ext cx="10117666" cy="395112"/>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F68639A8-BD3C-45A8-872F-BC3D29643840}"/>
              </a:ext>
            </a:extLst>
          </p:cNvPr>
          <p:cNvSpPr/>
          <p:nvPr/>
        </p:nvSpPr>
        <p:spPr>
          <a:xfrm>
            <a:off x="1370659" y="3093137"/>
            <a:ext cx="1679221" cy="338667"/>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5F6F4FA0-D9C8-43AF-ADAF-87CE872E3C0F}"/>
              </a:ext>
            </a:extLst>
          </p:cNvPr>
          <p:cNvSpPr txBox="1"/>
          <p:nvPr/>
        </p:nvSpPr>
        <p:spPr>
          <a:xfrm>
            <a:off x="721859" y="1553424"/>
            <a:ext cx="2665153" cy="369332"/>
          </a:xfrm>
          <a:prstGeom prst="rect">
            <a:avLst/>
          </a:prstGeom>
          <a:solidFill>
            <a:schemeClr val="accent4"/>
          </a:solidFill>
        </p:spPr>
        <p:txBody>
          <a:bodyPr wrap="none" lIns="91440" tIns="45720" rIns="91440" bIns="45720" rtlCol="0" anchor="t">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t>Find the database location</a:t>
            </a:r>
          </a:p>
        </p:txBody>
      </p:sp>
    </p:spTree>
    <p:extLst>
      <p:ext uri="{BB962C8B-B14F-4D97-AF65-F5344CB8AC3E}">
        <p14:creationId xmlns:p14="http://schemas.microsoft.com/office/powerpoint/2010/main" val="3040878584"/>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9" descr="Background pattern&#10;&#10;Description automatically generated">
            <a:extLst>
              <a:ext uri="{FF2B5EF4-FFF2-40B4-BE49-F238E27FC236}">
                <a16:creationId xmlns:a16="http://schemas.microsoft.com/office/drawing/2014/main" id="{54928BE9-AA51-4119-B38F-CB666B16C13B}"/>
              </a:ext>
            </a:extLst>
          </p:cNvPr>
          <p:cNvPicPr>
            <a:picLocks noChangeAspect="1"/>
          </p:cNvPicPr>
          <p:nvPr/>
        </p:nvPicPr>
        <p:blipFill>
          <a:blip r:embed="rId2"/>
          <a:stretch>
            <a:fillRect/>
          </a:stretch>
        </p:blipFill>
        <p:spPr>
          <a:xfrm>
            <a:off x="596509" y="1736622"/>
            <a:ext cx="11010773" cy="815132"/>
          </a:xfrm>
          <a:prstGeom prst="rect">
            <a:avLst/>
          </a:prstGeom>
        </p:spPr>
      </p:pic>
      <p:pic>
        <p:nvPicPr>
          <p:cNvPr id="7" name="Picture 12" descr="Graphical user interface, text, application&#10;&#10;Description automatically generated">
            <a:extLst>
              <a:ext uri="{FF2B5EF4-FFF2-40B4-BE49-F238E27FC236}">
                <a16:creationId xmlns:a16="http://schemas.microsoft.com/office/drawing/2014/main" id="{50BCB4BD-3A2E-4F38-A06B-2D8BEA6F649D}"/>
              </a:ext>
            </a:extLst>
          </p:cNvPr>
          <p:cNvPicPr>
            <a:picLocks noChangeAspect="1"/>
          </p:cNvPicPr>
          <p:nvPr/>
        </p:nvPicPr>
        <p:blipFill>
          <a:blip r:embed="rId3"/>
          <a:stretch>
            <a:fillRect/>
          </a:stretch>
        </p:blipFill>
        <p:spPr>
          <a:xfrm>
            <a:off x="4383274" y="2708407"/>
            <a:ext cx="7311952" cy="2241032"/>
          </a:xfrm>
          <a:prstGeom prst="rect">
            <a:avLst/>
          </a:prstGeom>
        </p:spPr>
      </p:pic>
      <p:sp>
        <p:nvSpPr>
          <p:cNvPr id="9" name="Rectangle 8">
            <a:extLst>
              <a:ext uri="{FF2B5EF4-FFF2-40B4-BE49-F238E27FC236}">
                <a16:creationId xmlns:a16="http://schemas.microsoft.com/office/drawing/2014/main" id="{1A18C9E0-22FA-465F-990C-3C900F664DF7}"/>
              </a:ext>
            </a:extLst>
          </p:cNvPr>
          <p:cNvSpPr/>
          <p:nvPr/>
        </p:nvSpPr>
        <p:spPr>
          <a:xfrm>
            <a:off x="5153812" y="4039252"/>
            <a:ext cx="522112" cy="268112"/>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Rectangle 3">
            <a:extLst>
              <a:ext uri="{FF2B5EF4-FFF2-40B4-BE49-F238E27FC236}">
                <a16:creationId xmlns:a16="http://schemas.microsoft.com/office/drawing/2014/main" id="{6D5B9BEB-C762-4CA7-A8E7-C65019261760}"/>
              </a:ext>
            </a:extLst>
          </p:cNvPr>
          <p:cNvSpPr/>
          <p:nvPr/>
        </p:nvSpPr>
        <p:spPr>
          <a:xfrm>
            <a:off x="1058719" y="2221787"/>
            <a:ext cx="10538847" cy="335797"/>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23EEDA85-C5B8-4BFD-B15A-00C9F40DCE6F}"/>
              </a:ext>
            </a:extLst>
          </p:cNvPr>
          <p:cNvSpPr txBox="1"/>
          <p:nvPr/>
        </p:nvSpPr>
        <p:spPr>
          <a:xfrm>
            <a:off x="594222" y="1366819"/>
            <a:ext cx="3085460" cy="369332"/>
          </a:xfrm>
          <a:prstGeom prst="rect">
            <a:avLst/>
          </a:prstGeom>
          <a:solidFill>
            <a:schemeClr val="accent4"/>
          </a:solidFill>
        </p:spPr>
        <p:txBody>
          <a:bodyPr wrap="none" lIns="91440" tIns="45720" rIns="91440" bIns="45720" rtlCol="0" anchor="t">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cs typeface="Calibri"/>
              </a:rPr>
              <a:t>Show all tables in the database</a:t>
            </a:r>
            <a:endParaRPr lang="en-US"/>
          </a:p>
        </p:txBody>
      </p:sp>
      <p:cxnSp>
        <p:nvCxnSpPr>
          <p:cNvPr id="15" name="Straight Arrow Connector 14">
            <a:extLst>
              <a:ext uri="{FF2B5EF4-FFF2-40B4-BE49-F238E27FC236}">
                <a16:creationId xmlns:a16="http://schemas.microsoft.com/office/drawing/2014/main" id="{3B86AA04-D7C4-41FB-A63C-ECB5055C7689}"/>
              </a:ext>
            </a:extLst>
          </p:cNvPr>
          <p:cNvCxnSpPr>
            <a:cxnSpLocks/>
          </p:cNvCxnSpPr>
          <p:nvPr/>
        </p:nvCxnSpPr>
        <p:spPr>
          <a:xfrm>
            <a:off x="2458191" y="3218538"/>
            <a:ext cx="2662446" cy="975630"/>
          </a:xfrm>
          <a:prstGeom prst="straightConnector1">
            <a:avLst/>
          </a:prstGeom>
          <a:ln>
            <a:tailEnd type="triangle"/>
          </a:ln>
        </p:spPr>
        <p:style>
          <a:lnRef idx="1">
            <a:schemeClr val="accent2"/>
          </a:lnRef>
          <a:fillRef idx="0">
            <a:schemeClr val="accent2"/>
          </a:fillRef>
          <a:effectRef idx="0">
            <a:schemeClr val="accent2"/>
          </a:effectRef>
          <a:fontRef idx="minor">
            <a:schemeClr val="tx1"/>
          </a:fontRef>
        </p:style>
      </p:cxnSp>
      <p:sp>
        <p:nvSpPr>
          <p:cNvPr id="16" name="TextBox 15"/>
          <p:cNvSpPr txBox="1"/>
          <p:nvPr/>
        </p:nvSpPr>
        <p:spPr>
          <a:xfrm>
            <a:off x="640080" y="457200"/>
            <a:ext cx="10058400" cy="548640"/>
          </a:xfrm>
          <a:prstGeom prst="rect">
            <a:avLst/>
          </a:prstGeom>
          <a:noFill/>
        </p:spPr>
        <p:txBody>
          <a:bodyPr wrap="none">
            <a:spAutoFit/>
          </a:bodyPr>
          <a:lstStyle/>
          <a:p>
            <a:r>
              <a:rPr sz="4000">
                <a:solidFill>
                  <a:srgbClr val="000000"/>
                </a:solidFill>
                <a:latin typeface="Arial"/>
              </a:rPr>
              <a:t>calls Table: Core Evidence Fields</a:t>
            </a:r>
          </a:p>
        </p:txBody>
      </p:sp>
      <p:sp>
        <p:nvSpPr>
          <p:cNvPr id="3" name="TextBox 2">
            <a:extLst>
              <a:ext uri="{FF2B5EF4-FFF2-40B4-BE49-F238E27FC236}">
                <a16:creationId xmlns:a16="http://schemas.microsoft.com/office/drawing/2014/main" id="{5CBD87B2-D901-3EFB-D9C1-CDEBD47E981B}"/>
              </a:ext>
            </a:extLst>
          </p:cNvPr>
          <p:cNvSpPr txBox="1"/>
          <p:nvPr/>
        </p:nvSpPr>
        <p:spPr>
          <a:xfrm>
            <a:off x="598745" y="2941406"/>
            <a:ext cx="3686879" cy="144655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285750" indent="-285750">
              <a:buFont typeface="Arial"/>
              <a:buChar char="•"/>
            </a:pPr>
            <a:r>
              <a:rPr lang="en-US" sz="2200" i="1" dirty="0">
                <a:solidFill>
                  <a:srgbClr val="7030A0"/>
                </a:solidFill>
                <a:cs typeface="Calibri"/>
              </a:rPr>
              <a:t>calls</a:t>
            </a:r>
            <a:r>
              <a:rPr lang="en-US" sz="2200" dirty="0">
                <a:cs typeface="Calibri"/>
              </a:rPr>
              <a:t>: call log. Contains made/received calls along with timestamps and duration</a:t>
            </a:r>
          </a:p>
        </p:txBody>
      </p:sp>
    </p:spTree>
    <p:extLst>
      <p:ext uri="{BB962C8B-B14F-4D97-AF65-F5344CB8AC3E}">
        <p14:creationId xmlns:p14="http://schemas.microsoft.com/office/powerpoint/2010/main" val="4104176517"/>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Graphical user interface, text&#10;&#10;Description automatically generated">
            <a:extLst>
              <a:ext uri="{FF2B5EF4-FFF2-40B4-BE49-F238E27FC236}">
                <a16:creationId xmlns:a16="http://schemas.microsoft.com/office/drawing/2014/main" id="{8B57751E-379D-4FA6-BA44-57047F9268AD}"/>
              </a:ext>
            </a:extLst>
          </p:cNvPr>
          <p:cNvPicPr>
            <a:picLocks noChangeAspect="1"/>
          </p:cNvPicPr>
          <p:nvPr/>
        </p:nvPicPr>
        <p:blipFill>
          <a:blip r:embed="rId2"/>
          <a:stretch>
            <a:fillRect/>
          </a:stretch>
        </p:blipFill>
        <p:spPr>
          <a:xfrm>
            <a:off x="2532103" y="546990"/>
            <a:ext cx="3312225" cy="5516925"/>
          </a:xfrm>
          <a:prstGeom prst="rect">
            <a:avLst/>
          </a:prstGeom>
        </p:spPr>
      </p:pic>
      <p:pic>
        <p:nvPicPr>
          <p:cNvPr id="5" name="Picture 4" descr="A screenshot of a computer&#10;&#10;Description automatically generated with low confidence">
            <a:extLst>
              <a:ext uri="{FF2B5EF4-FFF2-40B4-BE49-F238E27FC236}">
                <a16:creationId xmlns:a16="http://schemas.microsoft.com/office/drawing/2014/main" id="{EDAE88A2-EED5-4768-A592-8147DA10C04D}"/>
              </a:ext>
            </a:extLst>
          </p:cNvPr>
          <p:cNvPicPr>
            <a:picLocks noChangeAspect="1"/>
          </p:cNvPicPr>
          <p:nvPr/>
        </p:nvPicPr>
        <p:blipFill>
          <a:blip r:embed="rId3"/>
          <a:stretch>
            <a:fillRect/>
          </a:stretch>
        </p:blipFill>
        <p:spPr>
          <a:xfrm>
            <a:off x="7627593" y="260735"/>
            <a:ext cx="2985480" cy="6336529"/>
          </a:xfrm>
          <a:prstGeom prst="rect">
            <a:avLst/>
          </a:prstGeom>
        </p:spPr>
      </p:pic>
      <p:sp>
        <p:nvSpPr>
          <p:cNvPr id="6" name="TextBox 5">
            <a:extLst>
              <a:ext uri="{FF2B5EF4-FFF2-40B4-BE49-F238E27FC236}">
                <a16:creationId xmlns:a16="http://schemas.microsoft.com/office/drawing/2014/main" id="{ED3222D4-3965-4A9F-A93F-0BA01E8F214B}"/>
              </a:ext>
            </a:extLst>
          </p:cNvPr>
          <p:cNvSpPr txBox="1"/>
          <p:nvPr/>
        </p:nvSpPr>
        <p:spPr>
          <a:xfrm>
            <a:off x="360040" y="457906"/>
            <a:ext cx="1974007" cy="646331"/>
          </a:xfrm>
          <a:prstGeom prst="rect">
            <a:avLst/>
          </a:prstGeom>
          <a:solidFill>
            <a:schemeClr val="accent4">
              <a:lumMod val="20000"/>
              <a:lumOff val="80000"/>
            </a:schemeClr>
          </a:solid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dirty="0">
                <a:cs typeface="Calibri"/>
              </a:rPr>
              <a:t>incoming/  outgoing number</a:t>
            </a:r>
          </a:p>
        </p:txBody>
      </p:sp>
      <p:cxnSp>
        <p:nvCxnSpPr>
          <p:cNvPr id="7" name="Straight Arrow Connector 6">
            <a:extLst>
              <a:ext uri="{FF2B5EF4-FFF2-40B4-BE49-F238E27FC236}">
                <a16:creationId xmlns:a16="http://schemas.microsoft.com/office/drawing/2014/main" id="{9B1B2811-9689-4CCB-9410-CC974102B16D}"/>
              </a:ext>
            </a:extLst>
          </p:cNvPr>
          <p:cNvCxnSpPr>
            <a:cxnSpLocks/>
            <a:endCxn id="6" idx="3"/>
          </p:cNvCxnSpPr>
          <p:nvPr/>
        </p:nvCxnSpPr>
        <p:spPr>
          <a:xfrm flipH="1" flipV="1">
            <a:off x="2334047" y="781072"/>
            <a:ext cx="818227" cy="465986"/>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17852C94-495A-492D-A42D-DB2E0FE50D68}"/>
              </a:ext>
            </a:extLst>
          </p:cNvPr>
          <p:cNvSpPr txBox="1"/>
          <p:nvPr/>
        </p:nvSpPr>
        <p:spPr>
          <a:xfrm>
            <a:off x="284624" y="2073734"/>
            <a:ext cx="2124841" cy="646331"/>
          </a:xfrm>
          <a:prstGeom prst="rect">
            <a:avLst/>
          </a:prstGeom>
          <a:solidFill>
            <a:schemeClr val="accent4">
              <a:lumMod val="20000"/>
              <a:lumOff val="80000"/>
            </a:schemeClr>
          </a:solid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dirty="0">
                <a:cs typeface="Calibri"/>
              </a:rPr>
              <a:t>Date/time when call was made/received</a:t>
            </a:r>
          </a:p>
        </p:txBody>
      </p:sp>
      <p:cxnSp>
        <p:nvCxnSpPr>
          <p:cNvPr id="11" name="Straight Arrow Connector 10">
            <a:extLst>
              <a:ext uri="{FF2B5EF4-FFF2-40B4-BE49-F238E27FC236}">
                <a16:creationId xmlns:a16="http://schemas.microsoft.com/office/drawing/2014/main" id="{CBE97E3F-9445-466C-A115-E6FE12C04496}"/>
              </a:ext>
            </a:extLst>
          </p:cNvPr>
          <p:cNvCxnSpPr>
            <a:cxnSpLocks/>
            <a:endCxn id="10" idx="3"/>
          </p:cNvCxnSpPr>
          <p:nvPr/>
        </p:nvCxnSpPr>
        <p:spPr>
          <a:xfrm flipH="1">
            <a:off x="2409465" y="2141057"/>
            <a:ext cx="670620" cy="255843"/>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6" name="TextBox 15">
            <a:extLst>
              <a:ext uri="{FF2B5EF4-FFF2-40B4-BE49-F238E27FC236}">
                <a16:creationId xmlns:a16="http://schemas.microsoft.com/office/drawing/2014/main" id="{B20AB04C-1BD6-4C99-85F2-7817B7F73C82}"/>
              </a:ext>
            </a:extLst>
          </p:cNvPr>
          <p:cNvSpPr txBox="1"/>
          <p:nvPr/>
        </p:nvSpPr>
        <p:spPr>
          <a:xfrm>
            <a:off x="360040" y="1277258"/>
            <a:ext cx="1974007" cy="646331"/>
          </a:xfrm>
          <a:prstGeom prst="rect">
            <a:avLst/>
          </a:prstGeom>
          <a:solidFill>
            <a:schemeClr val="accent4">
              <a:lumMod val="20000"/>
              <a:lumOff val="80000"/>
            </a:schemeClr>
          </a:solid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dirty="0">
                <a:cs typeface="Calibri"/>
              </a:rPr>
              <a:t>if show phone number </a:t>
            </a:r>
          </a:p>
        </p:txBody>
      </p:sp>
      <p:cxnSp>
        <p:nvCxnSpPr>
          <p:cNvPr id="17" name="Straight Arrow Connector 16">
            <a:extLst>
              <a:ext uri="{FF2B5EF4-FFF2-40B4-BE49-F238E27FC236}">
                <a16:creationId xmlns:a16="http://schemas.microsoft.com/office/drawing/2014/main" id="{8A534D2A-9092-4647-BCE8-1D3EBF5C7EDD}"/>
              </a:ext>
            </a:extLst>
          </p:cNvPr>
          <p:cNvCxnSpPr>
            <a:cxnSpLocks/>
            <a:endCxn id="16" idx="3"/>
          </p:cNvCxnSpPr>
          <p:nvPr/>
        </p:nvCxnSpPr>
        <p:spPr>
          <a:xfrm flipH="1">
            <a:off x="2334047" y="1427403"/>
            <a:ext cx="681870" cy="173021"/>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20" name="Straight Arrow Connector 19">
            <a:extLst>
              <a:ext uri="{FF2B5EF4-FFF2-40B4-BE49-F238E27FC236}">
                <a16:creationId xmlns:a16="http://schemas.microsoft.com/office/drawing/2014/main" id="{A042E23B-D079-4765-9CCC-4E78AF5B8ACD}"/>
              </a:ext>
            </a:extLst>
          </p:cNvPr>
          <p:cNvCxnSpPr>
            <a:cxnSpLocks/>
          </p:cNvCxnSpPr>
          <p:nvPr/>
        </p:nvCxnSpPr>
        <p:spPr>
          <a:xfrm flipH="1">
            <a:off x="2334047" y="2850236"/>
            <a:ext cx="746038" cy="1017956"/>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4" name="TextBox 23">
            <a:extLst>
              <a:ext uri="{FF2B5EF4-FFF2-40B4-BE49-F238E27FC236}">
                <a16:creationId xmlns:a16="http://schemas.microsoft.com/office/drawing/2014/main" id="{5E9B88BB-0F76-43CE-9C6D-86012F0BC4E1}"/>
              </a:ext>
            </a:extLst>
          </p:cNvPr>
          <p:cNvSpPr txBox="1"/>
          <p:nvPr/>
        </p:nvSpPr>
        <p:spPr>
          <a:xfrm>
            <a:off x="241096" y="2823412"/>
            <a:ext cx="2092951" cy="1446550"/>
          </a:xfrm>
          <a:prstGeom prst="rect">
            <a:avLst/>
          </a:prstGeom>
          <a:solidFill>
            <a:schemeClr val="accent4">
              <a:lumMod val="20000"/>
              <a:lumOff val="80000"/>
            </a:schemeClr>
          </a:solidFill>
        </p:spPr>
        <p:txBody>
          <a:bodyPr wrap="square">
            <a:spAutoFit/>
          </a:bodyPr>
          <a:lstStyle/>
          <a:p>
            <a:pPr marL="228600" indent="-228600">
              <a:buFont typeface="+mj-lt"/>
              <a:buAutoNum type="arabicPeriod"/>
            </a:pPr>
            <a:r>
              <a:rPr lang="en-GB" sz="1100" dirty="0"/>
              <a:t>INCOMING_TYPE</a:t>
            </a:r>
          </a:p>
          <a:p>
            <a:pPr marL="228600" indent="-228600">
              <a:buFont typeface="+mj-lt"/>
              <a:buAutoNum type="arabicPeriod"/>
            </a:pPr>
            <a:r>
              <a:rPr lang="en-GB" sz="1100" dirty="0"/>
              <a:t>OUTGOING_TYPE</a:t>
            </a:r>
          </a:p>
          <a:p>
            <a:pPr marL="228600" indent="-228600">
              <a:buFont typeface="+mj-lt"/>
              <a:buAutoNum type="arabicPeriod"/>
            </a:pPr>
            <a:r>
              <a:rPr lang="en-GB" sz="1100" dirty="0"/>
              <a:t>MISSED_TYPE</a:t>
            </a:r>
          </a:p>
          <a:p>
            <a:pPr marL="228600" indent="-228600">
              <a:buFont typeface="+mj-lt"/>
              <a:buAutoNum type="arabicPeriod"/>
            </a:pPr>
            <a:r>
              <a:rPr lang="en-GB" sz="1100" dirty="0">
                <a:solidFill>
                  <a:srgbClr val="FF0000"/>
                </a:solidFill>
              </a:rPr>
              <a:t>VOICEMAIL_TYPE</a:t>
            </a:r>
          </a:p>
          <a:p>
            <a:pPr marL="228600" indent="-228600">
              <a:buFont typeface="+mj-lt"/>
              <a:buAutoNum type="arabicPeriod"/>
            </a:pPr>
            <a:r>
              <a:rPr lang="en-GB" sz="1100" dirty="0"/>
              <a:t>REJECTED_TYPE</a:t>
            </a:r>
          </a:p>
          <a:p>
            <a:pPr marL="228600" indent="-228600">
              <a:buFont typeface="+mj-lt"/>
              <a:buAutoNum type="arabicPeriod"/>
            </a:pPr>
            <a:r>
              <a:rPr lang="en-GB" sz="1100" dirty="0"/>
              <a:t>BLOCKED_TYPE</a:t>
            </a:r>
          </a:p>
          <a:p>
            <a:pPr marL="228600" indent="-228600">
              <a:buFont typeface="+mj-lt"/>
              <a:buAutoNum type="arabicPeriod"/>
            </a:pPr>
            <a:r>
              <a:rPr lang="en-GB" sz="1100" dirty="0"/>
              <a:t>ANSWERED_EXTERNALLY_TYPE</a:t>
            </a:r>
            <a:endParaRPr lang="en-US" sz="1100" dirty="0"/>
          </a:p>
        </p:txBody>
      </p:sp>
      <p:sp>
        <p:nvSpPr>
          <p:cNvPr id="26" name="TextBox 25">
            <a:extLst>
              <a:ext uri="{FF2B5EF4-FFF2-40B4-BE49-F238E27FC236}">
                <a16:creationId xmlns:a16="http://schemas.microsoft.com/office/drawing/2014/main" id="{28E54791-4FB1-4093-9D31-92C351B38751}"/>
              </a:ext>
            </a:extLst>
          </p:cNvPr>
          <p:cNvSpPr txBox="1"/>
          <p:nvPr/>
        </p:nvSpPr>
        <p:spPr>
          <a:xfrm>
            <a:off x="284624" y="5222334"/>
            <a:ext cx="2124841" cy="646331"/>
          </a:xfrm>
          <a:prstGeom prst="rect">
            <a:avLst/>
          </a:prstGeom>
          <a:solidFill>
            <a:schemeClr val="accent4">
              <a:lumMod val="20000"/>
              <a:lumOff val="80000"/>
            </a:schemeClr>
          </a:solid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dirty="0">
                <a:cs typeface="Calibri"/>
              </a:rPr>
              <a:t>If it left voicemail, then </a:t>
            </a:r>
            <a:r>
              <a:rPr lang="en-US" dirty="0" err="1">
                <a:cs typeface="Calibri"/>
              </a:rPr>
              <a:t>url</a:t>
            </a:r>
            <a:r>
              <a:rPr lang="en-US" dirty="0">
                <a:cs typeface="Calibri"/>
              </a:rPr>
              <a:t> to the voice</a:t>
            </a:r>
          </a:p>
        </p:txBody>
      </p:sp>
      <p:cxnSp>
        <p:nvCxnSpPr>
          <p:cNvPr id="27" name="Straight Arrow Connector 26">
            <a:extLst>
              <a:ext uri="{FF2B5EF4-FFF2-40B4-BE49-F238E27FC236}">
                <a16:creationId xmlns:a16="http://schemas.microsoft.com/office/drawing/2014/main" id="{74ABB490-282F-40B4-85FA-4F67D6B91655}"/>
              </a:ext>
            </a:extLst>
          </p:cNvPr>
          <p:cNvCxnSpPr>
            <a:cxnSpLocks/>
            <a:endCxn id="26" idx="3"/>
          </p:cNvCxnSpPr>
          <p:nvPr/>
        </p:nvCxnSpPr>
        <p:spPr>
          <a:xfrm flipH="1" flipV="1">
            <a:off x="2409465" y="5545500"/>
            <a:ext cx="606452" cy="133405"/>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35" name="Rectangle 34">
            <a:extLst>
              <a:ext uri="{FF2B5EF4-FFF2-40B4-BE49-F238E27FC236}">
                <a16:creationId xmlns:a16="http://schemas.microsoft.com/office/drawing/2014/main" id="{1915A4B2-2148-4ED8-BA65-F1063221FF11}"/>
              </a:ext>
            </a:extLst>
          </p:cNvPr>
          <p:cNvSpPr/>
          <p:nvPr/>
        </p:nvSpPr>
        <p:spPr>
          <a:xfrm>
            <a:off x="7864927" y="4472388"/>
            <a:ext cx="1182819" cy="268112"/>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Rectangle 35">
            <a:extLst>
              <a:ext uri="{FF2B5EF4-FFF2-40B4-BE49-F238E27FC236}">
                <a16:creationId xmlns:a16="http://schemas.microsoft.com/office/drawing/2014/main" id="{19952DF4-5CD0-4EED-9831-96450FF50224}"/>
              </a:ext>
            </a:extLst>
          </p:cNvPr>
          <p:cNvSpPr/>
          <p:nvPr/>
        </p:nvSpPr>
        <p:spPr>
          <a:xfrm>
            <a:off x="7864927" y="5400770"/>
            <a:ext cx="1182819" cy="268112"/>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Rectangle 36">
            <a:extLst>
              <a:ext uri="{FF2B5EF4-FFF2-40B4-BE49-F238E27FC236}">
                <a16:creationId xmlns:a16="http://schemas.microsoft.com/office/drawing/2014/main" id="{8748EBE5-A8DA-46E7-BD31-60825B7773CE}"/>
              </a:ext>
            </a:extLst>
          </p:cNvPr>
          <p:cNvSpPr/>
          <p:nvPr/>
        </p:nvSpPr>
        <p:spPr>
          <a:xfrm>
            <a:off x="7854410" y="525287"/>
            <a:ext cx="1626474" cy="268112"/>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 name="Rectangle 37">
            <a:extLst>
              <a:ext uri="{FF2B5EF4-FFF2-40B4-BE49-F238E27FC236}">
                <a16:creationId xmlns:a16="http://schemas.microsoft.com/office/drawing/2014/main" id="{34ED1864-7074-4846-82FF-CDD4D5DC783B}"/>
              </a:ext>
            </a:extLst>
          </p:cNvPr>
          <p:cNvSpPr/>
          <p:nvPr/>
        </p:nvSpPr>
        <p:spPr>
          <a:xfrm>
            <a:off x="7846389" y="3091102"/>
            <a:ext cx="1626474" cy="268112"/>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 name="TextBox 39">
            <a:extLst>
              <a:ext uri="{FF2B5EF4-FFF2-40B4-BE49-F238E27FC236}">
                <a16:creationId xmlns:a16="http://schemas.microsoft.com/office/drawing/2014/main" id="{0C4E235A-AE5E-4DDE-BC5E-584F84DA89B1}"/>
              </a:ext>
            </a:extLst>
          </p:cNvPr>
          <p:cNvSpPr txBox="1"/>
          <p:nvPr/>
        </p:nvSpPr>
        <p:spPr>
          <a:xfrm>
            <a:off x="241096" y="4386243"/>
            <a:ext cx="1974007" cy="369332"/>
          </a:xfrm>
          <a:prstGeom prst="rect">
            <a:avLst/>
          </a:prstGeom>
          <a:solidFill>
            <a:schemeClr val="accent4">
              <a:lumMod val="20000"/>
              <a:lumOff val="80000"/>
            </a:schemeClr>
          </a:solid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dirty="0">
                <a:cs typeface="Calibri"/>
              </a:rPr>
              <a:t>phone account id</a:t>
            </a:r>
          </a:p>
        </p:txBody>
      </p:sp>
      <p:cxnSp>
        <p:nvCxnSpPr>
          <p:cNvPr id="41" name="Straight Arrow Connector 40">
            <a:extLst>
              <a:ext uri="{FF2B5EF4-FFF2-40B4-BE49-F238E27FC236}">
                <a16:creationId xmlns:a16="http://schemas.microsoft.com/office/drawing/2014/main" id="{7BD4D61E-6C57-4786-8B6D-ED7D43F6C43F}"/>
              </a:ext>
            </a:extLst>
          </p:cNvPr>
          <p:cNvCxnSpPr>
            <a:cxnSpLocks/>
            <a:endCxn id="40" idx="3"/>
          </p:cNvCxnSpPr>
          <p:nvPr/>
        </p:nvCxnSpPr>
        <p:spPr>
          <a:xfrm flipH="1">
            <a:off x="2215103" y="3868192"/>
            <a:ext cx="800814" cy="702717"/>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123601827"/>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8174D40C-F3C1-1D41-B6CE-881B8D7D495B}"/>
              </a:ext>
            </a:extLst>
          </p:cNvPr>
          <p:cNvGraphicFramePr>
            <a:graphicFrameLocks noGrp="1"/>
          </p:cNvGraphicFramePr>
          <p:nvPr>
            <p:extLst>
              <p:ext uri="{D42A27DB-BD31-4B8C-83A1-F6EECF244321}">
                <p14:modId xmlns:p14="http://schemas.microsoft.com/office/powerpoint/2010/main" val="3158166341"/>
              </p:ext>
            </p:extLst>
          </p:nvPr>
        </p:nvGraphicFramePr>
        <p:xfrm>
          <a:off x="282226" y="267854"/>
          <a:ext cx="11327883" cy="5934444"/>
        </p:xfrm>
        <a:graphic>
          <a:graphicData uri="http://schemas.openxmlformats.org/drawingml/2006/table">
            <a:tbl>
              <a:tblPr>
                <a:tableStyleId>{5940675A-B579-460E-94D1-54222C63F5DA}</a:tableStyleId>
              </a:tblPr>
              <a:tblGrid>
                <a:gridCol w="2479447">
                  <a:extLst>
                    <a:ext uri="{9D8B030D-6E8A-4147-A177-3AD203B41FA5}">
                      <a16:colId xmlns:a16="http://schemas.microsoft.com/office/drawing/2014/main" val="4226513124"/>
                    </a:ext>
                  </a:extLst>
                </a:gridCol>
                <a:gridCol w="988291">
                  <a:extLst>
                    <a:ext uri="{9D8B030D-6E8A-4147-A177-3AD203B41FA5}">
                      <a16:colId xmlns:a16="http://schemas.microsoft.com/office/drawing/2014/main" val="425920220"/>
                    </a:ext>
                  </a:extLst>
                </a:gridCol>
                <a:gridCol w="7860145">
                  <a:extLst>
                    <a:ext uri="{9D8B030D-6E8A-4147-A177-3AD203B41FA5}">
                      <a16:colId xmlns:a16="http://schemas.microsoft.com/office/drawing/2014/main" val="743430618"/>
                    </a:ext>
                  </a:extLst>
                </a:gridCol>
              </a:tblGrid>
              <a:tr h="87027">
                <a:tc>
                  <a:txBody>
                    <a:bodyPr/>
                    <a:lstStyle/>
                    <a:p>
                      <a:pPr>
                        <a:buNone/>
                      </a:pPr>
                      <a:r>
                        <a:rPr lang="en-US" sz="1200"/>
                        <a:t>Column Name</a:t>
                      </a:r>
                    </a:p>
                  </a:txBody>
                  <a:tcPr marL="21757" marR="21757" marT="10878" marB="10878" anchor="ctr"/>
                </a:tc>
                <a:tc>
                  <a:txBody>
                    <a:bodyPr/>
                    <a:lstStyle/>
                    <a:p>
                      <a:pPr>
                        <a:buNone/>
                      </a:pPr>
                      <a:r>
                        <a:rPr lang="en-US" sz="1200"/>
                        <a:t>Data Type</a:t>
                      </a:r>
                    </a:p>
                  </a:txBody>
                  <a:tcPr marL="21757" marR="21757" marT="10878" marB="10878" anchor="ctr"/>
                </a:tc>
                <a:tc>
                  <a:txBody>
                    <a:bodyPr/>
                    <a:lstStyle/>
                    <a:p>
                      <a:pPr>
                        <a:buNone/>
                      </a:pPr>
                      <a:r>
                        <a:rPr lang="en-US" sz="1200"/>
                        <a:t>Description</a:t>
                      </a:r>
                    </a:p>
                  </a:txBody>
                  <a:tcPr marL="21757" marR="21757" marT="10878" marB="10878" anchor="ctr"/>
                </a:tc>
                <a:extLst>
                  <a:ext uri="{0D108BD9-81ED-4DB2-BD59-A6C34878D82A}">
                    <a16:rowId xmlns:a16="http://schemas.microsoft.com/office/drawing/2014/main" val="2298102538"/>
                  </a:ext>
                </a:extLst>
              </a:tr>
              <a:tr h="152297">
                <a:tc>
                  <a:txBody>
                    <a:bodyPr/>
                    <a:lstStyle/>
                    <a:p>
                      <a:pPr>
                        <a:buNone/>
                      </a:pPr>
                      <a:r>
                        <a:rPr lang="en-US" sz="1200" b="1"/>
                        <a:t>_id</a:t>
                      </a:r>
                      <a:endParaRPr lang="en-US" sz="1200"/>
                    </a:p>
                  </a:txBody>
                  <a:tcPr marL="21757" marR="21757" marT="10878" marB="10878" anchor="ctr"/>
                </a:tc>
                <a:tc>
                  <a:txBody>
                    <a:bodyPr/>
                    <a:lstStyle/>
                    <a:p>
                      <a:pPr>
                        <a:buNone/>
                      </a:pPr>
                      <a:r>
                        <a:rPr lang="en-US" sz="1200"/>
                        <a:t>INTEGER</a:t>
                      </a:r>
                    </a:p>
                  </a:txBody>
                  <a:tcPr marL="21757" marR="21757" marT="10878" marB="10878" anchor="ctr"/>
                </a:tc>
                <a:tc>
                  <a:txBody>
                    <a:bodyPr/>
                    <a:lstStyle/>
                    <a:p>
                      <a:pPr>
                        <a:buNone/>
                      </a:pPr>
                      <a:r>
                        <a:rPr lang="en-GB" sz="1200"/>
                        <a:t>Primary key — unique ID for each call record.</a:t>
                      </a:r>
                    </a:p>
                  </a:txBody>
                  <a:tcPr marL="21757" marR="21757" marT="10878" marB="10878" anchor="ctr"/>
                </a:tc>
                <a:extLst>
                  <a:ext uri="{0D108BD9-81ED-4DB2-BD59-A6C34878D82A}">
                    <a16:rowId xmlns:a16="http://schemas.microsoft.com/office/drawing/2014/main" val="2449374355"/>
                  </a:ext>
                </a:extLst>
              </a:tr>
              <a:tr h="152297">
                <a:tc>
                  <a:txBody>
                    <a:bodyPr/>
                    <a:lstStyle/>
                    <a:p>
                      <a:pPr>
                        <a:buNone/>
                      </a:pPr>
                      <a:r>
                        <a:rPr lang="en-US" sz="1200" b="1">
                          <a:highlight>
                            <a:srgbClr val="FFFF00"/>
                          </a:highlight>
                        </a:rPr>
                        <a:t>number</a:t>
                      </a:r>
                      <a:endParaRPr lang="en-US" sz="1200">
                        <a:highlight>
                          <a:srgbClr val="FFFF00"/>
                        </a:highlight>
                      </a:endParaRPr>
                    </a:p>
                  </a:txBody>
                  <a:tcPr marL="21757" marR="21757" marT="10878" marB="10878" anchor="ctr"/>
                </a:tc>
                <a:tc>
                  <a:txBody>
                    <a:bodyPr/>
                    <a:lstStyle/>
                    <a:p>
                      <a:pPr>
                        <a:buNone/>
                      </a:pPr>
                      <a:r>
                        <a:rPr lang="en-US" sz="1200">
                          <a:highlight>
                            <a:srgbClr val="FFFF00"/>
                          </a:highlight>
                        </a:rPr>
                        <a:t>TEXT</a:t>
                      </a:r>
                    </a:p>
                  </a:txBody>
                  <a:tcPr marL="21757" marR="21757" marT="10878" marB="10878" anchor="ctr"/>
                </a:tc>
                <a:tc>
                  <a:txBody>
                    <a:bodyPr/>
                    <a:lstStyle/>
                    <a:p>
                      <a:pPr>
                        <a:buNone/>
                      </a:pPr>
                      <a:r>
                        <a:rPr lang="en-GB" sz="1200" dirty="0">
                          <a:highlight>
                            <a:srgbClr val="FFFF00"/>
                          </a:highlight>
                        </a:rPr>
                        <a:t>The phone number </a:t>
                      </a:r>
                      <a:r>
                        <a:rPr lang="en-GB" sz="1200" dirty="0" err="1">
                          <a:highlight>
                            <a:srgbClr val="FFFF00"/>
                          </a:highlight>
                        </a:rPr>
                        <a:t>dialed</a:t>
                      </a:r>
                      <a:r>
                        <a:rPr lang="en-GB" sz="1200" dirty="0">
                          <a:highlight>
                            <a:srgbClr val="FFFF00"/>
                          </a:highlight>
                        </a:rPr>
                        <a:t> or received.</a:t>
                      </a:r>
                    </a:p>
                  </a:txBody>
                  <a:tcPr marL="21757" marR="21757" marT="10878" marB="10878" anchor="ctr"/>
                </a:tc>
                <a:extLst>
                  <a:ext uri="{0D108BD9-81ED-4DB2-BD59-A6C34878D82A}">
                    <a16:rowId xmlns:a16="http://schemas.microsoft.com/office/drawing/2014/main" val="3237508766"/>
                  </a:ext>
                </a:extLst>
              </a:tr>
              <a:tr h="152297">
                <a:tc>
                  <a:txBody>
                    <a:bodyPr/>
                    <a:lstStyle/>
                    <a:p>
                      <a:pPr>
                        <a:buNone/>
                      </a:pPr>
                      <a:r>
                        <a:rPr lang="en-US" sz="1200" b="1"/>
                        <a:t>post_dial_digits</a:t>
                      </a:r>
                      <a:endParaRPr lang="en-US" sz="1200"/>
                    </a:p>
                  </a:txBody>
                  <a:tcPr marL="21757" marR="21757" marT="10878" marB="10878" anchor="ctr"/>
                </a:tc>
                <a:tc>
                  <a:txBody>
                    <a:bodyPr/>
                    <a:lstStyle/>
                    <a:p>
                      <a:pPr>
                        <a:buNone/>
                      </a:pPr>
                      <a:r>
                        <a:rPr lang="en-US" sz="1200"/>
                        <a:t>TEXT</a:t>
                      </a:r>
                    </a:p>
                  </a:txBody>
                  <a:tcPr marL="21757" marR="21757" marT="10878" marB="10878" anchor="ctr"/>
                </a:tc>
                <a:tc>
                  <a:txBody>
                    <a:bodyPr/>
                    <a:lstStyle/>
                    <a:p>
                      <a:pPr>
                        <a:buNone/>
                      </a:pPr>
                      <a:r>
                        <a:rPr lang="en-GB" sz="1200"/>
                        <a:t>Additional digits dialed after the main number (e.g., extensions).</a:t>
                      </a:r>
                    </a:p>
                  </a:txBody>
                  <a:tcPr marL="21757" marR="21757" marT="10878" marB="10878" anchor="ctr"/>
                </a:tc>
                <a:extLst>
                  <a:ext uri="{0D108BD9-81ED-4DB2-BD59-A6C34878D82A}">
                    <a16:rowId xmlns:a16="http://schemas.microsoft.com/office/drawing/2014/main" val="3134111587"/>
                  </a:ext>
                </a:extLst>
              </a:tr>
              <a:tr h="152297">
                <a:tc>
                  <a:txBody>
                    <a:bodyPr/>
                    <a:lstStyle/>
                    <a:p>
                      <a:pPr>
                        <a:buNone/>
                      </a:pPr>
                      <a:r>
                        <a:rPr lang="en-US" sz="1200" b="1"/>
                        <a:t>via_number</a:t>
                      </a:r>
                      <a:endParaRPr lang="en-US" sz="1200"/>
                    </a:p>
                  </a:txBody>
                  <a:tcPr marL="21757" marR="21757" marT="10878" marB="10878" anchor="ctr"/>
                </a:tc>
                <a:tc>
                  <a:txBody>
                    <a:bodyPr/>
                    <a:lstStyle/>
                    <a:p>
                      <a:pPr>
                        <a:buNone/>
                      </a:pPr>
                      <a:r>
                        <a:rPr lang="en-US" sz="1200"/>
                        <a:t>TEXT</a:t>
                      </a:r>
                    </a:p>
                  </a:txBody>
                  <a:tcPr marL="21757" marR="21757" marT="10878" marB="10878" anchor="ctr"/>
                </a:tc>
                <a:tc>
                  <a:txBody>
                    <a:bodyPr/>
                    <a:lstStyle/>
                    <a:p>
                      <a:pPr>
                        <a:buNone/>
                      </a:pPr>
                      <a:r>
                        <a:rPr lang="en-GB" sz="1200"/>
                        <a:t>The intermediate routing number used for the call (if any).</a:t>
                      </a:r>
                    </a:p>
                  </a:txBody>
                  <a:tcPr marL="21757" marR="21757" marT="10878" marB="10878" anchor="ctr"/>
                </a:tc>
                <a:extLst>
                  <a:ext uri="{0D108BD9-81ED-4DB2-BD59-A6C34878D82A}">
                    <a16:rowId xmlns:a16="http://schemas.microsoft.com/office/drawing/2014/main" val="686614712"/>
                  </a:ext>
                </a:extLst>
              </a:tr>
              <a:tr h="152297">
                <a:tc>
                  <a:txBody>
                    <a:bodyPr/>
                    <a:lstStyle/>
                    <a:p>
                      <a:pPr>
                        <a:buNone/>
                      </a:pPr>
                      <a:r>
                        <a:rPr lang="en-US" sz="1200" b="1">
                          <a:highlight>
                            <a:srgbClr val="FFFF00"/>
                          </a:highlight>
                        </a:rPr>
                        <a:t>presentation</a:t>
                      </a:r>
                      <a:endParaRPr lang="en-US" sz="1200">
                        <a:highlight>
                          <a:srgbClr val="FFFF00"/>
                        </a:highlight>
                      </a:endParaRPr>
                    </a:p>
                  </a:txBody>
                  <a:tcPr marL="21757" marR="21757" marT="10878" marB="10878" anchor="ctr"/>
                </a:tc>
                <a:tc>
                  <a:txBody>
                    <a:bodyPr/>
                    <a:lstStyle/>
                    <a:p>
                      <a:pPr>
                        <a:buNone/>
                      </a:pPr>
                      <a:r>
                        <a:rPr lang="en-US" sz="1200">
                          <a:highlight>
                            <a:srgbClr val="FFFF00"/>
                          </a:highlight>
                        </a:rPr>
                        <a:t>INTEGER</a:t>
                      </a:r>
                    </a:p>
                  </a:txBody>
                  <a:tcPr marL="21757" marR="21757" marT="10878" marB="10878" anchor="ctr"/>
                </a:tc>
                <a:tc>
                  <a:txBody>
                    <a:bodyPr/>
                    <a:lstStyle/>
                    <a:p>
                      <a:pPr>
                        <a:buNone/>
                      </a:pPr>
                      <a:r>
                        <a:rPr lang="en-GB" sz="1200" dirty="0">
                          <a:highlight>
                            <a:srgbClr val="FFFF00"/>
                          </a:highlight>
                        </a:rPr>
                        <a:t>How the number is presented (e.g., allowed, restricted, payphone).</a:t>
                      </a:r>
                    </a:p>
                  </a:txBody>
                  <a:tcPr marL="21757" marR="21757" marT="10878" marB="10878" anchor="ctr"/>
                </a:tc>
                <a:extLst>
                  <a:ext uri="{0D108BD9-81ED-4DB2-BD59-A6C34878D82A}">
                    <a16:rowId xmlns:a16="http://schemas.microsoft.com/office/drawing/2014/main" val="601103365"/>
                  </a:ext>
                </a:extLst>
              </a:tr>
              <a:tr h="191363">
                <a:tc>
                  <a:txBody>
                    <a:bodyPr/>
                    <a:lstStyle/>
                    <a:p>
                      <a:pPr>
                        <a:buNone/>
                      </a:pPr>
                      <a:r>
                        <a:rPr lang="en-US" sz="1200" b="1">
                          <a:highlight>
                            <a:srgbClr val="FFFF00"/>
                          </a:highlight>
                        </a:rPr>
                        <a:t>type</a:t>
                      </a:r>
                      <a:endParaRPr lang="en-US" sz="1200">
                        <a:highlight>
                          <a:srgbClr val="FFFF00"/>
                        </a:highlight>
                      </a:endParaRPr>
                    </a:p>
                  </a:txBody>
                  <a:tcPr marL="21757" marR="21757" marT="10878" marB="10878" anchor="ctr"/>
                </a:tc>
                <a:tc>
                  <a:txBody>
                    <a:bodyPr/>
                    <a:lstStyle/>
                    <a:p>
                      <a:pPr>
                        <a:buNone/>
                      </a:pPr>
                      <a:r>
                        <a:rPr lang="en-US" sz="1200">
                          <a:highlight>
                            <a:srgbClr val="FFFF00"/>
                          </a:highlight>
                        </a:rPr>
                        <a:t>INTEGER</a:t>
                      </a:r>
                    </a:p>
                  </a:txBody>
                  <a:tcPr marL="21757" marR="21757" marT="10878" marB="10878" anchor="ctr"/>
                </a:tc>
                <a:tc>
                  <a:txBody>
                    <a:bodyPr/>
                    <a:lstStyle/>
                    <a:p>
                      <a:pPr>
                        <a:buNone/>
                      </a:pPr>
                      <a:r>
                        <a:rPr lang="en-GB" sz="1200" dirty="0">
                          <a:highlight>
                            <a:srgbClr val="FFFF00"/>
                          </a:highlight>
                        </a:rPr>
                        <a:t>Type of call:1 = Incoming, 2 = Outgoing, 3 = Missed, 4 = Voicemail, 5 = Rejected, 6 = Blocked, 7 = Answered externally.</a:t>
                      </a:r>
                    </a:p>
                  </a:txBody>
                  <a:tcPr marL="21757" marR="21757" marT="10878" marB="10878" anchor="ctr"/>
                </a:tc>
                <a:extLst>
                  <a:ext uri="{0D108BD9-81ED-4DB2-BD59-A6C34878D82A}">
                    <a16:rowId xmlns:a16="http://schemas.microsoft.com/office/drawing/2014/main" val="2212699860"/>
                  </a:ext>
                </a:extLst>
              </a:tr>
              <a:tr h="152297">
                <a:tc>
                  <a:txBody>
                    <a:bodyPr/>
                    <a:lstStyle/>
                    <a:p>
                      <a:pPr>
                        <a:buNone/>
                      </a:pPr>
                      <a:r>
                        <a:rPr lang="en-US" sz="1200" b="1"/>
                        <a:t>features</a:t>
                      </a:r>
                      <a:endParaRPr lang="en-US" sz="1200"/>
                    </a:p>
                  </a:txBody>
                  <a:tcPr marL="21757" marR="21757" marT="10878" marB="10878" anchor="ctr"/>
                </a:tc>
                <a:tc>
                  <a:txBody>
                    <a:bodyPr/>
                    <a:lstStyle/>
                    <a:p>
                      <a:pPr>
                        <a:buNone/>
                      </a:pPr>
                      <a:r>
                        <a:rPr lang="en-US" sz="1200"/>
                        <a:t>INTEGER</a:t>
                      </a:r>
                    </a:p>
                  </a:txBody>
                  <a:tcPr marL="21757" marR="21757" marT="10878" marB="10878" anchor="ctr"/>
                </a:tc>
                <a:tc>
                  <a:txBody>
                    <a:bodyPr/>
                    <a:lstStyle/>
                    <a:p>
                      <a:pPr>
                        <a:buNone/>
                      </a:pPr>
                      <a:r>
                        <a:rPr lang="en-GB" sz="1200" dirty="0"/>
                        <a:t>Bitmask of call features (e.g., video, Wi-Fi, assisted </a:t>
                      </a:r>
                      <a:r>
                        <a:rPr lang="en-GB" sz="1200" dirty="0" err="1"/>
                        <a:t>dialing</a:t>
                      </a:r>
                      <a:r>
                        <a:rPr lang="en-GB" sz="1200" dirty="0"/>
                        <a:t>).</a:t>
                      </a:r>
                    </a:p>
                  </a:txBody>
                  <a:tcPr marL="21757" marR="21757" marT="10878" marB="10878" anchor="ctr"/>
                </a:tc>
                <a:extLst>
                  <a:ext uri="{0D108BD9-81ED-4DB2-BD59-A6C34878D82A}">
                    <a16:rowId xmlns:a16="http://schemas.microsoft.com/office/drawing/2014/main" val="3509312103"/>
                  </a:ext>
                </a:extLst>
              </a:tr>
              <a:tr h="152297">
                <a:tc>
                  <a:txBody>
                    <a:bodyPr/>
                    <a:lstStyle/>
                    <a:p>
                      <a:pPr>
                        <a:buNone/>
                      </a:pPr>
                      <a:r>
                        <a:rPr lang="en-US" sz="1200" b="1">
                          <a:highlight>
                            <a:srgbClr val="FFFF00"/>
                          </a:highlight>
                        </a:rPr>
                        <a:t>date</a:t>
                      </a:r>
                      <a:endParaRPr lang="en-US" sz="1200">
                        <a:highlight>
                          <a:srgbClr val="FFFF00"/>
                        </a:highlight>
                      </a:endParaRPr>
                    </a:p>
                  </a:txBody>
                  <a:tcPr marL="21757" marR="21757" marT="10878" marB="10878" anchor="ctr"/>
                </a:tc>
                <a:tc>
                  <a:txBody>
                    <a:bodyPr/>
                    <a:lstStyle/>
                    <a:p>
                      <a:pPr>
                        <a:buNone/>
                      </a:pPr>
                      <a:r>
                        <a:rPr lang="en-US" sz="1200">
                          <a:highlight>
                            <a:srgbClr val="FFFF00"/>
                          </a:highlight>
                        </a:rPr>
                        <a:t>INTEGER</a:t>
                      </a:r>
                    </a:p>
                  </a:txBody>
                  <a:tcPr marL="21757" marR="21757" marT="10878" marB="10878" anchor="ctr"/>
                </a:tc>
                <a:tc>
                  <a:txBody>
                    <a:bodyPr/>
                    <a:lstStyle/>
                    <a:p>
                      <a:pPr>
                        <a:buNone/>
                      </a:pPr>
                      <a:r>
                        <a:rPr lang="en-GB" sz="1200" dirty="0">
                          <a:highlight>
                            <a:srgbClr val="FFFF00"/>
                          </a:highlight>
                        </a:rPr>
                        <a:t>Timestamp (milliseconds since epoch) of when the call began.</a:t>
                      </a:r>
                    </a:p>
                  </a:txBody>
                  <a:tcPr marL="21757" marR="21757" marT="10878" marB="10878" anchor="ctr"/>
                </a:tc>
                <a:extLst>
                  <a:ext uri="{0D108BD9-81ED-4DB2-BD59-A6C34878D82A}">
                    <a16:rowId xmlns:a16="http://schemas.microsoft.com/office/drawing/2014/main" val="821418438"/>
                  </a:ext>
                </a:extLst>
              </a:tr>
              <a:tr h="87027">
                <a:tc>
                  <a:txBody>
                    <a:bodyPr/>
                    <a:lstStyle/>
                    <a:p>
                      <a:pPr>
                        <a:buNone/>
                      </a:pPr>
                      <a:r>
                        <a:rPr lang="en-US" sz="1200" b="1">
                          <a:highlight>
                            <a:srgbClr val="FFFF00"/>
                          </a:highlight>
                        </a:rPr>
                        <a:t>duration</a:t>
                      </a:r>
                      <a:endParaRPr lang="en-US" sz="1200">
                        <a:highlight>
                          <a:srgbClr val="FFFF00"/>
                        </a:highlight>
                      </a:endParaRPr>
                    </a:p>
                  </a:txBody>
                  <a:tcPr marL="21757" marR="21757" marT="10878" marB="10878" anchor="ctr"/>
                </a:tc>
                <a:tc>
                  <a:txBody>
                    <a:bodyPr/>
                    <a:lstStyle/>
                    <a:p>
                      <a:pPr>
                        <a:buNone/>
                      </a:pPr>
                      <a:r>
                        <a:rPr lang="en-US" sz="1200">
                          <a:highlight>
                            <a:srgbClr val="FFFF00"/>
                          </a:highlight>
                        </a:rPr>
                        <a:t>INTEGER</a:t>
                      </a:r>
                    </a:p>
                  </a:txBody>
                  <a:tcPr marL="21757" marR="21757" marT="10878" marB="10878" anchor="ctr"/>
                </a:tc>
                <a:tc>
                  <a:txBody>
                    <a:bodyPr/>
                    <a:lstStyle/>
                    <a:p>
                      <a:pPr>
                        <a:buNone/>
                      </a:pPr>
                      <a:r>
                        <a:rPr lang="en-GB" sz="1200" dirty="0">
                          <a:highlight>
                            <a:srgbClr val="FFFF00"/>
                          </a:highlight>
                        </a:rPr>
                        <a:t>Length of the call in seconds.</a:t>
                      </a:r>
                    </a:p>
                  </a:txBody>
                  <a:tcPr marL="21757" marR="21757" marT="10878" marB="10878" anchor="ctr"/>
                </a:tc>
                <a:extLst>
                  <a:ext uri="{0D108BD9-81ED-4DB2-BD59-A6C34878D82A}">
                    <a16:rowId xmlns:a16="http://schemas.microsoft.com/office/drawing/2014/main" val="3523356999"/>
                  </a:ext>
                </a:extLst>
              </a:tr>
              <a:tr h="152297">
                <a:tc>
                  <a:txBody>
                    <a:bodyPr/>
                    <a:lstStyle/>
                    <a:p>
                      <a:pPr>
                        <a:buNone/>
                      </a:pPr>
                      <a:r>
                        <a:rPr lang="en-US" sz="1200" b="1"/>
                        <a:t>subscription_id</a:t>
                      </a:r>
                      <a:endParaRPr lang="en-US" sz="1200"/>
                    </a:p>
                  </a:txBody>
                  <a:tcPr marL="21757" marR="21757" marT="10878" marB="10878" anchor="ctr"/>
                </a:tc>
                <a:tc>
                  <a:txBody>
                    <a:bodyPr/>
                    <a:lstStyle/>
                    <a:p>
                      <a:pPr>
                        <a:buNone/>
                      </a:pPr>
                      <a:r>
                        <a:rPr lang="en-US" sz="1200"/>
                        <a:t>INTEGER</a:t>
                      </a:r>
                    </a:p>
                  </a:txBody>
                  <a:tcPr marL="21757" marR="21757" marT="10878" marB="10878" anchor="ctr"/>
                </a:tc>
                <a:tc>
                  <a:txBody>
                    <a:bodyPr/>
                    <a:lstStyle/>
                    <a:p>
                      <a:pPr>
                        <a:buNone/>
                      </a:pPr>
                      <a:r>
                        <a:rPr lang="en-GB" sz="1200"/>
                        <a:t>SIM card slot ID or subscription used for the call.</a:t>
                      </a:r>
                    </a:p>
                  </a:txBody>
                  <a:tcPr marL="21757" marR="21757" marT="10878" marB="10878" anchor="ctr"/>
                </a:tc>
                <a:extLst>
                  <a:ext uri="{0D108BD9-81ED-4DB2-BD59-A6C34878D82A}">
                    <a16:rowId xmlns:a16="http://schemas.microsoft.com/office/drawing/2014/main" val="1413307404"/>
                  </a:ext>
                </a:extLst>
              </a:tr>
              <a:tr h="152297">
                <a:tc>
                  <a:txBody>
                    <a:bodyPr/>
                    <a:lstStyle/>
                    <a:p>
                      <a:pPr>
                        <a:buNone/>
                      </a:pPr>
                      <a:r>
                        <a:rPr lang="en-US" sz="1200" b="1"/>
                        <a:t>phone_account_id</a:t>
                      </a:r>
                      <a:endParaRPr lang="en-US" sz="1200"/>
                    </a:p>
                  </a:txBody>
                  <a:tcPr marL="21757" marR="21757" marT="10878" marB="10878" anchor="ctr"/>
                </a:tc>
                <a:tc>
                  <a:txBody>
                    <a:bodyPr/>
                    <a:lstStyle/>
                    <a:p>
                      <a:pPr>
                        <a:buNone/>
                      </a:pPr>
                      <a:r>
                        <a:rPr lang="en-US" sz="1200"/>
                        <a:t>TEXT</a:t>
                      </a:r>
                    </a:p>
                  </a:txBody>
                  <a:tcPr marL="21757" marR="21757" marT="10878" marB="10878" anchor="ctr"/>
                </a:tc>
                <a:tc>
                  <a:txBody>
                    <a:bodyPr/>
                    <a:lstStyle/>
                    <a:p>
                      <a:pPr>
                        <a:buNone/>
                      </a:pPr>
                      <a:r>
                        <a:rPr lang="en-GB" sz="1200"/>
                        <a:t>Identifier of the phone account (SIM, VoIP, etc.) used.</a:t>
                      </a:r>
                    </a:p>
                  </a:txBody>
                  <a:tcPr marL="21757" marR="21757" marT="10878" marB="10878" anchor="ctr"/>
                </a:tc>
                <a:extLst>
                  <a:ext uri="{0D108BD9-81ED-4DB2-BD59-A6C34878D82A}">
                    <a16:rowId xmlns:a16="http://schemas.microsoft.com/office/drawing/2014/main" val="1189964335"/>
                  </a:ext>
                </a:extLst>
              </a:tr>
              <a:tr h="152297">
                <a:tc>
                  <a:txBody>
                    <a:bodyPr/>
                    <a:lstStyle/>
                    <a:p>
                      <a:pPr>
                        <a:buNone/>
                      </a:pPr>
                      <a:r>
                        <a:rPr lang="en-US" sz="1200" b="1"/>
                        <a:t>phone_account_component_name</a:t>
                      </a:r>
                      <a:endParaRPr lang="en-US" sz="1200"/>
                    </a:p>
                  </a:txBody>
                  <a:tcPr marL="21757" marR="21757" marT="10878" marB="10878" anchor="ctr"/>
                </a:tc>
                <a:tc>
                  <a:txBody>
                    <a:bodyPr/>
                    <a:lstStyle/>
                    <a:p>
                      <a:pPr>
                        <a:buNone/>
                      </a:pPr>
                      <a:r>
                        <a:rPr lang="en-US" sz="1200"/>
                        <a:t>TEXT</a:t>
                      </a:r>
                    </a:p>
                  </a:txBody>
                  <a:tcPr marL="21757" marR="21757" marT="10878" marB="10878" anchor="ctr"/>
                </a:tc>
                <a:tc>
                  <a:txBody>
                    <a:bodyPr/>
                    <a:lstStyle/>
                    <a:p>
                      <a:pPr>
                        <a:buNone/>
                      </a:pPr>
                      <a:r>
                        <a:rPr lang="en-GB" sz="1200"/>
                        <a:t>Component name of the dialer or VoIP provider.</a:t>
                      </a:r>
                    </a:p>
                  </a:txBody>
                  <a:tcPr marL="21757" marR="21757" marT="10878" marB="10878" anchor="ctr"/>
                </a:tc>
                <a:extLst>
                  <a:ext uri="{0D108BD9-81ED-4DB2-BD59-A6C34878D82A}">
                    <a16:rowId xmlns:a16="http://schemas.microsoft.com/office/drawing/2014/main" val="4023773892"/>
                  </a:ext>
                </a:extLst>
              </a:tr>
              <a:tr h="152297">
                <a:tc>
                  <a:txBody>
                    <a:bodyPr/>
                    <a:lstStyle/>
                    <a:p>
                      <a:pPr>
                        <a:buNone/>
                      </a:pPr>
                      <a:r>
                        <a:rPr lang="en-US" sz="1200" b="1"/>
                        <a:t>new</a:t>
                      </a:r>
                      <a:endParaRPr lang="en-US" sz="1200"/>
                    </a:p>
                  </a:txBody>
                  <a:tcPr marL="21757" marR="21757" marT="10878" marB="10878" anchor="ctr"/>
                </a:tc>
                <a:tc>
                  <a:txBody>
                    <a:bodyPr/>
                    <a:lstStyle/>
                    <a:p>
                      <a:pPr>
                        <a:buNone/>
                      </a:pPr>
                      <a:r>
                        <a:rPr lang="en-US" sz="1200"/>
                        <a:t>INTEGER</a:t>
                      </a:r>
                    </a:p>
                  </a:txBody>
                  <a:tcPr marL="21757" marR="21757" marT="10878" marB="10878" anchor="ctr"/>
                </a:tc>
                <a:tc>
                  <a:txBody>
                    <a:bodyPr/>
                    <a:lstStyle/>
                    <a:p>
                      <a:pPr>
                        <a:buNone/>
                      </a:pPr>
                      <a:r>
                        <a:rPr lang="en-GB" sz="1200"/>
                        <a:t>1 if the call is new/unread, 0 if already viewed.</a:t>
                      </a:r>
                    </a:p>
                  </a:txBody>
                  <a:tcPr marL="21757" marR="21757" marT="10878" marB="10878" anchor="ctr"/>
                </a:tc>
                <a:extLst>
                  <a:ext uri="{0D108BD9-81ED-4DB2-BD59-A6C34878D82A}">
                    <a16:rowId xmlns:a16="http://schemas.microsoft.com/office/drawing/2014/main" val="2206910746"/>
                  </a:ext>
                </a:extLst>
              </a:tr>
              <a:tr h="152297">
                <a:tc>
                  <a:txBody>
                    <a:bodyPr/>
                    <a:lstStyle/>
                    <a:p>
                      <a:pPr>
                        <a:buNone/>
                      </a:pPr>
                      <a:r>
                        <a:rPr lang="en-US" sz="1200" b="1">
                          <a:highlight>
                            <a:srgbClr val="FFFF00"/>
                          </a:highlight>
                        </a:rPr>
                        <a:t>name</a:t>
                      </a:r>
                      <a:endParaRPr lang="en-US" sz="1200">
                        <a:highlight>
                          <a:srgbClr val="FFFF00"/>
                        </a:highlight>
                      </a:endParaRPr>
                    </a:p>
                  </a:txBody>
                  <a:tcPr marL="21757" marR="21757" marT="10878" marB="10878" anchor="ctr"/>
                </a:tc>
                <a:tc>
                  <a:txBody>
                    <a:bodyPr/>
                    <a:lstStyle/>
                    <a:p>
                      <a:pPr>
                        <a:buNone/>
                      </a:pPr>
                      <a:r>
                        <a:rPr lang="en-US" sz="1200">
                          <a:highlight>
                            <a:srgbClr val="FFFF00"/>
                          </a:highlight>
                        </a:rPr>
                        <a:t>TEXT</a:t>
                      </a:r>
                    </a:p>
                  </a:txBody>
                  <a:tcPr marL="21757" marR="21757" marT="10878" marB="10878" anchor="ctr"/>
                </a:tc>
                <a:tc>
                  <a:txBody>
                    <a:bodyPr/>
                    <a:lstStyle/>
                    <a:p>
                      <a:pPr>
                        <a:buNone/>
                      </a:pPr>
                      <a:r>
                        <a:rPr lang="en-GB" sz="1200" dirty="0">
                          <a:highlight>
                            <a:srgbClr val="FFFF00"/>
                          </a:highlight>
                        </a:rPr>
                        <a:t>Cached contact name at the time of the call (from contacts lookup).</a:t>
                      </a:r>
                    </a:p>
                  </a:txBody>
                  <a:tcPr marL="21757" marR="21757" marT="10878" marB="10878" anchor="ctr"/>
                </a:tc>
                <a:extLst>
                  <a:ext uri="{0D108BD9-81ED-4DB2-BD59-A6C34878D82A}">
                    <a16:rowId xmlns:a16="http://schemas.microsoft.com/office/drawing/2014/main" val="868146432"/>
                  </a:ext>
                </a:extLst>
              </a:tr>
              <a:tr h="152297">
                <a:tc>
                  <a:txBody>
                    <a:bodyPr/>
                    <a:lstStyle/>
                    <a:p>
                      <a:pPr>
                        <a:buNone/>
                      </a:pPr>
                      <a:r>
                        <a:rPr lang="en-US" sz="1200" b="1"/>
                        <a:t>numbertype</a:t>
                      </a:r>
                      <a:endParaRPr lang="en-US" sz="1200"/>
                    </a:p>
                  </a:txBody>
                  <a:tcPr marL="21757" marR="21757" marT="10878" marB="10878" anchor="ctr"/>
                </a:tc>
                <a:tc>
                  <a:txBody>
                    <a:bodyPr/>
                    <a:lstStyle/>
                    <a:p>
                      <a:pPr>
                        <a:buNone/>
                      </a:pPr>
                      <a:r>
                        <a:rPr lang="en-US" sz="1200"/>
                        <a:t>INTEGER</a:t>
                      </a:r>
                    </a:p>
                  </a:txBody>
                  <a:tcPr marL="21757" marR="21757" marT="10878" marB="10878" anchor="ctr"/>
                </a:tc>
                <a:tc>
                  <a:txBody>
                    <a:bodyPr/>
                    <a:lstStyle/>
                    <a:p>
                      <a:pPr>
                        <a:buNone/>
                      </a:pPr>
                      <a:r>
                        <a:rPr lang="en-GB" sz="1200"/>
                        <a:t>Type of number (home, mobile, work, etc.) if matched in contacts.</a:t>
                      </a:r>
                    </a:p>
                  </a:txBody>
                  <a:tcPr marL="21757" marR="21757" marT="10878" marB="10878" anchor="ctr"/>
                </a:tc>
                <a:extLst>
                  <a:ext uri="{0D108BD9-81ED-4DB2-BD59-A6C34878D82A}">
                    <a16:rowId xmlns:a16="http://schemas.microsoft.com/office/drawing/2014/main" val="1473069945"/>
                  </a:ext>
                </a:extLst>
              </a:tr>
              <a:tr h="152297">
                <a:tc>
                  <a:txBody>
                    <a:bodyPr/>
                    <a:lstStyle/>
                    <a:p>
                      <a:pPr>
                        <a:buNone/>
                      </a:pPr>
                      <a:r>
                        <a:rPr lang="en-US" sz="1200" b="1"/>
                        <a:t>numberlabel</a:t>
                      </a:r>
                      <a:endParaRPr lang="en-US" sz="1200"/>
                    </a:p>
                  </a:txBody>
                  <a:tcPr marL="21757" marR="21757" marT="10878" marB="10878" anchor="ctr"/>
                </a:tc>
                <a:tc>
                  <a:txBody>
                    <a:bodyPr/>
                    <a:lstStyle/>
                    <a:p>
                      <a:pPr>
                        <a:buNone/>
                      </a:pPr>
                      <a:r>
                        <a:rPr lang="en-US" sz="1200"/>
                        <a:t>TEXT</a:t>
                      </a:r>
                    </a:p>
                  </a:txBody>
                  <a:tcPr marL="21757" marR="21757" marT="10878" marB="10878" anchor="ctr"/>
                </a:tc>
                <a:tc>
                  <a:txBody>
                    <a:bodyPr/>
                    <a:lstStyle/>
                    <a:p>
                      <a:pPr>
                        <a:buNone/>
                      </a:pPr>
                      <a:r>
                        <a:rPr lang="en-GB" sz="1200"/>
                        <a:t>Custom label for the number if applicable.</a:t>
                      </a:r>
                    </a:p>
                  </a:txBody>
                  <a:tcPr marL="21757" marR="21757" marT="10878" marB="10878" anchor="ctr"/>
                </a:tc>
                <a:extLst>
                  <a:ext uri="{0D108BD9-81ED-4DB2-BD59-A6C34878D82A}">
                    <a16:rowId xmlns:a16="http://schemas.microsoft.com/office/drawing/2014/main" val="1824139947"/>
                  </a:ext>
                </a:extLst>
              </a:tr>
              <a:tr h="152297">
                <a:tc>
                  <a:txBody>
                    <a:bodyPr/>
                    <a:lstStyle/>
                    <a:p>
                      <a:pPr>
                        <a:buNone/>
                      </a:pPr>
                      <a:r>
                        <a:rPr lang="en-US" sz="1200" b="1"/>
                        <a:t>lookup_uri</a:t>
                      </a:r>
                      <a:endParaRPr lang="en-US" sz="1200"/>
                    </a:p>
                  </a:txBody>
                  <a:tcPr marL="21757" marR="21757" marT="10878" marB="10878" anchor="ctr"/>
                </a:tc>
                <a:tc>
                  <a:txBody>
                    <a:bodyPr/>
                    <a:lstStyle/>
                    <a:p>
                      <a:pPr>
                        <a:buNone/>
                      </a:pPr>
                      <a:r>
                        <a:rPr lang="en-US" sz="1200"/>
                        <a:t>TEXT</a:t>
                      </a:r>
                    </a:p>
                  </a:txBody>
                  <a:tcPr marL="21757" marR="21757" marT="10878" marB="10878" anchor="ctr"/>
                </a:tc>
                <a:tc>
                  <a:txBody>
                    <a:bodyPr/>
                    <a:lstStyle/>
                    <a:p>
                      <a:pPr>
                        <a:buNone/>
                      </a:pPr>
                      <a:r>
                        <a:rPr lang="en-GB" sz="1200"/>
                        <a:t>URI for the matching contact entry (if any).</a:t>
                      </a:r>
                    </a:p>
                  </a:txBody>
                  <a:tcPr marL="21757" marR="21757" marT="10878" marB="10878" anchor="ctr"/>
                </a:tc>
                <a:extLst>
                  <a:ext uri="{0D108BD9-81ED-4DB2-BD59-A6C34878D82A}">
                    <a16:rowId xmlns:a16="http://schemas.microsoft.com/office/drawing/2014/main" val="3293962334"/>
                  </a:ext>
                </a:extLst>
              </a:tr>
              <a:tr h="152297">
                <a:tc>
                  <a:txBody>
                    <a:bodyPr/>
                    <a:lstStyle/>
                    <a:p>
                      <a:pPr>
                        <a:buNone/>
                      </a:pPr>
                      <a:r>
                        <a:rPr lang="en-US" sz="1200" b="1"/>
                        <a:t>matched_number</a:t>
                      </a:r>
                      <a:endParaRPr lang="en-US" sz="1200"/>
                    </a:p>
                  </a:txBody>
                  <a:tcPr marL="21757" marR="21757" marT="10878" marB="10878" anchor="ctr"/>
                </a:tc>
                <a:tc>
                  <a:txBody>
                    <a:bodyPr/>
                    <a:lstStyle/>
                    <a:p>
                      <a:pPr>
                        <a:buNone/>
                      </a:pPr>
                      <a:r>
                        <a:rPr lang="en-US" sz="1200"/>
                        <a:t>TEXT</a:t>
                      </a:r>
                    </a:p>
                  </a:txBody>
                  <a:tcPr marL="21757" marR="21757" marT="10878" marB="10878" anchor="ctr"/>
                </a:tc>
                <a:tc>
                  <a:txBody>
                    <a:bodyPr/>
                    <a:lstStyle/>
                    <a:p>
                      <a:pPr>
                        <a:buNone/>
                      </a:pPr>
                      <a:r>
                        <a:rPr lang="en-GB" sz="1200"/>
                        <a:t>Normalized phone number matched from contacts.</a:t>
                      </a:r>
                    </a:p>
                  </a:txBody>
                  <a:tcPr marL="21757" marR="21757" marT="10878" marB="10878" anchor="ctr"/>
                </a:tc>
                <a:extLst>
                  <a:ext uri="{0D108BD9-81ED-4DB2-BD59-A6C34878D82A}">
                    <a16:rowId xmlns:a16="http://schemas.microsoft.com/office/drawing/2014/main" val="1987279636"/>
                  </a:ext>
                </a:extLst>
              </a:tr>
              <a:tr h="87027">
                <a:tc>
                  <a:txBody>
                    <a:bodyPr/>
                    <a:lstStyle/>
                    <a:p>
                      <a:pPr>
                        <a:buNone/>
                      </a:pPr>
                      <a:r>
                        <a:rPr lang="en-US" sz="1200" b="1"/>
                        <a:t>normalized_number</a:t>
                      </a:r>
                      <a:endParaRPr lang="en-US" sz="1200"/>
                    </a:p>
                  </a:txBody>
                  <a:tcPr marL="21757" marR="21757" marT="10878" marB="10878" anchor="ctr"/>
                </a:tc>
                <a:tc>
                  <a:txBody>
                    <a:bodyPr/>
                    <a:lstStyle/>
                    <a:p>
                      <a:pPr>
                        <a:buNone/>
                      </a:pPr>
                      <a:r>
                        <a:rPr lang="en-US" sz="1200"/>
                        <a:t>TEXT</a:t>
                      </a:r>
                    </a:p>
                  </a:txBody>
                  <a:tcPr marL="21757" marR="21757" marT="10878" marB="10878" anchor="ctr"/>
                </a:tc>
                <a:tc>
                  <a:txBody>
                    <a:bodyPr/>
                    <a:lstStyle/>
                    <a:p>
                      <a:pPr>
                        <a:buNone/>
                      </a:pPr>
                      <a:r>
                        <a:rPr lang="en-GB" sz="1200"/>
                        <a:t>Normalized E.164 format number.</a:t>
                      </a:r>
                    </a:p>
                  </a:txBody>
                  <a:tcPr marL="21757" marR="21757" marT="10878" marB="10878" anchor="ctr"/>
                </a:tc>
                <a:extLst>
                  <a:ext uri="{0D108BD9-81ED-4DB2-BD59-A6C34878D82A}">
                    <a16:rowId xmlns:a16="http://schemas.microsoft.com/office/drawing/2014/main" val="637211363"/>
                  </a:ext>
                </a:extLst>
              </a:tr>
              <a:tr h="152297">
                <a:tc>
                  <a:txBody>
                    <a:bodyPr/>
                    <a:lstStyle/>
                    <a:p>
                      <a:pPr>
                        <a:buNone/>
                      </a:pPr>
                      <a:r>
                        <a:rPr lang="en-US" sz="1200" b="1"/>
                        <a:t>countryiso</a:t>
                      </a:r>
                      <a:endParaRPr lang="en-US" sz="1200"/>
                    </a:p>
                  </a:txBody>
                  <a:tcPr marL="21757" marR="21757" marT="10878" marB="10878" anchor="ctr"/>
                </a:tc>
                <a:tc>
                  <a:txBody>
                    <a:bodyPr/>
                    <a:lstStyle/>
                    <a:p>
                      <a:pPr>
                        <a:buNone/>
                      </a:pPr>
                      <a:r>
                        <a:rPr lang="en-US" sz="1200"/>
                        <a:t>TEXT</a:t>
                      </a:r>
                    </a:p>
                  </a:txBody>
                  <a:tcPr marL="21757" marR="21757" marT="10878" marB="10878" anchor="ctr"/>
                </a:tc>
                <a:tc>
                  <a:txBody>
                    <a:bodyPr/>
                    <a:lstStyle/>
                    <a:p>
                      <a:pPr>
                        <a:buNone/>
                      </a:pPr>
                      <a:r>
                        <a:rPr lang="en-GB" sz="1200"/>
                        <a:t>Two-letter country code (ISO 3166-1 alpha-2).</a:t>
                      </a:r>
                    </a:p>
                  </a:txBody>
                  <a:tcPr marL="21757" marR="21757" marT="10878" marB="10878" anchor="ctr"/>
                </a:tc>
                <a:extLst>
                  <a:ext uri="{0D108BD9-81ED-4DB2-BD59-A6C34878D82A}">
                    <a16:rowId xmlns:a16="http://schemas.microsoft.com/office/drawing/2014/main" val="4118308704"/>
                  </a:ext>
                </a:extLst>
              </a:tr>
              <a:tr h="152297">
                <a:tc>
                  <a:txBody>
                    <a:bodyPr/>
                    <a:lstStyle/>
                    <a:p>
                      <a:pPr>
                        <a:buNone/>
                      </a:pPr>
                      <a:r>
                        <a:rPr lang="en-US" sz="1200" b="1" dirty="0" err="1">
                          <a:highlight>
                            <a:srgbClr val="FFFF00"/>
                          </a:highlight>
                        </a:rPr>
                        <a:t>geocoded_location</a:t>
                      </a:r>
                      <a:endParaRPr lang="en-US" sz="1200" dirty="0">
                        <a:highlight>
                          <a:srgbClr val="FFFF00"/>
                        </a:highlight>
                      </a:endParaRPr>
                    </a:p>
                  </a:txBody>
                  <a:tcPr marL="21757" marR="21757" marT="10878" marB="10878" anchor="ctr"/>
                </a:tc>
                <a:tc>
                  <a:txBody>
                    <a:bodyPr/>
                    <a:lstStyle/>
                    <a:p>
                      <a:pPr>
                        <a:buNone/>
                      </a:pPr>
                      <a:r>
                        <a:rPr lang="en-US" sz="1200">
                          <a:highlight>
                            <a:srgbClr val="FFFF00"/>
                          </a:highlight>
                        </a:rPr>
                        <a:t>TEXT</a:t>
                      </a:r>
                    </a:p>
                  </a:txBody>
                  <a:tcPr marL="21757" marR="21757" marT="10878" marB="10878" anchor="ctr"/>
                </a:tc>
                <a:tc>
                  <a:txBody>
                    <a:bodyPr/>
                    <a:lstStyle/>
                    <a:p>
                      <a:pPr>
                        <a:buNone/>
                      </a:pPr>
                      <a:r>
                        <a:rPr lang="en-GB" sz="1200" dirty="0">
                          <a:highlight>
                            <a:srgbClr val="FFFF00"/>
                          </a:highlight>
                        </a:rPr>
                        <a:t>Approximate region or city derived from number.</a:t>
                      </a:r>
                    </a:p>
                  </a:txBody>
                  <a:tcPr marL="21757" marR="21757" marT="10878" marB="10878" anchor="ctr"/>
                </a:tc>
                <a:extLst>
                  <a:ext uri="{0D108BD9-81ED-4DB2-BD59-A6C34878D82A}">
                    <a16:rowId xmlns:a16="http://schemas.microsoft.com/office/drawing/2014/main" val="3696748736"/>
                  </a:ext>
                </a:extLst>
              </a:tr>
              <a:tr h="152297">
                <a:tc>
                  <a:txBody>
                    <a:bodyPr/>
                    <a:lstStyle/>
                    <a:p>
                      <a:pPr>
                        <a:buNone/>
                      </a:pPr>
                      <a:r>
                        <a:rPr lang="en-US" sz="1200" b="1">
                          <a:highlight>
                            <a:srgbClr val="FFFF00"/>
                          </a:highlight>
                        </a:rPr>
                        <a:t>is_read</a:t>
                      </a:r>
                      <a:endParaRPr lang="en-US" sz="1200">
                        <a:highlight>
                          <a:srgbClr val="FFFF00"/>
                        </a:highlight>
                      </a:endParaRPr>
                    </a:p>
                  </a:txBody>
                  <a:tcPr marL="21757" marR="21757" marT="10878" marB="10878" anchor="ctr"/>
                </a:tc>
                <a:tc>
                  <a:txBody>
                    <a:bodyPr/>
                    <a:lstStyle/>
                    <a:p>
                      <a:pPr>
                        <a:buNone/>
                      </a:pPr>
                      <a:r>
                        <a:rPr lang="en-US" sz="1200">
                          <a:highlight>
                            <a:srgbClr val="FFFF00"/>
                          </a:highlight>
                        </a:rPr>
                        <a:t>INTEGER</a:t>
                      </a:r>
                    </a:p>
                  </a:txBody>
                  <a:tcPr marL="21757" marR="21757" marT="10878" marB="10878" anchor="ctr"/>
                </a:tc>
                <a:tc>
                  <a:txBody>
                    <a:bodyPr/>
                    <a:lstStyle/>
                    <a:p>
                      <a:pPr>
                        <a:buNone/>
                      </a:pPr>
                      <a:r>
                        <a:rPr lang="en-GB" sz="1200" dirty="0">
                          <a:highlight>
                            <a:srgbClr val="FFFF00"/>
                          </a:highlight>
                        </a:rPr>
                        <a:t>1 if the missed call notification has been read.</a:t>
                      </a:r>
                    </a:p>
                  </a:txBody>
                  <a:tcPr marL="21757" marR="21757" marT="10878" marB="10878" anchor="ctr"/>
                </a:tc>
                <a:extLst>
                  <a:ext uri="{0D108BD9-81ED-4DB2-BD59-A6C34878D82A}">
                    <a16:rowId xmlns:a16="http://schemas.microsoft.com/office/drawing/2014/main" val="2162114863"/>
                  </a:ext>
                </a:extLst>
              </a:tr>
              <a:tr h="152297">
                <a:tc>
                  <a:txBody>
                    <a:bodyPr/>
                    <a:lstStyle/>
                    <a:p>
                      <a:pPr>
                        <a:buNone/>
                      </a:pPr>
                      <a:r>
                        <a:rPr lang="en-US" sz="1200" b="1"/>
                        <a:t>voicemail_uri</a:t>
                      </a:r>
                      <a:endParaRPr lang="en-US" sz="1200"/>
                    </a:p>
                  </a:txBody>
                  <a:tcPr marL="21757" marR="21757" marT="10878" marB="10878" anchor="ctr"/>
                </a:tc>
                <a:tc>
                  <a:txBody>
                    <a:bodyPr/>
                    <a:lstStyle/>
                    <a:p>
                      <a:pPr>
                        <a:buNone/>
                      </a:pPr>
                      <a:r>
                        <a:rPr lang="en-US" sz="1200"/>
                        <a:t>TEXT</a:t>
                      </a:r>
                    </a:p>
                  </a:txBody>
                  <a:tcPr marL="21757" marR="21757" marT="10878" marB="10878" anchor="ctr"/>
                </a:tc>
                <a:tc>
                  <a:txBody>
                    <a:bodyPr/>
                    <a:lstStyle/>
                    <a:p>
                      <a:pPr>
                        <a:buNone/>
                      </a:pPr>
                      <a:r>
                        <a:rPr lang="en-GB" sz="1200" dirty="0"/>
                        <a:t>URI of the voicemail message (if applicable).</a:t>
                      </a:r>
                    </a:p>
                  </a:txBody>
                  <a:tcPr marL="21757" marR="21757" marT="10878" marB="10878" anchor="ctr"/>
                </a:tc>
                <a:extLst>
                  <a:ext uri="{0D108BD9-81ED-4DB2-BD59-A6C34878D82A}">
                    <a16:rowId xmlns:a16="http://schemas.microsoft.com/office/drawing/2014/main" val="2063890417"/>
                  </a:ext>
                </a:extLst>
              </a:tr>
              <a:tr h="152297">
                <a:tc>
                  <a:txBody>
                    <a:bodyPr/>
                    <a:lstStyle/>
                    <a:p>
                      <a:pPr>
                        <a:buNone/>
                      </a:pPr>
                      <a:r>
                        <a:rPr lang="en-US" sz="1200" b="1"/>
                        <a:t>transcription</a:t>
                      </a:r>
                      <a:endParaRPr lang="en-US" sz="1200"/>
                    </a:p>
                  </a:txBody>
                  <a:tcPr marL="21757" marR="21757" marT="10878" marB="10878" anchor="ctr"/>
                </a:tc>
                <a:tc>
                  <a:txBody>
                    <a:bodyPr/>
                    <a:lstStyle/>
                    <a:p>
                      <a:pPr>
                        <a:buNone/>
                      </a:pPr>
                      <a:r>
                        <a:rPr lang="en-US" sz="1200"/>
                        <a:t>TEXT</a:t>
                      </a:r>
                    </a:p>
                  </a:txBody>
                  <a:tcPr marL="21757" marR="21757" marT="10878" marB="10878" anchor="ctr"/>
                </a:tc>
                <a:tc>
                  <a:txBody>
                    <a:bodyPr/>
                    <a:lstStyle/>
                    <a:p>
                      <a:pPr>
                        <a:buNone/>
                      </a:pPr>
                      <a:r>
                        <a:rPr lang="en-GB" sz="1200"/>
                        <a:t>Transcribed voicemail text (if supported).</a:t>
                      </a:r>
                    </a:p>
                  </a:txBody>
                  <a:tcPr marL="21757" marR="21757" marT="10878" marB="10878" anchor="ctr"/>
                </a:tc>
                <a:extLst>
                  <a:ext uri="{0D108BD9-81ED-4DB2-BD59-A6C34878D82A}">
                    <a16:rowId xmlns:a16="http://schemas.microsoft.com/office/drawing/2014/main" val="623849514"/>
                  </a:ext>
                </a:extLst>
              </a:tr>
              <a:tr h="152297">
                <a:tc>
                  <a:txBody>
                    <a:bodyPr/>
                    <a:lstStyle/>
                    <a:p>
                      <a:pPr>
                        <a:buNone/>
                      </a:pPr>
                      <a:r>
                        <a:rPr lang="en-US" sz="1200" b="1"/>
                        <a:t>data_usage</a:t>
                      </a:r>
                      <a:endParaRPr lang="en-US" sz="1200"/>
                    </a:p>
                  </a:txBody>
                  <a:tcPr marL="21757" marR="21757" marT="10878" marB="10878" anchor="ctr"/>
                </a:tc>
                <a:tc>
                  <a:txBody>
                    <a:bodyPr/>
                    <a:lstStyle/>
                    <a:p>
                      <a:pPr>
                        <a:buNone/>
                      </a:pPr>
                      <a:r>
                        <a:rPr lang="en-US" sz="1200"/>
                        <a:t>INTEGER</a:t>
                      </a:r>
                    </a:p>
                  </a:txBody>
                  <a:tcPr marL="21757" marR="21757" marT="10878" marB="10878" anchor="ctr"/>
                </a:tc>
                <a:tc>
                  <a:txBody>
                    <a:bodyPr/>
                    <a:lstStyle/>
                    <a:p>
                      <a:pPr>
                        <a:buNone/>
                      </a:pPr>
                      <a:r>
                        <a:rPr lang="en-GB" sz="1200"/>
                        <a:t>Data usage in bytes for VoIP or Wi-Fi calls.</a:t>
                      </a:r>
                    </a:p>
                  </a:txBody>
                  <a:tcPr marL="21757" marR="21757" marT="10878" marB="10878" anchor="ctr"/>
                </a:tc>
                <a:extLst>
                  <a:ext uri="{0D108BD9-81ED-4DB2-BD59-A6C34878D82A}">
                    <a16:rowId xmlns:a16="http://schemas.microsoft.com/office/drawing/2014/main" val="94438911"/>
                  </a:ext>
                </a:extLst>
              </a:tr>
              <a:tr h="152297">
                <a:tc>
                  <a:txBody>
                    <a:bodyPr/>
                    <a:lstStyle/>
                    <a:p>
                      <a:pPr>
                        <a:buNone/>
                      </a:pPr>
                      <a:r>
                        <a:rPr lang="en-US" sz="1200" b="1"/>
                        <a:t>add_for_all_users</a:t>
                      </a:r>
                      <a:endParaRPr lang="en-US" sz="1200"/>
                    </a:p>
                  </a:txBody>
                  <a:tcPr marL="21757" marR="21757" marT="10878" marB="10878" anchor="ctr"/>
                </a:tc>
                <a:tc>
                  <a:txBody>
                    <a:bodyPr/>
                    <a:lstStyle/>
                    <a:p>
                      <a:pPr>
                        <a:buNone/>
                      </a:pPr>
                      <a:r>
                        <a:rPr lang="en-US" sz="1200"/>
                        <a:t>INTEGER</a:t>
                      </a:r>
                    </a:p>
                  </a:txBody>
                  <a:tcPr marL="21757" marR="21757" marT="10878" marB="10878" anchor="ctr"/>
                </a:tc>
                <a:tc>
                  <a:txBody>
                    <a:bodyPr/>
                    <a:lstStyle/>
                    <a:p>
                      <a:pPr>
                        <a:buNone/>
                      </a:pPr>
                      <a:r>
                        <a:rPr lang="en-GB" sz="1200"/>
                        <a:t>Indicates whether the call log entry should be visible to all users.</a:t>
                      </a:r>
                    </a:p>
                  </a:txBody>
                  <a:tcPr marL="21757" marR="21757" marT="10878" marB="10878" anchor="ctr"/>
                </a:tc>
                <a:extLst>
                  <a:ext uri="{0D108BD9-81ED-4DB2-BD59-A6C34878D82A}">
                    <a16:rowId xmlns:a16="http://schemas.microsoft.com/office/drawing/2014/main" val="4143416660"/>
                  </a:ext>
                </a:extLst>
              </a:tr>
              <a:tr h="152297">
                <a:tc>
                  <a:txBody>
                    <a:bodyPr/>
                    <a:lstStyle/>
                    <a:p>
                      <a:pPr>
                        <a:buNone/>
                      </a:pPr>
                      <a:r>
                        <a:rPr lang="en-US" sz="1200" b="1"/>
                        <a:t>block_reason</a:t>
                      </a:r>
                      <a:endParaRPr lang="en-US" sz="1200"/>
                    </a:p>
                  </a:txBody>
                  <a:tcPr marL="21757" marR="21757" marT="10878" marB="10878" anchor="ctr"/>
                </a:tc>
                <a:tc>
                  <a:txBody>
                    <a:bodyPr/>
                    <a:lstStyle/>
                    <a:p>
                      <a:pPr>
                        <a:buNone/>
                      </a:pPr>
                      <a:r>
                        <a:rPr lang="en-US" sz="1200"/>
                        <a:t>INTEGER</a:t>
                      </a:r>
                    </a:p>
                  </a:txBody>
                  <a:tcPr marL="21757" marR="21757" marT="10878" marB="10878" anchor="ctr"/>
                </a:tc>
                <a:tc>
                  <a:txBody>
                    <a:bodyPr/>
                    <a:lstStyle/>
                    <a:p>
                      <a:pPr>
                        <a:buNone/>
                      </a:pPr>
                      <a:r>
                        <a:rPr lang="en-GB" sz="1200"/>
                        <a:t>Reason for call block (e.g., spam, user block).</a:t>
                      </a:r>
                    </a:p>
                  </a:txBody>
                  <a:tcPr marL="21757" marR="21757" marT="10878" marB="10878" anchor="ctr"/>
                </a:tc>
                <a:extLst>
                  <a:ext uri="{0D108BD9-81ED-4DB2-BD59-A6C34878D82A}">
                    <a16:rowId xmlns:a16="http://schemas.microsoft.com/office/drawing/2014/main" val="4191041002"/>
                  </a:ext>
                </a:extLst>
              </a:tr>
              <a:tr h="152297">
                <a:tc>
                  <a:txBody>
                    <a:bodyPr/>
                    <a:lstStyle/>
                    <a:p>
                      <a:pPr>
                        <a:buNone/>
                      </a:pPr>
                      <a:r>
                        <a:rPr lang="en-US" sz="1200" b="1"/>
                        <a:t>call_screening_app_name</a:t>
                      </a:r>
                      <a:endParaRPr lang="en-US" sz="1200"/>
                    </a:p>
                  </a:txBody>
                  <a:tcPr marL="21757" marR="21757" marT="10878" marB="10878" anchor="ctr"/>
                </a:tc>
                <a:tc>
                  <a:txBody>
                    <a:bodyPr/>
                    <a:lstStyle/>
                    <a:p>
                      <a:pPr>
                        <a:buNone/>
                      </a:pPr>
                      <a:r>
                        <a:rPr lang="en-US" sz="1200"/>
                        <a:t>TEXT</a:t>
                      </a:r>
                    </a:p>
                  </a:txBody>
                  <a:tcPr marL="21757" marR="21757" marT="10878" marB="10878" anchor="ctr"/>
                </a:tc>
                <a:tc>
                  <a:txBody>
                    <a:bodyPr/>
                    <a:lstStyle/>
                    <a:p>
                      <a:pPr>
                        <a:buNone/>
                      </a:pPr>
                      <a:r>
                        <a:rPr lang="en-GB" sz="1200" dirty="0"/>
                        <a:t>Name of the app that screened the call.</a:t>
                      </a:r>
                    </a:p>
                  </a:txBody>
                  <a:tcPr marL="21757" marR="21757" marT="10878" marB="10878" anchor="ctr"/>
                </a:tc>
                <a:extLst>
                  <a:ext uri="{0D108BD9-81ED-4DB2-BD59-A6C34878D82A}">
                    <a16:rowId xmlns:a16="http://schemas.microsoft.com/office/drawing/2014/main" val="3620191985"/>
                  </a:ext>
                </a:extLst>
              </a:tr>
            </a:tbl>
          </a:graphicData>
        </a:graphic>
      </p:graphicFrame>
    </p:spTree>
    <p:extLst>
      <p:ext uri="{BB962C8B-B14F-4D97-AF65-F5344CB8AC3E}">
        <p14:creationId xmlns:p14="http://schemas.microsoft.com/office/powerpoint/2010/main" val="3259832723"/>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6" descr="A picture containing text, scoreboard, cabinet, screenshot&#10;&#10;Description automatically generated">
            <a:extLst>
              <a:ext uri="{FF2B5EF4-FFF2-40B4-BE49-F238E27FC236}">
                <a16:creationId xmlns:a16="http://schemas.microsoft.com/office/drawing/2014/main" id="{A1C742DC-0D62-45DF-8BC2-F4132F763331}"/>
              </a:ext>
            </a:extLst>
          </p:cNvPr>
          <p:cNvPicPr>
            <a:picLocks noChangeAspect="1"/>
          </p:cNvPicPr>
          <p:nvPr/>
        </p:nvPicPr>
        <p:blipFill>
          <a:blip r:embed="rId3"/>
          <a:stretch>
            <a:fillRect/>
          </a:stretch>
        </p:blipFill>
        <p:spPr>
          <a:xfrm>
            <a:off x="803885" y="1366940"/>
            <a:ext cx="10101262" cy="2823898"/>
          </a:xfrm>
          <a:prstGeom prst="rect">
            <a:avLst/>
          </a:prstGeom>
        </p:spPr>
      </p:pic>
      <p:sp>
        <p:nvSpPr>
          <p:cNvPr id="7" name="TextBox 6">
            <a:extLst>
              <a:ext uri="{FF2B5EF4-FFF2-40B4-BE49-F238E27FC236}">
                <a16:creationId xmlns:a16="http://schemas.microsoft.com/office/drawing/2014/main" id="{21A98917-3A2C-4A16-AFBA-671E1B63EB70}"/>
              </a:ext>
            </a:extLst>
          </p:cNvPr>
          <p:cNvSpPr txBox="1"/>
          <p:nvPr/>
        </p:nvSpPr>
        <p:spPr>
          <a:xfrm>
            <a:off x="611166" y="4533581"/>
            <a:ext cx="2124841" cy="646331"/>
          </a:xfrm>
          <a:prstGeom prst="rect">
            <a:avLst/>
          </a:prstGeom>
          <a:solidFill>
            <a:schemeClr val="accent4">
              <a:lumMod val="20000"/>
              <a:lumOff val="80000"/>
            </a:schemeClr>
          </a:solid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dirty="0">
                <a:cs typeface="Calibri"/>
              </a:rPr>
              <a:t>incoming/ outgoing number</a:t>
            </a:r>
          </a:p>
        </p:txBody>
      </p:sp>
      <p:sp>
        <p:nvSpPr>
          <p:cNvPr id="9" name="TextBox 8">
            <a:extLst>
              <a:ext uri="{FF2B5EF4-FFF2-40B4-BE49-F238E27FC236}">
                <a16:creationId xmlns:a16="http://schemas.microsoft.com/office/drawing/2014/main" id="{AD6D9ADC-99EB-4C2B-B976-FE6A04E084BC}"/>
              </a:ext>
            </a:extLst>
          </p:cNvPr>
          <p:cNvSpPr txBox="1"/>
          <p:nvPr/>
        </p:nvSpPr>
        <p:spPr>
          <a:xfrm>
            <a:off x="3083009" y="4560170"/>
            <a:ext cx="2124841" cy="646331"/>
          </a:xfrm>
          <a:prstGeom prst="rect">
            <a:avLst/>
          </a:prstGeom>
          <a:solidFill>
            <a:schemeClr val="accent4">
              <a:lumMod val="20000"/>
              <a:lumOff val="80000"/>
            </a:schemeClr>
          </a:solid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dirty="0">
                <a:cs typeface="Calibri"/>
              </a:rPr>
              <a:t>Date/time when call was made/received</a:t>
            </a:r>
          </a:p>
        </p:txBody>
      </p:sp>
      <p:sp>
        <p:nvSpPr>
          <p:cNvPr id="11" name="TextBox 10">
            <a:extLst>
              <a:ext uri="{FF2B5EF4-FFF2-40B4-BE49-F238E27FC236}">
                <a16:creationId xmlns:a16="http://schemas.microsoft.com/office/drawing/2014/main" id="{2E1ACB00-9719-4D90-B6AD-C2BEC54B6E92}"/>
              </a:ext>
            </a:extLst>
          </p:cNvPr>
          <p:cNvSpPr txBox="1"/>
          <p:nvPr/>
        </p:nvSpPr>
        <p:spPr>
          <a:xfrm>
            <a:off x="5554852" y="5547945"/>
            <a:ext cx="1739900" cy="646331"/>
          </a:xfrm>
          <a:prstGeom prst="rect">
            <a:avLst/>
          </a:prstGeom>
          <a:solidFill>
            <a:schemeClr val="accent4">
              <a:lumMod val="20000"/>
              <a:lumOff val="80000"/>
            </a:schemeClr>
          </a:solid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dirty="0">
                <a:cs typeface="Calibri"/>
              </a:rPr>
              <a:t>Duration of the call</a:t>
            </a:r>
          </a:p>
        </p:txBody>
      </p:sp>
      <p:pic>
        <p:nvPicPr>
          <p:cNvPr id="13" name="Picture 13" descr="Text&#10;&#10;Description automatically generated">
            <a:extLst>
              <a:ext uri="{FF2B5EF4-FFF2-40B4-BE49-F238E27FC236}">
                <a16:creationId xmlns:a16="http://schemas.microsoft.com/office/drawing/2014/main" id="{5CBDB276-CC8B-49E1-8D18-C13103690080}"/>
              </a:ext>
            </a:extLst>
          </p:cNvPr>
          <p:cNvPicPr>
            <a:picLocks noChangeAspect="1"/>
          </p:cNvPicPr>
          <p:nvPr/>
        </p:nvPicPr>
        <p:blipFill>
          <a:blip r:embed="rId4"/>
          <a:stretch>
            <a:fillRect/>
          </a:stretch>
        </p:blipFill>
        <p:spPr>
          <a:xfrm>
            <a:off x="2736007" y="5547945"/>
            <a:ext cx="2743200" cy="765846"/>
          </a:xfrm>
          <a:prstGeom prst="rect">
            <a:avLst/>
          </a:prstGeom>
        </p:spPr>
      </p:pic>
      <p:cxnSp>
        <p:nvCxnSpPr>
          <p:cNvPr id="15" name="Straight Arrow Connector 14">
            <a:extLst>
              <a:ext uri="{FF2B5EF4-FFF2-40B4-BE49-F238E27FC236}">
                <a16:creationId xmlns:a16="http://schemas.microsoft.com/office/drawing/2014/main" id="{F78D2656-F1C7-437C-9D2F-BC257E719BD3}"/>
              </a:ext>
            </a:extLst>
          </p:cNvPr>
          <p:cNvCxnSpPr/>
          <p:nvPr/>
        </p:nvCxnSpPr>
        <p:spPr>
          <a:xfrm>
            <a:off x="1801630" y="3756391"/>
            <a:ext cx="9524" cy="783429"/>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AA728B01-3EC8-42E6-800B-92893AA27ACE}"/>
              </a:ext>
            </a:extLst>
          </p:cNvPr>
          <p:cNvCxnSpPr>
            <a:cxnSpLocks/>
            <a:endCxn id="9" idx="0"/>
          </p:cNvCxnSpPr>
          <p:nvPr/>
        </p:nvCxnSpPr>
        <p:spPr>
          <a:xfrm flipH="1">
            <a:off x="4145430" y="3657600"/>
            <a:ext cx="322296" cy="90257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8BB7A40A-C463-46CC-A3BC-044D28DD77C8}"/>
              </a:ext>
            </a:extLst>
          </p:cNvPr>
          <p:cNvCxnSpPr>
            <a:cxnSpLocks/>
          </p:cNvCxnSpPr>
          <p:nvPr/>
        </p:nvCxnSpPr>
        <p:spPr>
          <a:xfrm>
            <a:off x="3948063" y="5199823"/>
            <a:ext cx="9524" cy="283368"/>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8" name="Straight Arrow Connector 17">
            <a:extLst>
              <a:ext uri="{FF2B5EF4-FFF2-40B4-BE49-F238E27FC236}">
                <a16:creationId xmlns:a16="http://schemas.microsoft.com/office/drawing/2014/main" id="{8F7E684A-317F-4D81-95EA-CA11BDE8CCD6}"/>
              </a:ext>
            </a:extLst>
          </p:cNvPr>
          <p:cNvCxnSpPr>
            <a:cxnSpLocks/>
            <a:endCxn id="11" idx="0"/>
          </p:cNvCxnSpPr>
          <p:nvPr/>
        </p:nvCxnSpPr>
        <p:spPr>
          <a:xfrm>
            <a:off x="5791264" y="3657600"/>
            <a:ext cx="633538" cy="1890345"/>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2" name="TextBox 11">
            <a:extLst>
              <a:ext uri="{FF2B5EF4-FFF2-40B4-BE49-F238E27FC236}">
                <a16:creationId xmlns:a16="http://schemas.microsoft.com/office/drawing/2014/main" id="{DD0D72B9-B370-4395-877B-673873CD75C2}"/>
              </a:ext>
            </a:extLst>
          </p:cNvPr>
          <p:cNvSpPr txBox="1"/>
          <p:nvPr/>
        </p:nvSpPr>
        <p:spPr>
          <a:xfrm>
            <a:off x="803885" y="997608"/>
            <a:ext cx="1669752" cy="369332"/>
          </a:xfrm>
          <a:prstGeom prst="rect">
            <a:avLst/>
          </a:prstGeom>
          <a:solidFill>
            <a:schemeClr val="accent4"/>
          </a:solidFill>
        </p:spPr>
        <p:txBody>
          <a:bodyPr wrap="none" lIns="91440" tIns="45720" rIns="91440" bIns="45720" rtlCol="0" anchor="t">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cs typeface="Calibri"/>
              </a:rPr>
              <a:t>Exam calls table</a:t>
            </a:r>
            <a:endParaRPr lang="en-US" dirty="0"/>
          </a:p>
        </p:txBody>
      </p:sp>
      <p:sp>
        <p:nvSpPr>
          <p:cNvPr id="19" name="TextBox 18">
            <a:extLst>
              <a:ext uri="{FF2B5EF4-FFF2-40B4-BE49-F238E27FC236}">
                <a16:creationId xmlns:a16="http://schemas.microsoft.com/office/drawing/2014/main" id="{B6E7E3DC-26DB-47FC-8D44-1D68F5981301}"/>
              </a:ext>
            </a:extLst>
          </p:cNvPr>
          <p:cNvSpPr txBox="1"/>
          <p:nvPr/>
        </p:nvSpPr>
        <p:spPr>
          <a:xfrm>
            <a:off x="6509601" y="4789473"/>
            <a:ext cx="1739900" cy="369332"/>
          </a:xfrm>
          <a:prstGeom prst="rect">
            <a:avLst/>
          </a:prstGeom>
          <a:solidFill>
            <a:schemeClr val="accent4">
              <a:lumMod val="20000"/>
              <a:lumOff val="80000"/>
            </a:schemeClr>
          </a:solid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dirty="0">
                <a:cs typeface="Calibri"/>
              </a:rPr>
              <a:t>missed call</a:t>
            </a:r>
          </a:p>
        </p:txBody>
      </p:sp>
      <p:cxnSp>
        <p:nvCxnSpPr>
          <p:cNvPr id="20" name="Straight Arrow Connector 19">
            <a:extLst>
              <a:ext uri="{FF2B5EF4-FFF2-40B4-BE49-F238E27FC236}">
                <a16:creationId xmlns:a16="http://schemas.microsoft.com/office/drawing/2014/main" id="{5625BF06-C0D3-4C4A-A543-BA4FADF34CBA}"/>
              </a:ext>
            </a:extLst>
          </p:cNvPr>
          <p:cNvCxnSpPr>
            <a:cxnSpLocks/>
            <a:endCxn id="19" idx="0"/>
          </p:cNvCxnSpPr>
          <p:nvPr/>
        </p:nvCxnSpPr>
        <p:spPr>
          <a:xfrm>
            <a:off x="6661214" y="3657600"/>
            <a:ext cx="718337" cy="1131873"/>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3" name="TextBox 22">
            <a:extLst>
              <a:ext uri="{FF2B5EF4-FFF2-40B4-BE49-F238E27FC236}">
                <a16:creationId xmlns:a16="http://schemas.microsoft.com/office/drawing/2014/main" id="{6935A327-A03F-430A-A489-6B746B3638A7}"/>
              </a:ext>
            </a:extLst>
          </p:cNvPr>
          <p:cNvSpPr txBox="1"/>
          <p:nvPr/>
        </p:nvSpPr>
        <p:spPr>
          <a:xfrm>
            <a:off x="8076797" y="5295775"/>
            <a:ext cx="2235023" cy="1200329"/>
          </a:xfrm>
          <a:prstGeom prst="rect">
            <a:avLst/>
          </a:prstGeom>
          <a:solidFill>
            <a:schemeClr val="accent4">
              <a:lumMod val="20000"/>
              <a:lumOff val="80000"/>
            </a:schemeClr>
          </a:solidFill>
        </p:spPr>
        <p:txBody>
          <a:bodyPr wrap="square" rtlCol="0">
            <a:spAutoFit/>
          </a:bodyPr>
          <a:lstStyle/>
          <a:p>
            <a:r>
              <a:rPr lang="en-US" dirty="0"/>
              <a:t>record _id=10 are voicemail type after missed the call (record 9)</a:t>
            </a:r>
          </a:p>
        </p:txBody>
      </p:sp>
      <p:cxnSp>
        <p:nvCxnSpPr>
          <p:cNvPr id="28" name="Straight Arrow Connector 27">
            <a:extLst>
              <a:ext uri="{FF2B5EF4-FFF2-40B4-BE49-F238E27FC236}">
                <a16:creationId xmlns:a16="http://schemas.microsoft.com/office/drawing/2014/main" id="{B7DD95AA-5A61-402A-B58B-BBBC16B31760}"/>
              </a:ext>
            </a:extLst>
          </p:cNvPr>
          <p:cNvCxnSpPr>
            <a:cxnSpLocks/>
          </p:cNvCxnSpPr>
          <p:nvPr/>
        </p:nvCxnSpPr>
        <p:spPr>
          <a:xfrm>
            <a:off x="6661214" y="3879811"/>
            <a:ext cx="2381482" cy="1461696"/>
          </a:xfrm>
          <a:prstGeom prst="straightConnector1">
            <a:avLst/>
          </a:prstGeom>
          <a:ln w="28575">
            <a:solidFill>
              <a:schemeClr val="accent6"/>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962938929"/>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D835DD2F-975D-41DB-8FF2-BF434FE7B612}"/>
              </a:ext>
            </a:extLst>
          </p:cNvPr>
          <p:cNvPicPr>
            <a:picLocks noChangeAspect="1"/>
          </p:cNvPicPr>
          <p:nvPr/>
        </p:nvPicPr>
        <p:blipFill>
          <a:blip r:embed="rId2"/>
          <a:stretch>
            <a:fillRect/>
          </a:stretch>
        </p:blipFill>
        <p:spPr>
          <a:xfrm>
            <a:off x="563005" y="1494442"/>
            <a:ext cx="11065990" cy="3869116"/>
          </a:xfrm>
          <a:prstGeom prst="rect">
            <a:avLst/>
          </a:prstGeom>
        </p:spPr>
      </p:pic>
    </p:spTree>
    <p:extLst>
      <p:ext uri="{BB962C8B-B14F-4D97-AF65-F5344CB8AC3E}">
        <p14:creationId xmlns:p14="http://schemas.microsoft.com/office/powerpoint/2010/main" val="159177902"/>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D6131B-96CF-4343-9105-B200ED0ADE96}"/>
              </a:ext>
            </a:extLst>
          </p:cNvPr>
          <p:cNvSpPr>
            <a:spLocks noGrp="1"/>
          </p:cNvSpPr>
          <p:nvPr>
            <p:ph type="title"/>
          </p:nvPr>
        </p:nvSpPr>
        <p:spPr/>
        <p:txBody>
          <a:bodyPr/>
          <a:lstStyle/>
          <a:p>
            <a:r>
              <a:rPr sz="4000">
                <a:solidFill>
                  <a:srgbClr val="000000"/>
                </a:solidFill>
                <a:latin typeface="Arial"/>
              </a:rPr>
              <a:t>Call-Log Interpretation</a:t>
            </a:r>
          </a:p>
        </p:txBody>
      </p:sp>
      <p:sp>
        <p:nvSpPr>
          <p:cNvPr id="3" name="Content Placeholder 2">
            <a:extLst>
              <a:ext uri="{FF2B5EF4-FFF2-40B4-BE49-F238E27FC236}">
                <a16:creationId xmlns:a16="http://schemas.microsoft.com/office/drawing/2014/main" id="{77AA526D-CA9E-43DD-AB40-93809BB9862C}"/>
              </a:ext>
            </a:extLst>
          </p:cNvPr>
          <p:cNvSpPr>
            <a:spLocks noGrp="1"/>
          </p:cNvSpPr>
          <p:nvPr>
            <p:ph idx="1"/>
          </p:nvPr>
        </p:nvSpPr>
        <p:spPr/>
        <p:txBody>
          <a:bodyPr vert="horz" wrap="square" lIns="91440" tIns="45720" rIns="91440" bIns="45720" rtlCol="0" anchor="t">
            <a:normAutofit/>
          </a:bodyPr>
          <a:lstStyle/>
          <a:p>
            <a:pPr>
              <a:defRPr sz="2100">
                <a:latin typeface="Arial"/>
              </a:defRPr>
            </a:pPr>
            <a:r>
              <a:t>The call occurred around February 12, 2020, 4:00 PM in the relevant timezone/context.</a:t>
            </a:r>
            <a:endParaRPr lang="en-US" dirty="0">
              <a:ea typeface="+mn-lt"/>
              <a:cs typeface="+mn-lt"/>
            </a:endParaRPr>
          </a:p>
          <a:p>
            <a:pPr>
              <a:defRPr sz="2100">
                <a:latin typeface="Arial"/>
              </a:defRPr>
            </a:pPr>
            <a:r>
              <a:t>The call was not answered if the calls.type value indicates a missed call.</a:t>
            </a:r>
          </a:p>
          <a:p>
            <a:pPr>
              <a:defRPr sz="2100">
                <a:latin typeface="Arial"/>
              </a:defRPr>
            </a:pPr>
            <a:r>
              <a:t>For a missed call, duration is normally 0 seconds.</a:t>
            </a:r>
          </a:p>
          <a:p>
            <a:pPr>
              <a:defRPr sz="2100">
                <a:latin typeface="Arial"/>
              </a:defRPr>
            </a:pPr>
            <a:r>
              <a:t>Report the extracted database values first, then clearly state the interpretation and any assumptions.</a:t>
            </a:r>
          </a:p>
        </p:txBody>
      </p:sp>
    </p:spTree>
    <p:extLst>
      <p:ext uri="{BB962C8B-B14F-4D97-AF65-F5344CB8AC3E}">
        <p14:creationId xmlns:p14="http://schemas.microsoft.com/office/powerpoint/2010/main" val="66603034"/>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88B99161-BB50-4C2B-8471-1B8E932CE7E4}"/>
              </a:ext>
            </a:extLst>
          </p:cNvPr>
          <p:cNvSpPr>
            <a:spLocks noGrp="1"/>
          </p:cNvSpPr>
          <p:nvPr>
            <p:ph type="title"/>
          </p:nvPr>
        </p:nvSpPr>
        <p:spPr/>
        <p:txBody>
          <a:bodyPr/>
          <a:lstStyle/>
          <a:p>
            <a:r>
              <a:rPr sz="4000" dirty="0">
                <a:solidFill>
                  <a:srgbClr val="000000"/>
                </a:solidFill>
                <a:latin typeface="Arial"/>
              </a:rPr>
              <a:t>Voicemail Evidence</a:t>
            </a:r>
          </a:p>
        </p:txBody>
      </p:sp>
      <p:pic>
        <p:nvPicPr>
          <p:cNvPr id="8" name="Picture 7">
            <a:extLst>
              <a:ext uri="{FF2B5EF4-FFF2-40B4-BE49-F238E27FC236}">
                <a16:creationId xmlns:a16="http://schemas.microsoft.com/office/drawing/2014/main" id="{771F74B3-1FCB-4574-B4F1-697556F51AEC}"/>
              </a:ext>
            </a:extLst>
          </p:cNvPr>
          <p:cNvPicPr>
            <a:picLocks noChangeAspect="1"/>
          </p:cNvPicPr>
          <p:nvPr/>
        </p:nvPicPr>
        <p:blipFill>
          <a:blip r:embed="rId2"/>
          <a:stretch>
            <a:fillRect/>
          </a:stretch>
        </p:blipFill>
        <p:spPr>
          <a:xfrm>
            <a:off x="838200" y="2406305"/>
            <a:ext cx="9830652" cy="3810330"/>
          </a:xfrm>
          <a:prstGeom prst="rect">
            <a:avLst/>
          </a:prstGeom>
        </p:spPr>
      </p:pic>
      <p:pic>
        <p:nvPicPr>
          <p:cNvPr id="10" name="Picture 9" descr="Graphical user interface, application&#10;&#10;Description automatically generated">
            <a:extLst>
              <a:ext uri="{FF2B5EF4-FFF2-40B4-BE49-F238E27FC236}">
                <a16:creationId xmlns:a16="http://schemas.microsoft.com/office/drawing/2014/main" id="{374D0FA1-FF52-49DF-BDA0-87FFED3AFB7C}"/>
              </a:ext>
            </a:extLst>
          </p:cNvPr>
          <p:cNvPicPr>
            <a:picLocks noChangeAspect="1"/>
          </p:cNvPicPr>
          <p:nvPr/>
        </p:nvPicPr>
        <p:blipFill>
          <a:blip r:embed="rId3"/>
          <a:stretch>
            <a:fillRect/>
          </a:stretch>
        </p:blipFill>
        <p:spPr>
          <a:xfrm>
            <a:off x="7632400" y="1401417"/>
            <a:ext cx="4185808" cy="2318364"/>
          </a:xfrm>
          <a:prstGeom prst="rect">
            <a:avLst/>
          </a:prstGeom>
        </p:spPr>
      </p:pic>
      <p:cxnSp>
        <p:nvCxnSpPr>
          <p:cNvPr id="12" name="Straight Arrow Connector 11">
            <a:extLst>
              <a:ext uri="{FF2B5EF4-FFF2-40B4-BE49-F238E27FC236}">
                <a16:creationId xmlns:a16="http://schemas.microsoft.com/office/drawing/2014/main" id="{DA76C2E1-5941-4F5B-A00D-726B4289F690}"/>
              </a:ext>
            </a:extLst>
          </p:cNvPr>
          <p:cNvCxnSpPr>
            <a:cxnSpLocks/>
          </p:cNvCxnSpPr>
          <p:nvPr/>
        </p:nvCxnSpPr>
        <p:spPr>
          <a:xfrm flipV="1">
            <a:off x="8614611" y="2892288"/>
            <a:ext cx="1652511" cy="2209101"/>
          </a:xfrm>
          <a:prstGeom prst="straightConnector1">
            <a:avLst/>
          </a:prstGeom>
          <a:ln>
            <a:tailEnd type="triangle"/>
          </a:ln>
        </p:spPr>
        <p:style>
          <a:lnRef idx="1">
            <a:schemeClr val="accent2"/>
          </a:lnRef>
          <a:fillRef idx="0">
            <a:schemeClr val="accent2"/>
          </a:fillRef>
          <a:effectRef idx="0">
            <a:schemeClr val="accent2"/>
          </a:effectRef>
          <a:fontRef idx="minor">
            <a:schemeClr val="tx1"/>
          </a:fontRef>
        </p:style>
      </p:cxnSp>
      <p:sp>
        <p:nvSpPr>
          <p:cNvPr id="15" name="TextBox 14">
            <a:extLst>
              <a:ext uri="{FF2B5EF4-FFF2-40B4-BE49-F238E27FC236}">
                <a16:creationId xmlns:a16="http://schemas.microsoft.com/office/drawing/2014/main" id="{E7850CA9-D1DC-456D-95B1-37CE71B43534}"/>
              </a:ext>
            </a:extLst>
          </p:cNvPr>
          <p:cNvSpPr txBox="1"/>
          <p:nvPr/>
        </p:nvSpPr>
        <p:spPr>
          <a:xfrm>
            <a:off x="838200" y="2032000"/>
            <a:ext cx="3762633" cy="369332"/>
          </a:xfrm>
          <a:prstGeom prst="rect">
            <a:avLst/>
          </a:prstGeom>
          <a:solidFill>
            <a:schemeClr val="accent4"/>
          </a:solidFill>
        </p:spPr>
        <p:txBody>
          <a:bodyPr wrap="none" rtlCol="0">
            <a:spAutoFit/>
          </a:bodyPr>
          <a:lstStyle/>
          <a:p>
            <a:r>
              <a:rPr lang="en-US" dirty="0"/>
              <a:t>Find which service provides voicemail </a:t>
            </a:r>
          </a:p>
        </p:txBody>
      </p:sp>
      <p:sp>
        <p:nvSpPr>
          <p:cNvPr id="3" name="TextBox 2">
            <a:extLst>
              <a:ext uri="{FF2B5EF4-FFF2-40B4-BE49-F238E27FC236}">
                <a16:creationId xmlns:a16="http://schemas.microsoft.com/office/drawing/2014/main" id="{AE0A735F-98E2-1C4C-265C-5B5C32547997}"/>
              </a:ext>
            </a:extLst>
          </p:cNvPr>
          <p:cNvSpPr txBox="1"/>
          <p:nvPr/>
        </p:nvSpPr>
        <p:spPr>
          <a:xfrm>
            <a:off x="8510337" y="789094"/>
            <a:ext cx="2553903" cy="646331"/>
          </a:xfrm>
          <a:prstGeom prst="rect">
            <a:avLst/>
          </a:prstGeom>
          <a:noFill/>
        </p:spPr>
        <p:txBody>
          <a:bodyPr wrap="square" rtlCol="0">
            <a:spAutoFit/>
          </a:bodyPr>
          <a:lstStyle/>
          <a:p>
            <a:r>
              <a:rPr lang="en-US" dirty="0"/>
              <a:t>the owner uses Google FI and it provides voicemail </a:t>
            </a:r>
          </a:p>
        </p:txBody>
      </p:sp>
    </p:spTree>
    <p:extLst>
      <p:ext uri="{BB962C8B-B14F-4D97-AF65-F5344CB8AC3E}">
        <p14:creationId xmlns:p14="http://schemas.microsoft.com/office/powerpoint/2010/main" val="2047854224"/>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BABC74-3FCB-44B6-9CCF-FE10C5094AB7}"/>
              </a:ext>
            </a:extLst>
          </p:cNvPr>
          <p:cNvSpPr>
            <a:spLocks noGrp="1"/>
          </p:cNvSpPr>
          <p:nvPr>
            <p:ph type="title"/>
          </p:nvPr>
        </p:nvSpPr>
        <p:spPr/>
        <p:txBody>
          <a:bodyPr/>
          <a:lstStyle/>
          <a:p>
            <a:r>
              <a:rPr lang="en-US" dirty="0"/>
              <a:t>How to access voicemail? </a:t>
            </a:r>
          </a:p>
        </p:txBody>
      </p:sp>
      <p:pic>
        <p:nvPicPr>
          <p:cNvPr id="4" name="Picture 3" descr="A screenshot of a computer&#10;&#10;Description automatically generated with medium confidence">
            <a:extLst>
              <a:ext uri="{FF2B5EF4-FFF2-40B4-BE49-F238E27FC236}">
                <a16:creationId xmlns:a16="http://schemas.microsoft.com/office/drawing/2014/main" id="{93BBDE4C-CB98-4FC5-B53D-3C71A1B5FEE6}"/>
              </a:ext>
            </a:extLst>
          </p:cNvPr>
          <p:cNvPicPr>
            <a:picLocks noChangeAspect="1"/>
          </p:cNvPicPr>
          <p:nvPr/>
        </p:nvPicPr>
        <p:blipFill>
          <a:blip r:embed="rId3"/>
          <a:stretch>
            <a:fillRect/>
          </a:stretch>
        </p:blipFill>
        <p:spPr>
          <a:xfrm>
            <a:off x="342899" y="1570485"/>
            <a:ext cx="3764038" cy="4479795"/>
          </a:xfrm>
          <a:prstGeom prst="rect">
            <a:avLst/>
          </a:prstGeom>
        </p:spPr>
      </p:pic>
      <p:graphicFrame>
        <p:nvGraphicFramePr>
          <p:cNvPr id="5" name="Table 4">
            <a:extLst>
              <a:ext uri="{FF2B5EF4-FFF2-40B4-BE49-F238E27FC236}">
                <a16:creationId xmlns:a16="http://schemas.microsoft.com/office/drawing/2014/main" id="{AC75EC41-7E09-9EAE-856B-2776EE1308E6}"/>
              </a:ext>
            </a:extLst>
          </p:cNvPr>
          <p:cNvGraphicFramePr>
            <a:graphicFrameLocks noGrp="1"/>
          </p:cNvGraphicFramePr>
          <p:nvPr>
            <p:extLst>
              <p:ext uri="{D42A27DB-BD31-4B8C-83A1-F6EECF244321}">
                <p14:modId xmlns:p14="http://schemas.microsoft.com/office/powerpoint/2010/main" val="140042926"/>
              </p:ext>
            </p:extLst>
          </p:nvPr>
        </p:nvGraphicFramePr>
        <p:xfrm>
          <a:off x="4267200" y="1371202"/>
          <a:ext cx="7665720" cy="5183101"/>
        </p:xfrm>
        <a:graphic>
          <a:graphicData uri="http://schemas.openxmlformats.org/drawingml/2006/table">
            <a:tbl>
              <a:tblPr>
                <a:tableStyleId>{5940675A-B579-460E-94D1-54222C63F5DA}</a:tableStyleId>
              </a:tblPr>
              <a:tblGrid>
                <a:gridCol w="1940259">
                  <a:extLst>
                    <a:ext uri="{9D8B030D-6E8A-4147-A177-3AD203B41FA5}">
                      <a16:colId xmlns:a16="http://schemas.microsoft.com/office/drawing/2014/main" val="1210390179"/>
                    </a:ext>
                  </a:extLst>
                </a:gridCol>
                <a:gridCol w="956426">
                  <a:extLst>
                    <a:ext uri="{9D8B030D-6E8A-4147-A177-3AD203B41FA5}">
                      <a16:colId xmlns:a16="http://schemas.microsoft.com/office/drawing/2014/main" val="2123706687"/>
                    </a:ext>
                  </a:extLst>
                </a:gridCol>
                <a:gridCol w="4769035">
                  <a:extLst>
                    <a:ext uri="{9D8B030D-6E8A-4147-A177-3AD203B41FA5}">
                      <a16:colId xmlns:a16="http://schemas.microsoft.com/office/drawing/2014/main" val="3858784485"/>
                    </a:ext>
                  </a:extLst>
                </a:gridCol>
              </a:tblGrid>
              <a:tr h="143846">
                <a:tc>
                  <a:txBody>
                    <a:bodyPr/>
                    <a:lstStyle/>
                    <a:p>
                      <a:pPr>
                        <a:buNone/>
                      </a:pPr>
                      <a:r>
                        <a:rPr lang="en-US" sz="1400" b="1"/>
                        <a:t>Column Name</a:t>
                      </a:r>
                    </a:p>
                  </a:txBody>
                  <a:tcPr marL="35961" marR="35961" marT="17981" marB="17981" anchor="ctr"/>
                </a:tc>
                <a:tc>
                  <a:txBody>
                    <a:bodyPr/>
                    <a:lstStyle/>
                    <a:p>
                      <a:pPr>
                        <a:buNone/>
                      </a:pPr>
                      <a:r>
                        <a:rPr lang="en-US" sz="1400" b="1"/>
                        <a:t>Data Type</a:t>
                      </a:r>
                    </a:p>
                  </a:txBody>
                  <a:tcPr marL="35961" marR="35961" marT="17981" marB="17981" anchor="ctr"/>
                </a:tc>
                <a:tc>
                  <a:txBody>
                    <a:bodyPr/>
                    <a:lstStyle/>
                    <a:p>
                      <a:pPr>
                        <a:buNone/>
                      </a:pPr>
                      <a:r>
                        <a:rPr lang="en-US" sz="1400" b="1" dirty="0"/>
                        <a:t>Description</a:t>
                      </a:r>
                    </a:p>
                  </a:txBody>
                  <a:tcPr marL="35961" marR="35961" marT="17981" marB="17981" anchor="ctr"/>
                </a:tc>
                <a:extLst>
                  <a:ext uri="{0D108BD9-81ED-4DB2-BD59-A6C34878D82A}">
                    <a16:rowId xmlns:a16="http://schemas.microsoft.com/office/drawing/2014/main" val="2728228146"/>
                  </a:ext>
                </a:extLst>
              </a:tr>
              <a:tr h="251730">
                <a:tc>
                  <a:txBody>
                    <a:bodyPr/>
                    <a:lstStyle/>
                    <a:p>
                      <a:pPr>
                        <a:buNone/>
                      </a:pPr>
                      <a:r>
                        <a:rPr lang="en-US" sz="1400" b="1"/>
                        <a:t>_id</a:t>
                      </a:r>
                      <a:endParaRPr lang="en-US" sz="1400"/>
                    </a:p>
                  </a:txBody>
                  <a:tcPr marL="35961" marR="35961" marT="17981" marB="17981" anchor="ctr"/>
                </a:tc>
                <a:tc>
                  <a:txBody>
                    <a:bodyPr/>
                    <a:lstStyle/>
                    <a:p>
                      <a:pPr>
                        <a:buNone/>
                      </a:pPr>
                      <a:r>
                        <a:rPr lang="en-US" sz="1400" dirty="0"/>
                        <a:t>INTEGER</a:t>
                      </a:r>
                    </a:p>
                  </a:txBody>
                  <a:tcPr marL="35961" marR="35961" marT="17981" marB="17981" anchor="ctr"/>
                </a:tc>
                <a:tc>
                  <a:txBody>
                    <a:bodyPr/>
                    <a:lstStyle/>
                    <a:p>
                      <a:pPr>
                        <a:buNone/>
                      </a:pPr>
                      <a:r>
                        <a:rPr lang="en-GB" sz="1400"/>
                        <a:t>Primary key — unique identifier for each voicemail status record.</a:t>
                      </a:r>
                    </a:p>
                  </a:txBody>
                  <a:tcPr marL="35961" marR="35961" marT="17981" marB="17981" anchor="ctr"/>
                </a:tc>
                <a:extLst>
                  <a:ext uri="{0D108BD9-81ED-4DB2-BD59-A6C34878D82A}">
                    <a16:rowId xmlns:a16="http://schemas.microsoft.com/office/drawing/2014/main" val="1132527157"/>
                  </a:ext>
                </a:extLst>
              </a:tr>
              <a:tr h="467499">
                <a:tc>
                  <a:txBody>
                    <a:bodyPr/>
                    <a:lstStyle/>
                    <a:p>
                      <a:pPr>
                        <a:buNone/>
                      </a:pPr>
                      <a:r>
                        <a:rPr lang="en-US" sz="1400" b="1"/>
                        <a:t>source_package</a:t>
                      </a:r>
                      <a:endParaRPr lang="en-US" sz="1400"/>
                    </a:p>
                  </a:txBody>
                  <a:tcPr marL="35961" marR="35961" marT="17981" marB="17981" anchor="ctr"/>
                </a:tc>
                <a:tc>
                  <a:txBody>
                    <a:bodyPr/>
                    <a:lstStyle/>
                    <a:p>
                      <a:pPr>
                        <a:buNone/>
                      </a:pPr>
                      <a:r>
                        <a:rPr lang="en-US" sz="1400"/>
                        <a:t>TEXT</a:t>
                      </a:r>
                    </a:p>
                  </a:txBody>
                  <a:tcPr marL="35961" marR="35961" marT="17981" marB="17981" anchor="ctr"/>
                </a:tc>
                <a:tc>
                  <a:txBody>
                    <a:bodyPr/>
                    <a:lstStyle/>
                    <a:p>
                      <a:pPr>
                        <a:buNone/>
                      </a:pPr>
                      <a:r>
                        <a:rPr lang="en-GB" sz="1400"/>
                        <a:t>The package name of the app providing voicemail service (e.g., com.google.android.dialer).</a:t>
                      </a:r>
                    </a:p>
                  </a:txBody>
                  <a:tcPr marL="35961" marR="35961" marT="17981" marB="17981" anchor="ctr"/>
                </a:tc>
                <a:extLst>
                  <a:ext uri="{0D108BD9-81ED-4DB2-BD59-A6C34878D82A}">
                    <a16:rowId xmlns:a16="http://schemas.microsoft.com/office/drawing/2014/main" val="3252966341"/>
                  </a:ext>
                </a:extLst>
              </a:tr>
              <a:tr h="467499">
                <a:tc>
                  <a:txBody>
                    <a:bodyPr/>
                    <a:lstStyle/>
                    <a:p>
                      <a:pPr>
                        <a:buNone/>
                      </a:pPr>
                      <a:r>
                        <a:rPr lang="en-US" sz="1400" b="1"/>
                        <a:t>phone_account_component_name</a:t>
                      </a:r>
                      <a:endParaRPr lang="en-US" sz="1400"/>
                    </a:p>
                  </a:txBody>
                  <a:tcPr marL="35961" marR="35961" marT="17981" marB="17981" anchor="ctr"/>
                </a:tc>
                <a:tc>
                  <a:txBody>
                    <a:bodyPr/>
                    <a:lstStyle/>
                    <a:p>
                      <a:pPr>
                        <a:buNone/>
                      </a:pPr>
                      <a:r>
                        <a:rPr lang="en-US" sz="1400"/>
                        <a:t>TEXT</a:t>
                      </a:r>
                    </a:p>
                  </a:txBody>
                  <a:tcPr marL="35961" marR="35961" marT="17981" marB="17981" anchor="ctr"/>
                </a:tc>
                <a:tc>
                  <a:txBody>
                    <a:bodyPr/>
                    <a:lstStyle/>
                    <a:p>
                      <a:pPr>
                        <a:buNone/>
                      </a:pPr>
                      <a:r>
                        <a:rPr lang="en-GB" sz="1400"/>
                        <a:t>The component name of the phone account responsible for handling voicemail (e.g., SIM carrier or VoIP provider).</a:t>
                      </a:r>
                    </a:p>
                  </a:txBody>
                  <a:tcPr marL="35961" marR="35961" marT="17981" marB="17981" anchor="ctr"/>
                </a:tc>
                <a:extLst>
                  <a:ext uri="{0D108BD9-81ED-4DB2-BD59-A6C34878D82A}">
                    <a16:rowId xmlns:a16="http://schemas.microsoft.com/office/drawing/2014/main" val="147007179"/>
                  </a:ext>
                </a:extLst>
              </a:tr>
              <a:tr h="359615">
                <a:tc>
                  <a:txBody>
                    <a:bodyPr/>
                    <a:lstStyle/>
                    <a:p>
                      <a:pPr>
                        <a:buNone/>
                      </a:pPr>
                      <a:r>
                        <a:rPr lang="en-US" sz="1400" b="1" dirty="0" err="1">
                          <a:highlight>
                            <a:srgbClr val="FFFF00"/>
                          </a:highlight>
                        </a:rPr>
                        <a:t>phone_account_id</a:t>
                      </a:r>
                      <a:endParaRPr lang="en-US" sz="1400" dirty="0">
                        <a:highlight>
                          <a:srgbClr val="FFFF00"/>
                        </a:highlight>
                      </a:endParaRPr>
                    </a:p>
                  </a:txBody>
                  <a:tcPr marL="35961" marR="35961" marT="17981" marB="17981" anchor="ctr"/>
                </a:tc>
                <a:tc>
                  <a:txBody>
                    <a:bodyPr/>
                    <a:lstStyle/>
                    <a:p>
                      <a:pPr>
                        <a:buNone/>
                      </a:pPr>
                      <a:r>
                        <a:rPr lang="en-US" sz="1400">
                          <a:highlight>
                            <a:srgbClr val="FFFF00"/>
                          </a:highlight>
                        </a:rPr>
                        <a:t>TEXT</a:t>
                      </a:r>
                    </a:p>
                  </a:txBody>
                  <a:tcPr marL="35961" marR="35961" marT="17981" marB="17981" anchor="ctr"/>
                </a:tc>
                <a:tc>
                  <a:txBody>
                    <a:bodyPr/>
                    <a:lstStyle/>
                    <a:p>
                      <a:pPr>
                        <a:buNone/>
                      </a:pPr>
                      <a:r>
                        <a:rPr lang="en-GB" sz="1400" dirty="0">
                          <a:highlight>
                            <a:srgbClr val="FFFF00"/>
                          </a:highlight>
                        </a:rPr>
                        <a:t>Unique identifier of the specific phone or SIM account associated with this voicemail service.</a:t>
                      </a:r>
                    </a:p>
                  </a:txBody>
                  <a:tcPr marL="35961" marR="35961" marT="17981" marB="17981" anchor="ctr"/>
                </a:tc>
                <a:extLst>
                  <a:ext uri="{0D108BD9-81ED-4DB2-BD59-A6C34878D82A}">
                    <a16:rowId xmlns:a16="http://schemas.microsoft.com/office/drawing/2014/main" val="3613090949"/>
                  </a:ext>
                </a:extLst>
              </a:tr>
              <a:tr h="359615">
                <a:tc>
                  <a:txBody>
                    <a:bodyPr/>
                    <a:lstStyle/>
                    <a:p>
                      <a:pPr>
                        <a:buNone/>
                      </a:pPr>
                      <a:r>
                        <a:rPr lang="en-US" sz="1400" b="1"/>
                        <a:t>settings_uri</a:t>
                      </a:r>
                      <a:endParaRPr lang="en-US" sz="1400"/>
                    </a:p>
                  </a:txBody>
                  <a:tcPr marL="35961" marR="35961" marT="17981" marB="17981" anchor="ctr"/>
                </a:tc>
                <a:tc>
                  <a:txBody>
                    <a:bodyPr/>
                    <a:lstStyle/>
                    <a:p>
                      <a:pPr>
                        <a:buNone/>
                      </a:pPr>
                      <a:r>
                        <a:rPr lang="en-US" sz="1400"/>
                        <a:t>TEXT</a:t>
                      </a:r>
                    </a:p>
                  </a:txBody>
                  <a:tcPr marL="35961" marR="35961" marT="17981" marB="17981" anchor="ctr"/>
                </a:tc>
                <a:tc>
                  <a:txBody>
                    <a:bodyPr/>
                    <a:lstStyle/>
                    <a:p>
                      <a:pPr>
                        <a:buNone/>
                      </a:pPr>
                      <a:r>
                        <a:rPr lang="en-GB" sz="1400"/>
                        <a:t>URI pointing to voicemail settings (used to open the voicemail setup screen).</a:t>
                      </a:r>
                    </a:p>
                  </a:txBody>
                  <a:tcPr marL="35961" marR="35961" marT="17981" marB="17981" anchor="ctr"/>
                </a:tc>
                <a:extLst>
                  <a:ext uri="{0D108BD9-81ED-4DB2-BD59-A6C34878D82A}">
                    <a16:rowId xmlns:a16="http://schemas.microsoft.com/office/drawing/2014/main" val="528437021"/>
                  </a:ext>
                </a:extLst>
              </a:tr>
              <a:tr h="251730">
                <a:tc>
                  <a:txBody>
                    <a:bodyPr/>
                    <a:lstStyle/>
                    <a:p>
                      <a:pPr>
                        <a:buNone/>
                      </a:pPr>
                      <a:r>
                        <a:rPr lang="en-US" sz="1400" b="1">
                          <a:highlight>
                            <a:srgbClr val="FFFF00"/>
                          </a:highlight>
                        </a:rPr>
                        <a:t>voicemail_access_uri</a:t>
                      </a:r>
                      <a:endParaRPr lang="en-US" sz="1400">
                        <a:highlight>
                          <a:srgbClr val="FFFF00"/>
                        </a:highlight>
                      </a:endParaRPr>
                    </a:p>
                  </a:txBody>
                  <a:tcPr marL="35961" marR="35961" marT="17981" marB="17981" anchor="ctr"/>
                </a:tc>
                <a:tc>
                  <a:txBody>
                    <a:bodyPr/>
                    <a:lstStyle/>
                    <a:p>
                      <a:pPr>
                        <a:buNone/>
                      </a:pPr>
                      <a:r>
                        <a:rPr lang="en-US" sz="1400">
                          <a:highlight>
                            <a:srgbClr val="FFFF00"/>
                          </a:highlight>
                        </a:rPr>
                        <a:t>TEXT</a:t>
                      </a:r>
                    </a:p>
                  </a:txBody>
                  <a:tcPr marL="35961" marR="35961" marT="17981" marB="17981" anchor="ctr"/>
                </a:tc>
                <a:tc>
                  <a:txBody>
                    <a:bodyPr/>
                    <a:lstStyle/>
                    <a:p>
                      <a:pPr>
                        <a:buNone/>
                      </a:pPr>
                      <a:r>
                        <a:rPr lang="en-GB" sz="1400" dirty="0">
                          <a:highlight>
                            <a:srgbClr val="FFFF00"/>
                          </a:highlight>
                        </a:rPr>
                        <a:t>URI or dial string used to access or call the voicemail service directly.</a:t>
                      </a:r>
                    </a:p>
                  </a:txBody>
                  <a:tcPr marL="35961" marR="35961" marT="17981" marB="17981" anchor="ctr"/>
                </a:tc>
                <a:extLst>
                  <a:ext uri="{0D108BD9-81ED-4DB2-BD59-A6C34878D82A}">
                    <a16:rowId xmlns:a16="http://schemas.microsoft.com/office/drawing/2014/main" val="2227133710"/>
                  </a:ext>
                </a:extLst>
              </a:tr>
              <a:tr h="467499">
                <a:tc>
                  <a:txBody>
                    <a:bodyPr/>
                    <a:lstStyle/>
                    <a:p>
                      <a:pPr>
                        <a:buNone/>
                      </a:pPr>
                      <a:r>
                        <a:rPr lang="en-US" sz="1400" b="1"/>
                        <a:t>configuration_state</a:t>
                      </a:r>
                      <a:endParaRPr lang="en-US" sz="1400"/>
                    </a:p>
                  </a:txBody>
                  <a:tcPr marL="35961" marR="35961" marT="17981" marB="17981" anchor="ctr"/>
                </a:tc>
                <a:tc>
                  <a:txBody>
                    <a:bodyPr/>
                    <a:lstStyle/>
                    <a:p>
                      <a:pPr>
                        <a:buNone/>
                      </a:pPr>
                      <a:r>
                        <a:rPr lang="en-US" sz="1400"/>
                        <a:t>INTEGER</a:t>
                      </a:r>
                    </a:p>
                  </a:txBody>
                  <a:tcPr marL="35961" marR="35961" marT="17981" marB="17981" anchor="ctr"/>
                </a:tc>
                <a:tc>
                  <a:txBody>
                    <a:bodyPr/>
                    <a:lstStyle/>
                    <a:p>
                      <a:pPr>
                        <a:buNone/>
                      </a:pPr>
                      <a:r>
                        <a:rPr lang="en-GB" sz="1400"/>
                        <a:t>Indicates whether voicemail is properly configured:0 = Not configured, 1 = OK, 2 = Error, 3 = Disabled.</a:t>
                      </a:r>
                    </a:p>
                  </a:txBody>
                  <a:tcPr marL="35961" marR="35961" marT="17981" marB="17981" anchor="ctr"/>
                </a:tc>
                <a:extLst>
                  <a:ext uri="{0D108BD9-81ED-4DB2-BD59-A6C34878D82A}">
                    <a16:rowId xmlns:a16="http://schemas.microsoft.com/office/drawing/2014/main" val="2719440865"/>
                  </a:ext>
                </a:extLst>
              </a:tr>
              <a:tr h="359615">
                <a:tc>
                  <a:txBody>
                    <a:bodyPr/>
                    <a:lstStyle/>
                    <a:p>
                      <a:pPr>
                        <a:buNone/>
                      </a:pPr>
                      <a:r>
                        <a:rPr lang="en-US" sz="1400" b="1"/>
                        <a:t>data_channel_state</a:t>
                      </a:r>
                      <a:endParaRPr lang="en-US" sz="1400"/>
                    </a:p>
                  </a:txBody>
                  <a:tcPr marL="35961" marR="35961" marT="17981" marB="17981" anchor="ctr"/>
                </a:tc>
                <a:tc>
                  <a:txBody>
                    <a:bodyPr/>
                    <a:lstStyle/>
                    <a:p>
                      <a:pPr>
                        <a:buNone/>
                      </a:pPr>
                      <a:r>
                        <a:rPr lang="en-US" sz="1400"/>
                        <a:t>INTEGER</a:t>
                      </a:r>
                    </a:p>
                  </a:txBody>
                  <a:tcPr marL="35961" marR="35961" marT="17981" marB="17981" anchor="ctr"/>
                </a:tc>
                <a:tc>
                  <a:txBody>
                    <a:bodyPr/>
                    <a:lstStyle/>
                    <a:p>
                      <a:pPr>
                        <a:buNone/>
                      </a:pPr>
                      <a:r>
                        <a:rPr lang="en-GB" sz="1400"/>
                        <a:t>Status of the data channel used for voicemail retrieval:0 = OK, 1 = No connection, 2 = Server error.</a:t>
                      </a:r>
                    </a:p>
                  </a:txBody>
                  <a:tcPr marL="35961" marR="35961" marT="17981" marB="17981" anchor="ctr"/>
                </a:tc>
                <a:extLst>
                  <a:ext uri="{0D108BD9-81ED-4DB2-BD59-A6C34878D82A}">
                    <a16:rowId xmlns:a16="http://schemas.microsoft.com/office/drawing/2014/main" val="2995395475"/>
                  </a:ext>
                </a:extLst>
              </a:tr>
              <a:tr h="359615">
                <a:tc>
                  <a:txBody>
                    <a:bodyPr/>
                    <a:lstStyle/>
                    <a:p>
                      <a:pPr>
                        <a:buNone/>
                      </a:pPr>
                      <a:r>
                        <a:rPr lang="en-US" sz="1400" b="1"/>
                        <a:t>notification_channel_state</a:t>
                      </a:r>
                      <a:endParaRPr lang="en-US" sz="1400"/>
                    </a:p>
                  </a:txBody>
                  <a:tcPr marL="35961" marR="35961" marT="17981" marB="17981" anchor="ctr"/>
                </a:tc>
                <a:tc>
                  <a:txBody>
                    <a:bodyPr/>
                    <a:lstStyle/>
                    <a:p>
                      <a:pPr>
                        <a:buNone/>
                      </a:pPr>
                      <a:r>
                        <a:rPr lang="en-US" sz="1400"/>
                        <a:t>INTEGER</a:t>
                      </a:r>
                    </a:p>
                  </a:txBody>
                  <a:tcPr marL="35961" marR="35961" marT="17981" marB="17981" anchor="ctr"/>
                </a:tc>
                <a:tc>
                  <a:txBody>
                    <a:bodyPr/>
                    <a:lstStyle/>
                    <a:p>
                      <a:pPr>
                        <a:buNone/>
                      </a:pPr>
                      <a:r>
                        <a:rPr lang="en-GB" sz="1400"/>
                        <a:t>Status of the voicemail notification channel:0 = OK, 1 = Blocked or disabled.</a:t>
                      </a:r>
                    </a:p>
                  </a:txBody>
                  <a:tcPr marL="35961" marR="35961" marT="17981" marB="17981" anchor="ctr"/>
                </a:tc>
                <a:extLst>
                  <a:ext uri="{0D108BD9-81ED-4DB2-BD59-A6C34878D82A}">
                    <a16:rowId xmlns:a16="http://schemas.microsoft.com/office/drawing/2014/main" val="1466792735"/>
                  </a:ext>
                </a:extLst>
              </a:tr>
              <a:tr h="251730">
                <a:tc>
                  <a:txBody>
                    <a:bodyPr/>
                    <a:lstStyle/>
                    <a:p>
                      <a:pPr>
                        <a:buNone/>
                      </a:pPr>
                      <a:r>
                        <a:rPr lang="en-US" sz="1400" b="1"/>
                        <a:t>quota_occupied</a:t>
                      </a:r>
                      <a:endParaRPr lang="en-US" sz="1400"/>
                    </a:p>
                  </a:txBody>
                  <a:tcPr marL="35961" marR="35961" marT="17981" marB="17981" anchor="ctr"/>
                </a:tc>
                <a:tc>
                  <a:txBody>
                    <a:bodyPr/>
                    <a:lstStyle/>
                    <a:p>
                      <a:pPr>
                        <a:buNone/>
                      </a:pPr>
                      <a:r>
                        <a:rPr lang="en-US" sz="1400"/>
                        <a:t>INTEGER</a:t>
                      </a:r>
                    </a:p>
                  </a:txBody>
                  <a:tcPr marL="35961" marR="35961" marT="17981" marB="17981" anchor="ctr"/>
                </a:tc>
                <a:tc>
                  <a:txBody>
                    <a:bodyPr/>
                    <a:lstStyle/>
                    <a:p>
                      <a:pPr>
                        <a:buNone/>
                      </a:pPr>
                      <a:r>
                        <a:rPr lang="en-GB" sz="1400"/>
                        <a:t>Current space used by stored voicemails (in bytes).</a:t>
                      </a:r>
                    </a:p>
                  </a:txBody>
                  <a:tcPr marL="35961" marR="35961" marT="17981" marB="17981" anchor="ctr"/>
                </a:tc>
                <a:extLst>
                  <a:ext uri="{0D108BD9-81ED-4DB2-BD59-A6C34878D82A}">
                    <a16:rowId xmlns:a16="http://schemas.microsoft.com/office/drawing/2014/main" val="1169574017"/>
                  </a:ext>
                </a:extLst>
              </a:tr>
              <a:tr h="251730">
                <a:tc>
                  <a:txBody>
                    <a:bodyPr/>
                    <a:lstStyle/>
                    <a:p>
                      <a:pPr>
                        <a:buNone/>
                      </a:pPr>
                      <a:r>
                        <a:rPr lang="en-US" sz="1400" b="1"/>
                        <a:t>quota_total</a:t>
                      </a:r>
                      <a:endParaRPr lang="en-US" sz="1400"/>
                    </a:p>
                  </a:txBody>
                  <a:tcPr marL="35961" marR="35961" marT="17981" marB="17981" anchor="ctr"/>
                </a:tc>
                <a:tc>
                  <a:txBody>
                    <a:bodyPr/>
                    <a:lstStyle/>
                    <a:p>
                      <a:pPr>
                        <a:buNone/>
                      </a:pPr>
                      <a:r>
                        <a:rPr lang="en-US" sz="1400"/>
                        <a:t>INTEGER</a:t>
                      </a:r>
                    </a:p>
                  </a:txBody>
                  <a:tcPr marL="35961" marR="35961" marT="17981" marB="17981" anchor="ctr"/>
                </a:tc>
                <a:tc>
                  <a:txBody>
                    <a:bodyPr/>
                    <a:lstStyle/>
                    <a:p>
                      <a:pPr>
                        <a:buNone/>
                      </a:pPr>
                      <a:r>
                        <a:rPr lang="en-US" sz="1400"/>
                        <a:t>Total available voicemail storage quota (in bytes).</a:t>
                      </a:r>
                    </a:p>
                  </a:txBody>
                  <a:tcPr marL="35961" marR="35961" marT="17981" marB="17981" anchor="ctr"/>
                </a:tc>
                <a:extLst>
                  <a:ext uri="{0D108BD9-81ED-4DB2-BD59-A6C34878D82A}">
                    <a16:rowId xmlns:a16="http://schemas.microsoft.com/office/drawing/2014/main" val="336983147"/>
                  </a:ext>
                </a:extLst>
              </a:tr>
              <a:tr h="359615">
                <a:tc>
                  <a:txBody>
                    <a:bodyPr/>
                    <a:lstStyle/>
                    <a:p>
                      <a:pPr>
                        <a:buNone/>
                      </a:pPr>
                      <a:r>
                        <a:rPr lang="en-US" sz="1400" b="1"/>
                        <a:t>source_type</a:t>
                      </a:r>
                      <a:endParaRPr lang="en-US" sz="1400"/>
                    </a:p>
                  </a:txBody>
                  <a:tcPr marL="35961" marR="35961" marT="17981" marB="17981" anchor="ctr"/>
                </a:tc>
                <a:tc>
                  <a:txBody>
                    <a:bodyPr/>
                    <a:lstStyle/>
                    <a:p>
                      <a:pPr>
                        <a:buNone/>
                      </a:pPr>
                      <a:r>
                        <a:rPr lang="en-US" sz="1400"/>
                        <a:t>TEXT</a:t>
                      </a:r>
                    </a:p>
                  </a:txBody>
                  <a:tcPr marL="35961" marR="35961" marT="17981" marB="17981" anchor="ctr"/>
                </a:tc>
                <a:tc>
                  <a:txBody>
                    <a:bodyPr/>
                    <a:lstStyle/>
                    <a:p>
                      <a:pPr>
                        <a:buNone/>
                      </a:pPr>
                      <a:r>
                        <a:rPr lang="en-GB" sz="1400" dirty="0"/>
                        <a:t>Type of voicemail source (e.g., </a:t>
                      </a:r>
                      <a:r>
                        <a:rPr lang="en-GB" sz="1400" dirty="0" err="1"/>
                        <a:t>vvm</a:t>
                      </a:r>
                      <a:r>
                        <a:rPr lang="en-GB" sz="1400" dirty="0"/>
                        <a:t> for visual voicemail, carrier for SIM voicemail).</a:t>
                      </a:r>
                    </a:p>
                  </a:txBody>
                  <a:tcPr marL="35961" marR="35961" marT="17981" marB="17981" anchor="ctr"/>
                </a:tc>
                <a:extLst>
                  <a:ext uri="{0D108BD9-81ED-4DB2-BD59-A6C34878D82A}">
                    <a16:rowId xmlns:a16="http://schemas.microsoft.com/office/drawing/2014/main" val="4293901069"/>
                  </a:ext>
                </a:extLst>
              </a:tr>
            </a:tbl>
          </a:graphicData>
        </a:graphic>
      </p:graphicFrame>
    </p:spTree>
    <p:extLst>
      <p:ext uri="{BB962C8B-B14F-4D97-AF65-F5344CB8AC3E}">
        <p14:creationId xmlns:p14="http://schemas.microsoft.com/office/powerpoint/2010/main" val="4010555816"/>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descr="Graphical user interface, text, application&#10;&#10;Description automatically generated">
            <a:extLst>
              <a:ext uri="{FF2B5EF4-FFF2-40B4-BE49-F238E27FC236}">
                <a16:creationId xmlns:a16="http://schemas.microsoft.com/office/drawing/2014/main" id="{24F9343F-CADE-4AB4-9B9D-E467226670FC}"/>
              </a:ext>
            </a:extLst>
          </p:cNvPr>
          <p:cNvPicPr>
            <a:picLocks noChangeAspect="1"/>
          </p:cNvPicPr>
          <p:nvPr/>
        </p:nvPicPr>
        <p:blipFill>
          <a:blip r:embed="rId2"/>
          <a:stretch>
            <a:fillRect/>
          </a:stretch>
        </p:blipFill>
        <p:spPr>
          <a:xfrm>
            <a:off x="670069" y="2453552"/>
            <a:ext cx="11004258" cy="2839808"/>
          </a:xfrm>
          <a:prstGeom prst="rect">
            <a:avLst/>
          </a:prstGeom>
        </p:spPr>
      </p:pic>
      <p:sp>
        <p:nvSpPr>
          <p:cNvPr id="6" name="TextBox 5">
            <a:extLst>
              <a:ext uri="{FF2B5EF4-FFF2-40B4-BE49-F238E27FC236}">
                <a16:creationId xmlns:a16="http://schemas.microsoft.com/office/drawing/2014/main" id="{06F216B5-2A2B-46F6-83B9-F2470FB45589}"/>
              </a:ext>
            </a:extLst>
          </p:cNvPr>
          <p:cNvSpPr txBox="1"/>
          <p:nvPr/>
        </p:nvSpPr>
        <p:spPr>
          <a:xfrm>
            <a:off x="670069" y="2084220"/>
            <a:ext cx="2492477" cy="369332"/>
          </a:xfrm>
          <a:prstGeom prst="rect">
            <a:avLst/>
          </a:prstGeom>
          <a:solidFill>
            <a:schemeClr val="accent4"/>
          </a:solidFill>
        </p:spPr>
        <p:txBody>
          <a:bodyPr wrap="none" rtlCol="0">
            <a:spAutoFit/>
          </a:bodyPr>
          <a:lstStyle/>
          <a:p>
            <a:r>
              <a:rPr lang="en-US" dirty="0"/>
              <a:t>Find voicemail access </a:t>
            </a:r>
            <a:r>
              <a:rPr lang="en-US" dirty="0" err="1"/>
              <a:t>url</a:t>
            </a:r>
            <a:endParaRPr lang="en-US" dirty="0"/>
          </a:p>
        </p:txBody>
      </p:sp>
    </p:spTree>
    <p:extLst>
      <p:ext uri="{BB962C8B-B14F-4D97-AF65-F5344CB8AC3E}">
        <p14:creationId xmlns:p14="http://schemas.microsoft.com/office/powerpoint/2010/main" val="2173463043"/>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4000">
                <a:solidFill>
                  <a:srgbClr val="000000"/>
                </a:solidFill>
                <a:latin typeface="Arial"/>
              </a:rPr>
              <a:t>Evidence Handling: Contacts and Call Logs</a:t>
            </a:r>
          </a:p>
        </p:txBody>
      </p:sp>
      <p:sp>
        <p:nvSpPr>
          <p:cNvPr id="3" name="Content Placeholder 2"/>
          <p:cNvSpPr>
            <a:spLocks noGrp="1"/>
          </p:cNvSpPr>
          <p:nvPr>
            <p:ph idx="1"/>
          </p:nvPr>
        </p:nvSpPr>
        <p:spPr/>
        <p:txBody>
          <a:bodyPr wrap="square">
            <a:normAutofit/>
          </a:bodyPr>
          <a:lstStyle/>
          <a:p>
            <a:pPr>
              <a:defRPr sz="2100">
                <a:latin typeface="Arial"/>
              </a:defRPr>
            </a:pPr>
            <a:r>
              <a:t>Contacts, call logs, voicemail references, and profile records are sensitive personal data.</a:t>
            </a:r>
          </a:p>
          <a:p>
            <a:pPr>
              <a:defRPr sz="2100">
                <a:latin typeface="Arial"/>
              </a:defRPr>
            </a:pPr>
            <a:r>
              <a:t>Minimize disclosure: include only fields needed to support the investigative question.</a:t>
            </a:r>
          </a:p>
          <a:p>
            <a:pPr>
              <a:defRPr sz="2100">
                <a:latin typeface="Arial"/>
              </a:defRPr>
            </a:pPr>
            <a:r>
              <a:t>Preserve provenance: record database name, table name, row ID, query, timestamp conversion method, and screenshot/query output.</a:t>
            </a:r>
          </a:p>
          <a:p>
            <a:pPr>
              <a:defRPr sz="2100">
                <a:latin typeface="Arial"/>
              </a:defRPr>
            </a:pPr>
            <a:r>
              <a:t>Separate fact from interpretation: “calls.type = 3” is the database value; “missed call” is the interpretation.</a:t>
            </a:r>
          </a:p>
          <a:p>
            <a:pPr>
              <a:defRPr sz="2100">
                <a:latin typeface="Arial"/>
              </a:defRPr>
            </a:pPr>
            <a:r>
              <a:t>Document limitations: deleted flags, NULL values, sync artifacts, time zones, and app-specific behavior may affect conclusions.</a:t>
            </a:r>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356063-2D89-820A-8CA3-A479AF77FB7F}"/>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E7A342C5-BDAF-C950-1B5D-EB694E0BD342}"/>
              </a:ext>
            </a:extLst>
          </p:cNvPr>
          <p:cNvSpPr>
            <a:spLocks noGrp="1"/>
          </p:cNvSpPr>
          <p:nvPr>
            <p:ph type="title"/>
          </p:nvPr>
        </p:nvSpPr>
        <p:spPr/>
        <p:txBody>
          <a:bodyPr/>
          <a:lstStyle/>
          <a:p>
            <a:r>
              <a:rPr lang="en-US" dirty="0"/>
              <a:t>Investigating </a:t>
            </a:r>
            <a:r>
              <a:rPr lang="en-US" dirty="0" err="1">
                <a:solidFill>
                  <a:schemeClr val="accent2"/>
                </a:solidFill>
              </a:rPr>
              <a:t>profile.db</a:t>
            </a:r>
            <a:endParaRPr lang="en-US" dirty="0">
              <a:solidFill>
                <a:schemeClr val="accent2"/>
              </a:solidFill>
            </a:endParaRPr>
          </a:p>
        </p:txBody>
      </p:sp>
      <p:sp>
        <p:nvSpPr>
          <p:cNvPr id="5" name="Text Placeholder 4">
            <a:extLst>
              <a:ext uri="{FF2B5EF4-FFF2-40B4-BE49-F238E27FC236}">
                <a16:creationId xmlns:a16="http://schemas.microsoft.com/office/drawing/2014/main" id="{047224BD-84ED-275B-85B3-59D3CA9E6154}"/>
              </a:ext>
            </a:extLst>
          </p:cNvPr>
          <p:cNvSpPr>
            <a:spLocks noGrp="1"/>
          </p:cNvSpPr>
          <p:nvPr>
            <p:ph type="body" idx="1"/>
          </p:nvPr>
        </p:nvSpPr>
        <p:spPr/>
        <p:txBody>
          <a:bodyPr/>
          <a:lstStyle/>
          <a:p>
            <a:endParaRPr lang="en-US"/>
          </a:p>
        </p:txBody>
      </p:sp>
    </p:spTree>
    <p:extLst>
      <p:ext uri="{BB962C8B-B14F-4D97-AF65-F5344CB8AC3E}">
        <p14:creationId xmlns:p14="http://schemas.microsoft.com/office/powerpoint/2010/main" val="2444354159"/>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30FAC5EE-8705-6450-B136-9EA209562913}"/>
              </a:ext>
            </a:extLst>
          </p:cNvPr>
          <p:cNvSpPr>
            <a:spLocks noGrp="1"/>
          </p:cNvSpPr>
          <p:nvPr>
            <p:ph type="title"/>
          </p:nvPr>
        </p:nvSpPr>
        <p:spPr/>
        <p:txBody>
          <a:bodyPr/>
          <a:lstStyle/>
          <a:p>
            <a:r>
              <a:rPr sz="4000">
                <a:solidFill>
                  <a:srgbClr val="000000"/>
                </a:solidFill>
                <a:latin typeface="Arial"/>
              </a:rPr>
              <a:t>Investigating profile.db</a:t>
            </a:r>
          </a:p>
        </p:txBody>
      </p:sp>
      <p:sp>
        <p:nvSpPr>
          <p:cNvPr id="5" name="Content Placeholder 4">
            <a:extLst>
              <a:ext uri="{FF2B5EF4-FFF2-40B4-BE49-F238E27FC236}">
                <a16:creationId xmlns:a16="http://schemas.microsoft.com/office/drawing/2014/main" id="{F7C2D76C-6364-FE95-F1DF-E9DA4D1C937F}"/>
              </a:ext>
            </a:extLst>
          </p:cNvPr>
          <p:cNvSpPr>
            <a:spLocks noGrp="1"/>
          </p:cNvSpPr>
          <p:nvPr>
            <p:ph idx="1"/>
          </p:nvPr>
        </p:nvSpPr>
        <p:spPr/>
        <p:txBody>
          <a:bodyPr wrap="square">
            <a:normAutofit/>
          </a:bodyPr>
          <a:lstStyle/>
          <a:p>
            <a:pPr>
              <a:defRPr sz="2100">
                <a:latin typeface="Arial"/>
              </a:defRPr>
            </a:pPr>
            <a:r>
              <a:t>profile.db stores the device owner’s “Me” profile separately from ordinary contacts.</a:t>
            </a:r>
          </a:p>
          <a:p>
            <a:pPr>
              <a:defRPr sz="2100">
                <a:latin typeface="Arial"/>
              </a:defRPr>
            </a:pPr>
            <a:r>
              <a:t>It may contain the owner’s name, phone number, email address, photo, and account-linked profile information.</a:t>
            </a:r>
          </a:p>
          <a:p>
            <a:pPr>
              <a:defRPr sz="2100">
                <a:latin typeface="Arial"/>
              </a:defRPr>
            </a:pPr>
            <a:r>
              <a:t>Its structure mirrors contacts2.db, with tables such as raw_contacts, data, and mimetypes.</a:t>
            </a:r>
          </a:p>
          <a:p>
            <a:pPr>
              <a:defRPr sz="2100">
                <a:latin typeface="Arial"/>
              </a:defRPr>
            </a:pPr>
            <a:r>
              <a:t>Forensics: profile.db can help identify the device owner, but it contains sensitive personal data.</a:t>
            </a:r>
          </a:p>
        </p:txBody>
      </p:sp>
    </p:spTree>
    <p:extLst>
      <p:ext uri="{BB962C8B-B14F-4D97-AF65-F5344CB8AC3E}">
        <p14:creationId xmlns:p14="http://schemas.microsoft.com/office/powerpoint/2010/main" val="1954828117"/>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4000">
                <a:solidFill>
                  <a:srgbClr val="000000"/>
                </a:solidFill>
                <a:latin typeface="Arial"/>
              </a:rPr>
              <a:t>Chapter Summary</a:t>
            </a:r>
          </a:p>
        </p:txBody>
      </p:sp>
      <p:sp>
        <p:nvSpPr>
          <p:cNvPr id="3" name="Content Placeholder 2"/>
          <p:cNvSpPr>
            <a:spLocks noGrp="1"/>
          </p:cNvSpPr>
          <p:nvPr>
            <p:ph idx="1"/>
          </p:nvPr>
        </p:nvSpPr>
        <p:spPr/>
        <p:txBody>
          <a:bodyPr wrap="square">
            <a:normAutofit/>
          </a:bodyPr>
          <a:lstStyle/>
          <a:p>
            <a:pPr>
              <a:defRPr sz="2000">
                <a:latin typeface="Arial"/>
              </a:defRPr>
            </a:pPr>
            <a:r>
              <a:t>Contacts Provider centralizes people, accounts, contact fields, groups, profile data, and call-log integration.</a:t>
            </a:r>
          </a:p>
          <a:p>
            <a:pPr>
              <a:defRPr sz="2000">
                <a:latin typeface="Arial"/>
              </a:defRPr>
            </a:pPr>
            <a:r>
              <a:t>contacts2.db supports relationship reconstruction through accounts, raw_contacts, contacts, data, mimetypes, groups, and lookup tables.</a:t>
            </a:r>
          </a:p>
          <a:p>
            <a:pPr>
              <a:defRPr sz="2000">
                <a:latin typeface="Arial"/>
              </a:defRPr>
            </a:pPr>
            <a:r>
              <a:t>calllog.db records call events; key evidence fields include number, type, date, duration, voicemail_uri, and phone_account_id.</a:t>
            </a:r>
          </a:p>
          <a:p>
            <a:pPr>
              <a:defRPr sz="2000">
                <a:latin typeface="Arial"/>
              </a:defRPr>
            </a:pPr>
            <a:r>
              <a:t>profile.db may identify the device owner and should be treated as highly sensitive evidence.</a:t>
            </a:r>
          </a:p>
          <a:p>
            <a:pPr>
              <a:defRPr sz="2000">
                <a:latin typeface="Arial"/>
              </a:defRPr>
            </a:pPr>
            <a:r>
              <a:t>Strong reports cite table names, row IDs, join conditions, query outputs, and interpretation assumptions.</a:t>
            </a:r>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8A0D56F9-7BF5-B472-EC95-7EAF414617BA}"/>
              </a:ext>
            </a:extLst>
          </p:cNvPr>
          <p:cNvSpPr>
            <a:spLocks noGrp="1"/>
          </p:cNvSpPr>
          <p:nvPr>
            <p:ph type="title"/>
          </p:nvPr>
        </p:nvSpPr>
        <p:spPr/>
        <p:txBody>
          <a:bodyPr/>
          <a:lstStyle/>
          <a:p>
            <a:r>
              <a:rPr sz="4000">
                <a:solidFill>
                  <a:srgbClr val="000000"/>
                </a:solidFill>
                <a:latin typeface="Arial"/>
              </a:rPr>
              <a:t>Assignment</a:t>
            </a:r>
          </a:p>
        </p:txBody>
      </p:sp>
      <p:sp>
        <p:nvSpPr>
          <p:cNvPr id="5" name="Content Placeholder 4">
            <a:extLst>
              <a:ext uri="{FF2B5EF4-FFF2-40B4-BE49-F238E27FC236}">
                <a16:creationId xmlns:a16="http://schemas.microsoft.com/office/drawing/2014/main" id="{1F4544D5-919F-9259-EE15-D5036EDB789C}"/>
              </a:ext>
            </a:extLst>
          </p:cNvPr>
          <p:cNvSpPr>
            <a:spLocks noGrp="1"/>
          </p:cNvSpPr>
          <p:nvPr>
            <p:ph idx="1"/>
          </p:nvPr>
        </p:nvSpPr>
        <p:spPr/>
        <p:txBody>
          <a:bodyPr wrap="square">
            <a:normAutofit/>
          </a:bodyPr>
          <a:lstStyle/>
          <a:p>
            <a:pPr>
              <a:defRPr sz="2000">
                <a:latin typeface="Arial"/>
              </a:defRPr>
            </a:pPr>
            <a:r>
              <a:t>Investigate profile.db and write a short forensic report.</a:t>
            </a:r>
          </a:p>
          <a:p>
            <a:pPr>
              <a:defRPr sz="2000">
                <a:latin typeface="Arial"/>
              </a:defRPr>
            </a:pPr>
            <a:r>
              <a:t>Answer the following questions:</a:t>
            </a:r>
          </a:p>
          <a:p>
            <a:pPr lvl="1">
              <a:defRPr sz="1600">
                <a:latin typeface="Arial"/>
              </a:defRPr>
            </a:pPr>
            <a:r>
              <a:t>How many tables does the database contain?</a:t>
            </a:r>
          </a:p>
          <a:p>
            <a:pPr lvl="1">
              <a:defRPr sz="1600">
                <a:latin typeface="Arial"/>
              </a:defRPr>
            </a:pPr>
            <a:r>
              <a:t>How many records are in each table?</a:t>
            </a:r>
          </a:p>
          <a:p>
            <a:pPr lvl="1">
              <a:defRPr sz="1600">
                <a:latin typeface="Arial"/>
              </a:defRPr>
            </a:pPr>
            <a:r>
              <a:t>What personal information, if any, is present?</a:t>
            </a:r>
          </a:p>
          <a:p>
            <a:pPr lvl="1">
              <a:defRPr sz="1600">
                <a:latin typeface="Arial"/>
              </a:defRPr>
            </a:pPr>
            <a:r>
              <a:t>If no personal information is found, explain the evidence supporting that conclusion.</a:t>
            </a:r>
          </a:p>
          <a:p>
            <a:pPr>
              <a:defRPr sz="2000">
                <a:latin typeface="Arial"/>
              </a:defRPr>
            </a:pPr>
            <a:r>
              <a:t>Include screenshots or query outputs that support your claims.</a:t>
            </a:r>
          </a:p>
        </p:txBody>
      </p:sp>
    </p:spTree>
    <p:extLst>
      <p:ext uri="{BB962C8B-B14F-4D97-AF65-F5344CB8AC3E}">
        <p14:creationId xmlns:p14="http://schemas.microsoft.com/office/powerpoint/2010/main" val="3782019305"/>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8191</TotalTime>
  <Words>9695</Words>
  <Application>Microsoft Office PowerPoint</Application>
  <PresentationFormat>Widescreen</PresentationFormat>
  <Paragraphs>821</Paragraphs>
  <Slides>72</Slides>
  <Notes>15</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72</vt:i4>
      </vt:variant>
    </vt:vector>
  </HeadingPairs>
  <TitlesOfParts>
    <vt:vector size="78" baseType="lpstr">
      <vt:lpstr>-apple-system</vt:lpstr>
      <vt:lpstr>Arial</vt:lpstr>
      <vt:lpstr>Calibri</vt:lpstr>
      <vt:lpstr>Calibri Light</vt:lpstr>
      <vt:lpstr>Consolas</vt:lpstr>
      <vt:lpstr>Office Theme</vt:lpstr>
      <vt:lpstr>AOSP Apps Investigations</vt:lpstr>
      <vt:lpstr>Learning Objectives</vt:lpstr>
      <vt:lpstr>Contact Management Services</vt:lpstr>
      <vt:lpstr>Why Contact Management Services Exist</vt:lpstr>
      <vt:lpstr>Problems Without a Central Contacts Provider</vt:lpstr>
      <vt:lpstr>Solution: Android Contacts Provider</vt:lpstr>
      <vt:lpstr>Forensic Value of Contact Services</vt:lpstr>
      <vt:lpstr>Sample Investigation Questions</vt:lpstr>
      <vt:lpstr>Contacts Service Files Overview</vt:lpstr>
      <vt:lpstr>Contact management services files</vt:lpstr>
      <vt:lpstr>Contacts Provider Investigation Roadmap</vt:lpstr>
      <vt:lpstr>Tables in contacts2.db</vt:lpstr>
      <vt:lpstr>PowerPoint Presentation</vt:lpstr>
      <vt:lpstr>High-Value Tables in contacts2.db</vt:lpstr>
      <vt:lpstr>accounts Table</vt:lpstr>
      <vt:lpstr>raw_contacts Table</vt:lpstr>
      <vt:lpstr>contacts Table</vt:lpstr>
      <vt:lpstr>data Table</vt:lpstr>
      <vt:lpstr>groups Table</vt:lpstr>
      <vt:lpstr>phone_lookup Table</vt:lpstr>
      <vt:lpstr>status_updates Table</vt:lpstr>
      <vt:lpstr>raw_contacts vs. contacts</vt:lpstr>
      <vt:lpstr>accounts table</vt:lpstr>
      <vt:lpstr>PowerPoint Presentation</vt:lpstr>
      <vt:lpstr>accounts table structure</vt:lpstr>
      <vt:lpstr>raw_contacts table</vt:lpstr>
      <vt:lpstr>PowerPoint Presentation</vt:lpstr>
      <vt:lpstr>Find Contact Records by Account</vt:lpstr>
      <vt:lpstr>PowerPoint Presentation</vt:lpstr>
      <vt:lpstr>Results of joining raw_contacts with accounts</vt:lpstr>
      <vt:lpstr>PowerPoint Presentation</vt:lpstr>
      <vt:lpstr>data Table</vt:lpstr>
      <vt:lpstr>Investigating Contact ID 10</vt:lpstr>
      <vt:lpstr>Interpreting Rows in data </vt:lpstr>
      <vt:lpstr>mimetypes Table</vt:lpstr>
      <vt:lpstr>PowerPoint Presentation</vt:lpstr>
      <vt:lpstr>contacts table</vt:lpstr>
      <vt:lpstr>Aggregation: Many Raw Contacts, One Person</vt:lpstr>
      <vt:lpstr>PowerPoint Presentation</vt:lpstr>
      <vt:lpstr>PowerPoint Presentation</vt:lpstr>
      <vt:lpstr>Show rows in contacts table</vt:lpstr>
      <vt:lpstr>(Alternative)  Using sqlitebrowser</vt:lpstr>
      <vt:lpstr>(Alternative)</vt:lpstr>
      <vt:lpstr>(Alternative) Show rows in contacts table</vt:lpstr>
      <vt:lpstr>When a new raw contact entry is added to raw_contacts table</vt:lpstr>
      <vt:lpstr>PowerPoint Presentation</vt:lpstr>
      <vt:lpstr>PowerPoint Presentation</vt:lpstr>
      <vt:lpstr>groups table</vt:lpstr>
      <vt:lpstr>Investigating Contact Groups</vt:lpstr>
      <vt:lpstr>PowerPoint Presentation</vt:lpstr>
      <vt:lpstr>PowerPoint Presentation</vt:lpstr>
      <vt:lpstr>Investigating calllog.db</vt:lpstr>
      <vt:lpstr>Why calllog.db Belongs to Contacts Provider</vt:lpstr>
      <vt:lpstr>Who Can Affect Android Call Logs?</vt:lpstr>
      <vt:lpstr>PowerPoint Presentation</vt:lpstr>
      <vt:lpstr>Call-Log Scenario</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Call-Log Interpretation</vt:lpstr>
      <vt:lpstr>Voicemail Evidence</vt:lpstr>
      <vt:lpstr>How to access voicemail? </vt:lpstr>
      <vt:lpstr>PowerPoint Presentation</vt:lpstr>
      <vt:lpstr>Evidence Handling: Contacts and Call Logs</vt:lpstr>
      <vt:lpstr>Investigating profile.db</vt:lpstr>
      <vt:lpstr>Investigating profile.db</vt:lpstr>
      <vt:lpstr>Chapter Summary</vt:lpstr>
      <vt:lpstr>Assignment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Installing Visual Studio Code</dc:title>
  <dc:creator>Weifeng Xu</dc:creator>
  <cp:lastModifiedBy>Weifeng Xu</cp:lastModifiedBy>
  <cp:revision>455</cp:revision>
  <dcterms:created xsi:type="dcterms:W3CDTF">2021-01-18T02:02:41Z</dcterms:created>
  <dcterms:modified xsi:type="dcterms:W3CDTF">2026-09-16T01:02:16Z</dcterms:modified>
</cp:coreProperties>
</file>